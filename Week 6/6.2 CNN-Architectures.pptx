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300" r:id="rId2"/>
    <p:sldId id="926" r:id="rId3"/>
    <p:sldId id="949" r:id="rId4"/>
    <p:sldId id="934" r:id="rId5"/>
    <p:sldId id="924" r:id="rId6"/>
    <p:sldId id="932" r:id="rId7"/>
    <p:sldId id="925" r:id="rId8"/>
    <p:sldId id="982" r:id="rId9"/>
    <p:sldId id="928" r:id="rId10"/>
    <p:sldId id="929" r:id="rId11"/>
    <p:sldId id="983" r:id="rId12"/>
    <p:sldId id="981" r:id="rId13"/>
    <p:sldId id="977" r:id="rId14"/>
    <p:sldId id="978" r:id="rId15"/>
    <p:sldId id="979" r:id="rId16"/>
    <p:sldId id="980" r:id="rId17"/>
    <p:sldId id="958" r:id="rId18"/>
    <p:sldId id="959" r:id="rId19"/>
    <p:sldId id="960" r:id="rId20"/>
    <p:sldId id="984" r:id="rId21"/>
    <p:sldId id="961" r:id="rId22"/>
    <p:sldId id="962" r:id="rId23"/>
    <p:sldId id="963" r:id="rId24"/>
    <p:sldId id="964" r:id="rId25"/>
    <p:sldId id="965" r:id="rId26"/>
    <p:sldId id="966" r:id="rId27"/>
    <p:sldId id="967" r:id="rId28"/>
    <p:sldId id="935" r:id="rId29"/>
    <p:sldId id="936" r:id="rId30"/>
    <p:sldId id="937" r:id="rId31"/>
    <p:sldId id="938" r:id="rId32"/>
    <p:sldId id="939" r:id="rId33"/>
    <p:sldId id="940" r:id="rId34"/>
    <p:sldId id="941" r:id="rId35"/>
    <p:sldId id="942" r:id="rId36"/>
    <p:sldId id="943" r:id="rId37"/>
    <p:sldId id="930" r:id="rId38"/>
    <p:sldId id="948" r:id="rId39"/>
    <p:sldId id="944" r:id="rId40"/>
    <p:sldId id="945" r:id="rId41"/>
    <p:sldId id="946" r:id="rId42"/>
    <p:sldId id="947" r:id="rId43"/>
    <p:sldId id="289" r:id="rId44"/>
    <p:sldId id="290" r:id="rId45"/>
    <p:sldId id="291" r:id="rId46"/>
    <p:sldId id="293" r:id="rId47"/>
    <p:sldId id="294" r:id="rId48"/>
    <p:sldId id="295" r:id="rId49"/>
    <p:sldId id="296" r:id="rId50"/>
    <p:sldId id="297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etha M" initials="GM" lastIdx="3" clrIdx="0">
    <p:extLst>
      <p:ext uri="{19B8F6BF-5375-455C-9EA6-DF929625EA0E}">
        <p15:presenceInfo xmlns:p15="http://schemas.microsoft.com/office/powerpoint/2012/main" userId="Geetha 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9FB"/>
    <a:srgbClr val="FDDAFE"/>
    <a:srgbClr val="FED9FF"/>
    <a:srgbClr val="FAD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2F3725-13D5-22D2-CE68-9E191D150191}" v="53" dt="2025-03-14T06:00:09.788"/>
    <p1510:client id="{85E6312A-1664-F701-0104-2D7A45F4B2EF}" v="37" dt="2025-03-13T10:29:33.964"/>
    <p1510:client id="{9BBB1630-E427-F1E1-CD33-582B148683A8}" v="64" dt="2025-03-13T05:57:33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9356" autoAdjust="0"/>
  </p:normalViewPr>
  <p:slideViewPr>
    <p:cSldViewPr snapToGrid="0">
      <p:cViewPr varScale="1">
        <p:scale>
          <a:sx n="100" d="100"/>
          <a:sy n="100" d="100"/>
        </p:scale>
        <p:origin x="9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ths" userId="S::saraths@am.amrita.edu::244d0ad9-751b-45dc-a37d-eb545e66f5d8" providerId="AD" clId="Web-{85E6312A-1664-F701-0104-2D7A45F4B2EF}"/>
    <pc:docChg chg="modSld">
      <pc:chgData name="saraths" userId="S::saraths@am.amrita.edu::244d0ad9-751b-45dc-a37d-eb545e66f5d8" providerId="AD" clId="Web-{85E6312A-1664-F701-0104-2D7A45F4B2EF}" dt="2025-03-13T10:29:33.964" v="18" actId="14100"/>
      <pc:docMkLst>
        <pc:docMk/>
      </pc:docMkLst>
      <pc:sldChg chg="modSp">
        <pc:chgData name="saraths" userId="S::saraths@am.amrita.edu::244d0ad9-751b-45dc-a37d-eb545e66f5d8" providerId="AD" clId="Web-{85E6312A-1664-F701-0104-2D7A45F4B2EF}" dt="2025-03-13T10:29:33.964" v="18" actId="14100"/>
        <pc:sldMkLst>
          <pc:docMk/>
          <pc:sldMk cId="4288779529" sldId="937"/>
        </pc:sldMkLst>
        <pc:spChg chg="mod">
          <ac:chgData name="saraths" userId="S::saraths@am.amrita.edu::244d0ad9-751b-45dc-a37d-eb545e66f5d8" providerId="AD" clId="Web-{85E6312A-1664-F701-0104-2D7A45F4B2EF}" dt="2025-03-13T10:27:59.681" v="15" actId="14100"/>
          <ac:spMkLst>
            <pc:docMk/>
            <pc:sldMk cId="4288779529" sldId="937"/>
            <ac:spMk id="4" creationId="{352F69BB-D67E-6BA3-98AE-0DBC24F1C512}"/>
          </ac:spMkLst>
        </pc:spChg>
        <pc:spChg chg="mod">
          <ac:chgData name="saraths" userId="S::saraths@am.amrita.edu::244d0ad9-751b-45dc-a37d-eb545e66f5d8" providerId="AD" clId="Web-{85E6312A-1664-F701-0104-2D7A45F4B2EF}" dt="2025-03-13T10:29:19.963" v="17" actId="20577"/>
          <ac:spMkLst>
            <pc:docMk/>
            <pc:sldMk cId="4288779529" sldId="937"/>
            <ac:spMk id="5" creationId="{3CBADCF7-95C3-46BF-BDBA-7C42C612E9A5}"/>
          </ac:spMkLst>
        </pc:spChg>
        <pc:spChg chg="mod">
          <ac:chgData name="saraths" userId="S::saraths@am.amrita.edu::244d0ad9-751b-45dc-a37d-eb545e66f5d8" providerId="AD" clId="Web-{85E6312A-1664-F701-0104-2D7A45F4B2EF}" dt="2025-03-13T10:29:33.964" v="18" actId="14100"/>
          <ac:spMkLst>
            <pc:docMk/>
            <pc:sldMk cId="4288779529" sldId="937"/>
            <ac:spMk id="7" creationId="{345C0298-4724-4031-A343-4A5204E43DBE}"/>
          </ac:spMkLst>
        </pc:spChg>
      </pc:sldChg>
    </pc:docChg>
  </pc:docChgLst>
  <pc:docChgLst>
    <pc:chgData name="saraths" userId="S::saraths@am.amrita.edu::244d0ad9-751b-45dc-a37d-eb545e66f5d8" providerId="AD" clId="Web-{9BBB1630-E427-F1E1-CD33-582B148683A8}"/>
    <pc:docChg chg="addSld delSld modSld sldOrd">
      <pc:chgData name="saraths" userId="S::saraths@am.amrita.edu::244d0ad9-751b-45dc-a37d-eb545e66f5d8" providerId="AD" clId="Web-{9BBB1630-E427-F1E1-CD33-582B148683A8}" dt="2025-03-13T05:57:33.050" v="58"/>
      <pc:docMkLst>
        <pc:docMk/>
      </pc:docMkLst>
      <pc:sldChg chg="addSp modSp ord">
        <pc:chgData name="saraths" userId="S::saraths@am.amrita.edu::244d0ad9-751b-45dc-a37d-eb545e66f5d8" providerId="AD" clId="Web-{9BBB1630-E427-F1E1-CD33-582B148683A8}" dt="2025-03-13T05:50:05.168" v="36" actId="14100"/>
        <pc:sldMkLst>
          <pc:docMk/>
          <pc:sldMk cId="4063947982" sldId="958"/>
        </pc:sldMkLst>
        <pc:spChg chg="mod">
          <ac:chgData name="saraths" userId="S::saraths@am.amrita.edu::244d0ad9-751b-45dc-a37d-eb545e66f5d8" providerId="AD" clId="Web-{9BBB1630-E427-F1E1-CD33-582B148683A8}" dt="2025-03-13T05:50:00.918" v="34" actId="14100"/>
          <ac:spMkLst>
            <pc:docMk/>
            <pc:sldMk cId="4063947982" sldId="958"/>
            <ac:spMk id="6" creationId="{6C5019E6-2BD9-4F92-A543-21D90A1A90AC}"/>
          </ac:spMkLst>
        </pc:spChg>
        <pc:picChg chg="add mod">
          <ac:chgData name="saraths" userId="S::saraths@am.amrita.edu::244d0ad9-751b-45dc-a37d-eb545e66f5d8" providerId="AD" clId="Web-{9BBB1630-E427-F1E1-CD33-582B148683A8}" dt="2025-03-13T05:50:05.168" v="36" actId="14100"/>
          <ac:picMkLst>
            <pc:docMk/>
            <pc:sldMk cId="4063947982" sldId="958"/>
            <ac:picMk id="2" creationId="{719197E7-1756-2583-8CC6-9018B43B7C08}"/>
          </ac:picMkLst>
        </pc:picChg>
      </pc:sldChg>
      <pc:sldChg chg="ord">
        <pc:chgData name="saraths" userId="S::saraths@am.amrita.edu::244d0ad9-751b-45dc-a37d-eb545e66f5d8" providerId="AD" clId="Web-{9BBB1630-E427-F1E1-CD33-582B148683A8}" dt="2025-03-13T05:00:35.025" v="8"/>
        <pc:sldMkLst>
          <pc:docMk/>
          <pc:sldMk cId="2875803374" sldId="959"/>
        </pc:sldMkLst>
      </pc:sldChg>
      <pc:sldChg chg="ord">
        <pc:chgData name="saraths" userId="S::saraths@am.amrita.edu::244d0ad9-751b-45dc-a37d-eb545e66f5d8" providerId="AD" clId="Web-{9BBB1630-E427-F1E1-CD33-582B148683A8}" dt="2025-03-13T05:00:35.025" v="7"/>
        <pc:sldMkLst>
          <pc:docMk/>
          <pc:sldMk cId="109006306" sldId="960"/>
        </pc:sldMkLst>
      </pc:sldChg>
      <pc:sldChg chg="ord">
        <pc:chgData name="saraths" userId="S::saraths@am.amrita.edu::244d0ad9-751b-45dc-a37d-eb545e66f5d8" providerId="AD" clId="Web-{9BBB1630-E427-F1E1-CD33-582B148683A8}" dt="2025-03-13T05:00:35.025" v="6"/>
        <pc:sldMkLst>
          <pc:docMk/>
          <pc:sldMk cId="4199106860" sldId="961"/>
        </pc:sldMkLst>
      </pc:sldChg>
      <pc:sldChg chg="ord">
        <pc:chgData name="saraths" userId="S::saraths@am.amrita.edu::244d0ad9-751b-45dc-a37d-eb545e66f5d8" providerId="AD" clId="Web-{9BBB1630-E427-F1E1-CD33-582B148683A8}" dt="2025-03-13T05:56:17.064" v="56"/>
        <pc:sldMkLst>
          <pc:docMk/>
          <pc:sldMk cId="3416669656" sldId="962"/>
        </pc:sldMkLst>
      </pc:sldChg>
      <pc:sldChg chg="ord">
        <pc:chgData name="saraths" userId="S::saraths@am.amrita.edu::244d0ad9-751b-45dc-a37d-eb545e66f5d8" providerId="AD" clId="Web-{9BBB1630-E427-F1E1-CD33-582B148683A8}" dt="2025-03-13T05:00:35.025" v="4"/>
        <pc:sldMkLst>
          <pc:docMk/>
          <pc:sldMk cId="1173974322" sldId="963"/>
        </pc:sldMkLst>
      </pc:sldChg>
      <pc:sldChg chg="ord">
        <pc:chgData name="saraths" userId="S::saraths@am.amrita.edu::244d0ad9-751b-45dc-a37d-eb545e66f5d8" providerId="AD" clId="Web-{9BBB1630-E427-F1E1-CD33-582B148683A8}" dt="2025-03-13T05:00:35.025" v="3"/>
        <pc:sldMkLst>
          <pc:docMk/>
          <pc:sldMk cId="951709405" sldId="964"/>
        </pc:sldMkLst>
      </pc:sldChg>
      <pc:sldChg chg="ord">
        <pc:chgData name="saraths" userId="S::saraths@am.amrita.edu::244d0ad9-751b-45dc-a37d-eb545e66f5d8" providerId="AD" clId="Web-{9BBB1630-E427-F1E1-CD33-582B148683A8}" dt="2025-03-13T05:00:35.025" v="2"/>
        <pc:sldMkLst>
          <pc:docMk/>
          <pc:sldMk cId="3077471352" sldId="965"/>
        </pc:sldMkLst>
      </pc:sldChg>
      <pc:sldChg chg="ord">
        <pc:chgData name="saraths" userId="S::saraths@am.amrita.edu::244d0ad9-751b-45dc-a37d-eb545e66f5d8" providerId="AD" clId="Web-{9BBB1630-E427-F1E1-CD33-582B148683A8}" dt="2025-03-13T05:00:35.025" v="1"/>
        <pc:sldMkLst>
          <pc:docMk/>
          <pc:sldMk cId="1420602184" sldId="966"/>
        </pc:sldMkLst>
      </pc:sldChg>
      <pc:sldChg chg="ord">
        <pc:chgData name="saraths" userId="S::saraths@am.amrita.edu::244d0ad9-751b-45dc-a37d-eb545e66f5d8" providerId="AD" clId="Web-{9BBB1630-E427-F1E1-CD33-582B148683A8}" dt="2025-03-13T05:00:35.025" v="0"/>
        <pc:sldMkLst>
          <pc:docMk/>
          <pc:sldMk cId="4204099518" sldId="967"/>
        </pc:sldMkLst>
      </pc:sldChg>
      <pc:sldChg chg="addSp delSp modSp">
        <pc:chgData name="saraths" userId="S::saraths@am.amrita.edu::244d0ad9-751b-45dc-a37d-eb545e66f5d8" providerId="AD" clId="Web-{9BBB1630-E427-F1E1-CD33-582B148683A8}" dt="2025-03-13T05:46:51.446" v="29" actId="20577"/>
        <pc:sldMkLst>
          <pc:docMk/>
          <pc:sldMk cId="700526104" sldId="977"/>
        </pc:sldMkLst>
        <pc:spChg chg="add del mod">
          <ac:chgData name="saraths" userId="S::saraths@am.amrita.edu::244d0ad9-751b-45dc-a37d-eb545e66f5d8" providerId="AD" clId="Web-{9BBB1630-E427-F1E1-CD33-582B148683A8}" dt="2025-03-13T05:46:35.446" v="16"/>
          <ac:spMkLst>
            <pc:docMk/>
            <pc:sldMk cId="700526104" sldId="977"/>
            <ac:spMk id="2" creationId="{E5E8FDAA-38AC-1682-491A-2A7867037409}"/>
          </ac:spMkLst>
        </pc:spChg>
        <pc:spChg chg="mod">
          <ac:chgData name="saraths" userId="S::saraths@am.amrita.edu::244d0ad9-751b-45dc-a37d-eb545e66f5d8" providerId="AD" clId="Web-{9BBB1630-E427-F1E1-CD33-582B148683A8}" dt="2025-03-13T05:46:51.446" v="29" actId="20577"/>
          <ac:spMkLst>
            <pc:docMk/>
            <pc:sldMk cId="700526104" sldId="977"/>
            <ac:spMk id="3" creationId="{CEC36B0A-2AAE-49A9-A3BD-FE37D1CDDCB9}"/>
          </ac:spMkLst>
        </pc:spChg>
      </pc:sldChg>
      <pc:sldChg chg="modSp new">
        <pc:chgData name="saraths" userId="S::saraths@am.amrita.edu::244d0ad9-751b-45dc-a37d-eb545e66f5d8" providerId="AD" clId="Web-{9BBB1630-E427-F1E1-CD33-582B148683A8}" dt="2025-03-13T05:55:56.564" v="53" actId="20577"/>
        <pc:sldMkLst>
          <pc:docMk/>
          <pc:sldMk cId="7311063" sldId="984"/>
        </pc:sldMkLst>
        <pc:spChg chg="mod">
          <ac:chgData name="saraths" userId="S::saraths@am.amrita.edu::244d0ad9-751b-45dc-a37d-eb545e66f5d8" providerId="AD" clId="Web-{9BBB1630-E427-F1E1-CD33-582B148683A8}" dt="2025-03-13T05:55:56.564" v="53" actId="20577"/>
          <ac:spMkLst>
            <pc:docMk/>
            <pc:sldMk cId="7311063" sldId="984"/>
            <ac:spMk id="2" creationId="{88501A4B-5262-E82A-D238-8A1BE4731E98}"/>
          </ac:spMkLst>
        </pc:spChg>
        <pc:spChg chg="mod">
          <ac:chgData name="saraths" userId="S::saraths@am.amrita.edu::244d0ad9-751b-45dc-a37d-eb545e66f5d8" providerId="AD" clId="Web-{9BBB1630-E427-F1E1-CD33-582B148683A8}" dt="2025-03-13T05:54:46.063" v="39" actId="20577"/>
          <ac:spMkLst>
            <pc:docMk/>
            <pc:sldMk cId="7311063" sldId="984"/>
            <ac:spMk id="3" creationId="{D9326E05-96B7-374A-F4C1-278C45CCA2F2}"/>
          </ac:spMkLst>
        </pc:spChg>
      </pc:sldChg>
      <pc:sldChg chg="modSp new del ord">
        <pc:chgData name="saraths" userId="S::saraths@am.amrita.edu::244d0ad9-751b-45dc-a37d-eb545e66f5d8" providerId="AD" clId="Web-{9BBB1630-E427-F1E1-CD33-582B148683A8}" dt="2025-03-13T05:57:33.050" v="58"/>
        <pc:sldMkLst>
          <pc:docMk/>
          <pc:sldMk cId="3510523649" sldId="985"/>
        </pc:sldMkLst>
        <pc:spChg chg="mod">
          <ac:chgData name="saraths" userId="S::saraths@am.amrita.edu::244d0ad9-751b-45dc-a37d-eb545e66f5d8" providerId="AD" clId="Web-{9BBB1630-E427-F1E1-CD33-582B148683A8}" dt="2025-03-13T05:56:37.033" v="57" actId="20577"/>
          <ac:spMkLst>
            <pc:docMk/>
            <pc:sldMk cId="3510523649" sldId="985"/>
            <ac:spMk id="3" creationId="{F4D0AC2F-51E1-DC89-BAC7-0C2AAE9E44D5}"/>
          </ac:spMkLst>
        </pc:spChg>
      </pc:sldChg>
    </pc:docChg>
  </pc:docChgLst>
  <pc:docChgLst>
    <pc:chgData name="saraths" userId="S::saraths@am.amrita.edu::244d0ad9-751b-45dc-a37d-eb545e66f5d8" providerId="AD" clId="Web-{282F3725-13D5-22D2-CE68-9E191D150191}"/>
    <pc:docChg chg="modSld">
      <pc:chgData name="saraths" userId="S::saraths@am.amrita.edu::244d0ad9-751b-45dc-a37d-eb545e66f5d8" providerId="AD" clId="Web-{282F3725-13D5-22D2-CE68-9E191D150191}" dt="2025-03-14T06:00:09.788" v="28" actId="20577"/>
      <pc:docMkLst>
        <pc:docMk/>
      </pc:docMkLst>
      <pc:sldChg chg="modSp">
        <pc:chgData name="saraths" userId="S::saraths@am.amrita.edu::244d0ad9-751b-45dc-a37d-eb545e66f5d8" providerId="AD" clId="Web-{282F3725-13D5-22D2-CE68-9E191D150191}" dt="2025-03-14T06:00:09.788" v="28" actId="20577"/>
        <pc:sldMkLst>
          <pc:docMk/>
          <pc:sldMk cId="0" sldId="291"/>
        </pc:sldMkLst>
        <pc:spChg chg="mod">
          <ac:chgData name="saraths" userId="S::saraths@am.amrita.edu::244d0ad9-751b-45dc-a37d-eb545e66f5d8" providerId="AD" clId="Web-{282F3725-13D5-22D2-CE68-9E191D150191}" dt="2025-03-14T06:00:09.788" v="28" actId="20577"/>
          <ac:spMkLst>
            <pc:docMk/>
            <pc:sldMk cId="0" sldId="29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78E88-302C-457E-BDC4-2DC4E135B8EE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EE30E6-9EB3-46B3-B453-23E1904B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737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E30E6-9EB3-46B3-B453-23E1904BDDC3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991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E30E6-9EB3-46B3-B453-23E1904BDDC3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158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E30E6-9EB3-46B3-B453-23E1904BDDC3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323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3C7B1-3372-48B0-BF9A-E8B0D66A9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9325F-848E-4674-8D14-AA3DA16C8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54100-98DF-4A28-9BF8-E86A1F560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A7BDE-1137-4A98-9219-707F2079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8E49A-5440-4FE1-ABC5-11FC41907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605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F1B5E-9785-4FD7-B155-7D3ADCFE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1AD12-433F-482B-92DA-90AD36D07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5F635-AD31-49AF-8FCA-EF5F0AC05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DAFEA-B36F-47E4-A744-9D16E14B8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7B23C-846F-4701-98E1-2AA30C0D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40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BDC06-3088-42D2-8F40-6F480CF96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B074A-999D-4600-B4D0-6055B1583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FD8D0-4BD8-4161-9F83-D5FFB51B4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A84EC-C363-4961-BCB0-1E75C9812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90A75-1335-4BC4-ADE6-3D6153CCF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30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7FFD6-2DBE-4606-BC7E-6ECC83E0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BFD17-4941-45D0-A94B-825AEA8AE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85B78-E08B-4674-BA2D-C6D0AD958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DB4DE-C6E0-43C0-9C5C-5CBAFA9C4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DF757-A17B-4E7E-95EC-C3D1684A0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9B607-D2B7-4A58-889B-3D7FE1C3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4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D72F9-2F59-4973-B3FF-FD6DCE55A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2186A-852B-49CE-80A8-CEB575536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9C702-86B5-4E2F-A57A-E860E2EE8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DA572B-349B-4A78-AAE0-D48A5298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CCFEC-E740-4761-88D9-107254DA4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083EEB-A8CC-4F87-A568-4AA732FBC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D8D871-7F1F-474C-BE07-B566FE466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C8DB53-8474-4095-AA09-B4C2F488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8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Here To Edit Title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369932"/>
            <a:ext cx="12218977" cy="521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54" y="6490361"/>
            <a:ext cx="1781941" cy="31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32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09624-20AB-4018-936C-C64A1B463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54839-3857-4F43-8B7C-D63BB44A6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E522D-D444-4666-9DD4-01033EC3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338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1D9F-4466-4F53-9AAB-E3E815147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CA21C-A89D-4EEA-B9E4-6F3FDC765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C4D00-53E7-4681-9B2D-2952E2657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450E1-7C11-4EC1-A8C1-117BC4E6D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CD824-36FA-4CFB-97E7-23693B101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33C2F-7EAC-4ACD-A23F-E23737405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364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79157-5C58-4242-A86F-98463F57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E5E7F4-367D-4208-B3DC-182274CDE1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C56A5B-B6AD-4097-932C-3E8E77F3F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D7ED9-C05E-47C0-8B7E-E2B1DF5B4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5CA0B-359F-4C2E-AD7C-45E2CBB16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F037C-C980-4AF7-9C32-929CBBF0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F787-CF72-4AD9-A2E9-4BCE3AE4E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2738F-6BE8-40A6-91A4-84C9E66F2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BFD6E-B51C-4B6D-8974-650D504EF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54563-0E79-4042-B36B-F0899591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FB683-83FB-43F1-924F-C37D43EE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280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F15FDF-F601-41FD-8F1B-59A9F5EE3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8A3654-1792-4F83-B64D-233B5E88E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5986C-C991-4F3D-9CBA-F6544A8B2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41DB-7750-451B-A040-0A3D20C5A8E8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8F46D-1102-469C-8ADF-2CF3A74C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B3704-AEE5-43AD-99BA-0AFCAC4C1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575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1965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503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760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84A66-1229-4ED6-A9D1-8F02E8148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B1AC7-8752-4D00-B2A2-8AB4F1C01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92777"/>
            <a:ext cx="10515600" cy="5184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8661F-0625-4389-83BE-429476154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141DB-7750-451B-A040-0A3D20C5A8E8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2604A-DE26-4FC2-8337-AF8A963C9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BA0C0-1904-41CE-9E06-BC9E5A69A2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D9C27-A924-4FB9-B12B-4FB85672B46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703A67-7610-4F30-9DA1-29E339510F05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369932"/>
            <a:ext cx="12218977" cy="521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4CC57E-CE71-4F72-B89D-034E1FBAC5C9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54" y="6490361"/>
            <a:ext cx="1781941" cy="31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1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yann.lecun.com/exdb/publis/pdf/lecun-01a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409.1556v4.pdf" TargetMode="External"/><Relationship Id="rId2" Type="http://schemas.openxmlformats.org/officeDocument/2006/relationships/hyperlink" Target="http://www.image-net.org/challenges/LSVRC/2014/results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12.0338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gi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pytorch.org/vision/stable/models.html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jp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4" y="2576466"/>
            <a:ext cx="3443174" cy="110489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4335124" y="2310508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F19762-9449-7F8E-ED51-CE92E43F0E91}"/>
              </a:ext>
            </a:extLst>
          </p:cNvPr>
          <p:cNvSpPr txBox="1"/>
          <p:nvPr/>
        </p:nvSpPr>
        <p:spPr>
          <a:xfrm>
            <a:off x="4495803" y="2596836"/>
            <a:ext cx="701039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CNN</a:t>
            </a:r>
            <a:r>
              <a:rPr lang="en-US" sz="2800" b="1" dirty="0">
                <a:solidFill>
                  <a:prstClr val="white"/>
                </a:solidFill>
                <a:latin typeface="Georgia" panose="02040502050405020303" pitchFamily="18" charset="0"/>
              </a:rPr>
              <a:t> Architectures</a:t>
            </a:r>
          </a:p>
          <a:p>
            <a:pPr marL="2743200" lvl="5" indent="-457200" defTabSz="457200">
              <a:buFont typeface="Arial" panose="020B0604020202020204" pitchFamily="34" charset="0"/>
              <a:buChar char="•"/>
              <a:defRPr/>
            </a:pPr>
            <a:r>
              <a:rPr kumimoji="0" lang="nb-NO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LeNet</a:t>
            </a:r>
          </a:p>
          <a:p>
            <a:pPr marL="2743200" lvl="5" indent="-457200" defTabSz="457200">
              <a:buFont typeface="Arial" panose="020B0604020202020204" pitchFamily="34" charset="0"/>
              <a:buChar char="•"/>
              <a:defRPr/>
            </a:pPr>
            <a:r>
              <a:rPr kumimoji="0" lang="nb-NO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AlexNet</a:t>
            </a:r>
          </a:p>
          <a:p>
            <a:pPr marL="2743200" lvl="5" indent="-457200" defTabSz="457200">
              <a:buFont typeface="Arial" panose="020B0604020202020204" pitchFamily="34" charset="0"/>
              <a:buChar char="•"/>
              <a:defRPr/>
            </a:pPr>
            <a:r>
              <a:rPr kumimoji="0" lang="nb-NO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VGG</a:t>
            </a:r>
          </a:p>
          <a:p>
            <a:pPr marL="2743200" lvl="5" indent="-457200" defTabSz="457200">
              <a:buFont typeface="Arial" panose="020B0604020202020204" pitchFamily="34" charset="0"/>
              <a:buChar char="•"/>
              <a:defRPr/>
            </a:pPr>
            <a:r>
              <a:rPr kumimoji="0" lang="nb-NO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GoogLeNet</a:t>
            </a:r>
          </a:p>
          <a:p>
            <a:pPr marL="2743200" lvl="5" indent="-457200" defTabSz="457200">
              <a:buFont typeface="Arial" panose="020B0604020202020204" pitchFamily="34" charset="0"/>
              <a:buChar char="•"/>
              <a:defRPr/>
            </a:pPr>
            <a:r>
              <a:rPr kumimoji="0" lang="nb-NO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ResNet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92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DA3B5A-0A00-432E-B902-5B182EFF0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1948" y="1219583"/>
            <a:ext cx="4178710" cy="2477346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No: of Layers </a:t>
            </a:r>
            <a:r>
              <a:rPr lang="en-US" b="1" dirty="0">
                <a:latin typeface="Arial Nova Cond" panose="020B0506020202020204" pitchFamily="34" charset="0"/>
              </a:rPr>
              <a:t>:</a:t>
            </a:r>
            <a:r>
              <a:rPr lang="en-US" dirty="0">
                <a:latin typeface="Arial Nova Cond" panose="020B0506020202020204" pitchFamily="34" charset="0"/>
              </a:rPr>
              <a:t>How many convolutional, max pooling fully connected layers?</a:t>
            </a:r>
          </a:p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No: of Filters in each layer</a:t>
            </a:r>
          </a:p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Filter Size</a:t>
            </a:r>
          </a:p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Max pooling: </a:t>
            </a:r>
            <a:r>
              <a:rPr lang="en-US" sz="2900" dirty="0">
                <a:latin typeface="Arial Nova Cond" panose="020B0506020202020204" pitchFamily="34" charset="0"/>
              </a:rPr>
              <a:t>What arrangement? 2 convolutional and then </a:t>
            </a:r>
            <a:r>
              <a:rPr lang="en-US" sz="2900" dirty="0" err="1">
                <a:latin typeface="Arial Nova Cond" panose="020B0506020202020204" pitchFamily="34" charset="0"/>
              </a:rPr>
              <a:t>maxpooling</a:t>
            </a:r>
            <a:r>
              <a:rPr lang="en-US" sz="2900" dirty="0">
                <a:latin typeface="Arial Nova Cond" panose="020B0506020202020204" pitchFamily="34" charset="0"/>
              </a:rPr>
              <a:t> or alternate convolutional and </a:t>
            </a:r>
            <a:r>
              <a:rPr lang="en-US" sz="2900" dirty="0" err="1">
                <a:latin typeface="Arial Nova Cond" panose="020B0506020202020204" pitchFamily="34" charset="0"/>
              </a:rPr>
              <a:t>maxpooling</a:t>
            </a:r>
            <a:r>
              <a:rPr lang="en-US" sz="2900" dirty="0">
                <a:latin typeface="Arial Nova Cond" panose="020B0506020202020204" pitchFamily="34" charset="0"/>
              </a:rPr>
              <a:t>?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15EC33-3062-4CC7-A3B0-77550EB1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37" y="93024"/>
            <a:ext cx="11209376" cy="464000"/>
          </a:xfrm>
        </p:spPr>
        <p:txBody>
          <a:bodyPr/>
          <a:lstStyle/>
          <a:p>
            <a:r>
              <a:rPr lang="en-US" dirty="0"/>
              <a:t>Different CNN Architectures</a:t>
            </a:r>
            <a:endParaRPr lang="en-IN" dirty="0"/>
          </a:p>
        </p:txBody>
      </p:sp>
      <p:pic>
        <p:nvPicPr>
          <p:cNvPr id="4" name="Picture 2" descr="CNN Architecture over a timeline">
            <a:extLst>
              <a:ext uri="{FF2B5EF4-FFF2-40B4-BE49-F238E27FC236}">
                <a16:creationId xmlns:a16="http://schemas.microsoft.com/office/drawing/2014/main" id="{54B91E25-6217-4B52-95C1-8FF09A60F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83" y="557024"/>
            <a:ext cx="7425967" cy="567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0381E6-7C0D-4371-B029-5B9DFCBC7F72}"/>
              </a:ext>
            </a:extLst>
          </p:cNvPr>
          <p:cNvSpPr txBox="1"/>
          <p:nvPr/>
        </p:nvSpPr>
        <p:spPr>
          <a:xfrm>
            <a:off x="8377083" y="4359488"/>
            <a:ext cx="3364767" cy="707886"/>
          </a:xfrm>
          <a:prstGeom prst="rect">
            <a:avLst/>
          </a:prstGeom>
          <a:noFill/>
          <a:ln w="412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 Nova Cond" panose="020B0506020202020204" pitchFamily="34" charset="0"/>
              </a:rPr>
              <a:t>Use standard tried and tested </a:t>
            </a:r>
          </a:p>
          <a:p>
            <a:r>
              <a:rPr lang="en-US" sz="2000" b="1" dirty="0">
                <a:solidFill>
                  <a:srgbClr val="C00000"/>
                </a:solidFill>
                <a:latin typeface="Arial Nova Cond" panose="020B0506020202020204" pitchFamily="34" charset="0"/>
              </a:rPr>
              <a:t> architectures!</a:t>
            </a:r>
            <a:endParaRPr lang="en-IN" sz="2000" b="1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172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4D7C0C-1478-4664-8EC7-50D0CDE31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deep-learning-architectures-plot-2018">
            <a:extLst>
              <a:ext uri="{FF2B5EF4-FFF2-40B4-BE49-F238E27FC236}">
                <a16:creationId xmlns:a16="http://schemas.microsoft.com/office/drawing/2014/main" id="{7AA808A6-4E08-439E-89A6-D8C8F5E29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74" y="874785"/>
            <a:ext cx="5514053" cy="5030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fficientnet-results-imagenet">
            <a:extLst>
              <a:ext uri="{FF2B5EF4-FFF2-40B4-BE49-F238E27FC236}">
                <a16:creationId xmlns:a16="http://schemas.microsoft.com/office/drawing/2014/main" id="{658CE17C-925B-41B9-8C20-A0C69F38E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038" y="874784"/>
            <a:ext cx="6132837" cy="4894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B0A906-F96D-49B5-AF74-5B9A4792B31E}"/>
              </a:ext>
            </a:extLst>
          </p:cNvPr>
          <p:cNvSpPr txBox="1"/>
          <p:nvPr/>
        </p:nvSpPr>
        <p:spPr>
          <a:xfrm>
            <a:off x="715520" y="6023750"/>
            <a:ext cx="10921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One gigaflops is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one billion (1,000,000,000) FLOPS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, or floating-point operations, per second.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9BF20B-CE4F-4DE8-B471-E09F8BD308D2}"/>
              </a:ext>
            </a:extLst>
          </p:cNvPr>
          <p:cNvSpPr txBox="1"/>
          <p:nvPr/>
        </p:nvSpPr>
        <p:spPr>
          <a:xfrm>
            <a:off x="5934074" y="0"/>
            <a:ext cx="64250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Gigaflops is a unit of measurement used to measure the performance of a computer's floating-point unit, commonly referred to as the FPU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5377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019E6-2BD9-4F92-A543-21D90A1A90AC}"/>
              </a:ext>
            </a:extLst>
          </p:cNvPr>
          <p:cNvSpPr/>
          <p:nvPr/>
        </p:nvSpPr>
        <p:spPr>
          <a:xfrm>
            <a:off x="2443413" y="1513927"/>
            <a:ext cx="8860221" cy="3830145"/>
          </a:xfrm>
          <a:prstGeom prst="rect">
            <a:avLst/>
          </a:prstGeom>
          <a:solidFill>
            <a:srgbClr val="FDDAF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CNN Architecture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en-US" sz="4000" b="1" dirty="0" err="1">
                <a:solidFill>
                  <a:schemeClr val="tx1"/>
                </a:solidFill>
              </a:rPr>
              <a:t>LeNet</a:t>
            </a:r>
            <a:endParaRPr lang="en-US" sz="4000" b="1" dirty="0">
              <a:solidFill>
                <a:schemeClr val="tx1"/>
              </a:solidFill>
            </a:endParaRPr>
          </a:p>
          <a:p>
            <a:pPr algn="ctr"/>
            <a:endParaRPr lang="en-IN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54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5ED72A-B725-42AC-96F5-47A26CE27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4995BC-2D18-4C61-A9FB-9026AEE4A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52"/>
            <a:ext cx="11209376" cy="464000"/>
          </a:xfrm>
        </p:spPr>
        <p:txBody>
          <a:bodyPr/>
          <a:lstStyle/>
          <a:p>
            <a:r>
              <a:rPr lang="en-US" dirty="0"/>
              <a:t>LeNet-5 – First CNN Architecture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4EDA8-62C7-4D8F-9668-9645E8B42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8252"/>
            <a:ext cx="12192000" cy="44014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0A1BF7-9207-4812-9FC5-7F93B02A0A74}"/>
              </a:ext>
            </a:extLst>
          </p:cNvPr>
          <p:cNvSpPr txBox="1"/>
          <p:nvPr/>
        </p:nvSpPr>
        <p:spPr>
          <a:xfrm>
            <a:off x="160374" y="5951668"/>
            <a:ext cx="104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each convolution there is non-linearity applied using activation functions- </a:t>
            </a:r>
            <a:r>
              <a:rPr lang="en-US" dirty="0" err="1"/>
              <a:t>Relu</a:t>
            </a:r>
            <a:r>
              <a:rPr lang="en-US" dirty="0"/>
              <a:t>/Leaky </a:t>
            </a:r>
            <a:r>
              <a:rPr lang="en-US" dirty="0" err="1"/>
              <a:t>Relu</a:t>
            </a:r>
            <a:r>
              <a:rPr lang="en-US" dirty="0"/>
              <a:t>. h1=g(a1)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15547-A263-4413-9D89-296325908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667" y="4508817"/>
            <a:ext cx="352425" cy="238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4ED351-27D1-455D-8D01-ECC60979A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47" y="4746942"/>
            <a:ext cx="352425" cy="238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A401CE8-2059-4C16-B93F-3ABD4EE7892A}"/>
              </a:ext>
            </a:extLst>
          </p:cNvPr>
          <p:cNvSpPr txBox="1"/>
          <p:nvPr/>
        </p:nvSpPr>
        <p:spPr>
          <a:xfrm>
            <a:off x="263013" y="468952"/>
            <a:ext cx="11665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Lato" panose="020F0502020204030203" pitchFamily="34" charset="0"/>
              </a:rPr>
              <a:t>Earliest pre-trained models proposed by Yann </a:t>
            </a:r>
            <a:r>
              <a:rPr lang="en-US" sz="1400" b="0" i="0" dirty="0" err="1">
                <a:effectLst/>
                <a:latin typeface="Lato" panose="020F0502020204030203" pitchFamily="34" charset="0"/>
              </a:rPr>
              <a:t>LeCun</a:t>
            </a:r>
            <a:r>
              <a:rPr lang="en-US" sz="1400" b="0" i="0" dirty="0">
                <a:effectLst/>
                <a:latin typeface="Lato" panose="020F0502020204030203" pitchFamily="34" charset="0"/>
              </a:rPr>
              <a:t> and others in the year 1998, in the research paper </a:t>
            </a:r>
            <a:r>
              <a:rPr lang="en-US" sz="1400" b="0" i="0" u="none" strike="noStrike" dirty="0">
                <a:effectLst/>
                <a:latin typeface="Lato" panose="020F050202020403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Gradient-Based Learning Applied to Document Recognition</a:t>
            </a:r>
            <a:r>
              <a:rPr lang="en-US" sz="1400" b="0" i="0" dirty="0">
                <a:effectLst/>
                <a:latin typeface="Lato" panose="020F0502020204030203" pitchFamily="34" charset="0"/>
              </a:rPr>
              <a:t>. They used this architecture for recognizing the handwritten and machine-printed characters.</a:t>
            </a:r>
            <a:endParaRPr lang="en-IN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212A57-86B0-4CFD-99BF-82FD98AD0C6B}"/>
              </a:ext>
            </a:extLst>
          </p:cNvPr>
          <p:cNvSpPr txBox="1"/>
          <p:nvPr/>
        </p:nvSpPr>
        <p:spPr>
          <a:xfrm>
            <a:off x="2834148" y="5213580"/>
            <a:ext cx="1364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6x5x5=150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EA5D6B-7C9A-4472-8549-6AF21B07BC1A}"/>
              </a:ext>
            </a:extLst>
          </p:cNvPr>
          <p:cNvSpPr txBox="1"/>
          <p:nvPr/>
        </p:nvSpPr>
        <p:spPr>
          <a:xfrm>
            <a:off x="6619664" y="5582336"/>
            <a:ext cx="6179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5x5x6x16=2400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ADA6F2-E813-4B23-8D96-B4425C33615F}"/>
              </a:ext>
            </a:extLst>
          </p:cNvPr>
          <p:cNvSpPr txBox="1"/>
          <p:nvPr/>
        </p:nvSpPr>
        <p:spPr>
          <a:xfrm>
            <a:off x="48583" y="5652301"/>
            <a:ext cx="4149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Depth of filter is always depth of the input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7673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9F39C6-7C86-415D-B2D8-CC0FE16DD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669841"/>
            <a:ext cx="11209376" cy="464000"/>
          </a:xfrm>
        </p:spPr>
        <p:txBody>
          <a:bodyPr/>
          <a:lstStyle/>
          <a:p>
            <a:r>
              <a:rPr lang="en-US" sz="1400" dirty="0"/>
              <a:t>Calculation of no of parameters</a:t>
            </a:r>
            <a:endParaRPr lang="en-IN" sz="1400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31FDECC-D058-448C-90A5-F98ED80844E6}"/>
              </a:ext>
            </a:extLst>
          </p:cNvPr>
          <p:cNvSpPr txBox="1">
            <a:spLocks/>
          </p:cNvSpPr>
          <p:nvPr/>
        </p:nvSpPr>
        <p:spPr>
          <a:xfrm>
            <a:off x="186813" y="166612"/>
            <a:ext cx="11209376" cy="46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rgbClr val="A4123F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LeNet-5 – First CNN Architecture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5C6978-409D-4679-A92D-EED460467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25" y="1529366"/>
            <a:ext cx="1657350" cy="809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7564C2-D33F-43DC-975D-9998A42875E3}"/>
              </a:ext>
            </a:extLst>
          </p:cNvPr>
          <p:cNvSpPr txBox="1"/>
          <p:nvPr/>
        </p:nvSpPr>
        <p:spPr>
          <a:xfrm>
            <a:off x="411126" y="2413337"/>
            <a:ext cx="33546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S=1,F=5,K=6</a:t>
            </a:r>
          </a:p>
          <a:p>
            <a:r>
              <a:rPr lang="en-US" dirty="0"/>
              <a:t>W0=(32+0-5)/1+1=28, </a:t>
            </a:r>
          </a:p>
          <a:p>
            <a:r>
              <a:rPr lang="en-US" dirty="0"/>
              <a:t>As no of filters 6 we get 6 outputs of 28x28 ( Filter size 5x5)</a:t>
            </a:r>
          </a:p>
          <a:p>
            <a:r>
              <a:rPr lang="en-US" dirty="0"/>
              <a:t>No: of parameters= 5x5x6=150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[Comparing with fully connected</a:t>
            </a:r>
          </a:p>
          <a:p>
            <a:r>
              <a:rPr lang="en-US" dirty="0">
                <a:solidFill>
                  <a:srgbClr val="C00000"/>
                </a:solidFill>
              </a:rPr>
              <a:t>Flatten 32x32 </a:t>
            </a:r>
          </a:p>
          <a:p>
            <a:r>
              <a:rPr lang="en-US" dirty="0">
                <a:solidFill>
                  <a:srgbClr val="C00000"/>
                </a:solidFill>
              </a:rPr>
              <a:t>Flatten 28x28x6</a:t>
            </a:r>
          </a:p>
          <a:p>
            <a:r>
              <a:rPr lang="en-US" dirty="0">
                <a:solidFill>
                  <a:srgbClr val="C00000"/>
                </a:solidFill>
              </a:rPr>
              <a:t>Total parameters = 32x32x28x28x6]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B3DAB4-D1FB-40A8-8BBA-954C6814803D}"/>
              </a:ext>
            </a:extLst>
          </p:cNvPr>
          <p:cNvSpPr txBox="1"/>
          <p:nvPr/>
        </p:nvSpPr>
        <p:spPr>
          <a:xfrm>
            <a:off x="571499" y="1122861"/>
            <a:ext cx="1395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Conv Layer 1</a:t>
            </a:r>
            <a:endParaRPr lang="en-IN" b="1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FC7343-B312-4DE5-A2C3-4A4F9D5691E0}"/>
              </a:ext>
            </a:extLst>
          </p:cNvPr>
          <p:cNvSpPr txBox="1"/>
          <p:nvPr/>
        </p:nvSpPr>
        <p:spPr>
          <a:xfrm>
            <a:off x="3992925" y="985157"/>
            <a:ext cx="1395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Conv Layer 2</a:t>
            </a:r>
            <a:endParaRPr lang="en-IN" b="1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0E9CD1-8BED-475B-9FC4-2E54E6FCC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064" y="1354489"/>
            <a:ext cx="1581150" cy="838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148E5D9-EF17-4585-9177-9578CA228469}"/>
              </a:ext>
            </a:extLst>
          </p:cNvPr>
          <p:cNvSpPr txBox="1"/>
          <p:nvPr/>
        </p:nvSpPr>
        <p:spPr>
          <a:xfrm>
            <a:off x="3992926" y="2413337"/>
            <a:ext cx="36074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S=1,F=5,K=16</a:t>
            </a:r>
          </a:p>
          <a:p>
            <a:r>
              <a:rPr lang="en-US" dirty="0"/>
              <a:t>W0=(14+0-5)/1+1=10, </a:t>
            </a:r>
          </a:p>
          <a:p>
            <a:r>
              <a:rPr lang="en-US" dirty="0"/>
              <a:t>As no of filters 16 we get 16 outputs of 10x10 from 6 input images( Filter size 5x5)</a:t>
            </a:r>
          </a:p>
          <a:p>
            <a:endParaRPr lang="en-US" dirty="0"/>
          </a:p>
          <a:p>
            <a:r>
              <a:rPr lang="en-US" dirty="0"/>
              <a:t>No: of parameters= 5x5x6x16=2400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[Comparing with fully connected</a:t>
            </a:r>
          </a:p>
          <a:p>
            <a:r>
              <a:rPr lang="en-US" dirty="0">
                <a:solidFill>
                  <a:srgbClr val="C00000"/>
                </a:solidFill>
              </a:rPr>
              <a:t>14x14x6x10x10x16]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79C6E3-E3E3-457F-B4B5-31742F85AD48}"/>
              </a:ext>
            </a:extLst>
          </p:cNvPr>
          <p:cNvSpPr txBox="1"/>
          <p:nvPr/>
        </p:nvSpPr>
        <p:spPr>
          <a:xfrm>
            <a:off x="7949287" y="669841"/>
            <a:ext cx="343901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FC1</a:t>
            </a:r>
            <a:endParaRPr lang="en-IN" b="1" dirty="0">
              <a:solidFill>
                <a:srgbClr val="C00000"/>
              </a:solidFill>
              <a:latin typeface="Arial Nova Cond" panose="020B0506020202020204" pitchFamily="34" charset="0"/>
            </a:endParaRPr>
          </a:p>
          <a:p>
            <a:endParaRPr lang="en-US" dirty="0"/>
          </a:p>
          <a:p>
            <a:r>
              <a:rPr lang="en-US" dirty="0"/>
              <a:t>Flatten 5x5x16=400 neurons</a:t>
            </a:r>
          </a:p>
          <a:p>
            <a:r>
              <a:rPr lang="en-US" dirty="0"/>
              <a:t>Hidden layer size=120</a:t>
            </a:r>
          </a:p>
          <a:p>
            <a:r>
              <a:rPr lang="en-US" dirty="0"/>
              <a:t>Bias from each node comes to 120</a:t>
            </a:r>
          </a:p>
          <a:p>
            <a:r>
              <a:rPr lang="en-US" dirty="0"/>
              <a:t>Parameters = 400x120+120=48120</a:t>
            </a:r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CD7F26-CAA5-4753-8E8D-789D47D45542}"/>
              </a:ext>
            </a:extLst>
          </p:cNvPr>
          <p:cNvSpPr txBox="1"/>
          <p:nvPr/>
        </p:nvSpPr>
        <p:spPr>
          <a:xfrm>
            <a:off x="7949287" y="4379326"/>
            <a:ext cx="43988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FC3</a:t>
            </a:r>
          </a:p>
          <a:p>
            <a:r>
              <a:rPr lang="en-US" dirty="0"/>
              <a:t>Hidden layer 1 size= 84</a:t>
            </a:r>
          </a:p>
          <a:p>
            <a:r>
              <a:rPr lang="en-US" dirty="0"/>
              <a:t>Hidden layer2 size =10</a:t>
            </a:r>
          </a:p>
          <a:p>
            <a:r>
              <a:rPr lang="en-US" dirty="0"/>
              <a:t>Bias from each of 10 hidden layer neuron=10</a:t>
            </a:r>
          </a:p>
          <a:p>
            <a:r>
              <a:rPr lang="en-US" dirty="0"/>
              <a:t>No of parameters= 84x10=850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A84FB9-5FEE-4E3D-A4ED-CC48DE5D8C63}"/>
              </a:ext>
            </a:extLst>
          </p:cNvPr>
          <p:cNvSpPr txBox="1"/>
          <p:nvPr/>
        </p:nvSpPr>
        <p:spPr>
          <a:xfrm>
            <a:off x="7949287" y="2348001"/>
            <a:ext cx="34469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FC2</a:t>
            </a:r>
          </a:p>
          <a:p>
            <a:r>
              <a:rPr lang="en-US" dirty="0"/>
              <a:t>Hidden layer 1 size= 120</a:t>
            </a:r>
          </a:p>
          <a:p>
            <a:r>
              <a:rPr lang="en-US" dirty="0"/>
              <a:t>Hidden layer2 size =84</a:t>
            </a:r>
          </a:p>
          <a:p>
            <a:r>
              <a:rPr lang="en-US" dirty="0"/>
              <a:t>Bias from each of 84 hidden layer neuron=84</a:t>
            </a:r>
          </a:p>
          <a:p>
            <a:r>
              <a:rPr lang="en-US" dirty="0"/>
              <a:t>No of parameters= 120x84+84=10164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6214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D15BD4-97B1-4514-BD81-0855D4699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0230B1-D969-49CC-BC74-A8E801A7E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348662"/>
            <a:ext cx="7313972" cy="464000"/>
          </a:xfrm>
        </p:spPr>
        <p:txBody>
          <a:bodyPr/>
          <a:lstStyle/>
          <a:p>
            <a:r>
              <a:rPr lang="en-US" dirty="0"/>
              <a:t>How to train a Convolutional Neural Network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40E8E-2CE4-425A-A9C1-099F3DA20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9" y="934065"/>
            <a:ext cx="6143983" cy="2577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FDEB85-E8D8-4586-8346-8BD9FF152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39" y="3715151"/>
            <a:ext cx="5926701" cy="24157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E33B2C-7978-4BD3-8DE8-72FF42FDE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081" y="691339"/>
            <a:ext cx="4884327" cy="33486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5A43DF-D81E-42F4-A9FC-878F859636B3}"/>
              </a:ext>
            </a:extLst>
          </p:cNvPr>
          <p:cNvSpPr txBox="1"/>
          <p:nvPr/>
        </p:nvSpPr>
        <p:spPr>
          <a:xfrm>
            <a:off x="7885471" y="4797414"/>
            <a:ext cx="3626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Deep learning frameworks have optimized codes which does not have to do the zero weight calculations or storage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899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019E6-2BD9-4F92-A543-21D90A1A90AC}"/>
              </a:ext>
            </a:extLst>
          </p:cNvPr>
          <p:cNvSpPr/>
          <p:nvPr/>
        </p:nvSpPr>
        <p:spPr>
          <a:xfrm>
            <a:off x="2443413" y="1513927"/>
            <a:ext cx="8860221" cy="3830145"/>
          </a:xfrm>
          <a:prstGeom prst="rect">
            <a:avLst/>
          </a:prstGeom>
          <a:solidFill>
            <a:srgbClr val="FDDAF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0" i="0" dirty="0" err="1">
                <a:solidFill>
                  <a:srgbClr val="292929"/>
                </a:solidFill>
                <a:effectLst/>
                <a:latin typeface="sohne"/>
              </a:rPr>
              <a:t>AlexNet</a:t>
            </a:r>
            <a:endParaRPr lang="en-IN" sz="5400" b="0" i="0" dirty="0">
              <a:solidFill>
                <a:srgbClr val="292929"/>
              </a:solidFill>
              <a:effectLst/>
              <a:latin typeface="sohne"/>
            </a:endParaRPr>
          </a:p>
          <a:p>
            <a:pPr algn="ctr"/>
            <a:endParaRPr lang="en-IN" sz="2800" b="1" dirty="0">
              <a:solidFill>
                <a:schemeClr val="tx1"/>
              </a:solidFill>
            </a:endParaRP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59DF5F4E-DF3C-4FCE-81E4-2937721A0E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70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03"/>
    </mc:Choice>
    <mc:Fallback xmlns="">
      <p:transition spd="slow" advTm="187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00FC9F-2109-43C4-B242-AADF0E536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10193E-7FC9-4945-8642-8CD8DA96F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25" y="544857"/>
            <a:ext cx="11620501" cy="5768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345DB0-2D62-44F1-A607-65D210D41D45}"/>
              </a:ext>
            </a:extLst>
          </p:cNvPr>
          <p:cNvSpPr txBox="1"/>
          <p:nvPr/>
        </p:nvSpPr>
        <p:spPr>
          <a:xfrm>
            <a:off x="7731896" y="227887"/>
            <a:ext cx="32670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C00000"/>
                </a:solidFill>
                <a:latin typeface="Arial Nova Cond" panose="020B0506020202020204" pitchFamily="34" charset="0"/>
              </a:rPr>
              <a:t>ALexNet</a:t>
            </a:r>
            <a:r>
              <a:rPr lang="en-US" sz="3200" b="1" dirty="0">
                <a:solidFill>
                  <a:srgbClr val="C00000"/>
                </a:solidFill>
                <a:latin typeface="Arial Nova Cond" panose="020B0506020202020204" pitchFamily="34" charset="0"/>
              </a:rPr>
              <a:t> (8 layers)</a:t>
            </a:r>
            <a:endParaRPr lang="en-IN" sz="3200" b="1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F470E0-CF25-4EC6-9AC9-B6C22BBD7BBE}"/>
              </a:ext>
            </a:extLst>
          </p:cNvPr>
          <p:cNvSpPr txBox="1"/>
          <p:nvPr/>
        </p:nvSpPr>
        <p:spPr>
          <a:xfrm>
            <a:off x="11464413" y="128802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4M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E15AEA-D869-4DE7-AE48-FC92C2B509C5}"/>
              </a:ext>
            </a:extLst>
          </p:cNvPr>
          <p:cNvSpPr txBox="1"/>
          <p:nvPr/>
        </p:nvSpPr>
        <p:spPr>
          <a:xfrm>
            <a:off x="10427110" y="1103360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16M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18FDE-ADE7-48E5-A13C-249786CD28F9}"/>
              </a:ext>
            </a:extLst>
          </p:cNvPr>
          <p:cNvSpPr txBox="1"/>
          <p:nvPr/>
        </p:nvSpPr>
        <p:spPr>
          <a:xfrm>
            <a:off x="9506826" y="1044662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4M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A12B9F-85FF-45C8-A398-2319B41C86EB}"/>
              </a:ext>
            </a:extLst>
          </p:cNvPr>
          <p:cNvSpPr txBox="1"/>
          <p:nvPr/>
        </p:nvSpPr>
        <p:spPr>
          <a:xfrm>
            <a:off x="1238866" y="5810071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Layer1</a:t>
            </a:r>
            <a:endParaRPr lang="en-IN" b="1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3B821-28EA-4B72-9861-B67E7E5FE631}"/>
              </a:ext>
            </a:extLst>
          </p:cNvPr>
          <p:cNvSpPr txBox="1"/>
          <p:nvPr/>
        </p:nvSpPr>
        <p:spPr>
          <a:xfrm>
            <a:off x="3465872" y="5248536"/>
            <a:ext cx="814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Layer2</a:t>
            </a:r>
            <a:endParaRPr lang="en-IN" b="1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FF263F-8DB2-431E-8AFE-3B16BEA33F30}"/>
              </a:ext>
            </a:extLst>
          </p:cNvPr>
          <p:cNvSpPr txBox="1"/>
          <p:nvPr/>
        </p:nvSpPr>
        <p:spPr>
          <a:xfrm>
            <a:off x="5594556" y="4771671"/>
            <a:ext cx="814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Layer3</a:t>
            </a:r>
            <a:endParaRPr lang="en-IN" b="1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2E9E83-BC2A-4378-9D5B-E328A33AF7D5}"/>
              </a:ext>
            </a:extLst>
          </p:cNvPr>
          <p:cNvSpPr txBox="1"/>
          <p:nvPr/>
        </p:nvSpPr>
        <p:spPr>
          <a:xfrm>
            <a:off x="6803923" y="4587005"/>
            <a:ext cx="814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Layer4</a:t>
            </a:r>
            <a:endParaRPr lang="en-IN" b="1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548040-B60E-451C-B749-904F038A108F}"/>
              </a:ext>
            </a:extLst>
          </p:cNvPr>
          <p:cNvSpPr txBox="1"/>
          <p:nvPr/>
        </p:nvSpPr>
        <p:spPr>
          <a:xfrm>
            <a:off x="7806814" y="4282462"/>
            <a:ext cx="814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Layer5</a:t>
            </a:r>
            <a:endParaRPr lang="en-IN" b="1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0800A5-AA20-48DD-B921-BD2C41E67A90}"/>
              </a:ext>
            </a:extLst>
          </p:cNvPr>
          <p:cNvSpPr txBox="1"/>
          <p:nvPr/>
        </p:nvSpPr>
        <p:spPr>
          <a:xfrm>
            <a:off x="9461279" y="5406369"/>
            <a:ext cx="814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Layer6</a:t>
            </a:r>
            <a:endParaRPr lang="en-IN" b="1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F2B3B-60CC-4C4E-8B51-A7D0DBF4C77B}"/>
              </a:ext>
            </a:extLst>
          </p:cNvPr>
          <p:cNvSpPr txBox="1"/>
          <p:nvPr/>
        </p:nvSpPr>
        <p:spPr>
          <a:xfrm>
            <a:off x="10327659" y="5385308"/>
            <a:ext cx="814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Layer7</a:t>
            </a:r>
            <a:endParaRPr lang="en-IN" b="1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412771-5FC2-415C-A9DF-6473BF187B11}"/>
              </a:ext>
            </a:extLst>
          </p:cNvPr>
          <p:cNvSpPr txBox="1"/>
          <p:nvPr/>
        </p:nvSpPr>
        <p:spPr>
          <a:xfrm>
            <a:off x="11119984" y="4956337"/>
            <a:ext cx="814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 Nova Cond" panose="020B0506020202020204" pitchFamily="34" charset="0"/>
              </a:rPr>
              <a:t>Layer8</a:t>
            </a:r>
            <a:endParaRPr lang="en-IN" b="1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6F7C25-151B-4DE8-A59C-C46F9419C741}"/>
              </a:ext>
            </a:extLst>
          </p:cNvPr>
          <p:cNvSpPr txBox="1"/>
          <p:nvPr/>
        </p:nvSpPr>
        <p:spPr>
          <a:xfrm>
            <a:off x="5252499" y="559330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3.55 M</a:t>
            </a:r>
            <a:endParaRPr lang="en-IN" dirty="0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F7EE5B96-6AF1-4106-AE6B-10B0C988063C}"/>
              </a:ext>
            </a:extLst>
          </p:cNvPr>
          <p:cNvSpPr/>
          <p:nvPr/>
        </p:nvSpPr>
        <p:spPr>
          <a:xfrm rot="5400000">
            <a:off x="5424550" y="-2308222"/>
            <a:ext cx="319042" cy="664530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92A00B-3F23-4B17-B133-A2814B90312A}"/>
              </a:ext>
            </a:extLst>
          </p:cNvPr>
          <p:cNvSpPr txBox="1"/>
          <p:nvPr/>
        </p:nvSpPr>
        <p:spPr>
          <a:xfrm>
            <a:off x="70355" y="-55958"/>
            <a:ext cx="11710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C00000"/>
                </a:solidFill>
              </a:rPr>
              <a:t>AlexNet</a:t>
            </a:r>
            <a:r>
              <a:rPr lang="en-US" sz="1400" dirty="0">
                <a:solidFill>
                  <a:srgbClr val="C00000"/>
                </a:solidFill>
              </a:rPr>
              <a:t> is the name of a convolutional neural network (CNN) architecture, designed by Alex </a:t>
            </a:r>
            <a:r>
              <a:rPr lang="en-US" sz="1400" dirty="0" err="1">
                <a:solidFill>
                  <a:srgbClr val="C00000"/>
                </a:solidFill>
              </a:rPr>
              <a:t>Krizhevsky</a:t>
            </a:r>
            <a:r>
              <a:rPr lang="en-US" sz="1400" dirty="0">
                <a:solidFill>
                  <a:srgbClr val="C00000"/>
                </a:solidFill>
              </a:rPr>
              <a:t> in collaboration with Ilya </a:t>
            </a:r>
            <a:r>
              <a:rPr lang="en-US" sz="1400" dirty="0" err="1">
                <a:solidFill>
                  <a:srgbClr val="C00000"/>
                </a:solidFill>
              </a:rPr>
              <a:t>Sutskever</a:t>
            </a:r>
            <a:r>
              <a:rPr lang="en-US" sz="1400" dirty="0">
                <a:solidFill>
                  <a:srgbClr val="C00000"/>
                </a:solidFill>
              </a:rPr>
              <a:t> and Geoffrey Hinton, who was </a:t>
            </a:r>
            <a:r>
              <a:rPr lang="en-US" sz="1400" dirty="0" err="1">
                <a:solidFill>
                  <a:srgbClr val="C00000"/>
                </a:solidFill>
              </a:rPr>
              <a:t>Krizhevsky's</a:t>
            </a:r>
            <a:r>
              <a:rPr lang="en-US" sz="1400" dirty="0">
                <a:solidFill>
                  <a:srgbClr val="C00000"/>
                </a:solidFill>
              </a:rPr>
              <a:t> Ph.D. advisor in the year2000</a:t>
            </a:r>
            <a:endParaRPr lang="en-IN" sz="1400" dirty="0">
              <a:solidFill>
                <a:srgbClr val="C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828ECD-D28E-4090-B57F-08A1C263A471}"/>
              </a:ext>
            </a:extLst>
          </p:cNvPr>
          <p:cNvSpPr txBox="1"/>
          <p:nvPr/>
        </p:nvSpPr>
        <p:spPr>
          <a:xfrm>
            <a:off x="2939846" y="5957571"/>
            <a:ext cx="4149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Depth of filter is always depth of the input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1651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8A54D0-74D6-46D9-9DF5-65EC33396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DE21A-ABDC-469C-BBAC-A90B62C74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25" y="812662"/>
            <a:ext cx="3427422" cy="1435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552F6A-1D03-4C40-8A2A-DD403F5AE421}"/>
              </a:ext>
            </a:extLst>
          </p:cNvPr>
          <p:cNvSpPr txBox="1"/>
          <p:nvPr/>
        </p:nvSpPr>
        <p:spPr>
          <a:xfrm>
            <a:off x="571499" y="0"/>
            <a:ext cx="32670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C00000"/>
                </a:solidFill>
                <a:latin typeface="Arial Nova Cond" panose="020B0506020202020204" pitchFamily="34" charset="0"/>
              </a:rPr>
              <a:t>ALexNet</a:t>
            </a:r>
            <a:r>
              <a:rPr lang="en-US" sz="3200" b="1" dirty="0">
                <a:solidFill>
                  <a:srgbClr val="C00000"/>
                </a:solidFill>
                <a:latin typeface="Arial Nova Cond" panose="020B0506020202020204" pitchFamily="34" charset="0"/>
              </a:rPr>
              <a:t> (8 layers)</a:t>
            </a:r>
            <a:endParaRPr lang="en-IN" sz="3200" b="1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F33960-00DF-4250-AAB1-4162B63BF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547" y="733672"/>
            <a:ext cx="3190875" cy="1514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75FF58-4CFE-49B5-A583-EED52766E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796" y="1008704"/>
            <a:ext cx="2908190" cy="12394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14F7C4-5810-4D1B-BB1F-10404E5A0C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104" y="972274"/>
            <a:ext cx="2337312" cy="10372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387F57-9C77-4A2C-8C3D-5F23B74B71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23" y="2663922"/>
            <a:ext cx="3006673" cy="12685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1498E8-65C0-495C-B716-4E88C1964A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8970" y="2651731"/>
            <a:ext cx="3190875" cy="12563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DCD11B6-10F0-418B-BC00-264E3DC088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8045" y="2651731"/>
            <a:ext cx="3103460" cy="12866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73BADA4-4682-44EF-B25A-F1DD0074E2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5203" y="2718853"/>
            <a:ext cx="2266233" cy="99797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E005D23-6A4D-4DEB-98FD-2BB4068E49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054" y="4676222"/>
            <a:ext cx="4143375" cy="7524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A9C6E91-D723-471B-A5FE-9BE09E39DB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4407" y="4547245"/>
            <a:ext cx="3638550" cy="82867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8C76EA5-0D27-4592-B453-02885C892A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15934" y="4524283"/>
            <a:ext cx="3157735" cy="78066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0F31E1-E288-4BF2-89BF-D9B140AD0F5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27708" y="5515956"/>
            <a:ext cx="292417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49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F8487F-2EB7-4DCC-B4E8-B27239BAA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2B4F30-BE6F-4F7E-8343-19D12EF96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38303"/>
            <a:ext cx="11209376" cy="464000"/>
          </a:xfrm>
        </p:spPr>
        <p:txBody>
          <a:bodyPr/>
          <a:lstStyle/>
          <a:p>
            <a:r>
              <a:rPr lang="en-IN" b="1" i="0" dirty="0">
                <a:solidFill>
                  <a:srgbClr val="C00000"/>
                </a:solidFill>
                <a:effectLst/>
                <a:latin typeface="Arial Nova Cond" panose="020B0506020202020204" pitchFamily="34" charset="0"/>
              </a:rPr>
              <a:t>ImageNet Large Scale Visual Recognition Challenge (ILSVRC)</a:t>
            </a:r>
            <a:br>
              <a:rPr lang="en-IN" b="1" i="0" dirty="0">
                <a:solidFill>
                  <a:srgbClr val="C00000"/>
                </a:solidFill>
                <a:effectLst/>
                <a:latin typeface="Arial Nova Cond" panose="020B0506020202020204" pitchFamily="34" charset="0"/>
              </a:rPr>
            </a:br>
            <a:endParaRPr lang="en-IN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D8BBC2-CC65-4E13-B11E-09FCC678C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0" y="769539"/>
            <a:ext cx="11975690" cy="54518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38DA7A-B8FA-4B6D-BDC5-2B107B86A3EF}"/>
              </a:ext>
            </a:extLst>
          </p:cNvPr>
          <p:cNvSpPr txBox="1"/>
          <p:nvPr/>
        </p:nvSpPr>
        <p:spPr>
          <a:xfrm>
            <a:off x="80187" y="6036679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https://image-net.org/challenges/LSVRC/index.php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DFD92-A007-420D-9298-13B95C5AAD5A}"/>
              </a:ext>
            </a:extLst>
          </p:cNvPr>
          <p:cNvSpPr txBox="1"/>
          <p:nvPr/>
        </p:nvSpPr>
        <p:spPr>
          <a:xfrm rot="16200000">
            <a:off x="216310" y="3234813"/>
            <a:ext cx="108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 rate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6603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019E6-2BD9-4F92-A543-21D90A1A90AC}"/>
              </a:ext>
            </a:extLst>
          </p:cNvPr>
          <p:cNvSpPr/>
          <p:nvPr/>
        </p:nvSpPr>
        <p:spPr>
          <a:xfrm>
            <a:off x="2443413" y="1513927"/>
            <a:ext cx="8860221" cy="3830145"/>
          </a:xfrm>
          <a:prstGeom prst="rect">
            <a:avLst/>
          </a:prstGeom>
          <a:solidFill>
            <a:srgbClr val="FDDAF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Convolutional Neural Network  Architectures</a:t>
            </a:r>
          </a:p>
          <a:p>
            <a:pPr algn="ctr"/>
            <a:r>
              <a:rPr lang="en-IN" sz="3600" b="1" i="0" dirty="0">
                <a:solidFill>
                  <a:srgbClr val="292929"/>
                </a:solidFill>
                <a:effectLst/>
                <a:latin typeface="sohne"/>
              </a:rPr>
              <a:t>VGG 16</a:t>
            </a:r>
            <a:endParaRPr lang="en-IN" sz="2400" b="1" i="0" dirty="0">
              <a:solidFill>
                <a:srgbClr val="292929"/>
              </a:solidFill>
              <a:effectLst/>
              <a:latin typeface="sohne"/>
            </a:endParaRPr>
          </a:p>
          <a:p>
            <a:pPr algn="ctr"/>
            <a:endParaRPr lang="en-IN" sz="2800" b="0" i="0" dirty="0">
              <a:solidFill>
                <a:srgbClr val="292929"/>
              </a:solidFill>
              <a:effectLst/>
              <a:latin typeface="sohne"/>
            </a:endParaRPr>
          </a:p>
          <a:p>
            <a:pPr algn="ctr"/>
            <a:endParaRPr lang="en-IN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54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03"/>
    </mc:Choice>
    <mc:Fallback xmlns="">
      <p:transition spd="slow" advTm="1870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C36B0A-2AAE-49A9-A3BD-FE37D1CDD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/>
              </a:rPr>
              <a:t>VGG16 (Runner-up in ImageNet 2014)</a:t>
            </a:r>
            <a:endParaRPr lang="en-US" sz="1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7016B-685D-48F6-BC9F-0FD252887F22}"/>
              </a:ext>
            </a:extLst>
          </p:cNvPr>
          <p:cNvSpPr txBox="1"/>
          <p:nvPr/>
        </p:nvSpPr>
        <p:spPr>
          <a:xfrm>
            <a:off x="1601729" y="1376872"/>
            <a:ext cx="9148916" cy="3416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191000"/>
                </a:solidFill>
                <a:effectLst/>
                <a:latin typeface="Arial Nova Cond" panose="020B0506020202020204" pitchFamily="34" charset="0"/>
              </a:rPr>
              <a:t>VGG16</a:t>
            </a:r>
            <a:r>
              <a:rPr lang="en-US" b="0" i="0" dirty="0">
                <a:solidFill>
                  <a:srgbClr val="191000"/>
                </a:solidFill>
                <a:effectLst/>
                <a:latin typeface="Arial Nova Cond" panose="020B0506020202020204" pitchFamily="34" charset="0"/>
              </a:rPr>
              <a:t> is a convolutional neural network model proposed by K. </a:t>
            </a:r>
            <a:r>
              <a:rPr lang="en-US" b="0" i="0" dirty="0" err="1">
                <a:solidFill>
                  <a:srgbClr val="191000"/>
                </a:solidFill>
                <a:effectLst/>
                <a:latin typeface="Arial Nova Cond" panose="020B0506020202020204" pitchFamily="34" charset="0"/>
              </a:rPr>
              <a:t>Simonyan</a:t>
            </a:r>
            <a:r>
              <a:rPr lang="en-US" b="0" i="0" dirty="0">
                <a:solidFill>
                  <a:srgbClr val="191000"/>
                </a:solidFill>
                <a:effectLst/>
                <a:latin typeface="Arial Nova Cond" panose="020B0506020202020204" pitchFamily="34" charset="0"/>
              </a:rPr>
              <a:t> and A. Zisserman from the University of Oxford in the paper “Very Deep Convolutional Networks for Large-Scale Image Recognition” in 2015. The model achieves 92.7% top-5 test accuracy in ImageNet, which is a dataset of over 14 million images belonging to 1000 classes. It was one of the famous model submitted to </a:t>
            </a:r>
            <a:r>
              <a:rPr lang="en-US" b="0" i="0" u="sng" dirty="0">
                <a:solidFill>
                  <a:srgbClr val="9633AC"/>
                </a:solidFill>
                <a:effectLst/>
                <a:latin typeface="Arial Nova Cond" panose="020B0506020202020204" pitchFamily="34" charset="0"/>
                <a:hlinkClick r:id="rId2"/>
              </a:rPr>
              <a:t>ILSVRC-2014</a:t>
            </a:r>
            <a:r>
              <a:rPr lang="en-US" b="0" i="0" dirty="0">
                <a:solidFill>
                  <a:srgbClr val="191000"/>
                </a:solidFill>
                <a:effectLst/>
                <a:latin typeface="Arial Nova Cond" panose="020B0506020202020204" pitchFamily="34" charset="0"/>
              </a:rPr>
              <a:t>. It makes the improvement over AlexNet by replacing large kernel-sized filters (11 and 5 in the first and second convolutional layer, respectively) with multiple 3×3 kernel-sized filters one after another. VGG16 was trained for weeks and was using NVIDIA Titan Black GPU’s.</a:t>
            </a:r>
          </a:p>
          <a:p>
            <a:endParaRPr lang="en-US" dirty="0">
              <a:solidFill>
                <a:srgbClr val="191000"/>
              </a:solidFill>
              <a:latin typeface="Arial Nova Cond" panose="020B0506020202020204" pitchFamily="34" charset="0"/>
            </a:endParaRPr>
          </a:p>
          <a:p>
            <a:r>
              <a:rPr lang="en-US" dirty="0">
                <a:solidFill>
                  <a:srgbClr val="191000"/>
                </a:solidFill>
                <a:latin typeface="Arial Nova Cond" panose="020B0506020202020204" pitchFamily="34" charset="0"/>
              </a:rPr>
              <a:t>The authors give the intuition behind this that having two consecutive 3x3 filters gives an effective receptive field of 5x5, and 3 – 3x3 filters give a receptive field of 7x7 </a:t>
            </a:r>
            <a:r>
              <a:rPr lang="en-US" dirty="0" err="1">
                <a:solidFill>
                  <a:srgbClr val="191000"/>
                </a:solidFill>
                <a:latin typeface="Arial Nova Cond" panose="020B0506020202020204" pitchFamily="34" charset="0"/>
              </a:rPr>
              <a:t>filters,but</a:t>
            </a:r>
            <a:r>
              <a:rPr lang="en-US" dirty="0">
                <a:solidFill>
                  <a:srgbClr val="191000"/>
                </a:solidFill>
                <a:latin typeface="Arial Nova Cond" panose="020B0506020202020204" pitchFamily="34" charset="0"/>
              </a:rPr>
              <a:t> using this we can use a far less number of parameters to be trained in the network.</a:t>
            </a:r>
            <a:endParaRPr lang="en-IN" dirty="0">
              <a:solidFill>
                <a:srgbClr val="191000"/>
              </a:solidFill>
              <a:latin typeface="Arial Nova Cond" panose="020B0506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7FF13-99E8-435C-A696-A75180EFDEC6}"/>
              </a:ext>
            </a:extLst>
          </p:cNvPr>
          <p:cNvSpPr txBox="1"/>
          <p:nvPr/>
        </p:nvSpPr>
        <p:spPr>
          <a:xfrm>
            <a:off x="142568" y="5634400"/>
            <a:ext cx="6105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https://arxiv.org/pdf/1409.1556v4.pdf</a:t>
            </a:r>
            <a:endParaRPr lang="en-IN" dirty="0"/>
          </a:p>
          <a:p>
            <a:r>
              <a:rPr lang="en-IN" dirty="0"/>
              <a:t>Source paper</a:t>
            </a:r>
          </a:p>
        </p:txBody>
      </p:sp>
    </p:spTree>
    <p:extLst>
      <p:ext uri="{BB962C8B-B14F-4D97-AF65-F5344CB8AC3E}">
        <p14:creationId xmlns:p14="http://schemas.microsoft.com/office/powerpoint/2010/main" val="700526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GG16 Artitecture">
            <a:extLst>
              <a:ext uri="{FF2B5EF4-FFF2-40B4-BE49-F238E27FC236}">
                <a16:creationId xmlns:a16="http://schemas.microsoft.com/office/drawing/2014/main" id="{91F9D606-0995-433C-9DEB-B291921E4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97" y="580662"/>
            <a:ext cx="9116333" cy="536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550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vgg16 architecture ">
            <a:extLst>
              <a:ext uri="{FF2B5EF4-FFF2-40B4-BE49-F238E27FC236}">
                <a16:creationId xmlns:a16="http://schemas.microsoft.com/office/drawing/2014/main" id="{D0FA7F77-0863-4BFB-92F1-37DD67D37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99" y="1811362"/>
            <a:ext cx="11430000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798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A9EEFA-2B60-4CD9-80E9-F295E5E96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028E84-52C7-44E9-A142-4E43369FD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VGG-16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0CB355-1640-4408-A9A8-C18576C2E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33" y="880173"/>
            <a:ext cx="11512733" cy="3422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5CF9FD-4758-4F24-A837-FD3A195DB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20" y="3831030"/>
            <a:ext cx="11512734" cy="247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58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019E6-2BD9-4F92-A543-21D90A1A90AC}"/>
              </a:ext>
            </a:extLst>
          </p:cNvPr>
          <p:cNvSpPr/>
          <p:nvPr/>
        </p:nvSpPr>
        <p:spPr>
          <a:xfrm>
            <a:off x="1662734" y="613381"/>
            <a:ext cx="8860221" cy="2622821"/>
          </a:xfrm>
          <a:prstGeom prst="rect">
            <a:avLst/>
          </a:prstGeom>
          <a:solidFill>
            <a:srgbClr val="FDDAF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GoogLeNet</a:t>
            </a:r>
            <a:endParaRPr lang="en-US" sz="2800" b="1" dirty="0">
              <a:solidFill>
                <a:schemeClr val="tx1"/>
              </a:solidFill>
            </a:endParaRPr>
          </a:p>
          <a:p>
            <a:pPr algn="ctr"/>
            <a:endParaRPr lang="en-IN" sz="2800" b="1" dirty="0">
              <a:solidFill>
                <a:schemeClr val="tx1"/>
              </a:solidFill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9197E7-1756-2583-8CC6-9018B43B7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688" y="3508168"/>
            <a:ext cx="8456468" cy="178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94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03"/>
    </mc:Choice>
    <mc:Fallback xmlns="">
      <p:transition spd="slow" advTm="18703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87789C-EBC4-46DF-98EF-CBE78AD19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No: of computations in CNN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DFB40-22C8-4075-9A02-0FE8F1CBB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44" y="1124163"/>
            <a:ext cx="2307374" cy="459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803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87789C-EBC4-46DF-98EF-CBE78AD19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No: of computations in CNN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DFB40-22C8-4075-9A02-0FE8F1CBB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44" y="1124163"/>
            <a:ext cx="2307374" cy="4596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7702ED-1E41-48CC-BB91-8303AC7A16F2}"/>
              </a:ext>
            </a:extLst>
          </p:cNvPr>
          <p:cNvSpPr txBox="1"/>
          <p:nvPr/>
        </p:nvSpPr>
        <p:spPr>
          <a:xfrm>
            <a:off x="4296696" y="1865507"/>
            <a:ext cx="6246311" cy="25853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Assume S=1, and with appropriate padding WI=Wo=W and HI=Ho=H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Each pixel takes </a:t>
            </a:r>
            <a:r>
              <a:rPr lang="en-US" dirty="0" err="1"/>
              <a:t>FxFxD</a:t>
            </a:r>
            <a:r>
              <a:rPr lang="en-US" dirty="0"/>
              <a:t> computations</a:t>
            </a:r>
          </a:p>
          <a:p>
            <a:r>
              <a:rPr lang="en-US" dirty="0"/>
              <a:t>There are Wo x Ho such pixels</a:t>
            </a:r>
          </a:p>
          <a:p>
            <a:r>
              <a:rPr lang="en-US" dirty="0"/>
              <a:t>So total computations </a:t>
            </a:r>
            <a:r>
              <a:rPr lang="en-US" dirty="0" err="1"/>
              <a:t>WoxHoXFxFxD</a:t>
            </a:r>
            <a:endParaRPr lang="en-US" dirty="0"/>
          </a:p>
          <a:p>
            <a:endParaRPr lang="en-US" dirty="0"/>
          </a:p>
          <a:p>
            <a:r>
              <a:rPr lang="en-US" dirty="0"/>
              <a:t>Note that computation depends on D the depth ( Intermediate layers may have bigger depth as no of filters)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06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501A4B-5262-E82A-D238-8A1BE4731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Georgia"/>
              </a:rPr>
              <a:t>Before </a:t>
            </a:r>
            <a:r>
              <a:rPr lang="en-US" dirty="0" err="1">
                <a:latin typeface="Georgia"/>
              </a:rPr>
              <a:t>GoogLeNet</a:t>
            </a:r>
            <a:r>
              <a:rPr lang="en-US" dirty="0">
                <a:latin typeface="Georgia"/>
              </a:rPr>
              <a:t>, deep networks like </a:t>
            </a:r>
            <a:r>
              <a:rPr lang="en-US" dirty="0" err="1">
                <a:latin typeface="Georgia"/>
              </a:rPr>
              <a:t>AlexNet</a:t>
            </a:r>
            <a:r>
              <a:rPr lang="en-US" dirty="0">
                <a:latin typeface="Georgia"/>
              </a:rPr>
              <a:t> and VGG suffered from: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Georgia"/>
              </a:rPr>
              <a:t>High computational cost (VGG-16 had 138 million parameters).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Georgia"/>
              </a:rPr>
              <a:t>Overfitting and vanishing gradient issues in deeper architectures.</a:t>
            </a:r>
          </a:p>
          <a:p>
            <a:r>
              <a:rPr lang="en-US" err="1">
                <a:latin typeface="Georgia"/>
              </a:rPr>
              <a:t>GoogLeNet</a:t>
            </a:r>
            <a:r>
              <a:rPr lang="en-US" dirty="0">
                <a:latin typeface="Georgia"/>
              </a:rPr>
              <a:t> solved these issues by introducing: </a:t>
            </a:r>
          </a:p>
          <a:p>
            <a:pPr marL="0" indent="0">
              <a:buNone/>
            </a:pPr>
            <a:r>
              <a:rPr lang="en-US" dirty="0">
                <a:latin typeface="Georgia"/>
              </a:rPr>
              <a:t>   ✔ Inception modules (multi-scale convolutions).</a:t>
            </a:r>
            <a:br>
              <a:rPr lang="en-US" dirty="0"/>
            </a:br>
            <a:r>
              <a:rPr lang="en-US" dirty="0">
                <a:latin typeface="Georgia"/>
              </a:rPr>
              <a:t>   ✔ 1×1 convolutions (to reduce parameters).</a:t>
            </a:r>
            <a:br>
              <a:rPr lang="en-US" dirty="0"/>
            </a:br>
            <a:r>
              <a:rPr lang="en-US" dirty="0">
                <a:latin typeface="Georgia"/>
              </a:rPr>
              <a:t>   ✔ Deeper but more efficient architecture (only ~5 million parameters, compared to 138M in VGG-16).</a:t>
            </a:r>
            <a:endParaRPr lang="en-US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326E05-96B7-374A-F4C1-278C45CCA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/>
              </a:rPr>
              <a:t>Why Was </a:t>
            </a:r>
            <a:r>
              <a:rPr lang="en-US" dirty="0" err="1">
                <a:latin typeface="Georgia"/>
              </a:rPr>
              <a:t>GoogLeNet</a:t>
            </a:r>
            <a:r>
              <a:rPr lang="en-US" dirty="0">
                <a:latin typeface="Georgia"/>
              </a:rPr>
              <a:t> Developed?</a:t>
            </a:r>
          </a:p>
        </p:txBody>
      </p:sp>
    </p:spTree>
    <p:extLst>
      <p:ext uri="{BB962C8B-B14F-4D97-AF65-F5344CB8AC3E}">
        <p14:creationId xmlns:p14="http://schemas.microsoft.com/office/powerpoint/2010/main" val="7311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2FF56E-AE1F-4944-B3EF-D56C612C5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GoogLeNet - Intuitions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1414D1-BB36-4925-90BD-D748C2D2CE6C}"/>
              </a:ext>
            </a:extLst>
          </p:cNvPr>
          <p:cNvSpPr txBox="1"/>
          <p:nvPr/>
        </p:nvSpPr>
        <p:spPr>
          <a:xfrm>
            <a:off x="571499" y="1813724"/>
            <a:ext cx="11367928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 Nova Cond" panose="020B0506020202020204" pitchFamily="34" charset="0"/>
              </a:rPr>
              <a:t>Choice of filters- </a:t>
            </a:r>
            <a:r>
              <a:rPr lang="en-US" sz="3600" dirty="0">
                <a:latin typeface="Arial Nova Cond" panose="020B0506020202020204" pitchFamily="34" charset="0"/>
              </a:rPr>
              <a:t>Parallel Convolutions and Max-pooling</a:t>
            </a:r>
          </a:p>
          <a:p>
            <a:r>
              <a:rPr lang="en-IN" sz="3600" b="1" dirty="0">
                <a:solidFill>
                  <a:srgbClr val="C00000"/>
                </a:solidFill>
                <a:latin typeface="Arial Nova Cond" panose="020B0506020202020204" pitchFamily="34" charset="0"/>
              </a:rPr>
              <a:t>Reduce the number of parameters- </a:t>
            </a:r>
            <a:r>
              <a:rPr lang="en-IN" sz="3600" dirty="0">
                <a:latin typeface="Arial Nova Cond" panose="020B0506020202020204" pitchFamily="34" charset="0"/>
              </a:rPr>
              <a:t>Average pooling</a:t>
            </a:r>
          </a:p>
          <a:p>
            <a:r>
              <a:rPr lang="en-IN" sz="3600" b="1" dirty="0">
                <a:solidFill>
                  <a:srgbClr val="C00000"/>
                </a:solidFill>
                <a:latin typeface="Arial Nova Cond" panose="020B0506020202020204" pitchFamily="34" charset="0"/>
              </a:rPr>
              <a:t>Reduce the computations </a:t>
            </a:r>
            <a:r>
              <a:rPr lang="en-IN" sz="3600" dirty="0">
                <a:latin typeface="Arial Nova Cond" panose="020B0506020202020204" pitchFamily="34" charset="0"/>
              </a:rPr>
              <a:t>– 1x1 Convolutions </a:t>
            </a:r>
          </a:p>
          <a:p>
            <a:r>
              <a:rPr lang="en-IN" sz="3600" dirty="0">
                <a:latin typeface="Arial Nova Cond" panose="020B0506020202020204" pitchFamily="34" charset="0"/>
              </a:rPr>
              <a:t>Deeper Networks</a:t>
            </a:r>
          </a:p>
        </p:txBody>
      </p:sp>
    </p:spTree>
    <p:extLst>
      <p:ext uri="{BB962C8B-B14F-4D97-AF65-F5344CB8AC3E}">
        <p14:creationId xmlns:p14="http://schemas.microsoft.com/office/powerpoint/2010/main" val="4199106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74726C-87CF-4F15-B2EC-701691BA2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1x1 Convolution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E59E0A-2D78-435F-804B-46C6BD9FD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19" y="712640"/>
            <a:ext cx="5208038" cy="33613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F7137-BA17-41DF-8CD8-D101551A3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653" y="1877915"/>
            <a:ext cx="2152034" cy="20196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04FC88-380A-4D71-8039-17BD1BA715E6}"/>
              </a:ext>
            </a:extLst>
          </p:cNvPr>
          <p:cNvSpPr txBox="1"/>
          <p:nvPr/>
        </p:nvSpPr>
        <p:spPr>
          <a:xfrm>
            <a:off x="8460827" y="758536"/>
            <a:ext cx="3646376" cy="31393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Nova Cond" panose="020B0506020202020204" pitchFamily="34" charset="0"/>
              </a:rPr>
              <a:t>It is computationally intensive to use many filters K which increases the depth (D1) of output. 1x1 convolution which basically does weighted average helps in shrinking the volume from DI to Do(Do&lt;D1) but at retaining the values to some extend. So this intermediate step helps in reducing the complexity by shrinking the intermediate inputs ( Do kernels used)</a:t>
            </a:r>
            <a:endParaRPr lang="en-IN" dirty="0">
              <a:latin typeface="Arial Nova Cond" panose="020B0506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42C389-F6A9-4ADD-8B3C-853F3A5D0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462" y="403003"/>
            <a:ext cx="4029075" cy="1200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752185-BA6D-4FAA-AB5B-DC8A07ACE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104" y="4139630"/>
            <a:ext cx="2057999" cy="22376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1DF4319-9BF4-42E4-B07A-F356E8C3DA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7673" y="4250559"/>
            <a:ext cx="1704975" cy="20097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ED5947-4B13-4ACD-8D51-45B5762B8A72}"/>
              </a:ext>
            </a:extLst>
          </p:cNvPr>
          <p:cNvSpPr txBox="1"/>
          <p:nvPr/>
        </p:nvSpPr>
        <p:spPr>
          <a:xfrm>
            <a:off x="211517" y="3715028"/>
            <a:ext cx="5817618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A4123F"/>
                </a:solidFill>
                <a:latin typeface="Georgia" panose="02040502050405020303" pitchFamily="18" charset="0"/>
                <a:ea typeface="+mj-ea"/>
                <a:cs typeface="+mj-cs"/>
              </a:rPr>
              <a:t>Maxpooling</a:t>
            </a:r>
            <a:r>
              <a:rPr lang="en-US" sz="3200" dirty="0">
                <a:solidFill>
                  <a:srgbClr val="A4123F"/>
                </a:solidFill>
                <a:latin typeface="Georgia" panose="02040502050405020303" pitchFamily="18" charset="0"/>
                <a:ea typeface="+mj-ea"/>
                <a:cs typeface="+mj-cs"/>
              </a:rPr>
              <a:t> with S=1,F=3,P=1</a:t>
            </a:r>
            <a:endParaRPr lang="en-IN" sz="3200" dirty="0">
              <a:solidFill>
                <a:srgbClr val="A4123F"/>
              </a:solidFill>
              <a:latin typeface="Georgia" panose="02040502050405020303" pitchFamily="18" charset="0"/>
              <a:ea typeface="+mj-ea"/>
              <a:cs typeface="+mj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EA014C-804E-43AE-899D-FF445D9ED6D0}"/>
              </a:ext>
            </a:extLst>
          </p:cNvPr>
          <p:cNvSpPr txBox="1"/>
          <p:nvPr/>
        </p:nvSpPr>
        <p:spPr>
          <a:xfrm>
            <a:off x="7789507" y="24068"/>
            <a:ext cx="4312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 Nova Cond" panose="020B0506020202020204" pitchFamily="34" charset="0"/>
              </a:rPr>
              <a:t>Intuitions behind </a:t>
            </a:r>
            <a:r>
              <a:rPr lang="en-US" sz="2800" b="1" dirty="0" err="1">
                <a:solidFill>
                  <a:srgbClr val="C00000"/>
                </a:solidFill>
                <a:latin typeface="Arial Nova Cond" panose="020B0506020202020204" pitchFamily="34" charset="0"/>
              </a:rPr>
              <a:t>GoogleNet</a:t>
            </a:r>
            <a:endParaRPr lang="en-IN" sz="2800" b="1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19F244-930D-472B-82C5-6D73E851BD7F}"/>
              </a:ext>
            </a:extLst>
          </p:cNvPr>
          <p:cNvSpPr txBox="1"/>
          <p:nvPr/>
        </p:nvSpPr>
        <p:spPr>
          <a:xfrm>
            <a:off x="2266104" y="741342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( Filter of size 1x1)</a:t>
            </a:r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584CFF-8224-4260-9B92-40FCA7340B98}"/>
              </a:ext>
            </a:extLst>
          </p:cNvPr>
          <p:cNvSpPr txBox="1"/>
          <p:nvPr/>
        </p:nvSpPr>
        <p:spPr>
          <a:xfrm>
            <a:off x="7867899" y="3999578"/>
            <a:ext cx="3646376" cy="2031325"/>
          </a:xfrm>
          <a:prstGeom prst="rect">
            <a:avLst/>
          </a:prstGeom>
          <a:solidFill>
            <a:srgbClr val="FED9FF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Nova Cond" panose="020B0506020202020204" pitchFamily="34" charset="0"/>
              </a:rPr>
              <a:t>When we do </a:t>
            </a:r>
            <a:r>
              <a:rPr lang="en-US" dirty="0" err="1">
                <a:latin typeface="Arial Nova Cond" panose="020B0506020202020204" pitchFamily="34" charset="0"/>
              </a:rPr>
              <a:t>maxpooling</a:t>
            </a:r>
            <a:r>
              <a:rPr lang="en-US" dirty="0">
                <a:latin typeface="Arial Nova Cond" panose="020B0506020202020204" pitchFamily="34" charset="0"/>
              </a:rPr>
              <a:t> with S=1 and P=1 when F=3 we get an output of same size.</a:t>
            </a:r>
          </a:p>
          <a:p>
            <a:r>
              <a:rPr lang="en-US" dirty="0">
                <a:latin typeface="Arial Nova Cond" panose="020B0506020202020204" pitchFamily="34" charset="0"/>
              </a:rPr>
              <a:t>Similarly S=1,P=2 when F=5</a:t>
            </a:r>
          </a:p>
          <a:p>
            <a:r>
              <a:rPr lang="en-US" dirty="0">
                <a:latin typeface="Arial Nova Cond" panose="020B0506020202020204" pitchFamily="34" charset="0"/>
              </a:rPr>
              <a:t>So a stride of 1 and appropriate padding help us in retaining size of output.</a:t>
            </a:r>
            <a:endParaRPr lang="en-IN" dirty="0"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66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1C50D4-7D89-413B-B163-BE962AA7E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A9DFCF-D3CA-4B68-9A07-6C7159D0A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Behind GoogLeNet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5D4E7-8C6D-4828-A074-E1474AE71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2" y="983496"/>
            <a:ext cx="5707365" cy="5061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AFAD7D-AD7C-4652-8B6D-06A059B62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876" y="892164"/>
            <a:ext cx="2797246" cy="48285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4D19BD-8300-4904-9DFE-59A96E0C0A6E}"/>
              </a:ext>
            </a:extLst>
          </p:cNvPr>
          <p:cNvSpPr txBox="1"/>
          <p:nvPr/>
        </p:nvSpPr>
        <p:spPr>
          <a:xfrm>
            <a:off x="8514736" y="1543665"/>
            <a:ext cx="339213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Until now, in the architectures we had seen variations in the hyper parameters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many filters to use and what should be filter size?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should be arrangement of max-pooling and convolutional layers?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many max pooling how many convolutional layers?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Intuition behind </a:t>
            </a:r>
            <a:r>
              <a:rPr lang="en-US" b="1" dirty="0" err="1"/>
              <a:t>GoogLeNet</a:t>
            </a:r>
            <a:r>
              <a:rPr lang="en-US" b="1" dirty="0"/>
              <a:t>- </a:t>
            </a:r>
            <a:r>
              <a:rPr lang="en-US" dirty="0"/>
              <a:t>Why to make that decision . Do everything on the same input and get a set of feature map outputs in one go- </a:t>
            </a:r>
            <a:r>
              <a:rPr lang="en-US" b="1" dirty="0">
                <a:solidFill>
                  <a:srgbClr val="C00000"/>
                </a:solidFill>
              </a:rPr>
              <a:t>Inception Module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664B79-6842-4B05-A883-950B8F00DE5E}"/>
              </a:ext>
            </a:extLst>
          </p:cNvPr>
          <p:cNvSpPr txBox="1"/>
          <p:nvPr/>
        </p:nvSpPr>
        <p:spPr>
          <a:xfrm>
            <a:off x="4050890" y="1074133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w1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DE2D12-8891-45DA-86CB-0BE6D2737815}"/>
              </a:ext>
            </a:extLst>
          </p:cNvPr>
          <p:cNvSpPr txBox="1"/>
          <p:nvPr/>
        </p:nvSpPr>
        <p:spPr>
          <a:xfrm>
            <a:off x="4941327" y="1358999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h1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61C610-92DE-4D7D-AB72-BADA3BE422CC}"/>
              </a:ext>
            </a:extLst>
          </p:cNvPr>
          <p:cNvSpPr txBox="1"/>
          <p:nvPr/>
        </p:nvSpPr>
        <p:spPr>
          <a:xfrm>
            <a:off x="5146728" y="2190094"/>
            <a:ext cx="1710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D1 </a:t>
            </a:r>
            <a:r>
              <a:rPr lang="en-US" b="1" dirty="0" err="1">
                <a:solidFill>
                  <a:srgbClr val="C00000"/>
                </a:solidFill>
              </a:rPr>
              <a:t>featuremaps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A449E4-5391-409B-B388-1DAED0798D34}"/>
              </a:ext>
            </a:extLst>
          </p:cNvPr>
          <p:cNvSpPr txBox="1"/>
          <p:nvPr/>
        </p:nvSpPr>
        <p:spPr>
          <a:xfrm>
            <a:off x="5406513" y="2772236"/>
            <a:ext cx="487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D2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68D070-030A-4CBD-BB73-FB36BB4FE95A}"/>
              </a:ext>
            </a:extLst>
          </p:cNvPr>
          <p:cNvSpPr txBox="1"/>
          <p:nvPr/>
        </p:nvSpPr>
        <p:spPr>
          <a:xfrm>
            <a:off x="5514298" y="4039455"/>
            <a:ext cx="487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D3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5FE30-F0DD-46C5-8D95-9D68759A2D96}"/>
              </a:ext>
            </a:extLst>
          </p:cNvPr>
          <p:cNvSpPr txBox="1"/>
          <p:nvPr/>
        </p:nvSpPr>
        <p:spPr>
          <a:xfrm>
            <a:off x="6661484" y="5308730"/>
            <a:ext cx="1710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D0+D1+D2+D3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4E7AF3-AA67-46AF-AC54-7BCE1CE91A6F}"/>
              </a:ext>
            </a:extLst>
          </p:cNvPr>
          <p:cNvSpPr txBox="1"/>
          <p:nvPr/>
        </p:nvSpPr>
        <p:spPr>
          <a:xfrm>
            <a:off x="4050890" y="765250"/>
            <a:ext cx="7287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Apply Stride =1 and appropriate padding to retain same output size as input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4B56F2-C75B-4ACE-997F-280E90A6D956}"/>
              </a:ext>
            </a:extLst>
          </p:cNvPr>
          <p:cNvSpPr txBox="1"/>
          <p:nvPr/>
        </p:nvSpPr>
        <p:spPr>
          <a:xfrm>
            <a:off x="4848918" y="1658465"/>
            <a:ext cx="487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D0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75DE05-A357-4BAA-994D-6E33A7D1AC63}"/>
              </a:ext>
            </a:extLst>
          </p:cNvPr>
          <p:cNvSpPr txBox="1"/>
          <p:nvPr/>
        </p:nvSpPr>
        <p:spPr>
          <a:xfrm>
            <a:off x="0" y="6045338"/>
            <a:ext cx="746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we have back to back convolutions, filter size can be smaller(5x5 or 3x3)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3974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F3C619-5D03-4191-85BE-652449137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9BEF68-5897-4379-A711-21A5EB952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Inception Module in GoogLeNet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443F73-1003-4F81-9037-9464F7DCE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25" y="1137256"/>
            <a:ext cx="7322626" cy="51310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DE42FE-7F37-4A11-86A4-DABADC4D3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809" y="985130"/>
            <a:ext cx="2803707" cy="47356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4F3D38-126A-43D7-B4DF-1A0F00A99C03}"/>
              </a:ext>
            </a:extLst>
          </p:cNvPr>
          <p:cNvSpPr txBox="1"/>
          <p:nvPr/>
        </p:nvSpPr>
        <p:spPr>
          <a:xfrm>
            <a:off x="8921651" y="567984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448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29824-A4CC-4C35-A11A-89A90D908ED2}"/>
              </a:ext>
            </a:extLst>
          </p:cNvPr>
          <p:cNvSpPr txBox="1"/>
          <p:nvPr/>
        </p:nvSpPr>
        <p:spPr>
          <a:xfrm>
            <a:off x="7051863" y="2694041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192x28x28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39F675-D21C-40E5-9BC0-5F5099187284}"/>
              </a:ext>
            </a:extLst>
          </p:cNvPr>
          <p:cNvSpPr txBox="1"/>
          <p:nvPr/>
        </p:nvSpPr>
        <p:spPr>
          <a:xfrm>
            <a:off x="7093974" y="1774724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96x28x28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802D6E-964B-4495-BD29-F62780241678}"/>
              </a:ext>
            </a:extLst>
          </p:cNvPr>
          <p:cNvSpPr txBox="1"/>
          <p:nvPr/>
        </p:nvSpPr>
        <p:spPr>
          <a:xfrm>
            <a:off x="7092305" y="3794628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96x28x28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2EA781-9B0E-47AD-9599-9E8BD80AEADE}"/>
              </a:ext>
            </a:extLst>
          </p:cNvPr>
          <p:cNvSpPr txBox="1"/>
          <p:nvPr/>
        </p:nvSpPr>
        <p:spPr>
          <a:xfrm>
            <a:off x="7090335" y="4735317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64x28x28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94B0D0-0935-4DD7-83DF-79840D6D6D98}"/>
              </a:ext>
            </a:extLst>
          </p:cNvPr>
          <p:cNvSpPr txBox="1"/>
          <p:nvPr/>
        </p:nvSpPr>
        <p:spPr>
          <a:xfrm>
            <a:off x="4050890" y="765250"/>
            <a:ext cx="7420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Apply Stride =1 and appropriate padding to retain same output size as input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018322-C64E-45F5-A8AA-3E8FBCB03E81}"/>
              </a:ext>
            </a:extLst>
          </p:cNvPr>
          <p:cNvSpPr txBox="1"/>
          <p:nvPr/>
        </p:nvSpPr>
        <p:spPr>
          <a:xfrm>
            <a:off x="4553247" y="3702776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32x28x28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93A37F-261F-4F13-B4D7-C086F73BC05D}"/>
              </a:ext>
            </a:extLst>
          </p:cNvPr>
          <p:cNvSpPr txBox="1"/>
          <p:nvPr/>
        </p:nvSpPr>
        <p:spPr>
          <a:xfrm>
            <a:off x="4762187" y="4887717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256x28x28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BA0F2E-2D9A-48E3-A220-75935573AB9D}"/>
              </a:ext>
            </a:extLst>
          </p:cNvPr>
          <p:cNvSpPr txBox="1"/>
          <p:nvPr/>
        </p:nvSpPr>
        <p:spPr>
          <a:xfrm>
            <a:off x="4416518" y="2517835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128x28x28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8036E9-F78C-4775-9270-EE951DA3A638}"/>
              </a:ext>
            </a:extLst>
          </p:cNvPr>
          <p:cNvSpPr txBox="1"/>
          <p:nvPr/>
        </p:nvSpPr>
        <p:spPr>
          <a:xfrm>
            <a:off x="8999894" y="6025104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96+192+96+64=448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063FEE-C240-4FB8-B8A7-E418CDFC5AC3}"/>
              </a:ext>
            </a:extLst>
          </p:cNvPr>
          <p:cNvSpPr txBox="1"/>
          <p:nvPr/>
        </p:nvSpPr>
        <p:spPr>
          <a:xfrm>
            <a:off x="3830522" y="565577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S=1,P=1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2BF2FD-BFB9-461F-92D1-5809A11AAB85}"/>
              </a:ext>
            </a:extLst>
          </p:cNvPr>
          <p:cNvSpPr txBox="1"/>
          <p:nvPr/>
        </p:nvSpPr>
        <p:spPr>
          <a:xfrm>
            <a:off x="5959705" y="5593063"/>
            <a:ext cx="1105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reduction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0A2560-92CA-4F1F-BBEC-643C0C393BD1}"/>
              </a:ext>
            </a:extLst>
          </p:cNvPr>
          <p:cNvSpPr txBox="1"/>
          <p:nvPr/>
        </p:nvSpPr>
        <p:spPr>
          <a:xfrm>
            <a:off x="3764348" y="4517048"/>
            <a:ext cx="1105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reduction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3112CE-CF37-4B53-95E0-57434565A4AE}"/>
              </a:ext>
            </a:extLst>
          </p:cNvPr>
          <p:cNvSpPr txBox="1"/>
          <p:nvPr/>
        </p:nvSpPr>
        <p:spPr>
          <a:xfrm>
            <a:off x="3740684" y="3506932"/>
            <a:ext cx="1105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reduction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09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F2987B-8098-4A6B-A84A-34181A750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48E3B1-EF24-4723-89E6-69A0BA017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GoogLeNet Architecture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D461B3-7F34-430C-BD7E-2C9727CDB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7" y="1137256"/>
            <a:ext cx="12192000" cy="2247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5A7C01-BC3B-406A-B243-7F896A1D9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44253"/>
            <a:ext cx="4557832" cy="30256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205BCC-4A33-4C44-B1DB-F63F45B6F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559" y="3447325"/>
            <a:ext cx="3546063" cy="24388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B11063-669E-4E3A-BFA1-DF90D70C4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5021" y="3429000"/>
            <a:ext cx="3996979" cy="26982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CBA542-5826-4A45-A134-4D371FC520B3}"/>
              </a:ext>
            </a:extLst>
          </p:cNvPr>
          <p:cNvSpPr txBox="1"/>
          <p:nvPr/>
        </p:nvSpPr>
        <p:spPr>
          <a:xfrm>
            <a:off x="80187" y="3265281"/>
            <a:ext cx="4362221" cy="3025678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A71387-DB72-4350-A7EB-0ECE75516B91}"/>
              </a:ext>
            </a:extLst>
          </p:cNvPr>
          <p:cNvSpPr txBox="1"/>
          <p:nvPr/>
        </p:nvSpPr>
        <p:spPr>
          <a:xfrm>
            <a:off x="4638019" y="3451004"/>
            <a:ext cx="3546063" cy="269824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7DEC1C-3F70-4DFF-A4C2-C0A7BF2415C6}"/>
              </a:ext>
            </a:extLst>
          </p:cNvPr>
          <p:cNvSpPr txBox="1"/>
          <p:nvPr/>
        </p:nvSpPr>
        <p:spPr>
          <a:xfrm>
            <a:off x="8317868" y="3447325"/>
            <a:ext cx="3793946" cy="2906053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AD01427-425E-423E-9217-CC786B917456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2261298" y="2783840"/>
            <a:ext cx="136462" cy="48144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09C55F8-E990-4B48-99B1-872B9B65240C}"/>
              </a:ext>
            </a:extLst>
          </p:cNvPr>
          <p:cNvCxnSpPr>
            <a:cxnSpLocks/>
          </p:cNvCxnSpPr>
          <p:nvPr/>
        </p:nvCxnSpPr>
        <p:spPr>
          <a:xfrm>
            <a:off x="3120767" y="2714861"/>
            <a:ext cx="2092960" cy="81574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61CF901-4924-4AD7-8F4F-1D226A309EE1}"/>
              </a:ext>
            </a:extLst>
          </p:cNvPr>
          <p:cNvCxnSpPr>
            <a:cxnSpLocks/>
          </p:cNvCxnSpPr>
          <p:nvPr/>
        </p:nvCxnSpPr>
        <p:spPr>
          <a:xfrm>
            <a:off x="4412903" y="2560793"/>
            <a:ext cx="4690457" cy="84243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93BBD55-CD1B-41BD-B03B-D366DF84D3F2}"/>
              </a:ext>
            </a:extLst>
          </p:cNvPr>
          <p:cNvSpPr txBox="1"/>
          <p:nvPr/>
        </p:nvSpPr>
        <p:spPr>
          <a:xfrm>
            <a:off x="912624" y="5967037"/>
            <a:ext cx="1845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64+128+32+32=256</a:t>
            </a:r>
            <a:endParaRPr lang="en-IN" sz="1600" b="1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CB3AC6-D231-4375-8111-4ACE003AD099}"/>
              </a:ext>
            </a:extLst>
          </p:cNvPr>
          <p:cNvSpPr txBox="1"/>
          <p:nvPr/>
        </p:nvSpPr>
        <p:spPr>
          <a:xfrm>
            <a:off x="5071195" y="5831200"/>
            <a:ext cx="1845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96+192+96+64=480</a:t>
            </a:r>
            <a:endParaRPr lang="en-IN" sz="1600" b="1" dirty="0">
              <a:solidFill>
                <a:srgbClr val="C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08D941-513D-40EF-86E5-E5C0C5FC8130}"/>
              </a:ext>
            </a:extLst>
          </p:cNvPr>
          <p:cNvSpPr txBox="1"/>
          <p:nvPr/>
        </p:nvSpPr>
        <p:spPr>
          <a:xfrm>
            <a:off x="3305854" y="5967037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256x28x28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1F99D9-DECB-46DD-9CD5-0A1778D16531}"/>
              </a:ext>
            </a:extLst>
          </p:cNvPr>
          <p:cNvSpPr txBox="1"/>
          <p:nvPr/>
        </p:nvSpPr>
        <p:spPr>
          <a:xfrm>
            <a:off x="7025308" y="5611858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480x28x28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CEB79F-3847-44E2-B853-5697D5BFDB76}"/>
              </a:ext>
            </a:extLst>
          </p:cNvPr>
          <p:cNvSpPr txBox="1"/>
          <p:nvPr/>
        </p:nvSpPr>
        <p:spPr>
          <a:xfrm>
            <a:off x="11009663" y="5860672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512x28x28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95D7A7-8956-40EB-A63D-4355B57A6359}"/>
              </a:ext>
            </a:extLst>
          </p:cNvPr>
          <p:cNvSpPr txBox="1"/>
          <p:nvPr/>
        </p:nvSpPr>
        <p:spPr>
          <a:xfrm>
            <a:off x="8544230" y="5967037"/>
            <a:ext cx="19495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192+208+48+64=512</a:t>
            </a:r>
            <a:endParaRPr lang="en-IN" sz="1600" b="1" dirty="0">
              <a:solidFill>
                <a:srgbClr val="C0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DA11FB-7121-4FD8-ACF3-37BD8470BD80}"/>
              </a:ext>
            </a:extLst>
          </p:cNvPr>
          <p:cNvSpPr txBox="1"/>
          <p:nvPr/>
        </p:nvSpPr>
        <p:spPr>
          <a:xfrm>
            <a:off x="1439309" y="3262659"/>
            <a:ext cx="1182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Inception I</a:t>
            </a: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0543B4-8337-4037-A81F-7A88C37B069D}"/>
              </a:ext>
            </a:extLst>
          </p:cNvPr>
          <p:cNvSpPr txBox="1"/>
          <p:nvPr/>
        </p:nvSpPr>
        <p:spPr>
          <a:xfrm>
            <a:off x="5683164" y="3405595"/>
            <a:ext cx="1240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Inception II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A08B79-2D59-4383-83BA-674AA2B180D1}"/>
              </a:ext>
            </a:extLst>
          </p:cNvPr>
          <p:cNvSpPr txBox="1"/>
          <p:nvPr/>
        </p:nvSpPr>
        <p:spPr>
          <a:xfrm>
            <a:off x="9623685" y="3447325"/>
            <a:ext cx="1297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Inception III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CFAF3A-B53D-4CD0-9B39-4973943F011F}"/>
              </a:ext>
            </a:extLst>
          </p:cNvPr>
          <p:cNvSpPr txBox="1"/>
          <p:nvPr/>
        </p:nvSpPr>
        <p:spPr>
          <a:xfrm>
            <a:off x="2057228" y="1415658"/>
            <a:ext cx="1182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Inception I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5D9041-CD4B-4040-8137-34C2B8670244}"/>
              </a:ext>
            </a:extLst>
          </p:cNvPr>
          <p:cNvSpPr txBox="1"/>
          <p:nvPr/>
        </p:nvSpPr>
        <p:spPr>
          <a:xfrm>
            <a:off x="3177387" y="1422974"/>
            <a:ext cx="1240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Inception II</a:t>
            </a:r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8A2C5B-7647-4D86-9DDF-3EAF2BBFBC52}"/>
              </a:ext>
            </a:extLst>
          </p:cNvPr>
          <p:cNvSpPr txBox="1"/>
          <p:nvPr/>
        </p:nvSpPr>
        <p:spPr>
          <a:xfrm>
            <a:off x="4412903" y="1435371"/>
            <a:ext cx="1297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Inception III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471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48E3B1-EF24-4723-89E6-69A0BA017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348662"/>
            <a:ext cx="12652888" cy="464000"/>
          </a:xfrm>
        </p:spPr>
        <p:txBody>
          <a:bodyPr/>
          <a:lstStyle/>
          <a:p>
            <a:r>
              <a:rPr lang="en-US" sz="2400" dirty="0"/>
              <a:t>GoogLeNet Architecture- Average Pooling, Auxiliary Loss for training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D461B3-7F34-430C-BD7E-2C9727CDB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7" y="1185318"/>
            <a:ext cx="12192000" cy="22476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02F357-C31B-44E9-B6BC-BF772F6E6E5D}"/>
              </a:ext>
            </a:extLst>
          </p:cNvPr>
          <p:cNvSpPr txBox="1"/>
          <p:nvPr/>
        </p:nvSpPr>
        <p:spPr>
          <a:xfrm>
            <a:off x="7508158" y="3126716"/>
            <a:ext cx="1721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Average pooling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50369E-19B5-44A6-8277-826E15F0ACC1}"/>
              </a:ext>
            </a:extLst>
          </p:cNvPr>
          <p:cNvSpPr txBox="1"/>
          <p:nvPr/>
        </p:nvSpPr>
        <p:spPr>
          <a:xfrm>
            <a:off x="6737327" y="5232104"/>
            <a:ext cx="4107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average of 7x7 2D image and do it </a:t>
            </a:r>
            <a:r>
              <a:rPr lang="en-US" dirty="0" err="1"/>
              <a:t>depthwise</a:t>
            </a:r>
            <a:r>
              <a:rPr lang="en-US" dirty="0"/>
              <a:t> resulting in a 1D vector of 1024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F10F8D-C2A6-446B-8F24-449B70E4F44C}"/>
              </a:ext>
            </a:extLst>
          </p:cNvPr>
          <p:cNvSpPr txBox="1"/>
          <p:nvPr/>
        </p:nvSpPr>
        <p:spPr>
          <a:xfrm>
            <a:off x="7844235" y="486277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1024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78727B-53C9-4065-BCDC-774E50F65494}"/>
              </a:ext>
            </a:extLst>
          </p:cNvPr>
          <p:cNvSpPr txBox="1"/>
          <p:nvPr/>
        </p:nvSpPr>
        <p:spPr>
          <a:xfrm>
            <a:off x="9860069" y="46411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7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63CF1F-4219-4CB8-9C10-1BF6AF08DA4E}"/>
              </a:ext>
            </a:extLst>
          </p:cNvPr>
          <p:cNvSpPr txBox="1"/>
          <p:nvPr/>
        </p:nvSpPr>
        <p:spPr>
          <a:xfrm>
            <a:off x="10093455" y="38632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7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176F0AB6-A55C-4AFE-87EF-1124B8C47686}"/>
              </a:ext>
            </a:extLst>
          </p:cNvPr>
          <p:cNvSpPr/>
          <p:nvPr/>
        </p:nvSpPr>
        <p:spPr>
          <a:xfrm>
            <a:off x="6302478" y="3698747"/>
            <a:ext cx="3736258" cy="1089455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EBBE7C-18DA-45BA-8B0D-A7F7B4AEB941}"/>
              </a:ext>
            </a:extLst>
          </p:cNvPr>
          <p:cNvCxnSpPr/>
          <p:nvPr/>
        </p:nvCxnSpPr>
        <p:spPr>
          <a:xfrm flipH="1">
            <a:off x="8967019" y="2608959"/>
            <a:ext cx="1612491" cy="982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C7EB690-EB01-46F2-8F67-49304A18EF11}"/>
              </a:ext>
            </a:extLst>
          </p:cNvPr>
          <p:cNvSpPr txBox="1"/>
          <p:nvPr/>
        </p:nvSpPr>
        <p:spPr>
          <a:xfrm>
            <a:off x="134835" y="4654145"/>
            <a:ext cx="61402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auxiliary loss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will add extra gradient flow during </a:t>
            </a:r>
            <a:r>
              <a:rPr lang="en-US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backpropogation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, thereby helping to reduce gradient vanishing problem, training stability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8A97DA-CB26-4BF8-AD73-A42807AF333F}"/>
              </a:ext>
            </a:extLst>
          </p:cNvPr>
          <p:cNvSpPr/>
          <p:nvPr/>
        </p:nvSpPr>
        <p:spPr>
          <a:xfrm>
            <a:off x="3254478" y="2889496"/>
            <a:ext cx="275303" cy="7489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43CACA-2200-4EBF-B244-D0715D2A4DFC}"/>
              </a:ext>
            </a:extLst>
          </p:cNvPr>
          <p:cNvSpPr txBox="1"/>
          <p:nvPr/>
        </p:nvSpPr>
        <p:spPr>
          <a:xfrm>
            <a:off x="3529480" y="3180843"/>
            <a:ext cx="2223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Fully connected layer </a:t>
            </a:r>
            <a:endParaRPr lang="en-IN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3202D19-0939-45ED-B96E-5BEEF3A51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9" y="2867002"/>
            <a:ext cx="228543" cy="23215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C3B407A-27A1-410B-BC77-076C1543BBD9}"/>
              </a:ext>
            </a:extLst>
          </p:cNvPr>
          <p:cNvSpPr txBox="1"/>
          <p:nvPr/>
        </p:nvSpPr>
        <p:spPr>
          <a:xfrm>
            <a:off x="3721009" y="288294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  <a:endParaRPr lang="en-IN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75F6085-9CD4-4EA3-B757-3B7B2A762E2F}"/>
              </a:ext>
            </a:extLst>
          </p:cNvPr>
          <p:cNvCxnSpPr>
            <a:cxnSpLocks/>
          </p:cNvCxnSpPr>
          <p:nvPr/>
        </p:nvCxnSpPr>
        <p:spPr>
          <a:xfrm>
            <a:off x="3530708" y="3534317"/>
            <a:ext cx="426009" cy="7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DC127733-B0FD-4568-AFC1-88D942373851}"/>
              </a:ext>
            </a:extLst>
          </p:cNvPr>
          <p:cNvSpPr/>
          <p:nvPr/>
        </p:nvSpPr>
        <p:spPr>
          <a:xfrm>
            <a:off x="6312508" y="1015361"/>
            <a:ext cx="275303" cy="7489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45ECA6-FE04-4241-AE00-60A91C562B62}"/>
              </a:ext>
            </a:extLst>
          </p:cNvPr>
          <p:cNvSpPr txBox="1"/>
          <p:nvPr/>
        </p:nvSpPr>
        <p:spPr>
          <a:xfrm>
            <a:off x="6897943" y="1263733"/>
            <a:ext cx="2223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Fully connected layer </a:t>
            </a:r>
            <a:endParaRPr lang="en-IN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2B77D7-C76E-4D33-BB6C-AA8DD521C3DB}"/>
              </a:ext>
            </a:extLst>
          </p:cNvPr>
          <p:cNvSpPr txBox="1"/>
          <p:nvPr/>
        </p:nvSpPr>
        <p:spPr>
          <a:xfrm>
            <a:off x="6036506" y="102807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  <a:endParaRPr lang="en-IN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25157F1-2A15-44F6-B565-8FAC2B2D0850}"/>
              </a:ext>
            </a:extLst>
          </p:cNvPr>
          <p:cNvCxnSpPr>
            <a:cxnSpLocks/>
          </p:cNvCxnSpPr>
          <p:nvPr/>
        </p:nvCxnSpPr>
        <p:spPr>
          <a:xfrm flipV="1">
            <a:off x="5985911" y="1677198"/>
            <a:ext cx="316567" cy="356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2" name="Picture 81">
            <a:extLst>
              <a:ext uri="{FF2B5EF4-FFF2-40B4-BE49-F238E27FC236}">
                <a16:creationId xmlns:a16="http://schemas.microsoft.com/office/drawing/2014/main" id="{9D541143-3BFE-48CC-A353-4B376E6AD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536" y="987438"/>
            <a:ext cx="228543" cy="232155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21A22316-4B70-4DB6-AAB6-22A4491DC2B1}"/>
              </a:ext>
            </a:extLst>
          </p:cNvPr>
          <p:cNvSpPr txBox="1"/>
          <p:nvPr/>
        </p:nvSpPr>
        <p:spPr>
          <a:xfrm>
            <a:off x="2373367" y="971930"/>
            <a:ext cx="1758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backpropagation</a:t>
            </a:r>
            <a:endParaRPr lang="en-IN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88F1277-92C6-42D1-896C-A3B85FE2576A}"/>
              </a:ext>
            </a:extLst>
          </p:cNvPr>
          <p:cNvSpPr txBox="1"/>
          <p:nvPr/>
        </p:nvSpPr>
        <p:spPr>
          <a:xfrm>
            <a:off x="1296421" y="3514473"/>
            <a:ext cx="1758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backpropagation</a:t>
            </a:r>
            <a:endParaRPr lang="en-IN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A226AC5-4036-4523-B206-BC0C216DEF29}"/>
              </a:ext>
            </a:extLst>
          </p:cNvPr>
          <p:cNvSpPr txBox="1"/>
          <p:nvPr/>
        </p:nvSpPr>
        <p:spPr>
          <a:xfrm>
            <a:off x="1752720" y="3879640"/>
            <a:ext cx="6619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Auxiliary Loss for training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602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2FF56E-AE1F-4944-B3EF-D56C612C5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1414D1-BB36-4925-90BD-D748C2D2CE6C}"/>
              </a:ext>
            </a:extLst>
          </p:cNvPr>
          <p:cNvSpPr txBox="1"/>
          <p:nvPr/>
        </p:nvSpPr>
        <p:spPr>
          <a:xfrm>
            <a:off x="1652748" y="1747049"/>
            <a:ext cx="9296969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rial Nova Cond" panose="020B0506020202020204" pitchFamily="34" charset="0"/>
              </a:rPr>
              <a:t>Choice of filters- </a:t>
            </a:r>
            <a:r>
              <a:rPr lang="en-US" sz="3200" dirty="0">
                <a:latin typeface="Arial Nova Cond" panose="020B0506020202020204" pitchFamily="34" charset="0"/>
              </a:rPr>
              <a:t>Parallel Convolutions and Max-pooling</a:t>
            </a:r>
          </a:p>
          <a:p>
            <a:r>
              <a:rPr lang="en-IN" sz="3200" b="1" dirty="0">
                <a:solidFill>
                  <a:srgbClr val="C00000"/>
                </a:solidFill>
                <a:latin typeface="Arial Nova Cond" panose="020B0506020202020204" pitchFamily="34" charset="0"/>
              </a:rPr>
              <a:t>Reduce the number of parameters- </a:t>
            </a:r>
            <a:r>
              <a:rPr lang="en-IN" sz="3200" dirty="0">
                <a:latin typeface="Arial Nova Cond" panose="020B0506020202020204" pitchFamily="34" charset="0"/>
              </a:rPr>
              <a:t>Average pooling</a:t>
            </a:r>
          </a:p>
          <a:p>
            <a:r>
              <a:rPr lang="en-IN" sz="3200" b="1" dirty="0">
                <a:solidFill>
                  <a:srgbClr val="C00000"/>
                </a:solidFill>
                <a:latin typeface="Arial Nova Cond" panose="020B0506020202020204" pitchFamily="34" charset="0"/>
              </a:rPr>
              <a:t>Reduce the computations </a:t>
            </a:r>
            <a:r>
              <a:rPr lang="en-IN" sz="3200" dirty="0">
                <a:latin typeface="Arial Nova Cond" panose="020B0506020202020204" pitchFamily="34" charset="0"/>
              </a:rPr>
              <a:t>– 1x1 Convolutions</a:t>
            </a:r>
          </a:p>
          <a:p>
            <a:r>
              <a:rPr lang="en-IN" sz="3200" dirty="0">
                <a:latin typeface="Arial Nova Cond" panose="020B0506020202020204" pitchFamily="34" charset="0"/>
              </a:rPr>
              <a:t>Deeper Networks</a:t>
            </a:r>
          </a:p>
        </p:txBody>
      </p:sp>
    </p:spTree>
    <p:extLst>
      <p:ext uri="{BB962C8B-B14F-4D97-AF65-F5344CB8AC3E}">
        <p14:creationId xmlns:p14="http://schemas.microsoft.com/office/powerpoint/2010/main" val="4204099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019E6-2BD9-4F92-A543-21D90A1A90AC}"/>
              </a:ext>
            </a:extLst>
          </p:cNvPr>
          <p:cNvSpPr/>
          <p:nvPr/>
        </p:nvSpPr>
        <p:spPr>
          <a:xfrm>
            <a:off x="2443413" y="1513927"/>
            <a:ext cx="8860221" cy="3830145"/>
          </a:xfrm>
          <a:prstGeom prst="rect">
            <a:avLst/>
          </a:prstGeom>
          <a:solidFill>
            <a:srgbClr val="FDDAF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Convolutional Neural Network  Architectures</a:t>
            </a:r>
          </a:p>
          <a:p>
            <a:pPr algn="ctr"/>
            <a:r>
              <a:rPr lang="en-IN" sz="3600" b="1" i="0" dirty="0" err="1">
                <a:solidFill>
                  <a:srgbClr val="292929"/>
                </a:solidFill>
                <a:effectLst/>
                <a:latin typeface="sohne"/>
              </a:rPr>
              <a:t>ResNet</a:t>
            </a:r>
            <a:r>
              <a:rPr lang="en-IN" sz="3600" b="1" i="0" dirty="0">
                <a:solidFill>
                  <a:srgbClr val="292929"/>
                </a:solidFill>
                <a:effectLst/>
                <a:latin typeface="sohne"/>
              </a:rPr>
              <a:t> </a:t>
            </a:r>
          </a:p>
          <a:p>
            <a:pPr algn="ctr"/>
            <a:r>
              <a:rPr lang="en-IN" sz="2800" b="1" i="0" dirty="0">
                <a:solidFill>
                  <a:srgbClr val="292929"/>
                </a:solidFill>
                <a:effectLst/>
                <a:latin typeface="sohne"/>
              </a:rPr>
              <a:t>— </a:t>
            </a:r>
            <a:r>
              <a:rPr lang="en-IN" sz="2400" b="1" i="0" dirty="0">
                <a:solidFill>
                  <a:srgbClr val="292929"/>
                </a:solidFill>
                <a:effectLst/>
                <a:latin typeface="sohne"/>
              </a:rPr>
              <a:t>Winner of ILSVRC 2015 (Image Classification, Localization, Detection)</a:t>
            </a:r>
          </a:p>
          <a:p>
            <a:pPr algn="ctr"/>
            <a:endParaRPr lang="en-IN" sz="2800" b="0" i="0" dirty="0">
              <a:solidFill>
                <a:srgbClr val="292929"/>
              </a:solidFill>
              <a:effectLst/>
              <a:latin typeface="sohne"/>
            </a:endParaRPr>
          </a:p>
          <a:p>
            <a:pPr algn="ctr"/>
            <a:endParaRPr lang="en-IN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69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03"/>
    </mc:Choice>
    <mc:Fallback xmlns="">
      <p:transition spd="slow" advTm="18703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F8487F-2EB7-4DCC-B4E8-B27239BAA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2B4F30-BE6F-4F7E-8343-19D12EF96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38303"/>
            <a:ext cx="11209376" cy="464000"/>
          </a:xfrm>
        </p:spPr>
        <p:txBody>
          <a:bodyPr/>
          <a:lstStyle/>
          <a:p>
            <a:r>
              <a:rPr lang="en-IN" b="1" i="0" dirty="0">
                <a:solidFill>
                  <a:srgbClr val="C00000"/>
                </a:solidFill>
                <a:effectLst/>
                <a:latin typeface="Arial Nova Cond" panose="020B0506020202020204" pitchFamily="34" charset="0"/>
              </a:rPr>
              <a:t>ImageNet Large Scale Visual Recognition Challenge (ILSVRC)</a:t>
            </a:r>
            <a:br>
              <a:rPr lang="en-IN" b="1" i="0" dirty="0">
                <a:solidFill>
                  <a:srgbClr val="C00000"/>
                </a:solidFill>
                <a:effectLst/>
                <a:latin typeface="Arial Nova Cond" panose="020B0506020202020204" pitchFamily="34" charset="0"/>
              </a:rPr>
            </a:br>
            <a:endParaRPr lang="en-IN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D8BBC2-CC65-4E13-B11E-09FCC678C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0" y="769539"/>
            <a:ext cx="11975690" cy="54518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38DA7A-B8FA-4B6D-BDC5-2B107B86A3EF}"/>
              </a:ext>
            </a:extLst>
          </p:cNvPr>
          <p:cNvSpPr txBox="1"/>
          <p:nvPr/>
        </p:nvSpPr>
        <p:spPr>
          <a:xfrm>
            <a:off x="80187" y="6036679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https://image-net.org/challenges/LSVRC/index.php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DFD92-A007-420D-9298-13B95C5AAD5A}"/>
              </a:ext>
            </a:extLst>
          </p:cNvPr>
          <p:cNvSpPr txBox="1"/>
          <p:nvPr/>
        </p:nvSpPr>
        <p:spPr>
          <a:xfrm rot="16200000">
            <a:off x="216310" y="3234813"/>
            <a:ext cx="108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 rate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338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939"/>
    </mc:Choice>
    <mc:Fallback xmlns="">
      <p:transition spd="slow" advTm="30939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7742B7-DD58-496A-A17F-A1D98219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ResNet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BADCF7-95C3-46BF-BDBA-7C42C612E9A5}"/>
              </a:ext>
            </a:extLst>
          </p:cNvPr>
          <p:cNvSpPr txBox="1"/>
          <p:nvPr/>
        </p:nvSpPr>
        <p:spPr>
          <a:xfrm>
            <a:off x="1696064" y="1651853"/>
            <a:ext cx="8577417" cy="26776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i="0" dirty="0">
                <a:solidFill>
                  <a:srgbClr val="292929"/>
                </a:solidFill>
                <a:effectLst/>
                <a:latin typeface="Arial Nova Cond"/>
              </a:rPr>
              <a:t>ResNet introduces skip connection</a:t>
            </a:r>
            <a:r>
              <a:rPr lang="en-US" sz="2400" b="0" i="0" dirty="0">
                <a:solidFill>
                  <a:srgbClr val="292929"/>
                </a:solidFill>
                <a:effectLst/>
                <a:latin typeface="Arial Nova Cond"/>
              </a:rPr>
              <a:t> (or </a:t>
            </a:r>
            <a:r>
              <a:rPr lang="en-US" sz="2400" b="1" i="0" dirty="0">
                <a:solidFill>
                  <a:srgbClr val="292929"/>
                </a:solidFill>
                <a:effectLst/>
                <a:latin typeface="Arial Nova Cond"/>
              </a:rPr>
              <a:t>shortcut connection</a:t>
            </a:r>
            <a:r>
              <a:rPr lang="en-US" sz="2400" b="0" i="0" dirty="0">
                <a:solidFill>
                  <a:srgbClr val="292929"/>
                </a:solidFill>
                <a:effectLst/>
                <a:latin typeface="Arial Nova Cond"/>
              </a:rPr>
              <a:t>) to fit the input from the previous layer to the next layer without any modification of the input. Skip connection enables to have deeper network and finally ResNet becomes the </a:t>
            </a:r>
            <a:r>
              <a:rPr lang="en-US" sz="2400" b="1" i="0" dirty="0">
                <a:solidFill>
                  <a:srgbClr val="292929"/>
                </a:solidFill>
                <a:effectLst/>
                <a:latin typeface="Arial Nova Cond"/>
              </a:rPr>
              <a:t>Winner of ILSVRC 2015 in image classification, detection, and localization, as well as Winner of MS COCO 2015 detection, and segmentation. </a:t>
            </a:r>
            <a:r>
              <a:rPr lang="en-US" sz="2400" b="0" i="0" dirty="0">
                <a:solidFill>
                  <a:srgbClr val="292929"/>
                </a:solidFill>
                <a:effectLst/>
                <a:latin typeface="Arial Nova Cond"/>
              </a:rPr>
              <a:t>This is a </a:t>
            </a:r>
            <a:r>
              <a:rPr lang="en-US" sz="2400" b="1" i="0" dirty="0">
                <a:solidFill>
                  <a:srgbClr val="292929"/>
                </a:solidFill>
                <a:effectLst/>
                <a:latin typeface="Arial Nova Cond"/>
              </a:rPr>
              <a:t>2016 CVPR </a:t>
            </a:r>
            <a:r>
              <a:rPr lang="en-US" sz="2400" b="0" i="0">
                <a:solidFill>
                  <a:srgbClr val="292929"/>
                </a:solidFill>
                <a:effectLst/>
                <a:latin typeface="Arial Nova Cond"/>
              </a:rPr>
              <a:t>paper with </a:t>
            </a:r>
            <a:r>
              <a:rPr lang="en-US" sz="2400" b="1">
                <a:solidFill>
                  <a:srgbClr val="292929"/>
                </a:solidFill>
                <a:latin typeface="Arial Nova Cond"/>
              </a:rPr>
              <a:t>266713 </a:t>
            </a:r>
            <a:r>
              <a:rPr lang="en-US" sz="2400" b="1" i="0">
                <a:solidFill>
                  <a:srgbClr val="292929"/>
                </a:solidFill>
                <a:effectLst/>
                <a:latin typeface="Arial Nova Cond"/>
              </a:rPr>
              <a:t>citations</a:t>
            </a:r>
            <a:r>
              <a:rPr lang="en-US" sz="2400" b="1">
                <a:solidFill>
                  <a:srgbClr val="292929"/>
                </a:solidFill>
                <a:latin typeface="Arial Nova Cond"/>
              </a:rPr>
              <a:t> as of 13 March 2025.</a:t>
            </a:r>
            <a:endParaRPr lang="en-IN" sz="2400">
              <a:latin typeface="Arial Nova Con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5C0298-4724-4031-A343-4A5204E43DBE}"/>
              </a:ext>
            </a:extLst>
          </p:cNvPr>
          <p:cNvSpPr txBox="1"/>
          <p:nvPr/>
        </p:nvSpPr>
        <p:spPr>
          <a:xfrm>
            <a:off x="247335" y="4604082"/>
            <a:ext cx="11527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ImageNet, is a dataset of over 15 millions labeled high-resolution images with around 22,000 categories. ILSVRC uses a subset of ImageNet of around 1000 images in each of 1000 categories. In all, there are roughly 1.2 million training images, 50,000 validation images and 100,000 testing images.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2F69BB-D67E-6BA3-98AE-0DBC24F1C512}"/>
              </a:ext>
            </a:extLst>
          </p:cNvPr>
          <p:cNvSpPr txBox="1"/>
          <p:nvPr/>
        </p:nvSpPr>
        <p:spPr>
          <a:xfrm>
            <a:off x="118752" y="5659764"/>
            <a:ext cx="1104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EB Garamond" panose="00000500000000000000" pitchFamily="2" charset="0"/>
              </a:rPr>
              <a:t>ResNet</a:t>
            </a:r>
            <a:r>
              <a:rPr lang="en-US" b="0" i="0" dirty="0">
                <a:solidFill>
                  <a:srgbClr val="000000"/>
                </a:solidFill>
                <a:effectLst/>
                <a:latin typeface="EB Garamond" panose="00000500000000000000" pitchFamily="2" charset="0"/>
              </a:rPr>
              <a:t> was designed by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EB Garamond" panose="00000500000000000000" pitchFamily="2" charset="0"/>
              </a:rPr>
              <a:t>Kaiming</a:t>
            </a:r>
            <a:r>
              <a:rPr lang="en-US" b="0" i="0" dirty="0">
                <a:solidFill>
                  <a:srgbClr val="000000"/>
                </a:solidFill>
                <a:effectLst/>
                <a:latin typeface="EB Garamond" panose="00000500000000000000" pitchFamily="2" charset="0"/>
              </a:rPr>
              <a:t> He in 2015 in a paper titled </a:t>
            </a:r>
            <a:r>
              <a:rPr lang="en-US" b="0" i="1" u="none" strike="noStrike" dirty="0">
                <a:solidFill>
                  <a:srgbClr val="202020"/>
                </a:solidFill>
                <a:effectLst/>
                <a:latin typeface="EB Garamond" panose="00000500000000000000" pitchFamily="2" charset="0"/>
                <a:hlinkClick r:id="rId3"/>
              </a:rPr>
              <a:t>Deep Residual Learning for Image Recognition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7795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D22B2A-8F47-414F-920B-CDF1E3B6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Background-</a:t>
            </a:r>
            <a:r>
              <a:rPr lang="en-US" b="1" i="0" dirty="0">
                <a:solidFill>
                  <a:srgbClr val="292929"/>
                </a:solidFill>
                <a:effectLst/>
                <a:latin typeface="sohne"/>
              </a:rPr>
              <a:t>Problems of Plain Network</a:t>
            </a:r>
            <a:br>
              <a:rPr lang="en-US" b="0" i="0" dirty="0">
                <a:solidFill>
                  <a:srgbClr val="292929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D406D-3F36-4C73-832A-00498A047B85}"/>
              </a:ext>
            </a:extLst>
          </p:cNvPr>
          <p:cNvSpPr txBox="1"/>
          <p:nvPr/>
        </p:nvSpPr>
        <p:spPr>
          <a:xfrm>
            <a:off x="653846" y="1522570"/>
            <a:ext cx="6105832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For conventional deep learning networks ( Plain Network)</a:t>
            </a:r>
            <a:r>
              <a:rPr lang="en-US" b="0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, having conv layers then fully connected (FC) layers for classification task like 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AlexNet</a:t>
            </a:r>
            <a:r>
              <a:rPr lang="en-US" b="0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, 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ZFNet</a:t>
            </a:r>
            <a:r>
              <a:rPr lang="en-US" b="0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 and 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VGGNet</a:t>
            </a:r>
            <a:r>
              <a:rPr lang="en-US" b="0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,</a:t>
            </a:r>
          </a:p>
          <a:p>
            <a:pPr algn="l"/>
            <a:r>
              <a:rPr lang="en-US" b="0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 </a:t>
            </a:r>
            <a:r>
              <a:rPr lang="en-US" b="1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When the plain network is deeper (layers are increased), the problem of vanishing/exploding gradients occurs.</a:t>
            </a:r>
            <a:endParaRPr lang="en-US" b="0" i="0" dirty="0">
              <a:solidFill>
                <a:srgbClr val="292929"/>
              </a:solidFill>
              <a:effectLst/>
              <a:latin typeface="Arial Nova Cond" panose="020B0506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2E886C-1CAE-4353-A20F-E1F167836069}"/>
              </a:ext>
            </a:extLst>
          </p:cNvPr>
          <p:cNvSpPr txBox="1"/>
          <p:nvPr/>
        </p:nvSpPr>
        <p:spPr>
          <a:xfrm>
            <a:off x="653846" y="3360152"/>
            <a:ext cx="6105832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292929"/>
                </a:solidFill>
                <a:latin typeface="Arial Nova Cond" panose="020B0506020202020204" pitchFamily="34" charset="0"/>
              </a:rPr>
              <a:t>V</a:t>
            </a:r>
            <a:r>
              <a:rPr lang="en-US" b="1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anishing/exploding gradients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During backpropagation, when partial derivative of the error function with respect to the current weight in each iteration of training, this has the effect of </a:t>
            </a:r>
            <a:r>
              <a:rPr lang="en-US" b="1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multiplying </a:t>
            </a:r>
            <a:r>
              <a:rPr lang="en-US" b="1" i="1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n</a:t>
            </a:r>
            <a:r>
              <a:rPr lang="en-US" b="1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 of these small / large numbers to compute gradients </a:t>
            </a:r>
            <a:r>
              <a:rPr lang="en-US" b="0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of the “front” layers in an </a:t>
            </a:r>
            <a:r>
              <a:rPr lang="en-US" b="0" i="1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n</a:t>
            </a:r>
            <a:r>
              <a:rPr lang="en-US" b="0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-layer network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When the network is deep, and multiplying </a:t>
            </a:r>
            <a:r>
              <a:rPr lang="en-US" b="0" i="1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n</a:t>
            </a:r>
            <a:r>
              <a:rPr lang="en-US" b="0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 of these small numbers will become zero (vanished).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When the network is deep, and multiplying </a:t>
            </a:r>
            <a:r>
              <a:rPr lang="en-US" b="0" i="1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n</a:t>
            </a:r>
            <a:r>
              <a:rPr lang="en-US" b="0" i="0" dirty="0">
                <a:solidFill>
                  <a:srgbClr val="292929"/>
                </a:solidFill>
                <a:effectLst/>
                <a:latin typeface="Arial Nova Cond" panose="020B0506020202020204" pitchFamily="34" charset="0"/>
              </a:rPr>
              <a:t> of these large numbers will become too large (exploded).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AD85F0-79CF-4F7B-91AF-49025016E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82" y="80694"/>
            <a:ext cx="3629025" cy="25431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819418-AD1A-4920-A00B-6704DB25E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157" y="2623869"/>
            <a:ext cx="3600450" cy="24288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F47EEE-3A57-4B8A-9A6B-093DB0F6E1CE}"/>
              </a:ext>
            </a:extLst>
          </p:cNvPr>
          <p:cNvSpPr txBox="1"/>
          <p:nvPr/>
        </p:nvSpPr>
        <p:spPr>
          <a:xfrm>
            <a:off x="6847840" y="4899035"/>
            <a:ext cx="54650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292929"/>
                </a:solidFill>
                <a:effectLst/>
                <a:latin typeface="charter"/>
              </a:rPr>
              <a:t>We expect deeper network will have more accurate prediction. However, above shows an example, </a:t>
            </a:r>
            <a:r>
              <a:rPr lang="en-US" sz="1600" b="1" i="0" dirty="0">
                <a:solidFill>
                  <a:srgbClr val="292929"/>
                </a:solidFill>
                <a:effectLst/>
                <a:latin typeface="charter"/>
              </a:rPr>
              <a:t>20-layer plain network got lower training error and test error than 56-layer plain network</a:t>
            </a:r>
            <a:r>
              <a:rPr lang="en-US" sz="1600" b="0" i="0" dirty="0">
                <a:solidFill>
                  <a:srgbClr val="292929"/>
                </a:solidFill>
                <a:effectLst/>
                <a:latin typeface="charter"/>
              </a:rPr>
              <a:t>, a degradation problem occurs due to vanishing gradients.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7080114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86F83B-D8EA-4C76-A714-EF1C11B6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599807"/>
            <a:ext cx="11209376" cy="464000"/>
          </a:xfrm>
        </p:spPr>
        <p:txBody>
          <a:bodyPr/>
          <a:lstStyle/>
          <a:p>
            <a:r>
              <a:rPr lang="en-US" b="1" i="0" dirty="0">
                <a:solidFill>
                  <a:srgbClr val="C00000"/>
                </a:solidFill>
                <a:effectLst/>
                <a:latin typeface="Arial Nova Cond" panose="020B0506020202020204" pitchFamily="34" charset="0"/>
              </a:rPr>
              <a:t>Skip / Shortcut Connection in Residual Network (ResNet)</a:t>
            </a:r>
            <a:br>
              <a:rPr lang="en-US" b="0" i="0" dirty="0">
                <a:solidFill>
                  <a:srgbClr val="C00000"/>
                </a:solidFill>
                <a:effectLst/>
                <a:latin typeface="Arial Nova Cond" panose="020B0506020202020204" pitchFamily="34" charset="0"/>
              </a:rPr>
            </a:br>
            <a:endParaRPr lang="en-IN" dirty="0">
              <a:solidFill>
                <a:srgbClr val="C00000"/>
              </a:solidFill>
              <a:latin typeface="Arial Nova Cond" panose="020B0506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14BF1-3A17-48E2-9021-015FBE16E9B1}"/>
              </a:ext>
            </a:extLst>
          </p:cNvPr>
          <p:cNvSpPr txBox="1"/>
          <p:nvPr/>
        </p:nvSpPr>
        <p:spPr>
          <a:xfrm>
            <a:off x="726440" y="940415"/>
            <a:ext cx="10520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To solve the problem of vanishing/exploding gradients, a skip / shortcut connection is added to add the input </a:t>
            </a:r>
            <a:r>
              <a:rPr lang="en-US" b="0" i="1" dirty="0">
                <a:solidFill>
                  <a:srgbClr val="292929"/>
                </a:solidFill>
                <a:effectLst/>
                <a:latin typeface="charter"/>
              </a:rPr>
              <a:t>x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to the output after few weight layers as below: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42AD6C7-04A8-478B-8194-71D90705F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23" y="2300287"/>
            <a:ext cx="4257675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A3A6F2-7D9F-481F-8D02-9C54731A1E15}"/>
              </a:ext>
            </a:extLst>
          </p:cNvPr>
          <p:cNvSpPr txBox="1"/>
          <p:nvPr/>
        </p:nvSpPr>
        <p:spPr>
          <a:xfrm>
            <a:off x="421323" y="4778529"/>
            <a:ext cx="61075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Hence, the output </a:t>
            </a:r>
            <a:r>
              <a:rPr lang="en-US" b="0" i="1" dirty="0">
                <a:solidFill>
                  <a:srgbClr val="292929"/>
                </a:solidFill>
                <a:effectLst/>
                <a:latin typeface="charter"/>
              </a:rPr>
              <a:t>H(x)=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</a:t>
            </a:r>
            <a:r>
              <a:rPr lang="en-US" b="0" i="1" dirty="0">
                <a:solidFill>
                  <a:srgbClr val="292929"/>
                </a:solidFill>
                <a:effectLst/>
                <a:latin typeface="charter"/>
              </a:rPr>
              <a:t>F(x) + x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.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The weight layers actually is to learn a kind of residual mapping: </a:t>
            </a:r>
            <a:r>
              <a:rPr lang="en-US" b="1" i="1" dirty="0">
                <a:solidFill>
                  <a:srgbClr val="292929"/>
                </a:solidFill>
                <a:effectLst/>
                <a:latin typeface="charter"/>
              </a:rPr>
              <a:t>F(x)=H(x)-x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.</a:t>
            </a:r>
          </a:p>
          <a:p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Even if there is vanishing gradient for the weight layers, we always still have the identity </a:t>
            </a:r>
            <a:r>
              <a:rPr lang="en-US" b="1" i="1" dirty="0">
                <a:solidFill>
                  <a:srgbClr val="292929"/>
                </a:solidFill>
                <a:effectLst/>
                <a:latin typeface="charter"/>
              </a:rPr>
              <a:t>x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 to transfer back to earlier layers.</a:t>
            </a: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E9-B28D-48AC-8185-A42DB2957C02}"/>
              </a:ext>
            </a:extLst>
          </p:cNvPr>
          <p:cNvSpPr txBox="1"/>
          <p:nvPr/>
        </p:nvSpPr>
        <p:spPr>
          <a:xfrm>
            <a:off x="6789175" y="1497381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292929"/>
                </a:solidFill>
                <a:effectLst/>
                <a:latin typeface="sohne"/>
              </a:rPr>
              <a:t>Bottleneck Design</a:t>
            </a:r>
            <a:endParaRPr lang="en-IN" b="0" i="0" dirty="0">
              <a:solidFill>
                <a:srgbClr val="292929"/>
              </a:solidFill>
              <a:effectLst/>
              <a:latin typeface="sohne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E2AF6D9-A60B-4F5E-BCA0-CC8DDDB12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553" y="2087530"/>
            <a:ext cx="6124575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1C0721-C17D-46C0-94F0-058D995508EF}"/>
              </a:ext>
            </a:extLst>
          </p:cNvPr>
          <p:cNvSpPr txBox="1"/>
          <p:nvPr/>
        </p:nvSpPr>
        <p:spPr>
          <a:xfrm>
            <a:off x="6572758" y="4483456"/>
            <a:ext cx="52081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The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1×1 conv layers are added to the start and end of network 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as in the figure (right). This is a technique suggested in Network In Network and 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GoogLeNet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 (Inception-v1). It turns out that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1×1 conv can reduce the number of connections (parameters) while not degrading the performance of the network so much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12B930-AC5B-4E9A-9864-C37D22BB7EC4}"/>
              </a:ext>
            </a:extLst>
          </p:cNvPr>
          <p:cNvSpPr txBox="1"/>
          <p:nvPr/>
        </p:nvSpPr>
        <p:spPr>
          <a:xfrm>
            <a:off x="868680" y="1718198"/>
            <a:ext cx="645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92929"/>
                </a:solidFill>
                <a:latin typeface="sohne"/>
              </a:rPr>
              <a:t>A Building Block of Residual Network</a:t>
            </a:r>
            <a:endParaRPr lang="en-IN" b="1" dirty="0">
              <a:solidFill>
                <a:srgbClr val="292929"/>
              </a:solidFill>
              <a:latin typeface="sohne"/>
            </a:endParaRPr>
          </a:p>
        </p:txBody>
      </p:sp>
    </p:spTree>
    <p:extLst>
      <p:ext uri="{BB962C8B-B14F-4D97-AF65-F5344CB8AC3E}">
        <p14:creationId xmlns:p14="http://schemas.microsoft.com/office/powerpoint/2010/main" val="22493952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A6734D-95C1-486D-93C9-0DDE71E75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Towards ResNet Architecture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AE47A-8642-4A80-9E39-3F4036F08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1805"/>
            <a:ext cx="12192000" cy="1597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F6BE4D-D82D-4C7A-8F1A-3EF165533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66812"/>
            <a:ext cx="12192000" cy="19785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84C41A-F63D-44E3-8904-66968FF2DE24}"/>
              </a:ext>
            </a:extLst>
          </p:cNvPr>
          <p:cNvSpPr txBox="1"/>
          <p:nvPr/>
        </p:nvSpPr>
        <p:spPr>
          <a:xfrm>
            <a:off x="487681" y="1317265"/>
            <a:ext cx="10901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VGG -19 was added with more convolutional layers making it 34 layer, expecting better performance(being deeper) which it did not give as expected :-( . What went wrong??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00682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F6BE4D-D82D-4C7A-8F1A-3EF165533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3868"/>
            <a:ext cx="12192000" cy="19785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7AC67-895E-44CE-9014-BB3E14CF4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16639"/>
            <a:ext cx="12192000" cy="1390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A1C511-98CA-44A1-A300-ADBBFFE62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497" y="482763"/>
            <a:ext cx="7124378" cy="24715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1CB2B3-0250-41B8-AE18-ADDF1A0684F4}"/>
              </a:ext>
            </a:extLst>
          </p:cNvPr>
          <p:cNvSpPr txBox="1"/>
          <p:nvPr/>
        </p:nvSpPr>
        <p:spPr>
          <a:xfrm>
            <a:off x="513708" y="979888"/>
            <a:ext cx="3464560" cy="14773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When network grows deeper input is getting transformed significantly and by the time it reaches the last layer, it is messing up the input due to many transformations</a:t>
            </a:r>
            <a:endParaRPr lang="en-IN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9B033964-330C-466B-A787-1DD4A8F6A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70" y="263606"/>
            <a:ext cx="5318024" cy="464000"/>
          </a:xfrm>
        </p:spPr>
        <p:txBody>
          <a:bodyPr/>
          <a:lstStyle/>
          <a:p>
            <a:r>
              <a:rPr lang="en-US" dirty="0"/>
              <a:t>Towards ResNet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4399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6FCA92-CBC7-45F5-A8CC-EE996A8EB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A6734D-95C1-486D-93C9-0DDE71E75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F6BE4D-D82D-4C7A-8F1A-3EF165533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5061"/>
            <a:ext cx="12192000" cy="19785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7AC67-895E-44CE-9014-BB3E14CF4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9821"/>
            <a:ext cx="12192000" cy="1390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881AC0-AE2F-487D-AC49-DAA039E2D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2372"/>
            <a:ext cx="12192000" cy="18523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E9FE05-F650-4125-83B1-4D85DD9CA6CD}"/>
              </a:ext>
            </a:extLst>
          </p:cNvPr>
          <p:cNvSpPr txBox="1"/>
          <p:nvPr/>
        </p:nvSpPr>
        <p:spPr>
          <a:xfrm>
            <a:off x="734059" y="1833992"/>
            <a:ext cx="11780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34-layer residual network (ResNet) (top) is the plain one with addition of skip / shortcut connection.</a:t>
            </a: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3FA49-4AA9-492F-852D-AA807E978829}"/>
              </a:ext>
            </a:extLst>
          </p:cNvPr>
          <p:cNvSpPr txBox="1"/>
          <p:nvPr/>
        </p:nvSpPr>
        <p:spPr>
          <a:xfrm>
            <a:off x="3484879" y="6037169"/>
            <a:ext cx="8406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The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VGG-19 (bottom)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is a state-of-the-art approach in ILSVRC 2014.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723878-F15B-4303-B714-E310B0652740}"/>
              </a:ext>
            </a:extLst>
          </p:cNvPr>
          <p:cNvSpPr txBox="1"/>
          <p:nvPr/>
        </p:nvSpPr>
        <p:spPr>
          <a:xfrm>
            <a:off x="734059" y="3680149"/>
            <a:ext cx="10185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34-layer plain network (middle) is treated as the deeper network of VGG-19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, i.e. more conv layers.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7F838E-C980-41A5-9810-B6B85802659B}"/>
              </a:ext>
            </a:extLst>
          </p:cNvPr>
          <p:cNvSpPr txBox="1"/>
          <p:nvPr/>
        </p:nvSpPr>
        <p:spPr>
          <a:xfrm>
            <a:off x="0" y="82167"/>
            <a:ext cx="629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ResNet Architecture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6709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0FAEFA-7901-4917-9AA2-B91E8CE79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21" y="729387"/>
            <a:ext cx="10832354" cy="5399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BD0FDE-45D5-4D6E-A50F-6B25FCB4D1B5}"/>
              </a:ext>
            </a:extLst>
          </p:cNvPr>
          <p:cNvSpPr txBox="1"/>
          <p:nvPr/>
        </p:nvSpPr>
        <p:spPr>
          <a:xfrm>
            <a:off x="519037" y="83056"/>
            <a:ext cx="11146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With the bottleneck design, 34-layer ResNet become 50-layer ResNet.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And there are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deeper network with the bottleneck design: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ResNet-101 and ResNet-152.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1A6436-B8BC-448F-B671-9DC9C67A5A89}"/>
              </a:ext>
            </a:extLst>
          </p:cNvPr>
          <p:cNvSpPr txBox="1"/>
          <p:nvPr/>
        </p:nvSpPr>
        <p:spPr>
          <a:xfrm>
            <a:off x="179668" y="6000600"/>
            <a:ext cx="11824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It is noted that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VGG-16/19 has 15.3/19.6 billion FLOPS. ResNet-152 still has lower complexity than VGG-16/19!!!!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9867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268846-188F-4EFC-B1F9-B1043B523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F56008-251E-48EA-832A-8C706B258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ResNet (Residual Network)– How does it perform across tasks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560D9-BE19-49AE-9B2D-E7132F354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1" y="1104870"/>
            <a:ext cx="12192000" cy="2981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6B2C5B-2DA5-4144-AFD3-2B082B020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07" y="4262280"/>
            <a:ext cx="11749548" cy="178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2503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B91C5B-EC6D-4265-A9E8-C1A1FB5A5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FB3F4E-883A-44AE-B388-FE66AFE38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25" y="971807"/>
            <a:ext cx="5993529" cy="52389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4E5459-B04B-4E65-A064-D9EADCDC740A}"/>
              </a:ext>
            </a:extLst>
          </p:cNvPr>
          <p:cNvSpPr txBox="1"/>
          <p:nvPr/>
        </p:nvSpPr>
        <p:spPr>
          <a:xfrm>
            <a:off x="515269" y="647214"/>
            <a:ext cx="6105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92929"/>
                </a:solidFill>
                <a:effectLst/>
                <a:latin typeface="sohne"/>
              </a:rPr>
              <a:t>Comparison with State-of-the-art Approaches (Image Classification) </a:t>
            </a:r>
            <a:r>
              <a:rPr lang="en-IN" b="1" i="0" dirty="0">
                <a:solidFill>
                  <a:srgbClr val="292929"/>
                </a:solidFill>
                <a:effectLst/>
                <a:latin typeface="sohne"/>
              </a:rPr>
              <a:t>ILSVRC</a:t>
            </a:r>
            <a:endParaRPr lang="en-IN" b="0" i="0" dirty="0">
              <a:solidFill>
                <a:srgbClr val="292929"/>
              </a:solidFill>
              <a:effectLst/>
              <a:latin typeface="sohne"/>
            </a:endParaRPr>
          </a:p>
          <a:p>
            <a:pPr algn="l"/>
            <a:endParaRPr lang="en-US" b="0" i="0" dirty="0">
              <a:solidFill>
                <a:srgbClr val="292929"/>
              </a:solidFill>
              <a:effectLst/>
              <a:latin typeface="sohn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3E9B10-A957-4BDC-B0B1-7E4E34AA0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252" y="1356145"/>
            <a:ext cx="5320957" cy="33878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814F95-EDD6-4646-8158-25CF492D8DCC}"/>
              </a:ext>
            </a:extLst>
          </p:cNvPr>
          <p:cNvSpPr txBox="1"/>
          <p:nvPr/>
        </p:nvSpPr>
        <p:spPr>
          <a:xfrm>
            <a:off x="6309781" y="432815"/>
            <a:ext cx="6105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92929"/>
                </a:solidFill>
                <a:effectLst/>
                <a:latin typeface="sohne"/>
              </a:rPr>
              <a:t>Comparison with State-of-the-art Approaches (Object Detection) </a:t>
            </a:r>
            <a:r>
              <a:rPr lang="en-IN" b="1" i="0" dirty="0">
                <a:solidFill>
                  <a:srgbClr val="292929"/>
                </a:solidFill>
                <a:effectLst/>
                <a:latin typeface="sohne"/>
              </a:rPr>
              <a:t>ILSVRC</a:t>
            </a:r>
            <a:endParaRPr lang="en-IN" b="0" i="0" dirty="0">
              <a:solidFill>
                <a:srgbClr val="292929"/>
              </a:solidFill>
              <a:effectLst/>
              <a:latin typeface="sohne"/>
            </a:endParaRPr>
          </a:p>
          <a:p>
            <a:pPr algn="l"/>
            <a:endParaRPr lang="en-US" b="0" i="0" dirty="0">
              <a:solidFill>
                <a:srgbClr val="292929"/>
              </a:solidFill>
              <a:effectLst/>
              <a:latin typeface="sohne"/>
            </a:endParaRPr>
          </a:p>
        </p:txBody>
      </p:sp>
    </p:spTree>
    <p:extLst>
      <p:ext uri="{BB962C8B-B14F-4D97-AF65-F5344CB8AC3E}">
        <p14:creationId xmlns:p14="http://schemas.microsoft.com/office/powerpoint/2010/main" val="1512751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0E6D29-43E3-4C77-A805-0081EDD7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A32ACF0-5BBF-4961-89D4-3B595DC5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89" y="983949"/>
            <a:ext cx="10489330" cy="5214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1031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A9DACE-5703-410B-A36F-E14F5F7C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Classification</a:t>
            </a: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37B3A73-CC80-4F56-BA6B-4C6ACD0C6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697" y="812662"/>
            <a:ext cx="9476606" cy="529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11141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354BEB-465E-40F2-A660-493752079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Classification with localization</a:t>
            </a:r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82769F5-9054-4FDC-B71F-7482F184E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870" y="986751"/>
            <a:ext cx="9240633" cy="505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68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0FB09F-4B28-4CBF-BDB6-21B29E13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Object detection</a:t>
            </a:r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4AC8843-E067-4BC5-ADEB-E4EE059BC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99" y="1697509"/>
            <a:ext cx="6508921" cy="358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0F6E078F-D456-4F7A-A403-C078B385AEF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8970" y="1878883"/>
            <a:ext cx="455295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B24FE3-71CC-4E7A-AA76-AE9B36AFCE99}"/>
              </a:ext>
            </a:extLst>
          </p:cNvPr>
          <p:cNvSpPr txBox="1"/>
          <p:nvPr/>
        </p:nvSpPr>
        <p:spPr>
          <a:xfrm>
            <a:off x="252865" y="5556323"/>
            <a:ext cx="1184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we have better solutions- pretrained models for object detection- YOLO, R-CNN Faster RCNN, </a:t>
            </a:r>
            <a:r>
              <a:rPr lang="en-US" dirty="0" err="1"/>
              <a:t>MaskRCNN</a:t>
            </a:r>
            <a:r>
              <a:rPr lang="en-US" dirty="0"/>
              <a:t>. We will see those later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45420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36622" y="1506982"/>
            <a:ext cx="8873490" cy="3844290"/>
            <a:chOff x="2436622" y="1506982"/>
            <a:chExt cx="8873490" cy="3844290"/>
          </a:xfrm>
        </p:grpSpPr>
        <p:sp>
          <p:nvSpPr>
            <p:cNvPr id="3" name="object 3"/>
            <p:cNvSpPr/>
            <p:nvPr/>
          </p:nvSpPr>
          <p:spPr>
            <a:xfrm>
              <a:off x="2442972" y="1513332"/>
              <a:ext cx="8860790" cy="3831590"/>
            </a:xfrm>
            <a:custGeom>
              <a:avLst/>
              <a:gdLst/>
              <a:ahLst/>
              <a:cxnLst/>
              <a:rect l="l" t="t" r="r" b="b"/>
              <a:pathLst>
                <a:path w="8860790" h="3831590">
                  <a:moveTo>
                    <a:pt x="8860536" y="0"/>
                  </a:moveTo>
                  <a:lnTo>
                    <a:pt x="0" y="0"/>
                  </a:lnTo>
                  <a:lnTo>
                    <a:pt x="0" y="3831336"/>
                  </a:lnTo>
                  <a:lnTo>
                    <a:pt x="8860536" y="3831336"/>
                  </a:lnTo>
                  <a:lnTo>
                    <a:pt x="8860536" y="0"/>
                  </a:lnTo>
                  <a:close/>
                </a:path>
              </a:pathLst>
            </a:custGeom>
            <a:solidFill>
              <a:srgbClr val="FCDA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42972" y="1513332"/>
              <a:ext cx="8860790" cy="3831590"/>
            </a:xfrm>
            <a:custGeom>
              <a:avLst/>
              <a:gdLst/>
              <a:ahLst/>
              <a:cxnLst/>
              <a:rect l="l" t="t" r="r" b="b"/>
              <a:pathLst>
                <a:path w="8860790" h="3831590">
                  <a:moveTo>
                    <a:pt x="0" y="3831336"/>
                  </a:moveTo>
                  <a:lnTo>
                    <a:pt x="8860536" y="3831336"/>
                  </a:lnTo>
                  <a:lnTo>
                    <a:pt x="8860536" y="0"/>
                  </a:lnTo>
                  <a:lnTo>
                    <a:pt x="0" y="0"/>
                  </a:lnTo>
                  <a:lnTo>
                    <a:pt x="0" y="383133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95953" y="2336114"/>
            <a:ext cx="535432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6700">
              <a:lnSpc>
                <a:spcPct val="100000"/>
              </a:lnSpc>
              <a:spcBef>
                <a:spcPts val="100"/>
              </a:spcBef>
            </a:pPr>
            <a:r>
              <a:rPr sz="5400" spc="-65" dirty="0">
                <a:solidFill>
                  <a:srgbClr val="292929"/>
                </a:solidFill>
                <a:latin typeface="Calibri"/>
                <a:cs typeface="Calibri"/>
              </a:rPr>
              <a:t>Transfer</a:t>
            </a:r>
            <a:r>
              <a:rPr sz="5400" spc="-1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5400" spc="-10" dirty="0">
                <a:solidFill>
                  <a:srgbClr val="292929"/>
                </a:solidFill>
                <a:latin typeface="Calibri"/>
                <a:cs typeface="Calibri"/>
              </a:rPr>
              <a:t>Learning </a:t>
            </a:r>
            <a:r>
              <a:rPr sz="5400" spc="-45" dirty="0">
                <a:solidFill>
                  <a:srgbClr val="292929"/>
                </a:solidFill>
                <a:latin typeface="Calibri"/>
                <a:cs typeface="Calibri"/>
              </a:rPr>
              <a:t>Pre-</a:t>
            </a:r>
            <a:r>
              <a:rPr sz="5400" dirty="0">
                <a:solidFill>
                  <a:srgbClr val="292929"/>
                </a:solidFill>
                <a:latin typeface="Calibri"/>
                <a:cs typeface="Calibri"/>
              </a:rPr>
              <a:t>trained</a:t>
            </a:r>
            <a:r>
              <a:rPr sz="5400" spc="-1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5400" spc="-10" dirty="0">
                <a:solidFill>
                  <a:srgbClr val="292929"/>
                </a:solidFill>
                <a:latin typeface="Calibri"/>
                <a:cs typeface="Calibri"/>
              </a:rPr>
              <a:t>models</a:t>
            </a:r>
            <a:endParaRPr sz="5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469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dirty="0"/>
              <a:t>Transfer</a:t>
            </a:r>
            <a:r>
              <a:rPr spc="-1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9531" y="5742838"/>
            <a:ext cx="65855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https://pytorch.org/tutorials/beginner/transfer_learning_tutorial.html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127" y="1128241"/>
            <a:ext cx="11599545" cy="1199515"/>
          </a:xfrm>
          <a:prstGeom prst="rect">
            <a:avLst/>
          </a:prstGeom>
          <a:solidFill>
            <a:srgbClr val="ECECEC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 marR="240029">
              <a:lnSpc>
                <a:spcPct val="100000"/>
              </a:lnSpc>
              <a:spcBef>
                <a:spcPts val="310"/>
              </a:spcBef>
            </a:pPr>
            <a:r>
              <a:rPr sz="1800" spc="-175" dirty="0">
                <a:latin typeface="Tahoma"/>
                <a:cs typeface="Tahoma"/>
              </a:rPr>
              <a:t>In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practice,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80" dirty="0">
                <a:latin typeface="Tahoma"/>
                <a:cs typeface="Tahoma"/>
              </a:rPr>
              <a:t>very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14" dirty="0">
                <a:latin typeface="Tahoma"/>
                <a:cs typeface="Tahoma"/>
              </a:rPr>
              <a:t>few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people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5" dirty="0">
                <a:latin typeface="Tahoma"/>
                <a:cs typeface="Tahoma"/>
              </a:rPr>
              <a:t>train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35" dirty="0">
                <a:latin typeface="Tahoma"/>
                <a:cs typeface="Tahoma"/>
              </a:rPr>
              <a:t>an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95" dirty="0">
                <a:latin typeface="Tahoma"/>
                <a:cs typeface="Tahoma"/>
              </a:rPr>
              <a:t>entire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90" dirty="0">
                <a:latin typeface="Tahoma"/>
                <a:cs typeface="Tahoma"/>
              </a:rPr>
              <a:t>Convolutional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5" dirty="0">
                <a:latin typeface="Tahoma"/>
                <a:cs typeface="Tahoma"/>
              </a:rPr>
              <a:t>Network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90" dirty="0">
                <a:latin typeface="Tahoma"/>
                <a:cs typeface="Tahoma"/>
              </a:rPr>
              <a:t>from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75" dirty="0">
                <a:latin typeface="Tahoma"/>
                <a:cs typeface="Tahoma"/>
              </a:rPr>
              <a:t>scratch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5" dirty="0">
                <a:latin typeface="Tahoma"/>
                <a:cs typeface="Tahoma"/>
              </a:rPr>
              <a:t>(with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14" dirty="0">
                <a:latin typeface="Tahoma"/>
                <a:cs typeface="Tahoma"/>
              </a:rPr>
              <a:t>random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90" dirty="0">
                <a:latin typeface="Tahoma"/>
                <a:cs typeface="Tahoma"/>
              </a:rPr>
              <a:t>initialization),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95" dirty="0">
                <a:latin typeface="Tahoma"/>
                <a:cs typeface="Tahoma"/>
              </a:rPr>
              <a:t>because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80" dirty="0">
                <a:latin typeface="Tahoma"/>
                <a:cs typeface="Tahoma"/>
              </a:rPr>
              <a:t>it</a:t>
            </a:r>
            <a:r>
              <a:rPr sz="1800" spc="-25" dirty="0">
                <a:latin typeface="Tahoma"/>
                <a:cs typeface="Tahoma"/>
              </a:rPr>
              <a:t> is </a:t>
            </a:r>
            <a:r>
              <a:rPr sz="1800" spc="-95" dirty="0">
                <a:latin typeface="Tahoma"/>
                <a:cs typeface="Tahoma"/>
              </a:rPr>
              <a:t>relatively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14" dirty="0">
                <a:latin typeface="Tahoma"/>
                <a:cs typeface="Tahoma"/>
              </a:rPr>
              <a:t>rare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to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have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60" dirty="0">
                <a:latin typeface="Tahoma"/>
                <a:cs typeface="Tahoma"/>
              </a:rPr>
              <a:t>a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14" dirty="0">
                <a:latin typeface="Tahoma"/>
                <a:cs typeface="Tahoma"/>
              </a:rPr>
              <a:t>dataset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80" dirty="0">
                <a:latin typeface="Tahoma"/>
                <a:cs typeface="Tahoma"/>
              </a:rPr>
              <a:t>of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65" dirty="0">
                <a:latin typeface="Tahoma"/>
                <a:cs typeface="Tahoma"/>
              </a:rPr>
              <a:t>sufficient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90" dirty="0">
                <a:latin typeface="Tahoma"/>
                <a:cs typeface="Tahoma"/>
              </a:rPr>
              <a:t>size.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25" dirty="0">
                <a:latin typeface="Tahoma"/>
                <a:cs typeface="Tahoma"/>
              </a:rPr>
              <a:t>Instead,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80" dirty="0">
                <a:latin typeface="Tahoma"/>
                <a:cs typeface="Tahoma"/>
              </a:rPr>
              <a:t>it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95" dirty="0">
                <a:latin typeface="Tahoma"/>
                <a:cs typeface="Tahoma"/>
              </a:rPr>
              <a:t>common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to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5" dirty="0">
                <a:latin typeface="Tahoma"/>
                <a:cs typeface="Tahoma"/>
              </a:rPr>
              <a:t>pretrain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60" dirty="0">
                <a:latin typeface="Tahoma"/>
                <a:cs typeface="Tahoma"/>
              </a:rPr>
              <a:t>a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110" dirty="0">
                <a:latin typeface="Tahoma"/>
                <a:cs typeface="Tahoma"/>
              </a:rPr>
              <a:t>ConvNet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95" dirty="0">
                <a:latin typeface="Tahoma"/>
                <a:cs typeface="Tahoma"/>
              </a:rPr>
              <a:t>on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60" dirty="0">
                <a:latin typeface="Tahoma"/>
                <a:cs typeface="Tahoma"/>
              </a:rPr>
              <a:t>a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85" dirty="0">
                <a:latin typeface="Tahoma"/>
                <a:cs typeface="Tahoma"/>
              </a:rPr>
              <a:t>very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5" dirty="0">
                <a:latin typeface="Tahoma"/>
                <a:cs typeface="Tahoma"/>
              </a:rPr>
              <a:t>large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14" dirty="0">
                <a:latin typeface="Tahoma"/>
                <a:cs typeface="Tahoma"/>
              </a:rPr>
              <a:t>dataset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(e.g. </a:t>
            </a:r>
            <a:r>
              <a:rPr sz="1800" spc="-135" dirty="0">
                <a:latin typeface="Tahoma"/>
                <a:cs typeface="Tahoma"/>
              </a:rPr>
              <a:t>ImageNet,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90" dirty="0">
                <a:latin typeface="Tahoma"/>
                <a:cs typeface="Tahoma"/>
              </a:rPr>
              <a:t>which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75" dirty="0">
                <a:latin typeface="Tahoma"/>
                <a:cs typeface="Tahoma"/>
              </a:rPr>
              <a:t>contains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5" dirty="0">
                <a:latin typeface="Tahoma"/>
                <a:cs typeface="Tahoma"/>
              </a:rPr>
              <a:t>1.2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70" dirty="0">
                <a:latin typeface="Tahoma"/>
                <a:cs typeface="Tahoma"/>
              </a:rPr>
              <a:t>million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images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10" dirty="0">
                <a:latin typeface="Tahoma"/>
                <a:cs typeface="Tahoma"/>
              </a:rPr>
              <a:t>with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95" dirty="0">
                <a:latin typeface="Tahoma"/>
                <a:cs typeface="Tahoma"/>
              </a:rPr>
              <a:t>1000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85" dirty="0">
                <a:latin typeface="Tahoma"/>
                <a:cs typeface="Tahoma"/>
              </a:rPr>
              <a:t>categories),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25" dirty="0">
                <a:latin typeface="Tahoma"/>
                <a:cs typeface="Tahoma"/>
              </a:rPr>
              <a:t>and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114" dirty="0">
                <a:latin typeface="Tahoma"/>
                <a:cs typeface="Tahoma"/>
              </a:rPr>
              <a:t>then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65" dirty="0">
                <a:latin typeface="Tahoma"/>
                <a:cs typeface="Tahoma"/>
              </a:rPr>
              <a:t>use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the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110" dirty="0">
                <a:latin typeface="Tahoma"/>
                <a:cs typeface="Tahoma"/>
              </a:rPr>
              <a:t>ConvNet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85" dirty="0">
                <a:latin typeface="Tahoma"/>
                <a:cs typeface="Tahoma"/>
              </a:rPr>
              <a:t>either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80" dirty="0">
                <a:latin typeface="Tahoma"/>
                <a:cs typeface="Tahoma"/>
              </a:rPr>
              <a:t>as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35" dirty="0">
                <a:latin typeface="Tahoma"/>
                <a:cs typeface="Tahoma"/>
              </a:rPr>
              <a:t>an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85" dirty="0">
                <a:latin typeface="Tahoma"/>
                <a:cs typeface="Tahoma"/>
              </a:rPr>
              <a:t>initialization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55" dirty="0">
                <a:latin typeface="Tahoma"/>
                <a:cs typeface="Tahoma"/>
              </a:rPr>
              <a:t>or</a:t>
            </a:r>
            <a:r>
              <a:rPr sz="1800" spc="-50" dirty="0">
                <a:latin typeface="Tahoma"/>
                <a:cs typeface="Tahoma"/>
              </a:rPr>
              <a:t> a </a:t>
            </a:r>
            <a:r>
              <a:rPr sz="1800" spc="-100" dirty="0">
                <a:latin typeface="Tahoma"/>
                <a:cs typeface="Tahoma"/>
              </a:rPr>
              <a:t>fixed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5" dirty="0">
                <a:latin typeface="Tahoma"/>
                <a:cs typeface="Tahoma"/>
              </a:rPr>
              <a:t>feature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95" dirty="0">
                <a:latin typeface="Tahoma"/>
                <a:cs typeface="Tahoma"/>
              </a:rPr>
              <a:t>extractor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65" dirty="0">
                <a:latin typeface="Tahoma"/>
                <a:cs typeface="Tahoma"/>
              </a:rPr>
              <a:t>for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10" dirty="0">
                <a:latin typeface="Tahoma"/>
                <a:cs typeface="Tahoma"/>
              </a:rPr>
              <a:t>the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5" dirty="0">
                <a:latin typeface="Tahoma"/>
                <a:cs typeface="Tahoma"/>
              </a:rPr>
              <a:t>task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75" dirty="0">
                <a:latin typeface="Tahoma"/>
                <a:cs typeface="Tahoma"/>
              </a:rPr>
              <a:t>of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interest.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6123" y="2654807"/>
            <a:ext cx="7615555" cy="2307590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93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sz="1800" spc="-105" dirty="0">
                <a:solidFill>
                  <a:srgbClr val="252525"/>
                </a:solidFill>
                <a:latin typeface="Tahoma"/>
                <a:cs typeface="Tahoma"/>
              </a:rPr>
              <a:t>These</a:t>
            </a:r>
            <a:r>
              <a:rPr sz="18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ahoma"/>
                <a:cs typeface="Tahoma"/>
              </a:rPr>
              <a:t>two</a:t>
            </a:r>
            <a:r>
              <a:rPr sz="18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ahoma"/>
                <a:cs typeface="Tahoma"/>
              </a:rPr>
              <a:t>major</a:t>
            </a:r>
            <a:r>
              <a:rPr sz="1800" spc="-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ahoma"/>
                <a:cs typeface="Tahoma"/>
              </a:rPr>
              <a:t>transfer</a:t>
            </a:r>
            <a:r>
              <a:rPr sz="1800" spc="-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ahoma"/>
                <a:cs typeface="Tahoma"/>
              </a:rPr>
              <a:t>learning</a:t>
            </a:r>
            <a:r>
              <a:rPr sz="1800" spc="-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ahoma"/>
                <a:cs typeface="Tahoma"/>
              </a:rPr>
              <a:t>scenarios</a:t>
            </a:r>
            <a:r>
              <a:rPr sz="1800" spc="-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look</a:t>
            </a:r>
            <a:r>
              <a:rPr sz="18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as</a:t>
            </a:r>
            <a:r>
              <a:rPr sz="18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ahoma"/>
                <a:cs typeface="Tahoma"/>
              </a:rPr>
              <a:t>follows:</a:t>
            </a:r>
            <a:endParaRPr sz="1800">
              <a:latin typeface="Tahoma"/>
              <a:cs typeface="Tahoma"/>
            </a:endParaRPr>
          </a:p>
          <a:p>
            <a:pPr marL="548640" marR="282575" indent="-10160">
              <a:lnSpc>
                <a:spcPct val="100000"/>
              </a:lnSpc>
              <a:buSzPct val="94444"/>
              <a:buFont typeface="Arial MT"/>
              <a:buChar char="•"/>
              <a:tabLst>
                <a:tab pos="627380" algn="l"/>
              </a:tabLst>
            </a:pPr>
            <a:r>
              <a:rPr sz="1800" b="1" spc="-150" dirty="0">
                <a:solidFill>
                  <a:srgbClr val="252525"/>
                </a:solidFill>
                <a:latin typeface="Arial"/>
                <a:cs typeface="Arial"/>
              </a:rPr>
              <a:t>	Finetuning</a:t>
            </a:r>
            <a:r>
              <a:rPr sz="1800" b="1" spc="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800" b="1" spc="-125" dirty="0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sz="1800" b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800" b="1" spc="-175" dirty="0">
                <a:solidFill>
                  <a:srgbClr val="252525"/>
                </a:solidFill>
                <a:latin typeface="Arial"/>
                <a:cs typeface="Arial"/>
              </a:rPr>
              <a:t>convnet</a:t>
            </a:r>
            <a:r>
              <a:rPr sz="1800" spc="-175" dirty="0">
                <a:solidFill>
                  <a:srgbClr val="252525"/>
                </a:solidFill>
                <a:latin typeface="Tahoma"/>
                <a:cs typeface="Tahoma"/>
              </a:rPr>
              <a:t>:</a:t>
            </a:r>
            <a:r>
              <a:rPr sz="1800" spc="-1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ahoma"/>
                <a:cs typeface="Tahoma"/>
              </a:rPr>
              <a:t>Instead</a:t>
            </a:r>
            <a:r>
              <a:rPr sz="1800" spc="-1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1800" spc="-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ahoma"/>
                <a:cs typeface="Tahoma"/>
              </a:rPr>
              <a:t>random</a:t>
            </a:r>
            <a:r>
              <a:rPr sz="1800" spc="-1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ahoma"/>
                <a:cs typeface="Tahoma"/>
              </a:rPr>
              <a:t>initialization,</a:t>
            </a:r>
            <a:r>
              <a:rPr sz="1800" spc="-1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ahoma"/>
                <a:cs typeface="Tahoma"/>
              </a:rPr>
              <a:t>we</a:t>
            </a:r>
            <a:r>
              <a:rPr sz="1800" spc="-1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ahoma"/>
                <a:cs typeface="Tahoma"/>
              </a:rPr>
              <a:t>initialize</a:t>
            </a:r>
            <a:r>
              <a:rPr sz="1800" spc="-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ahoma"/>
                <a:cs typeface="Tahoma"/>
              </a:rPr>
              <a:t>the </a:t>
            </a:r>
            <a:r>
              <a:rPr sz="1800" spc="-114" dirty="0">
                <a:solidFill>
                  <a:srgbClr val="252525"/>
                </a:solidFill>
                <a:latin typeface="Tahoma"/>
                <a:cs typeface="Tahoma"/>
              </a:rPr>
              <a:t>network</a:t>
            </a:r>
            <a:r>
              <a:rPr sz="18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ahoma"/>
                <a:cs typeface="Tahoma"/>
              </a:rPr>
              <a:t>with</a:t>
            </a:r>
            <a:r>
              <a:rPr sz="18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sz="18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ahoma"/>
                <a:cs typeface="Tahoma"/>
              </a:rPr>
              <a:t>pretrained</a:t>
            </a:r>
            <a:r>
              <a:rPr sz="1800" spc="-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ahoma"/>
                <a:cs typeface="Tahoma"/>
              </a:rPr>
              <a:t>network,</a:t>
            </a:r>
            <a:r>
              <a:rPr sz="1800" spc="-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ahoma"/>
                <a:cs typeface="Tahoma"/>
              </a:rPr>
              <a:t>like</a:t>
            </a:r>
            <a:r>
              <a:rPr sz="1800" spc="-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800" spc="-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ahoma"/>
                <a:cs typeface="Tahoma"/>
              </a:rPr>
              <a:t>one</a:t>
            </a:r>
            <a:r>
              <a:rPr sz="1800" spc="-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ahoma"/>
                <a:cs typeface="Tahoma"/>
              </a:rPr>
              <a:t>that</a:t>
            </a:r>
            <a:r>
              <a:rPr sz="18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is</a:t>
            </a:r>
            <a:r>
              <a:rPr sz="1800" spc="-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ahoma"/>
                <a:cs typeface="Tahoma"/>
              </a:rPr>
              <a:t>trained</a:t>
            </a:r>
            <a:r>
              <a:rPr sz="1800" spc="-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on</a:t>
            </a:r>
            <a:r>
              <a:rPr sz="1800" spc="-1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252525"/>
                </a:solidFill>
                <a:latin typeface="Tahoma"/>
                <a:cs typeface="Tahoma"/>
              </a:rPr>
              <a:t>imagenet </a:t>
            </a:r>
            <a:r>
              <a:rPr sz="1800" spc="-95" dirty="0">
                <a:solidFill>
                  <a:srgbClr val="252525"/>
                </a:solidFill>
                <a:latin typeface="Tahoma"/>
                <a:cs typeface="Tahoma"/>
              </a:rPr>
              <a:t>1000</a:t>
            </a:r>
            <a:r>
              <a:rPr sz="1800" spc="-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ahoma"/>
                <a:cs typeface="Tahoma"/>
              </a:rPr>
              <a:t>dataset.</a:t>
            </a:r>
            <a:r>
              <a:rPr sz="1800" spc="-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252525"/>
                </a:solidFill>
                <a:latin typeface="Tahoma"/>
                <a:cs typeface="Tahoma"/>
              </a:rPr>
              <a:t>Rest</a:t>
            </a:r>
            <a:r>
              <a:rPr sz="1800" spc="-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1800" spc="-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800" spc="-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ahoma"/>
                <a:cs typeface="Tahoma"/>
              </a:rPr>
              <a:t>training</a:t>
            </a:r>
            <a:r>
              <a:rPr sz="1800" spc="-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ahoma"/>
                <a:cs typeface="Tahoma"/>
              </a:rPr>
              <a:t>looks</a:t>
            </a:r>
            <a:r>
              <a:rPr sz="18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as</a:t>
            </a:r>
            <a:r>
              <a:rPr sz="1800" spc="-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ahoma"/>
                <a:cs typeface="Tahoma"/>
              </a:rPr>
              <a:t>usual.</a:t>
            </a:r>
            <a:endParaRPr sz="1800">
              <a:latin typeface="Tahoma"/>
              <a:cs typeface="Tahoma"/>
            </a:endParaRPr>
          </a:p>
          <a:p>
            <a:pPr marL="548640" marR="212725" indent="-10160">
              <a:lnSpc>
                <a:spcPct val="100000"/>
              </a:lnSpc>
              <a:spcBef>
                <a:spcPts val="5"/>
              </a:spcBef>
              <a:buSzPct val="94444"/>
              <a:buFont typeface="Arial MT"/>
              <a:buChar char="•"/>
              <a:tabLst>
                <a:tab pos="627380" algn="l"/>
              </a:tabLst>
            </a:pPr>
            <a:r>
              <a:rPr sz="1800" b="1" spc="-190" dirty="0">
                <a:solidFill>
                  <a:srgbClr val="252525"/>
                </a:solidFill>
                <a:latin typeface="Arial"/>
                <a:cs typeface="Arial"/>
              </a:rPr>
              <a:t>	ConvNet</a:t>
            </a:r>
            <a:r>
              <a:rPr sz="1800" b="1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800" b="1" spc="-165" dirty="0">
                <a:solidFill>
                  <a:srgbClr val="252525"/>
                </a:solidFill>
                <a:latin typeface="Arial"/>
                <a:cs typeface="Arial"/>
              </a:rPr>
              <a:t>as</a:t>
            </a:r>
            <a:r>
              <a:rPr sz="1800" b="1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800" b="1" spc="-140" dirty="0">
                <a:solidFill>
                  <a:srgbClr val="252525"/>
                </a:solidFill>
                <a:latin typeface="Arial"/>
                <a:cs typeface="Arial"/>
              </a:rPr>
              <a:t>fixed</a:t>
            </a:r>
            <a:r>
              <a:rPr sz="1800" b="1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800" b="1" spc="-120" dirty="0">
                <a:solidFill>
                  <a:srgbClr val="252525"/>
                </a:solidFill>
                <a:latin typeface="Arial"/>
                <a:cs typeface="Arial"/>
              </a:rPr>
              <a:t>feature</a:t>
            </a:r>
            <a:r>
              <a:rPr sz="1800" b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800" b="1" spc="-145" dirty="0">
                <a:solidFill>
                  <a:srgbClr val="252525"/>
                </a:solidFill>
                <a:latin typeface="Arial"/>
                <a:cs typeface="Arial"/>
              </a:rPr>
              <a:t>extractor</a:t>
            </a:r>
            <a:r>
              <a:rPr sz="1800" spc="-145" dirty="0">
                <a:solidFill>
                  <a:srgbClr val="252525"/>
                </a:solidFill>
                <a:latin typeface="Tahoma"/>
                <a:cs typeface="Tahoma"/>
              </a:rPr>
              <a:t>:</a:t>
            </a:r>
            <a:r>
              <a:rPr sz="18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ahoma"/>
                <a:cs typeface="Tahoma"/>
              </a:rPr>
              <a:t>Here,</a:t>
            </a:r>
            <a:r>
              <a:rPr sz="1800" spc="-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ahoma"/>
                <a:cs typeface="Tahoma"/>
              </a:rPr>
              <a:t>we</a:t>
            </a:r>
            <a:r>
              <a:rPr sz="18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ahoma"/>
                <a:cs typeface="Tahoma"/>
              </a:rPr>
              <a:t>will</a:t>
            </a:r>
            <a:r>
              <a:rPr sz="18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ahoma"/>
                <a:cs typeface="Tahoma"/>
              </a:rPr>
              <a:t>freeze</a:t>
            </a:r>
            <a:r>
              <a:rPr sz="1800" spc="-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800" spc="-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ahoma"/>
                <a:cs typeface="Tahoma"/>
              </a:rPr>
              <a:t>weights</a:t>
            </a:r>
            <a:r>
              <a:rPr sz="1800" spc="-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ahoma"/>
                <a:cs typeface="Tahoma"/>
              </a:rPr>
              <a:t>for</a:t>
            </a:r>
            <a:r>
              <a:rPr sz="1800" spc="-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ahoma"/>
                <a:cs typeface="Tahoma"/>
              </a:rPr>
              <a:t>all 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18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800" spc="-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ahoma"/>
                <a:cs typeface="Tahoma"/>
              </a:rPr>
              <a:t>network</a:t>
            </a:r>
            <a:r>
              <a:rPr sz="1800" spc="-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ahoma"/>
                <a:cs typeface="Tahoma"/>
              </a:rPr>
              <a:t>except</a:t>
            </a:r>
            <a:r>
              <a:rPr sz="1800" spc="-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ahoma"/>
                <a:cs typeface="Tahoma"/>
              </a:rPr>
              <a:t>that</a:t>
            </a:r>
            <a:r>
              <a:rPr sz="1800" spc="-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1800" spc="-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8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ahoma"/>
                <a:cs typeface="Tahoma"/>
              </a:rPr>
              <a:t>final</a:t>
            </a:r>
            <a:r>
              <a:rPr sz="1800" spc="-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fully</a:t>
            </a:r>
            <a:r>
              <a:rPr sz="1800" spc="-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connected</a:t>
            </a:r>
            <a:r>
              <a:rPr sz="18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ahoma"/>
                <a:cs typeface="Tahoma"/>
              </a:rPr>
              <a:t>layer.</a:t>
            </a:r>
            <a:r>
              <a:rPr sz="18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ahoma"/>
                <a:cs typeface="Tahoma"/>
              </a:rPr>
              <a:t>This</a:t>
            </a:r>
            <a:r>
              <a:rPr sz="1800" spc="-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252525"/>
                </a:solidFill>
                <a:latin typeface="Tahoma"/>
                <a:cs typeface="Tahoma"/>
              </a:rPr>
              <a:t>last</a:t>
            </a:r>
            <a:r>
              <a:rPr sz="1800" spc="-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ahoma"/>
                <a:cs typeface="Tahoma"/>
              </a:rPr>
              <a:t>fully </a:t>
            </a:r>
            <a:r>
              <a:rPr sz="1800" spc="-90" dirty="0">
                <a:solidFill>
                  <a:srgbClr val="252525"/>
                </a:solidFill>
                <a:latin typeface="Tahoma"/>
                <a:cs typeface="Tahoma"/>
              </a:rPr>
              <a:t>connected</a:t>
            </a:r>
            <a:r>
              <a:rPr sz="18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ahoma"/>
                <a:cs typeface="Tahoma"/>
              </a:rPr>
              <a:t>layer</a:t>
            </a:r>
            <a:r>
              <a:rPr sz="18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is</a:t>
            </a:r>
            <a:r>
              <a:rPr sz="1800" spc="-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ahoma"/>
                <a:cs typeface="Tahoma"/>
              </a:rPr>
              <a:t>replaced</a:t>
            </a:r>
            <a:r>
              <a:rPr sz="18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ahoma"/>
                <a:cs typeface="Tahoma"/>
              </a:rPr>
              <a:t>with</a:t>
            </a:r>
            <a:r>
              <a:rPr sz="1800" spc="-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sz="1800" spc="-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ahoma"/>
                <a:cs typeface="Tahoma"/>
              </a:rPr>
              <a:t>new</a:t>
            </a:r>
            <a:r>
              <a:rPr sz="18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ahoma"/>
                <a:cs typeface="Tahoma"/>
              </a:rPr>
              <a:t>one</a:t>
            </a:r>
            <a:r>
              <a:rPr sz="18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ahoma"/>
                <a:cs typeface="Tahoma"/>
              </a:rPr>
              <a:t>with</a:t>
            </a:r>
            <a:r>
              <a:rPr sz="1800" spc="-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ahoma"/>
                <a:cs typeface="Tahoma"/>
              </a:rPr>
              <a:t>random</a:t>
            </a:r>
            <a:r>
              <a:rPr sz="18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ahoma"/>
                <a:cs typeface="Tahoma"/>
              </a:rPr>
              <a:t>weights</a:t>
            </a:r>
            <a:r>
              <a:rPr sz="1800" spc="-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18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ahoma"/>
                <a:cs typeface="Tahoma"/>
              </a:rPr>
              <a:t>only </a:t>
            </a:r>
            <a:r>
              <a:rPr sz="1800" spc="-60" dirty="0">
                <a:solidFill>
                  <a:srgbClr val="252525"/>
                </a:solidFill>
                <a:latin typeface="Tahoma"/>
                <a:cs typeface="Tahoma"/>
              </a:rPr>
              <a:t>this</a:t>
            </a:r>
            <a:r>
              <a:rPr sz="18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ahoma"/>
                <a:cs typeface="Tahoma"/>
              </a:rPr>
              <a:t>layer</a:t>
            </a:r>
            <a:r>
              <a:rPr sz="18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is</a:t>
            </a:r>
            <a:r>
              <a:rPr sz="18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ahoma"/>
                <a:cs typeface="Tahoma"/>
              </a:rPr>
              <a:t>trained.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469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dirty="0"/>
              <a:t>Transfer</a:t>
            </a:r>
            <a:r>
              <a:rPr spc="-15" dirty="0"/>
              <a:t> </a:t>
            </a:r>
            <a:r>
              <a:rPr spc="-10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16" y="1401886"/>
            <a:ext cx="6854674" cy="36237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7810500" y="155587"/>
            <a:ext cx="4010025" cy="42550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sz="1800" dirty="0"/>
              <a:t>Following</a:t>
            </a:r>
            <a:r>
              <a:rPr sz="1800" spc="-40" dirty="0"/>
              <a:t> </a:t>
            </a:r>
            <a:r>
              <a:rPr sz="1800" dirty="0"/>
              <a:t>is</a:t>
            </a:r>
            <a:r>
              <a:rPr sz="1800" spc="-60" dirty="0"/>
              <a:t> </a:t>
            </a:r>
            <a:r>
              <a:rPr sz="1800" dirty="0"/>
              <a:t>the</a:t>
            </a:r>
            <a:r>
              <a:rPr sz="1800" spc="-50" dirty="0"/>
              <a:t> </a:t>
            </a:r>
            <a:r>
              <a:rPr sz="1800" dirty="0"/>
              <a:t>general</a:t>
            </a:r>
            <a:r>
              <a:rPr sz="1800" spc="-60" dirty="0"/>
              <a:t> </a:t>
            </a:r>
            <a:r>
              <a:rPr sz="1800" dirty="0"/>
              <a:t>outline</a:t>
            </a:r>
            <a:r>
              <a:rPr sz="1800" spc="-40" dirty="0"/>
              <a:t> </a:t>
            </a:r>
            <a:r>
              <a:rPr sz="1800" dirty="0"/>
              <a:t>for</a:t>
            </a:r>
            <a:r>
              <a:rPr sz="1800" spc="-60" dirty="0"/>
              <a:t> </a:t>
            </a:r>
            <a:r>
              <a:rPr sz="1800" spc="-10" dirty="0"/>
              <a:t>transfer</a:t>
            </a:r>
            <a:r>
              <a:rPr sz="1800" spc="-60" dirty="0"/>
              <a:t> </a:t>
            </a:r>
            <a:r>
              <a:rPr sz="1800" spc="-10"/>
              <a:t>learning</a:t>
            </a:r>
            <a:r>
              <a:rPr lang="en-US" sz="1800" spc="-10" dirty="0"/>
              <a:t> </a:t>
            </a:r>
            <a:r>
              <a:rPr sz="1800"/>
              <a:t>for</a:t>
            </a:r>
            <a:r>
              <a:rPr sz="1800" spc="-30" dirty="0"/>
              <a:t> </a:t>
            </a:r>
            <a:r>
              <a:rPr sz="1800" dirty="0"/>
              <a:t>object</a:t>
            </a:r>
            <a:r>
              <a:rPr sz="1800" spc="-10" dirty="0"/>
              <a:t> recognition:</a:t>
            </a:r>
            <a:endParaRPr lang="en-US" sz="1800" spc="-10" dirty="0">
              <a:ea typeface="Calibri" panose="020F0502020204030204"/>
              <a:cs typeface="Calibri" panose="020F0502020204030204"/>
            </a:endParaRPr>
          </a:p>
          <a:p>
            <a:pPr marL="469900" marR="73025" indent="-3810">
              <a:lnSpc>
                <a:spcPct val="100000"/>
              </a:lnSpc>
              <a:buSzPct val="94444"/>
              <a:buAutoNum type="arabicPeriod"/>
              <a:tabLst>
                <a:tab pos="642620" algn="l"/>
              </a:tabLst>
            </a:pPr>
            <a:r>
              <a:rPr lang="en-US" sz="1800" dirty="0"/>
              <a:t> </a:t>
            </a:r>
            <a:r>
              <a:rPr sz="1800" dirty="0"/>
              <a:t>Load</a:t>
            </a:r>
            <a:r>
              <a:rPr sz="1800" spc="-35" dirty="0"/>
              <a:t> </a:t>
            </a:r>
            <a:r>
              <a:rPr sz="1800" dirty="0"/>
              <a:t>in</a:t>
            </a:r>
            <a:r>
              <a:rPr sz="1800" spc="-40" dirty="0"/>
              <a:t> </a:t>
            </a:r>
            <a:r>
              <a:rPr sz="1800" dirty="0"/>
              <a:t>a</a:t>
            </a:r>
            <a:r>
              <a:rPr sz="1800" spc="-50" dirty="0"/>
              <a:t> </a:t>
            </a:r>
            <a:r>
              <a:rPr sz="1800" spc="-10" dirty="0"/>
              <a:t>pre-</a:t>
            </a:r>
            <a:r>
              <a:rPr sz="1800" dirty="0"/>
              <a:t>trained</a:t>
            </a:r>
            <a:r>
              <a:rPr sz="1800" spc="-30" dirty="0"/>
              <a:t> </a:t>
            </a:r>
            <a:r>
              <a:rPr sz="1800" dirty="0"/>
              <a:t>CNN</a:t>
            </a:r>
            <a:r>
              <a:rPr sz="1800" spc="-35" dirty="0"/>
              <a:t> </a:t>
            </a:r>
            <a:r>
              <a:rPr sz="1800" dirty="0"/>
              <a:t>model</a:t>
            </a:r>
            <a:r>
              <a:rPr sz="1800" spc="-40" dirty="0"/>
              <a:t> </a:t>
            </a:r>
            <a:r>
              <a:rPr sz="1800" dirty="0"/>
              <a:t>trained</a:t>
            </a:r>
            <a:r>
              <a:rPr sz="1800" spc="-35" dirty="0"/>
              <a:t> </a:t>
            </a:r>
            <a:r>
              <a:rPr sz="1800" dirty="0"/>
              <a:t>on</a:t>
            </a:r>
            <a:r>
              <a:rPr sz="1800" spc="-50" dirty="0"/>
              <a:t> a </a:t>
            </a:r>
            <a:r>
              <a:rPr sz="1800" dirty="0"/>
              <a:t>large</a:t>
            </a:r>
            <a:r>
              <a:rPr sz="1800" spc="-65" dirty="0"/>
              <a:t> </a:t>
            </a:r>
            <a:r>
              <a:rPr lang="en-US" sz="1800" spc="-10" dirty="0"/>
              <a:t>dataset</a:t>
            </a:r>
            <a:endParaRPr lang="en-US" sz="1800" spc="-10" dirty="0">
              <a:ea typeface="Calibri"/>
              <a:cs typeface="Calibri"/>
            </a:endParaRPr>
          </a:p>
          <a:p>
            <a:pPr marL="469900" marR="73025" indent="-3810">
              <a:lnSpc>
                <a:spcPct val="100000"/>
              </a:lnSpc>
              <a:buSzPct val="94444"/>
              <a:buAutoNum type="arabicPeriod"/>
              <a:tabLst>
                <a:tab pos="642620" algn="l"/>
              </a:tabLst>
            </a:pPr>
            <a:r>
              <a:rPr lang="en-US" sz="1800" spc="-10" dirty="0"/>
              <a:t> Freeze</a:t>
            </a:r>
            <a:r>
              <a:rPr sz="1800" spc="-70" dirty="0"/>
              <a:t> </a:t>
            </a:r>
            <a:r>
              <a:rPr sz="1800" spc="-10" dirty="0"/>
              <a:t>parameters</a:t>
            </a:r>
            <a:r>
              <a:rPr sz="1800" spc="-65" dirty="0"/>
              <a:t> </a:t>
            </a:r>
            <a:r>
              <a:rPr sz="1800" dirty="0"/>
              <a:t>(weights)</a:t>
            </a:r>
            <a:r>
              <a:rPr sz="1800" spc="-55" dirty="0"/>
              <a:t> </a:t>
            </a:r>
            <a:r>
              <a:rPr sz="1800" dirty="0"/>
              <a:t>in</a:t>
            </a:r>
            <a:r>
              <a:rPr sz="1800" spc="-60" dirty="0"/>
              <a:t> </a:t>
            </a:r>
            <a:r>
              <a:rPr sz="1800" spc="-10" dirty="0"/>
              <a:t>model’s</a:t>
            </a:r>
            <a:r>
              <a:rPr sz="1800" spc="-65" dirty="0"/>
              <a:t> </a:t>
            </a:r>
            <a:r>
              <a:rPr sz="1800" spc="-10" dirty="0"/>
              <a:t>lower</a:t>
            </a:r>
            <a:r>
              <a:rPr lang="en-US" sz="1800" spc="-10" dirty="0"/>
              <a:t> </a:t>
            </a:r>
            <a:r>
              <a:rPr sz="1800" spc="-10" dirty="0"/>
              <a:t>convolutional</a:t>
            </a:r>
            <a:r>
              <a:rPr sz="1800" spc="-35" dirty="0"/>
              <a:t> </a:t>
            </a:r>
            <a:r>
              <a:rPr lang="en-US" sz="1800" spc="-10" dirty="0"/>
              <a:t>layers</a:t>
            </a:r>
            <a:endParaRPr lang="en-US" sz="1800" spc="-10" dirty="0">
              <a:ea typeface="Calibri"/>
              <a:cs typeface="Calibri"/>
            </a:endParaRPr>
          </a:p>
          <a:p>
            <a:pPr marL="469900" marR="73025" indent="-3810">
              <a:lnSpc>
                <a:spcPct val="100000"/>
              </a:lnSpc>
              <a:buSzPct val="94444"/>
              <a:buAutoNum type="arabicPeriod"/>
              <a:tabLst>
                <a:tab pos="642620" algn="l"/>
              </a:tabLst>
            </a:pPr>
            <a:r>
              <a:rPr lang="en-US" sz="1800" dirty="0"/>
              <a:t>Add</a:t>
            </a:r>
            <a:r>
              <a:rPr sz="1800" spc="-50" dirty="0"/>
              <a:t> </a:t>
            </a:r>
            <a:r>
              <a:rPr sz="1800" dirty="0"/>
              <a:t>custom</a:t>
            </a:r>
            <a:r>
              <a:rPr sz="1800" spc="-45" dirty="0"/>
              <a:t> </a:t>
            </a:r>
            <a:r>
              <a:rPr sz="1800" dirty="0"/>
              <a:t>classifier</a:t>
            </a:r>
            <a:r>
              <a:rPr sz="1800" spc="-45" dirty="0"/>
              <a:t> </a:t>
            </a:r>
            <a:r>
              <a:rPr sz="1800" dirty="0"/>
              <a:t>with</a:t>
            </a:r>
            <a:r>
              <a:rPr sz="1800" spc="-40" dirty="0"/>
              <a:t> </a:t>
            </a:r>
            <a:r>
              <a:rPr sz="1800" dirty="0"/>
              <a:t>several</a:t>
            </a:r>
            <a:r>
              <a:rPr sz="1800" spc="-50" dirty="0"/>
              <a:t> </a:t>
            </a:r>
            <a:r>
              <a:rPr sz="1800" spc="-10" dirty="0"/>
              <a:t>layers</a:t>
            </a:r>
            <a:r>
              <a:rPr sz="1800" spc="-45" dirty="0"/>
              <a:t> </a:t>
            </a:r>
            <a:r>
              <a:rPr sz="1800" spc="-25" dirty="0"/>
              <a:t>of</a:t>
            </a:r>
            <a:r>
              <a:rPr lang="en-US" sz="1800" spc="-25" dirty="0"/>
              <a:t> </a:t>
            </a:r>
            <a:r>
              <a:rPr sz="1800" dirty="0"/>
              <a:t>trainable</a:t>
            </a:r>
            <a:r>
              <a:rPr sz="1800" spc="-65" dirty="0"/>
              <a:t> </a:t>
            </a:r>
            <a:r>
              <a:rPr sz="1800" spc="-10" dirty="0"/>
              <a:t>parameters</a:t>
            </a:r>
            <a:r>
              <a:rPr sz="1800" spc="-60" dirty="0"/>
              <a:t> </a:t>
            </a:r>
            <a:r>
              <a:rPr sz="1800" dirty="0"/>
              <a:t>to</a:t>
            </a:r>
            <a:r>
              <a:rPr sz="1800" spc="-75" dirty="0"/>
              <a:t> </a:t>
            </a:r>
            <a:r>
              <a:rPr lang="en-US" sz="1800" spc="-10" dirty="0"/>
              <a:t>model</a:t>
            </a:r>
            <a:endParaRPr lang="en-US" sz="1800" spc="-20" dirty="0"/>
          </a:p>
          <a:p>
            <a:pPr marL="469900" marR="73025" indent="-3810">
              <a:lnSpc>
                <a:spcPct val="100000"/>
              </a:lnSpc>
              <a:buSzPct val="94444"/>
              <a:buAutoNum type="arabicPeriod"/>
              <a:tabLst>
                <a:tab pos="642620" algn="l"/>
              </a:tabLst>
            </a:pPr>
            <a:r>
              <a:rPr lang="en-US" sz="1800" spc="-25" dirty="0"/>
              <a:t>Train</a:t>
            </a:r>
            <a:r>
              <a:rPr sz="1800" spc="-65" dirty="0"/>
              <a:t> </a:t>
            </a:r>
            <a:r>
              <a:rPr sz="1800" dirty="0"/>
              <a:t>classifier</a:t>
            </a:r>
            <a:r>
              <a:rPr sz="1800" spc="-50" dirty="0"/>
              <a:t> </a:t>
            </a:r>
            <a:r>
              <a:rPr sz="1800" spc="-10" dirty="0"/>
              <a:t>layers</a:t>
            </a:r>
            <a:r>
              <a:rPr sz="1800" spc="-60" dirty="0"/>
              <a:t> </a:t>
            </a:r>
            <a:r>
              <a:rPr sz="1800" dirty="0"/>
              <a:t>on</a:t>
            </a:r>
            <a:r>
              <a:rPr sz="1800" spc="-45" dirty="0"/>
              <a:t> </a:t>
            </a:r>
            <a:r>
              <a:rPr sz="1800" dirty="0"/>
              <a:t>training</a:t>
            </a:r>
            <a:r>
              <a:rPr sz="1800" spc="-45" dirty="0"/>
              <a:t> </a:t>
            </a:r>
            <a:r>
              <a:rPr sz="1800" dirty="0"/>
              <a:t>data</a:t>
            </a:r>
            <a:r>
              <a:rPr sz="1800" spc="-60" dirty="0"/>
              <a:t> </a:t>
            </a:r>
            <a:r>
              <a:rPr sz="1800" spc="-10" dirty="0"/>
              <a:t>available </a:t>
            </a:r>
            <a:r>
              <a:rPr sz="1800" dirty="0"/>
              <a:t>for</a:t>
            </a:r>
            <a:r>
              <a:rPr sz="1800" spc="-45" dirty="0"/>
              <a:t> </a:t>
            </a:r>
            <a:r>
              <a:rPr sz="1800" spc="-20" dirty="0"/>
              <a:t>task</a:t>
            </a:r>
            <a:r>
              <a:rPr lang="en-US" sz="1800" spc="-20" dirty="0"/>
              <a:t> </a:t>
            </a:r>
            <a:endParaRPr lang="en-US" sz="1800" spc="-10"/>
          </a:p>
          <a:p>
            <a:pPr marL="469900" marR="73025" indent="-3810">
              <a:lnSpc>
                <a:spcPct val="100000"/>
              </a:lnSpc>
              <a:buSzPct val="94444"/>
              <a:buAutoNum type="arabicPeriod"/>
              <a:tabLst>
                <a:tab pos="642620" algn="l"/>
              </a:tabLst>
            </a:pPr>
            <a:r>
              <a:rPr sz="1800" spc="-10" dirty="0"/>
              <a:t>Fine-</a:t>
            </a:r>
            <a:r>
              <a:rPr sz="1800" dirty="0"/>
              <a:t>tune</a:t>
            </a:r>
            <a:r>
              <a:rPr sz="1800" spc="-35" dirty="0"/>
              <a:t> </a:t>
            </a:r>
            <a:r>
              <a:rPr sz="1800" spc="-10" dirty="0"/>
              <a:t>hyperparameters</a:t>
            </a:r>
            <a:r>
              <a:rPr sz="1800" spc="-30" dirty="0"/>
              <a:t> </a:t>
            </a:r>
            <a:r>
              <a:rPr sz="1800" dirty="0"/>
              <a:t>and</a:t>
            </a:r>
            <a:r>
              <a:rPr sz="1800" spc="-45" dirty="0"/>
              <a:t> </a:t>
            </a:r>
            <a:r>
              <a:rPr sz="1800" spc="-10" dirty="0"/>
              <a:t>unfreeze</a:t>
            </a:r>
            <a:r>
              <a:rPr lang="en-US" sz="1800" spc="-10" dirty="0"/>
              <a:t> </a:t>
            </a:r>
            <a:r>
              <a:rPr sz="1800" dirty="0"/>
              <a:t>more</a:t>
            </a:r>
            <a:r>
              <a:rPr sz="1800" spc="-50" dirty="0"/>
              <a:t> </a:t>
            </a:r>
            <a:r>
              <a:rPr sz="1800" dirty="0"/>
              <a:t>layers</a:t>
            </a:r>
            <a:r>
              <a:rPr sz="1800" spc="-40" dirty="0"/>
              <a:t> </a:t>
            </a:r>
            <a:r>
              <a:rPr sz="1800" dirty="0"/>
              <a:t>as</a:t>
            </a:r>
            <a:r>
              <a:rPr sz="1800" spc="-50" dirty="0"/>
              <a:t> </a:t>
            </a:r>
            <a:r>
              <a:rPr sz="1800" spc="-10" dirty="0"/>
              <a:t>needed</a:t>
            </a:r>
            <a:endParaRPr sz="1800" spc="-10">
              <a:ea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0212" y="5827267"/>
            <a:ext cx="2020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https://modelzoo.co/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0210" y="5836411"/>
            <a:ext cx="7945120" cy="44830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ts val="1639"/>
              </a:lnSpc>
              <a:spcBef>
                <a:spcPts val="190"/>
              </a:spcBef>
            </a:pP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ModelZoo</a:t>
            </a:r>
            <a:r>
              <a:rPr sz="1400" spc="-4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curates</a:t>
            </a:r>
            <a:r>
              <a:rPr sz="1400" spc="-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and</a:t>
            </a:r>
            <a:r>
              <a:rPr sz="1400" spc="-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provides</a:t>
            </a:r>
            <a:r>
              <a:rPr sz="1400" spc="-4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a</a:t>
            </a:r>
            <a:r>
              <a:rPr sz="1400" spc="-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platform</a:t>
            </a:r>
            <a:r>
              <a:rPr sz="1400" spc="-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for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deep</a:t>
            </a:r>
            <a:r>
              <a:rPr sz="1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C00000"/>
                </a:solidFill>
                <a:latin typeface="Arial"/>
                <a:cs typeface="Arial"/>
              </a:rPr>
              <a:t>learning</a:t>
            </a:r>
            <a:r>
              <a:rPr sz="14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researchers</a:t>
            </a:r>
            <a:r>
              <a:rPr sz="1400" spc="-4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to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easily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find</a:t>
            </a:r>
            <a:r>
              <a:rPr sz="1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code</a:t>
            </a:r>
            <a:r>
              <a:rPr sz="1400" spc="-4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and</a:t>
            </a:r>
            <a:r>
              <a:rPr sz="1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C00000"/>
                </a:solidFill>
                <a:latin typeface="Arial MT"/>
                <a:cs typeface="Arial MT"/>
              </a:rPr>
              <a:t>pre-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trained</a:t>
            </a:r>
            <a:r>
              <a:rPr sz="1400" spc="-5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C00000"/>
                </a:solidFill>
                <a:latin typeface="Arial"/>
                <a:cs typeface="Arial"/>
              </a:rPr>
              <a:t>models</a:t>
            </a:r>
            <a:r>
              <a:rPr sz="14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for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a</a:t>
            </a:r>
            <a:r>
              <a:rPr sz="1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variety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of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platforms</a:t>
            </a:r>
            <a:r>
              <a:rPr sz="1400" spc="-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and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 MT"/>
                <a:cs typeface="Arial MT"/>
              </a:rPr>
              <a:t>uses.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063" y="5423408"/>
            <a:ext cx="4812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https://cloud.google.com/ai-</a:t>
            </a:r>
            <a:r>
              <a:rPr sz="1800" spc="-10" dirty="0">
                <a:latin typeface="Calibri"/>
                <a:cs typeface="Calibri"/>
              </a:rPr>
              <a:t>hub/docs/introduction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20410" y="5506618"/>
            <a:ext cx="12966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C00000"/>
                </a:solidFill>
                <a:latin typeface="Arial MT"/>
                <a:cs typeface="Arial MT"/>
              </a:rPr>
              <a:t>Google’s</a:t>
            </a:r>
            <a:r>
              <a:rPr sz="1400" spc="-1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Ai</a:t>
            </a:r>
            <a:r>
              <a:rPr sz="1400" spc="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Hub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469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</a:t>
            </a:r>
            <a:r>
              <a:rPr spc="-50" dirty="0"/>
              <a:t> </a:t>
            </a:r>
            <a:r>
              <a:rPr dirty="0"/>
              <a:t>models:</a:t>
            </a:r>
            <a:r>
              <a:rPr spc="-10" dirty="0"/>
              <a:t> </a:t>
            </a:r>
            <a:r>
              <a:rPr dirty="0"/>
              <a:t>How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use</a:t>
            </a:r>
            <a:r>
              <a:rPr spc="-15" dirty="0"/>
              <a:t> </a:t>
            </a:r>
            <a:r>
              <a:rPr dirty="0"/>
              <a:t>in </a:t>
            </a:r>
            <a:r>
              <a:rPr spc="-10" dirty="0"/>
              <a:t>Pytorch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394840"/>
            <a:ext cx="4432935" cy="1513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100"/>
              </a:spcBef>
            </a:pPr>
            <a:r>
              <a:rPr sz="1800" b="1" spc="-140" dirty="0">
                <a:solidFill>
                  <a:srgbClr val="111111"/>
                </a:solidFill>
                <a:latin typeface="Tahoma"/>
                <a:cs typeface="Tahoma"/>
              </a:rPr>
              <a:t>Loading</a:t>
            </a:r>
            <a:r>
              <a:rPr sz="1800" b="1" spc="-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b="1" spc="-180" dirty="0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sz="1800" b="1" spc="-7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111111"/>
                </a:solidFill>
                <a:latin typeface="Tahoma"/>
                <a:cs typeface="Tahoma"/>
              </a:rPr>
              <a:t>model</a:t>
            </a:r>
            <a:r>
              <a:rPr sz="1800" b="1" spc="-5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111111"/>
                </a:solidFill>
                <a:latin typeface="Tahoma"/>
                <a:cs typeface="Tahoma"/>
              </a:rPr>
              <a:t>with</a:t>
            </a:r>
            <a:r>
              <a:rPr sz="1800" b="1" spc="-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b="1" spc="-140" dirty="0">
                <a:solidFill>
                  <a:srgbClr val="111111"/>
                </a:solidFill>
                <a:latin typeface="Tahoma"/>
                <a:cs typeface="Tahoma"/>
              </a:rPr>
              <a:t>random</a:t>
            </a:r>
            <a:r>
              <a:rPr sz="1800" b="1" spc="-5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b="1" spc="-114" dirty="0">
                <a:solidFill>
                  <a:srgbClr val="111111"/>
                </a:solidFill>
                <a:latin typeface="Tahoma"/>
                <a:cs typeface="Tahoma"/>
              </a:rPr>
              <a:t>parameters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45" dirty="0">
                <a:solidFill>
                  <a:srgbClr val="111111"/>
                </a:solidFill>
                <a:latin typeface="Tahoma"/>
                <a:cs typeface="Tahoma"/>
              </a:rPr>
              <a:t>You</a:t>
            </a:r>
            <a:r>
              <a:rPr sz="1800" spc="-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111111"/>
                </a:solidFill>
                <a:latin typeface="Tahoma"/>
                <a:cs typeface="Tahoma"/>
              </a:rPr>
              <a:t>can</a:t>
            </a:r>
            <a:r>
              <a:rPr sz="1800" spc="-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111111"/>
                </a:solidFill>
                <a:latin typeface="Tahoma"/>
                <a:cs typeface="Tahoma"/>
              </a:rPr>
              <a:t>construct</a:t>
            </a:r>
            <a:r>
              <a:rPr sz="1800" spc="-2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sz="1800" spc="-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111111"/>
                </a:solidFill>
                <a:latin typeface="Tahoma"/>
                <a:cs typeface="Tahoma"/>
              </a:rPr>
              <a:t>model</a:t>
            </a:r>
            <a:r>
              <a:rPr sz="1800" spc="-2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111111"/>
                </a:solidFill>
                <a:latin typeface="Tahoma"/>
                <a:cs typeface="Tahoma"/>
              </a:rPr>
              <a:t>with</a:t>
            </a:r>
            <a:r>
              <a:rPr sz="1800" spc="-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11111"/>
                </a:solidFill>
                <a:latin typeface="Tahoma"/>
                <a:cs typeface="Tahoma"/>
              </a:rPr>
              <a:t>randomly-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85" dirty="0">
                <a:solidFill>
                  <a:srgbClr val="111111"/>
                </a:solidFill>
                <a:latin typeface="Tahoma"/>
                <a:cs typeface="Tahoma"/>
              </a:rPr>
              <a:t>initialized</a:t>
            </a:r>
            <a:r>
              <a:rPr sz="1800" spc="-4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111111"/>
                </a:solidFill>
                <a:latin typeface="Tahoma"/>
                <a:cs typeface="Tahoma"/>
              </a:rPr>
              <a:t>parameters</a:t>
            </a:r>
            <a:r>
              <a:rPr sz="1800" spc="-2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111111"/>
                </a:solidFill>
                <a:latin typeface="Tahoma"/>
                <a:cs typeface="Tahoma"/>
              </a:rPr>
              <a:t>by</a:t>
            </a:r>
            <a:r>
              <a:rPr sz="1800" spc="-5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111111"/>
                </a:solidFill>
                <a:latin typeface="Tahoma"/>
                <a:cs typeface="Tahoma"/>
              </a:rPr>
              <a:t>calling</a:t>
            </a:r>
            <a:r>
              <a:rPr sz="1800" spc="-40" dirty="0">
                <a:solidFill>
                  <a:srgbClr val="111111"/>
                </a:solidFill>
                <a:latin typeface="Tahoma"/>
                <a:cs typeface="Tahoma"/>
              </a:rPr>
              <a:t> its</a:t>
            </a:r>
            <a:r>
              <a:rPr sz="1800" spc="-3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11111"/>
                </a:solidFill>
                <a:latin typeface="Tahoma"/>
                <a:cs typeface="Tahoma"/>
              </a:rPr>
              <a:t>constructor: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" y="3793235"/>
            <a:ext cx="4230624" cy="20497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5584" y="3889247"/>
            <a:ext cx="5964936" cy="204977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698995" y="1075055"/>
            <a:ext cx="4736465" cy="235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>
              <a:lnSpc>
                <a:spcPct val="100000"/>
              </a:lnSpc>
              <a:spcBef>
                <a:spcPts val="100"/>
              </a:spcBef>
            </a:pPr>
            <a:r>
              <a:rPr sz="1800" b="1" spc="-140" dirty="0">
                <a:solidFill>
                  <a:srgbClr val="111111"/>
                </a:solidFill>
                <a:latin typeface="Tahoma"/>
                <a:cs typeface="Tahoma"/>
              </a:rPr>
              <a:t>Loading</a:t>
            </a:r>
            <a:r>
              <a:rPr sz="1800" b="1" spc="-2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b="1" spc="-180" dirty="0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sz="1800" b="1" spc="-4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b="1" spc="-125" dirty="0">
                <a:solidFill>
                  <a:srgbClr val="111111"/>
                </a:solidFill>
                <a:latin typeface="Tahoma"/>
                <a:cs typeface="Tahoma"/>
              </a:rPr>
              <a:t>pre-</a:t>
            </a:r>
            <a:r>
              <a:rPr sz="1800" b="1" spc="-130" dirty="0">
                <a:solidFill>
                  <a:srgbClr val="111111"/>
                </a:solidFill>
                <a:latin typeface="Tahoma"/>
                <a:cs typeface="Tahoma"/>
              </a:rPr>
              <a:t>trained</a:t>
            </a:r>
            <a:r>
              <a:rPr sz="1800" b="1" spc="-10" dirty="0">
                <a:solidFill>
                  <a:srgbClr val="111111"/>
                </a:solidFill>
                <a:latin typeface="Tahoma"/>
                <a:cs typeface="Tahoma"/>
              </a:rPr>
              <a:t> model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8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spc="-145" dirty="0">
                <a:solidFill>
                  <a:srgbClr val="111111"/>
                </a:solidFill>
                <a:latin typeface="Tahoma"/>
                <a:cs typeface="Tahoma"/>
              </a:rPr>
              <a:t>You</a:t>
            </a:r>
            <a:r>
              <a:rPr sz="1800" spc="-3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111111"/>
                </a:solidFill>
                <a:latin typeface="Tahoma"/>
                <a:cs typeface="Tahoma"/>
              </a:rPr>
              <a:t>can</a:t>
            </a:r>
            <a:r>
              <a:rPr sz="1800" spc="-4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111111"/>
                </a:solidFill>
                <a:latin typeface="Tahoma"/>
                <a:cs typeface="Tahoma"/>
              </a:rPr>
              <a:t>also</a:t>
            </a:r>
            <a:r>
              <a:rPr sz="1800" spc="-3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111111"/>
                </a:solidFill>
                <a:latin typeface="Tahoma"/>
                <a:cs typeface="Tahoma"/>
              </a:rPr>
              <a:t>load</a:t>
            </a:r>
            <a:r>
              <a:rPr sz="1800" spc="-3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111111"/>
                </a:solidFill>
                <a:latin typeface="Tahoma"/>
                <a:cs typeface="Tahoma"/>
              </a:rPr>
              <a:t>pre-</a:t>
            </a:r>
            <a:r>
              <a:rPr sz="1800" spc="-110" dirty="0">
                <a:solidFill>
                  <a:srgbClr val="111111"/>
                </a:solidFill>
                <a:latin typeface="Tahoma"/>
                <a:cs typeface="Tahoma"/>
              </a:rPr>
              <a:t>trained</a:t>
            </a:r>
            <a:r>
              <a:rPr sz="1800" spc="-2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111111"/>
                </a:solidFill>
                <a:latin typeface="Tahoma"/>
                <a:cs typeface="Tahoma"/>
              </a:rPr>
              <a:t>models.</a:t>
            </a:r>
            <a:r>
              <a:rPr sz="1800" spc="-1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11111"/>
                </a:solidFill>
                <a:latin typeface="Tahoma"/>
                <a:cs typeface="Tahoma"/>
              </a:rPr>
              <a:t>In </a:t>
            </a:r>
            <a:r>
              <a:rPr sz="1800" spc="-80" dirty="0">
                <a:solidFill>
                  <a:srgbClr val="111111"/>
                </a:solidFill>
                <a:latin typeface="Tahoma"/>
                <a:cs typeface="Tahoma"/>
              </a:rPr>
              <a:t>torchvision.models,</a:t>
            </a:r>
            <a:r>
              <a:rPr sz="1800" spc="-1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111111"/>
                </a:solidFill>
                <a:latin typeface="Tahoma"/>
                <a:cs typeface="Tahoma"/>
              </a:rPr>
              <a:t>all</a:t>
            </a:r>
            <a:r>
              <a:rPr sz="1800" spc="-3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111111"/>
                </a:solidFill>
                <a:latin typeface="Tahoma"/>
                <a:cs typeface="Tahoma"/>
              </a:rPr>
              <a:t>pre-</a:t>
            </a:r>
            <a:r>
              <a:rPr sz="1800" spc="-110" dirty="0">
                <a:solidFill>
                  <a:srgbClr val="111111"/>
                </a:solidFill>
                <a:latin typeface="Tahoma"/>
                <a:cs typeface="Tahoma"/>
              </a:rPr>
              <a:t>trained</a:t>
            </a:r>
            <a:r>
              <a:rPr sz="1800" spc="-3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111111"/>
                </a:solidFill>
                <a:latin typeface="Tahoma"/>
                <a:cs typeface="Tahoma"/>
              </a:rPr>
              <a:t>models</a:t>
            </a:r>
            <a:r>
              <a:rPr sz="1800" spc="-1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111111"/>
                </a:solidFill>
                <a:latin typeface="Tahoma"/>
                <a:cs typeface="Tahoma"/>
              </a:rPr>
              <a:t>are</a:t>
            </a:r>
            <a:r>
              <a:rPr sz="1800" spc="-5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11111"/>
                </a:solidFill>
                <a:latin typeface="Tahoma"/>
                <a:cs typeface="Tahoma"/>
              </a:rPr>
              <a:t>pre- </a:t>
            </a:r>
            <a:r>
              <a:rPr sz="1800" spc="-110" dirty="0">
                <a:solidFill>
                  <a:srgbClr val="111111"/>
                </a:solidFill>
                <a:latin typeface="Tahoma"/>
                <a:cs typeface="Tahoma"/>
              </a:rPr>
              <a:t>trained</a:t>
            </a:r>
            <a:r>
              <a:rPr sz="1800" spc="-3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111111"/>
                </a:solidFill>
                <a:latin typeface="Tahoma"/>
                <a:cs typeface="Tahoma"/>
              </a:rPr>
              <a:t>on</a:t>
            </a:r>
            <a:r>
              <a:rPr sz="1800" spc="-3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111111"/>
                </a:solidFill>
                <a:latin typeface="Tahoma"/>
                <a:cs typeface="Tahoma"/>
              </a:rPr>
              <a:t>ImageNet,</a:t>
            </a:r>
            <a:r>
              <a:rPr sz="1800" spc="-3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111111"/>
                </a:solidFill>
                <a:latin typeface="Tahoma"/>
                <a:cs typeface="Tahoma"/>
              </a:rPr>
              <a:t>meaning</a:t>
            </a:r>
            <a:r>
              <a:rPr sz="1800" spc="-3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111111"/>
                </a:solidFill>
                <a:latin typeface="Tahoma"/>
                <a:cs typeface="Tahoma"/>
              </a:rPr>
              <a:t>that</a:t>
            </a:r>
            <a:r>
              <a:rPr sz="1800" spc="-2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111111"/>
                </a:solidFill>
                <a:latin typeface="Tahoma"/>
                <a:cs typeface="Tahoma"/>
              </a:rPr>
              <a:t>their</a:t>
            </a:r>
            <a:r>
              <a:rPr sz="1800" spc="-4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111111"/>
                </a:solidFill>
                <a:latin typeface="Tahoma"/>
                <a:cs typeface="Tahoma"/>
              </a:rPr>
              <a:t>parameters </a:t>
            </a:r>
            <a:r>
              <a:rPr sz="1800" spc="-125" dirty="0">
                <a:solidFill>
                  <a:srgbClr val="111111"/>
                </a:solidFill>
                <a:latin typeface="Tahoma"/>
                <a:cs typeface="Tahoma"/>
              </a:rPr>
              <a:t>have</a:t>
            </a:r>
            <a:r>
              <a:rPr sz="1800" spc="-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111111"/>
                </a:solidFill>
                <a:latin typeface="Tahoma"/>
                <a:cs typeface="Tahoma"/>
              </a:rPr>
              <a:t>been</a:t>
            </a:r>
            <a:r>
              <a:rPr sz="1800" spc="-4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111111"/>
                </a:solidFill>
                <a:latin typeface="Tahoma"/>
                <a:cs typeface="Tahoma"/>
              </a:rPr>
              <a:t>optimized</a:t>
            </a:r>
            <a:r>
              <a:rPr sz="1800" spc="-1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111111"/>
                </a:solidFill>
                <a:latin typeface="Tahoma"/>
                <a:cs typeface="Tahoma"/>
              </a:rPr>
              <a:t>to</a:t>
            </a:r>
            <a:r>
              <a:rPr sz="1800" spc="-4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111111"/>
                </a:solidFill>
                <a:latin typeface="Tahoma"/>
                <a:cs typeface="Tahoma"/>
              </a:rPr>
              <a:t>perform</a:t>
            </a:r>
            <a:r>
              <a:rPr sz="1800" spc="-2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111111"/>
                </a:solidFill>
                <a:latin typeface="Tahoma"/>
                <a:cs typeface="Tahoma"/>
              </a:rPr>
              <a:t>well</a:t>
            </a:r>
            <a:r>
              <a:rPr sz="1800" spc="-3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111111"/>
                </a:solidFill>
                <a:latin typeface="Tahoma"/>
                <a:cs typeface="Tahoma"/>
              </a:rPr>
              <a:t>on</a:t>
            </a:r>
            <a:r>
              <a:rPr sz="1800" spc="-3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11111"/>
                </a:solidFill>
                <a:latin typeface="Tahoma"/>
                <a:cs typeface="Tahoma"/>
              </a:rPr>
              <a:t>the </a:t>
            </a:r>
            <a:r>
              <a:rPr sz="1800" spc="-140" dirty="0">
                <a:solidFill>
                  <a:srgbClr val="111111"/>
                </a:solidFill>
                <a:latin typeface="Tahoma"/>
                <a:cs typeface="Tahoma"/>
              </a:rPr>
              <a:t>ImageNet</a:t>
            </a:r>
            <a:r>
              <a:rPr sz="1800" spc="-3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111111"/>
                </a:solidFill>
                <a:latin typeface="Tahoma"/>
                <a:cs typeface="Tahoma"/>
              </a:rPr>
              <a:t>1000-</a:t>
            </a:r>
            <a:r>
              <a:rPr sz="1800" spc="-40" dirty="0">
                <a:solidFill>
                  <a:srgbClr val="111111"/>
                </a:solidFill>
                <a:latin typeface="Tahoma"/>
                <a:cs typeface="Tahoma"/>
              </a:rPr>
              <a:t>class</a:t>
            </a:r>
            <a:r>
              <a:rPr sz="1800" spc="-1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111111"/>
                </a:solidFill>
                <a:latin typeface="Tahoma"/>
                <a:cs typeface="Tahoma"/>
              </a:rPr>
              <a:t>natural</a:t>
            </a:r>
            <a:r>
              <a:rPr sz="1800" spc="-2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111111"/>
                </a:solidFill>
                <a:latin typeface="Tahoma"/>
                <a:cs typeface="Tahoma"/>
              </a:rPr>
              <a:t>image</a:t>
            </a:r>
            <a:r>
              <a:rPr sz="1800" spc="-2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11111"/>
                </a:solidFill>
                <a:latin typeface="Tahoma"/>
                <a:cs typeface="Tahoma"/>
              </a:rPr>
              <a:t>classification task.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8342" y="5991859"/>
            <a:ext cx="4344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https://pytorch.org/vision/stable/models.html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469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dirty="0"/>
              <a:t>Receptive</a:t>
            </a:r>
            <a:r>
              <a:rPr spc="-45" dirty="0"/>
              <a:t> </a:t>
            </a:r>
            <a:r>
              <a:rPr spc="-10" dirty="0"/>
              <a:t>Fields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0560" y="1876425"/>
            <a:ext cx="6536165" cy="314248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33273" y="2198584"/>
            <a:ext cx="4206240" cy="2604135"/>
            <a:chOff x="533273" y="2198584"/>
            <a:chExt cx="4206240" cy="260413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029" y="2198584"/>
              <a:ext cx="4193860" cy="260388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6448" y="2237231"/>
              <a:ext cx="3718560" cy="1901825"/>
            </a:xfrm>
            <a:custGeom>
              <a:avLst/>
              <a:gdLst/>
              <a:ahLst/>
              <a:cxnLst/>
              <a:rect l="l" t="t" r="r" b="b"/>
              <a:pathLst>
                <a:path w="3718560" h="1901825">
                  <a:moveTo>
                    <a:pt x="3642105" y="1901443"/>
                  </a:moveTo>
                  <a:lnTo>
                    <a:pt x="1882139" y="1353312"/>
                  </a:lnTo>
                </a:path>
                <a:path w="3718560" h="1901825">
                  <a:moveTo>
                    <a:pt x="3718052" y="1627631"/>
                  </a:moveTo>
                  <a:lnTo>
                    <a:pt x="2462784" y="780288"/>
                  </a:lnTo>
                </a:path>
                <a:path w="3718560" h="1901825">
                  <a:moveTo>
                    <a:pt x="2294635" y="768095"/>
                  </a:moveTo>
                  <a:lnTo>
                    <a:pt x="944880" y="0"/>
                  </a:lnTo>
                </a:path>
                <a:path w="3718560" h="1901825">
                  <a:moveTo>
                    <a:pt x="1910714" y="1353312"/>
                  </a:moveTo>
                  <a:lnTo>
                    <a:pt x="0" y="92963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9778" y="1201292"/>
            <a:ext cx="104730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centre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influenced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3x3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shaded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previous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inturn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influenced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5x5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then </a:t>
            </a:r>
            <a:r>
              <a:rPr sz="1800" dirty="0">
                <a:latin typeface="Calibri"/>
                <a:cs typeface="Calibri"/>
              </a:rPr>
              <a:t>7x7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previous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01636" y="5018913"/>
            <a:ext cx="3754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Check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causing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neuron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fire??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469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dirty="0"/>
              <a:t>Visualizing</a:t>
            </a:r>
            <a:r>
              <a:rPr spc="-65" dirty="0"/>
              <a:t> </a:t>
            </a:r>
            <a:r>
              <a:rPr spc="-10" dirty="0"/>
              <a:t>filters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2" y="1215971"/>
            <a:ext cx="5791200" cy="28959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2219" y="4194047"/>
            <a:ext cx="3818820" cy="13814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17617" y="358154"/>
            <a:ext cx="4962901" cy="38103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525768" y="4352544"/>
            <a:ext cx="4596765" cy="1478280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710" marR="27940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H14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high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 θ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high,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θ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 </a:t>
            </a:r>
            <a:r>
              <a:rPr sz="1800" dirty="0">
                <a:latin typeface="Calibri"/>
                <a:cs typeface="Calibri"/>
              </a:rPr>
              <a:t>ie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θ=0</a:t>
            </a:r>
            <a:endParaRPr sz="1800">
              <a:latin typeface="Calibri"/>
              <a:cs typeface="Calibri"/>
            </a:endParaRPr>
          </a:p>
          <a:p>
            <a:pPr marL="92710" marR="13779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ie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aligned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direction </a:t>
            </a:r>
            <a:r>
              <a:rPr sz="1800" dirty="0">
                <a:latin typeface="Calibri"/>
                <a:cs typeface="Calibri"/>
              </a:rPr>
              <a:t>wherever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pattern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dirty="0">
                <a:latin typeface="Calibri"/>
                <a:cs typeface="Calibri"/>
              </a:rPr>
              <a:t>image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high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response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2272"/>
            <a:ext cx="12192000" cy="736600"/>
          </a:xfrm>
          <a:custGeom>
            <a:avLst/>
            <a:gdLst/>
            <a:ahLst/>
            <a:cxnLst/>
            <a:rect l="l" t="t" r="r" b="b"/>
            <a:pathLst>
              <a:path w="12192000" h="736600">
                <a:moveTo>
                  <a:pt x="12192000" y="0"/>
                </a:moveTo>
                <a:lnTo>
                  <a:pt x="0" y="0"/>
                </a:lnTo>
                <a:lnTo>
                  <a:pt x="0" y="736091"/>
                </a:lnTo>
                <a:lnTo>
                  <a:pt x="12192000" y="736091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70096" y="709421"/>
            <a:ext cx="41840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  <a:latin typeface="Calibri Light"/>
                <a:cs typeface="Calibri Light"/>
              </a:rPr>
              <a:t>Visualizing</a:t>
            </a:r>
            <a:r>
              <a:rPr spc="-1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>
                <a:solidFill>
                  <a:srgbClr val="FFFFFF"/>
                </a:solidFill>
                <a:latin typeface="Calibri Light"/>
                <a:cs typeface="Calibri Light"/>
              </a:rPr>
              <a:t>AlexNet</a:t>
            </a:r>
            <a:r>
              <a:rPr spc="-1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pc="-10" dirty="0">
                <a:solidFill>
                  <a:srgbClr val="FFFFFF"/>
                </a:solidFill>
                <a:latin typeface="Calibri Light"/>
                <a:cs typeface="Calibri Light"/>
              </a:rPr>
              <a:t>Filters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39" y="1674876"/>
            <a:ext cx="10485119" cy="439521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981" y="124807"/>
            <a:ext cx="604949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Visualization</a:t>
            </a:r>
            <a:r>
              <a:rPr spc="-25" dirty="0"/>
              <a:t> </a:t>
            </a:r>
            <a:r>
              <a:rPr dirty="0"/>
              <a:t>in </a:t>
            </a:r>
            <a:r>
              <a:rPr spc="-20" dirty="0"/>
              <a:t>CNN-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73" y="1164666"/>
            <a:ext cx="8720328" cy="51274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96578" y="931240"/>
            <a:ext cx="2774315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607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Which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patch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image contribute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maximally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Heat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Map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shows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difference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cap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original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after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masking </a:t>
            </a:r>
            <a:r>
              <a:rPr sz="1800" dirty="0">
                <a:latin typeface="Calibri"/>
                <a:cs typeface="Calibri"/>
              </a:rPr>
              <a:t>certain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portions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96578" y="2852420"/>
            <a:ext cx="282829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Calibri"/>
                <a:cs typeface="Calibri"/>
              </a:rPr>
              <a:t>Fig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portion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Dog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masked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resulted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substantial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reduction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spc="-10" dirty="0"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  <a:p>
            <a:pPr marL="299085" marR="38989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Calibri"/>
                <a:cs typeface="Calibri"/>
              </a:rPr>
              <a:t>Fig2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maximally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contributing</a:t>
            </a:r>
            <a:endParaRPr sz="1800">
              <a:latin typeface="Calibri"/>
              <a:cs typeface="Calibri"/>
            </a:endParaRPr>
          </a:p>
          <a:p>
            <a:pPr marL="299085" marR="3429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Calibri"/>
                <a:cs typeface="Calibri"/>
              </a:rPr>
              <a:t>Fig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3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maximally contributing.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lady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also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small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extend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right.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all </a:t>
            </a:r>
            <a:r>
              <a:rPr sz="1800" dirty="0">
                <a:latin typeface="Calibri"/>
                <a:cs typeface="Calibri"/>
              </a:rPr>
              <a:t>training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had </a:t>
            </a:r>
            <a:r>
              <a:rPr sz="1800" dirty="0">
                <a:latin typeface="Calibri"/>
                <a:cs typeface="Calibri"/>
              </a:rPr>
              <a:t>somebody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holding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dog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7982" y="931240"/>
            <a:ext cx="4616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Fig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56907" y="827278"/>
            <a:ext cx="461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Fig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4746" y="901446"/>
            <a:ext cx="461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Fig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13615</TotalTime>
  <Words>2553</Words>
  <Application>Microsoft Office PowerPoint</Application>
  <PresentationFormat>Widescreen</PresentationFormat>
  <Paragraphs>273</Paragraphs>
  <Slides>50</Slides>
  <Notes>3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PowerPoint Presentation</vt:lpstr>
      <vt:lpstr>Different CNN Architectures</vt:lpstr>
      <vt:lpstr>PowerPoint Presentation</vt:lpstr>
      <vt:lpstr>PowerPoint Presentation</vt:lpstr>
      <vt:lpstr>LeNet-5 – First CNN Architecture</vt:lpstr>
      <vt:lpstr>Calculation of no of parameters</vt:lpstr>
      <vt:lpstr>How to train a Convolutional Neural Network</vt:lpstr>
      <vt:lpstr>PowerPoint Presentation</vt:lpstr>
      <vt:lpstr>PowerPoint Presentation</vt:lpstr>
      <vt:lpstr>PowerPoint Presentation</vt:lpstr>
      <vt:lpstr>ImageNet Large Scale Visual Recognition Challenge (ILSVRC) </vt:lpstr>
      <vt:lpstr>PowerPoint Presentation</vt:lpstr>
      <vt:lpstr>VGG16 (Runner-up in ImageNet 2014)</vt:lpstr>
      <vt:lpstr>PowerPoint Presentation</vt:lpstr>
      <vt:lpstr>PowerPoint Presentation</vt:lpstr>
      <vt:lpstr>VGG-16</vt:lpstr>
      <vt:lpstr>PowerPoint Presentation</vt:lpstr>
      <vt:lpstr>No: of computations in CNN</vt:lpstr>
      <vt:lpstr>No: of computations in CNN</vt:lpstr>
      <vt:lpstr>Why Was GoogLeNet Developed?</vt:lpstr>
      <vt:lpstr>GoogLeNet - Intuitions</vt:lpstr>
      <vt:lpstr>1x1 Convolution</vt:lpstr>
      <vt:lpstr>Intuition Behind GoogLeNet</vt:lpstr>
      <vt:lpstr>Inception Module in GoogLeNet </vt:lpstr>
      <vt:lpstr>GoogLeNet Architecture</vt:lpstr>
      <vt:lpstr>GoogLeNet Architecture- Average Pooling, Auxiliary Loss for training</vt:lpstr>
      <vt:lpstr>Conclusion</vt:lpstr>
      <vt:lpstr>PowerPoint Presentation</vt:lpstr>
      <vt:lpstr>ImageNet Large Scale Visual Recognition Challenge (ILSVRC) </vt:lpstr>
      <vt:lpstr>ResNet</vt:lpstr>
      <vt:lpstr>Background-Problems of Plain Network </vt:lpstr>
      <vt:lpstr>Skip / Shortcut Connection in Residual Network (ResNet) </vt:lpstr>
      <vt:lpstr>Towards ResNet Architecture</vt:lpstr>
      <vt:lpstr>Towards ResNet Architecture</vt:lpstr>
      <vt:lpstr>PowerPoint Presentation</vt:lpstr>
      <vt:lpstr>PowerPoint Presentation</vt:lpstr>
      <vt:lpstr>ResNet (Residual Network)– How does it perform across tasks</vt:lpstr>
      <vt:lpstr>PowerPoint Presentation</vt:lpstr>
      <vt:lpstr>PowerPoint Presentation</vt:lpstr>
      <vt:lpstr>Image Classification</vt:lpstr>
      <vt:lpstr>Image Classification with localization</vt:lpstr>
      <vt:lpstr>Multiple Object detection</vt:lpstr>
      <vt:lpstr>Transfer Learning Pre-trained models</vt:lpstr>
      <vt:lpstr>Transfer Learning</vt:lpstr>
      <vt:lpstr>Transfer Learning</vt:lpstr>
      <vt:lpstr>Existing models: How to use in Pytorch</vt:lpstr>
      <vt:lpstr>Receptive Fields</vt:lpstr>
      <vt:lpstr>Visualizing filters</vt:lpstr>
      <vt:lpstr>Visualizing AlexNet Filters</vt:lpstr>
      <vt:lpstr>Visualization in CNN-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Sarath S</dc:creator>
  <cp:lastModifiedBy>saraths</cp:lastModifiedBy>
  <cp:revision>409</cp:revision>
  <dcterms:created xsi:type="dcterms:W3CDTF">2020-09-22T05:47:20Z</dcterms:created>
  <dcterms:modified xsi:type="dcterms:W3CDTF">2025-03-14T06:00:12Z</dcterms:modified>
</cp:coreProperties>
</file>
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  <p:sldMasterId id="2147483675" r:id="rId2"/>
  </p:sldMasterIdLst>
  <p:sldIdLst>
    <p:sldId id="288" r:id="rId3"/>
    <p:sldId id="259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81" r:id="rId19"/>
    <p:sldId id="282" r:id="rId20"/>
    <p:sldId id="283" r:id="rId21"/>
    <p:sldId id="284" r:id="rId22"/>
    <p:sldId id="265" r:id="rId23"/>
    <p:sldId id="266" r:id="rId24"/>
    <p:sldId id="289" r:id="rId25"/>
    <p:sldId id="290" r:id="rId26"/>
    <p:sldId id="291" r:id="rId27"/>
    <p:sldId id="292" r:id="rId28"/>
    <p:sldId id="293" r:id="rId29"/>
    <p:sldId id="294" r:id="rId30"/>
    <p:sldId id="313" r:id="rId31"/>
    <p:sldId id="314" r:id="rId32"/>
    <p:sldId id="315" r:id="rId33"/>
    <p:sldId id="295" r:id="rId34"/>
    <p:sldId id="296" r:id="rId35"/>
    <p:sldId id="297" r:id="rId36"/>
    <p:sldId id="298" r:id="rId37"/>
    <p:sldId id="299" r:id="rId38"/>
    <p:sldId id="300" r:id="rId39"/>
    <p:sldId id="301" r:id="rId40"/>
    <p:sldId id="302" r:id="rId41"/>
    <p:sldId id="303" r:id="rId42"/>
    <p:sldId id="304" r:id="rId43"/>
    <p:sldId id="305" r:id="rId44"/>
    <p:sldId id="306" r:id="rId45"/>
    <p:sldId id="285" r:id="rId46"/>
    <p:sldId id="286" r:id="rId47"/>
    <p:sldId id="287" r:id="rId48"/>
    <p:sldId id="307" r:id="rId49"/>
    <p:sldId id="308" r:id="rId50"/>
    <p:sldId id="309" r:id="rId51"/>
    <p:sldId id="310" r:id="rId52"/>
    <p:sldId id="311" r:id="rId53"/>
    <p:sldId id="312" r:id="rId54"/>
    <p:sldId id="316" r:id="rId55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4A7861-C7B9-CA65-CBAB-CCE3F7BBBC01}" v="8" dt="2025-02-13T07:23:59.868"/>
    <p1510:client id="{DD2112C6-4264-47D5-987A-148213FD00B7}" v="19" dt="2025-02-13T05:12:10.816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954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theme" Target="theme/theme1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viewProps" Target="viewProp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FECE9-D645-0540-9DA0-AEC7DA1A78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499" y="1137256"/>
            <a:ext cx="11209376" cy="4908082"/>
          </a:xfrm>
        </p:spPr>
        <p:txBody>
          <a:bodyPr/>
          <a:lstStyle>
            <a:lvl1pPr>
              <a:defRPr>
                <a:latin typeface="Georgia" panose="02040502050405020303" pitchFamily="18" charset="0"/>
              </a:defRPr>
            </a:lvl1pPr>
            <a:lvl2pPr>
              <a:defRPr>
                <a:latin typeface="Georgia" panose="02040502050405020303" pitchFamily="18" charset="0"/>
              </a:defRPr>
            </a:lvl2pPr>
            <a:lvl3pPr>
              <a:defRPr>
                <a:latin typeface="Georgia" panose="02040502050405020303" pitchFamily="18" charset="0"/>
              </a:defRPr>
            </a:lvl3pPr>
            <a:lvl4pPr>
              <a:defRPr>
                <a:latin typeface="Georgia" panose="02040502050405020303" pitchFamily="18" charset="0"/>
              </a:defRPr>
            </a:lvl4pPr>
            <a:lvl5pPr>
              <a:defRPr>
                <a:latin typeface="Georgia" panose="02040502050405020303" pitchFamily="18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FB4E98A-97D9-4526-9E90-BA541F5B53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499" y="348662"/>
            <a:ext cx="11209376" cy="464000"/>
          </a:xfrm>
        </p:spPr>
        <p:txBody>
          <a:bodyPr>
            <a:noAutofit/>
          </a:bodyPr>
          <a:lstStyle>
            <a:lvl1pPr>
              <a:defRPr sz="3200" b="0">
                <a:solidFill>
                  <a:srgbClr val="A4123F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Click Here To Edit Title</a:t>
            </a:r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40DA784-0993-4F43-BA98-733CB6486E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489" y="6369932"/>
            <a:ext cx="12218977" cy="52100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5D41DD4-A5E8-4552-814D-0D80AF0F22E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6134" y="6490361"/>
            <a:ext cx="1781941" cy="314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223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2807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4C414-CEA1-4751-B4F1-497A70F6A8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70B34C-6ACD-4D78-BC86-B0BF5E8310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9621FA-F2A4-45BB-A75D-8B6A2538F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A5BE85-2FA0-4E61-A93E-F7A231CCA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087E0C-F01C-4E74-981E-86D131C5B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61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6837" y="1235990"/>
            <a:ext cx="3660496" cy="4559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92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2901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95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73607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7D080-B51B-44B8-862D-984950A74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4C3F68-356E-4D3D-86AE-CD4367C5FB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417366-8120-47E4-ADDF-4EC8201CE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70F8E-A193-4B55-B497-5485ADB88707}" type="datetimeFigureOut">
              <a:rPr lang="en-IN" smtClean="0"/>
              <a:t>29-08-2025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5D4EFD-8FD2-40BA-8A46-224D48F6D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0CFF29-4989-4580-BE30-F964FB135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95E7F-D1D9-400F-B9C2-95429B4E61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5528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292929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791497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00125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24240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C0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43874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C0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290182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C0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417355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C0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538379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39456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11.xml"/><Relationship Id="rId7" Type="http://schemas.openxmlformats.org/officeDocument/2006/relationships/image" Target="../media/image3.jpg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218248-39AE-B24D-B571-E8695ACF81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428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6370320"/>
            <a:ext cx="12192000" cy="487677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26492" y="6490714"/>
            <a:ext cx="1781556" cy="31394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739" y="-67818"/>
            <a:ext cx="9425939" cy="1039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C0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867660" y="2643073"/>
            <a:ext cx="8074025" cy="14890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32294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onlinecourses.nptel.ac.in/noc18_cs41/preview" TargetMode="External"/><Relationship Id="rId5" Type="http://schemas.openxmlformats.org/officeDocument/2006/relationships/hyperlink" Target="http://nptel.ac.in/" TargetMode="External"/><Relationship Id="rId4" Type="http://schemas.openxmlformats.org/officeDocument/2006/relationships/hyperlink" Target="https://www.cse.iitm.ac.in/~miteshk/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6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0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3.jpg"/><Relationship Id="rId4" Type="http://schemas.openxmlformats.org/officeDocument/2006/relationships/image" Target="../media/image42.jp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7.png"/><Relationship Id="rId4" Type="http://schemas.openxmlformats.org/officeDocument/2006/relationships/image" Target="../media/image46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g"/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g"/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6.jp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g"/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g"/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56.jp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g"/><Relationship Id="rId1" Type="http://schemas.openxmlformats.org/officeDocument/2006/relationships/slideLayout" Target="../slideLayouts/slideLayout10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g"/><Relationship Id="rId2" Type="http://schemas.openxmlformats.org/officeDocument/2006/relationships/image" Target="../media/image63.jp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67.png"/><Relationship Id="rId5" Type="http://schemas.openxmlformats.org/officeDocument/2006/relationships/image" Target="../media/image66.jpg"/><Relationship Id="rId4" Type="http://schemas.openxmlformats.org/officeDocument/2006/relationships/image" Target="../media/image65.jp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g"/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56.jp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g"/><Relationship Id="rId2" Type="http://schemas.openxmlformats.org/officeDocument/2006/relationships/image" Target="../media/image68.jp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56.jp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g"/><Relationship Id="rId2" Type="http://schemas.openxmlformats.org/officeDocument/2006/relationships/image" Target="../media/image69.jp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56.jp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g"/><Relationship Id="rId2" Type="http://schemas.openxmlformats.org/officeDocument/2006/relationships/image" Target="../media/image70.jp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56.jp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jpg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jpg"/><Relationship Id="rId1" Type="http://schemas.openxmlformats.org/officeDocument/2006/relationships/slideLayout" Target="../slideLayouts/slideLayout10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jpg"/><Relationship Id="rId2" Type="http://schemas.openxmlformats.org/officeDocument/2006/relationships/image" Target="../media/image74.jp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76.jp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7" Type="http://schemas.openxmlformats.org/officeDocument/2006/relationships/image" Target="../media/image82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81.png"/><Relationship Id="rId5" Type="http://schemas.openxmlformats.org/officeDocument/2006/relationships/image" Target="../media/image80.jpg"/><Relationship Id="rId4" Type="http://schemas.openxmlformats.org/officeDocument/2006/relationships/image" Target="../media/image79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jpg"/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hyperlink" Target="http://en.wikipedia.org/wiki/Backpropagation#Derivation" TargetMode="Externa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85.jp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jpg"/><Relationship Id="rId2" Type="http://schemas.openxmlformats.org/officeDocument/2006/relationships/image" Target="../media/image86.jp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9.png"/><Relationship Id="rId4" Type="http://schemas.openxmlformats.org/officeDocument/2006/relationships/image" Target="../media/image88.jp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jpg"/><Relationship Id="rId7" Type="http://schemas.openxmlformats.org/officeDocument/2006/relationships/image" Target="../media/image75.jpg"/><Relationship Id="rId2" Type="http://schemas.openxmlformats.org/officeDocument/2006/relationships/image" Target="../media/image90.jp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3.png"/><Relationship Id="rId5" Type="http://schemas.openxmlformats.org/officeDocument/2006/relationships/image" Target="../media/image92.jpg"/><Relationship Id="rId4" Type="http://schemas.openxmlformats.org/officeDocument/2006/relationships/image" Target="../media/image91.jp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jpg"/><Relationship Id="rId2" Type="http://schemas.openxmlformats.org/officeDocument/2006/relationships/image" Target="../media/image94.jpg"/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jp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DC7025E-4863-6F49-AD01-8A5B65B0890F}"/>
              </a:ext>
            </a:extLst>
          </p:cNvPr>
          <p:cNvSpPr/>
          <p:nvPr/>
        </p:nvSpPr>
        <p:spPr>
          <a:xfrm>
            <a:off x="1" y="0"/>
            <a:ext cx="12191999" cy="6858000"/>
          </a:xfrm>
          <a:prstGeom prst="rect">
            <a:avLst/>
          </a:prstGeom>
          <a:solidFill>
            <a:srgbClr val="B811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</p:txBody>
      </p:sp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id="{80288CD4-7B52-C244-BAD4-BFF7D9DCE6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154" y="2576466"/>
            <a:ext cx="3443174" cy="1104899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BA58083-EF1A-427F-9030-DC289843A2BF}"/>
              </a:ext>
            </a:extLst>
          </p:cNvPr>
          <p:cNvCxnSpPr>
            <a:cxnSpLocks/>
          </p:cNvCxnSpPr>
          <p:nvPr/>
        </p:nvCxnSpPr>
        <p:spPr>
          <a:xfrm>
            <a:off x="4335124" y="2310508"/>
            <a:ext cx="0" cy="1636813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4FF19762-9449-7F8E-ED51-CE92E43F0E91}"/>
              </a:ext>
            </a:extLst>
          </p:cNvPr>
          <p:cNvSpPr txBox="1"/>
          <p:nvPr/>
        </p:nvSpPr>
        <p:spPr>
          <a:xfrm>
            <a:off x="4495803" y="2596836"/>
            <a:ext cx="701039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Universal Approximation Theorem (UAT)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Multi Layer Perceptron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Feed forward Neural Network</a:t>
            </a:r>
          </a:p>
        </p:txBody>
      </p:sp>
    </p:spTree>
    <p:extLst>
      <p:ext uri="{BB962C8B-B14F-4D97-AF65-F5344CB8AC3E}">
        <p14:creationId xmlns:p14="http://schemas.microsoft.com/office/powerpoint/2010/main" val="30059229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000000"/>
                </a:solidFill>
                <a:latin typeface="Times New Roman"/>
                <a:cs typeface="Times New Roman"/>
              </a:rPr>
              <a:t>Non linearly</a:t>
            </a:r>
            <a:r>
              <a:rPr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000000"/>
                </a:solidFill>
                <a:latin typeface="Times New Roman"/>
                <a:cs typeface="Times New Roman"/>
              </a:rPr>
              <a:t>separated</a:t>
            </a:r>
            <a:r>
              <a:rPr spc="-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pc="-20" dirty="0">
                <a:solidFill>
                  <a:srgbClr val="000000"/>
                </a:solidFill>
                <a:latin typeface="Times New Roman"/>
                <a:cs typeface="Times New Roman"/>
              </a:rPr>
              <a:t>data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7000" y="1222401"/>
            <a:ext cx="2606755" cy="217114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53313" y="1734288"/>
            <a:ext cx="2629256" cy="222091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62000" y="3658930"/>
            <a:ext cx="4238244" cy="271424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315693" y="4249052"/>
            <a:ext cx="4018551" cy="212412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443204" y="1106512"/>
            <a:ext cx="25393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solidFill>
                  <a:srgbClr val="C00000"/>
                </a:solidFill>
                <a:latin typeface="Calibri"/>
                <a:cs typeface="Calibri"/>
              </a:rPr>
              <a:t>XOR</a:t>
            </a:r>
            <a:r>
              <a:rPr sz="3600" b="1" spc="-17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600" b="1" spc="-10" dirty="0">
                <a:solidFill>
                  <a:srgbClr val="C00000"/>
                </a:solidFill>
                <a:latin typeface="Calibri"/>
                <a:cs typeface="Calibri"/>
              </a:rPr>
              <a:t>problem</a:t>
            </a:r>
            <a:endParaRPr sz="3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319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spc="-10" dirty="0">
                <a:solidFill>
                  <a:srgbClr val="000000"/>
                </a:solidFill>
                <a:latin typeface="Calibri Light"/>
                <a:cs typeface="Calibri Light"/>
              </a:rPr>
              <a:t>Analogy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77327" y="463295"/>
            <a:ext cx="8657937" cy="395630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41782" y="4995113"/>
            <a:ext cx="11493500" cy="1123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You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can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think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of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house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as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complex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function,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way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we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will</a:t>
            </a:r>
            <a:r>
              <a:rPr sz="18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build</a:t>
            </a:r>
            <a:r>
              <a:rPr sz="18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house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is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we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start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with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building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block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i.e...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brick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in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this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case.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First,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we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will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lay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foundation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on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top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of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that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we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will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lay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another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layer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we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will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just</a:t>
            </a:r>
            <a:r>
              <a:rPr sz="18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keep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continuing</a:t>
            </a:r>
            <a:r>
              <a:rPr sz="1800" spc="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in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this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manner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till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we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get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very</a:t>
            </a:r>
            <a:r>
              <a:rPr sz="18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complex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output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i.e…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house.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In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this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process,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we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are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combining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very</a:t>
            </a:r>
            <a:r>
              <a:rPr sz="18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simple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building</a:t>
            </a:r>
            <a:r>
              <a:rPr sz="18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blocks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in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effective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way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so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that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we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can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get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this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house.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52244" y="2138208"/>
            <a:ext cx="8087468" cy="281973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138165" y="4544695"/>
            <a:ext cx="5944870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In</a:t>
            </a:r>
            <a:r>
              <a:rPr sz="1800" i="1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800" i="1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mathematical</a:t>
            </a:r>
            <a:r>
              <a:rPr sz="1800" i="1" spc="-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theory</a:t>
            </a:r>
            <a:r>
              <a:rPr sz="1800" i="1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of</a:t>
            </a:r>
            <a:r>
              <a:rPr sz="1800" i="1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artificial</a:t>
            </a:r>
            <a:r>
              <a:rPr sz="1800" i="1" spc="-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neural</a:t>
            </a:r>
            <a:r>
              <a:rPr sz="1800" i="1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networks,</a:t>
            </a:r>
            <a:r>
              <a:rPr sz="1800" i="1" spc="-25" dirty="0">
                <a:solidFill>
                  <a:srgbClr val="292929"/>
                </a:solidFill>
                <a:latin typeface="Calibri"/>
                <a:cs typeface="Calibri"/>
              </a:rPr>
              <a:t> the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universal</a:t>
            </a:r>
            <a:r>
              <a:rPr sz="1800" i="1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approximation</a:t>
            </a:r>
            <a:r>
              <a:rPr sz="1800" i="1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theorem</a:t>
            </a:r>
            <a:r>
              <a:rPr sz="1800" i="1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states</a:t>
            </a:r>
            <a:r>
              <a:rPr sz="1800" i="1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that</a:t>
            </a:r>
            <a:r>
              <a:rPr sz="1800" i="1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a</a:t>
            </a:r>
            <a:r>
              <a:rPr sz="1800" i="1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spc="-10" dirty="0">
                <a:solidFill>
                  <a:srgbClr val="292929"/>
                </a:solidFill>
                <a:latin typeface="Calibri"/>
                <a:cs typeface="Calibri"/>
              </a:rPr>
              <a:t>feed-forward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network</a:t>
            </a:r>
            <a:r>
              <a:rPr sz="1800" i="1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with</a:t>
            </a:r>
            <a:r>
              <a:rPr sz="1800" i="1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a</a:t>
            </a:r>
            <a:r>
              <a:rPr sz="1800" i="1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single</a:t>
            </a:r>
            <a:r>
              <a:rPr sz="1800" i="1" spc="-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hidden</a:t>
            </a:r>
            <a:r>
              <a:rPr sz="1800" i="1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layer</a:t>
            </a:r>
            <a:r>
              <a:rPr sz="1800" i="1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containing</a:t>
            </a:r>
            <a:r>
              <a:rPr sz="1800" i="1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a</a:t>
            </a:r>
            <a:r>
              <a:rPr sz="1800" i="1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finite</a:t>
            </a:r>
            <a:r>
              <a:rPr sz="1800" i="1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number</a:t>
            </a:r>
            <a:r>
              <a:rPr sz="1800" i="1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spc="-25" dirty="0">
                <a:solidFill>
                  <a:srgbClr val="292929"/>
                </a:solidFill>
                <a:latin typeface="Calibri"/>
                <a:cs typeface="Calibri"/>
              </a:rPr>
              <a:t>of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neurons</a:t>
            </a:r>
            <a:r>
              <a:rPr sz="1800" i="1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can</a:t>
            </a:r>
            <a:r>
              <a:rPr sz="1800" i="1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approximate</a:t>
            </a:r>
            <a:r>
              <a:rPr sz="1800" i="1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continuous</a:t>
            </a:r>
            <a:r>
              <a:rPr sz="1800" i="1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functions</a:t>
            </a:r>
            <a:r>
              <a:rPr sz="1800" i="1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on</a:t>
            </a:r>
            <a:r>
              <a:rPr sz="1800" i="1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spc="-10" dirty="0">
                <a:solidFill>
                  <a:srgbClr val="292929"/>
                </a:solidFill>
                <a:latin typeface="Calibri"/>
                <a:cs typeface="Calibri"/>
              </a:rPr>
              <a:t>compact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subsets</a:t>
            </a:r>
            <a:r>
              <a:rPr sz="1800" i="1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of</a:t>
            </a:r>
            <a:r>
              <a:rPr sz="1800" i="1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Rn,</a:t>
            </a:r>
            <a:r>
              <a:rPr sz="1800" i="1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under</a:t>
            </a:r>
            <a:r>
              <a:rPr sz="1800" i="1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mild</a:t>
            </a:r>
            <a:r>
              <a:rPr sz="1800" i="1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assumptions</a:t>
            </a:r>
            <a:r>
              <a:rPr sz="1800" i="1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on</a:t>
            </a:r>
            <a:r>
              <a:rPr sz="1800" i="1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800" i="1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spc="-10" dirty="0">
                <a:solidFill>
                  <a:srgbClr val="292929"/>
                </a:solidFill>
                <a:latin typeface="Calibri"/>
                <a:cs typeface="Calibri"/>
              </a:rPr>
              <a:t>activation function.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spc="-10" dirty="0">
                <a:solidFill>
                  <a:srgbClr val="000000"/>
                </a:solidFill>
                <a:latin typeface="Times New Roman"/>
                <a:cs typeface="Times New Roman"/>
              </a:rPr>
              <a:t>Universal</a:t>
            </a:r>
            <a:r>
              <a:rPr sz="2900" spc="-1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900" dirty="0">
                <a:solidFill>
                  <a:srgbClr val="000000"/>
                </a:solidFill>
                <a:latin typeface="Times New Roman"/>
                <a:cs typeface="Times New Roman"/>
              </a:rPr>
              <a:t>Approximation</a:t>
            </a:r>
            <a:r>
              <a:rPr sz="2900" spc="-10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900" dirty="0">
                <a:solidFill>
                  <a:srgbClr val="000000"/>
                </a:solidFill>
                <a:latin typeface="Times New Roman"/>
                <a:cs typeface="Times New Roman"/>
              </a:rPr>
              <a:t>Theorem</a:t>
            </a:r>
            <a:r>
              <a:rPr sz="29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900" spc="-10" dirty="0">
                <a:solidFill>
                  <a:srgbClr val="000000"/>
                </a:solidFill>
                <a:latin typeface="Times New Roman"/>
                <a:cs typeface="Times New Roman"/>
              </a:rPr>
              <a:t>(UAT)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39740" y="1179575"/>
            <a:ext cx="6106795" cy="923925"/>
          </a:xfrm>
          <a:prstGeom prst="rect">
            <a:avLst/>
          </a:prstGeom>
          <a:solidFill>
            <a:srgbClr val="FFF1CC"/>
          </a:solidFill>
        </p:spPr>
        <p:txBody>
          <a:bodyPr vert="horz" wrap="square" lIns="0" tIns="31750" rIns="0" bIns="0" rtlCol="0">
            <a:spAutoFit/>
          </a:bodyPr>
          <a:lstStyle/>
          <a:p>
            <a:pPr marL="92710" marR="342265" indent="51435" algn="just">
              <a:lnSpc>
                <a:spcPct val="100000"/>
              </a:lnSpc>
              <a:spcBef>
                <a:spcPts val="250"/>
              </a:spcBef>
            </a:pP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UAT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says</a:t>
            </a:r>
            <a:r>
              <a:rPr sz="18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that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—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you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can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always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come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up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with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deep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neural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network</a:t>
            </a:r>
            <a:r>
              <a:rPr sz="18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that</a:t>
            </a:r>
            <a:r>
              <a:rPr sz="18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will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approximate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any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complex</a:t>
            </a:r>
            <a:r>
              <a:rPr sz="18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relation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between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input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output.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58317" rIns="0" bIns="0" rtlCol="0">
            <a:spAutoFit/>
          </a:bodyPr>
          <a:lstStyle/>
          <a:p>
            <a:pPr marL="587375">
              <a:lnSpc>
                <a:spcPct val="100000"/>
              </a:lnSpc>
              <a:spcBef>
                <a:spcPts val="105"/>
              </a:spcBef>
            </a:pPr>
            <a:r>
              <a:rPr b="0" dirty="0">
                <a:solidFill>
                  <a:srgbClr val="000000"/>
                </a:solidFill>
                <a:latin typeface="Calibri Light"/>
                <a:cs typeface="Calibri Light"/>
              </a:rPr>
              <a:t>Modelling</a:t>
            </a:r>
            <a:r>
              <a:rPr b="0" spc="-5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b="0" dirty="0">
                <a:solidFill>
                  <a:srgbClr val="000000"/>
                </a:solidFill>
                <a:latin typeface="Calibri Light"/>
                <a:cs typeface="Calibri Light"/>
              </a:rPr>
              <a:t>Complex</a:t>
            </a:r>
            <a:r>
              <a:rPr b="0" spc="-4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b="0" spc="-10" dirty="0">
                <a:solidFill>
                  <a:srgbClr val="000000"/>
                </a:solidFill>
                <a:latin typeface="Calibri Light"/>
                <a:cs typeface="Calibri Light"/>
              </a:rPr>
              <a:t>Functions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385340" y="1647866"/>
            <a:ext cx="8296909" cy="3161030"/>
            <a:chOff x="2385340" y="1647866"/>
            <a:chExt cx="8296909" cy="316103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85340" y="1647866"/>
              <a:ext cx="5488983" cy="316081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88579" y="2095499"/>
              <a:ext cx="2993135" cy="2171700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46197" y="5029249"/>
            <a:ext cx="2342222" cy="95280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012435" y="5097779"/>
            <a:ext cx="6105525" cy="922019"/>
          </a:xfrm>
          <a:prstGeom prst="rect">
            <a:avLst/>
          </a:prstGeom>
          <a:solidFill>
            <a:srgbClr val="FFF1CC"/>
          </a:solidFill>
        </p:spPr>
        <p:txBody>
          <a:bodyPr vert="horz" wrap="square" lIns="0" tIns="31114" rIns="0" bIns="0" rtlCol="0">
            <a:spAutoFit/>
          </a:bodyPr>
          <a:lstStyle/>
          <a:p>
            <a:pPr marL="92075" marR="225425">
              <a:lnSpc>
                <a:spcPct val="100000"/>
              </a:lnSpc>
              <a:spcBef>
                <a:spcPts val="244"/>
              </a:spcBef>
            </a:pP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Deep</a:t>
            </a:r>
            <a:r>
              <a:rPr sz="1800" i="1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neural</a:t>
            </a:r>
            <a:r>
              <a:rPr sz="1800" i="1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network</a:t>
            </a:r>
            <a:r>
              <a:rPr sz="1800" i="1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with</a:t>
            </a:r>
            <a:r>
              <a:rPr sz="1800" i="1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a</a:t>
            </a:r>
            <a:r>
              <a:rPr sz="1800" i="1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certain</a:t>
            </a:r>
            <a:r>
              <a:rPr sz="1800" i="1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number</a:t>
            </a:r>
            <a:r>
              <a:rPr sz="1800" i="1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of</a:t>
            </a:r>
            <a:r>
              <a:rPr sz="1800" i="1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hidden</a:t>
            </a:r>
            <a:r>
              <a:rPr sz="1800" i="1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spc="-10" dirty="0">
                <a:solidFill>
                  <a:srgbClr val="292929"/>
                </a:solidFill>
                <a:latin typeface="Calibri"/>
                <a:cs typeface="Calibri"/>
              </a:rPr>
              <a:t>layers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should</a:t>
            </a:r>
            <a:r>
              <a:rPr sz="1800" i="1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be</a:t>
            </a:r>
            <a:r>
              <a:rPr sz="1800" i="1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able</a:t>
            </a:r>
            <a:r>
              <a:rPr sz="1800" i="1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800" i="1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approximate</a:t>
            </a:r>
            <a:r>
              <a:rPr sz="1800" i="1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any</a:t>
            </a:r>
            <a:r>
              <a:rPr sz="1800" i="1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function</a:t>
            </a:r>
            <a:r>
              <a:rPr sz="1800" i="1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that</a:t>
            </a:r>
            <a:r>
              <a:rPr sz="1800" i="1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exits</a:t>
            </a:r>
            <a:r>
              <a:rPr sz="1800" i="1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spc="-10" dirty="0">
                <a:solidFill>
                  <a:srgbClr val="292929"/>
                </a:solidFill>
                <a:latin typeface="Calibri"/>
                <a:cs typeface="Calibri"/>
              </a:rPr>
              <a:t>between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input</a:t>
            </a:r>
            <a:r>
              <a:rPr sz="1800" i="1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i="1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spc="-10" dirty="0">
                <a:solidFill>
                  <a:srgbClr val="292929"/>
                </a:solidFill>
                <a:latin typeface="Calibri"/>
                <a:cs typeface="Calibri"/>
              </a:rPr>
              <a:t>output.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000000"/>
                </a:solidFill>
                <a:latin typeface="Times New Roman"/>
                <a:cs typeface="Times New Roman"/>
              </a:rPr>
              <a:t>Universal</a:t>
            </a:r>
            <a:r>
              <a:rPr sz="3200" spc="-20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00"/>
                </a:solidFill>
                <a:latin typeface="Times New Roman"/>
                <a:cs typeface="Times New Roman"/>
              </a:rPr>
              <a:t>Approximation</a:t>
            </a:r>
            <a:r>
              <a:rPr sz="3200" spc="-19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00"/>
                </a:solidFill>
                <a:latin typeface="Times New Roman"/>
                <a:cs typeface="Times New Roman"/>
              </a:rPr>
              <a:t>Theorem</a:t>
            </a:r>
            <a:r>
              <a:rPr sz="3200" spc="-7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00"/>
                </a:solidFill>
                <a:latin typeface="Times New Roman"/>
                <a:cs typeface="Times New Roman"/>
              </a:rPr>
              <a:t>(UAT)</a:t>
            </a:r>
            <a:endParaRPr sz="32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29611" y="1613916"/>
            <a:ext cx="7686675" cy="363016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000000"/>
                </a:solidFill>
                <a:latin typeface="Times New Roman"/>
                <a:cs typeface="Times New Roman"/>
              </a:rPr>
              <a:t>Illustrative</a:t>
            </a:r>
            <a:r>
              <a:rPr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000000"/>
                </a:solidFill>
                <a:latin typeface="Times New Roman"/>
                <a:cs typeface="Times New Roman"/>
              </a:rPr>
              <a:t>proof</a:t>
            </a:r>
            <a:r>
              <a:rPr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000000"/>
                </a:solidFill>
                <a:latin typeface="Times New Roman"/>
                <a:cs typeface="Times New Roman"/>
              </a:rPr>
              <a:t>of</a:t>
            </a:r>
            <a:r>
              <a:rPr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pc="-70" dirty="0">
                <a:solidFill>
                  <a:srgbClr val="000000"/>
                </a:solidFill>
                <a:latin typeface="Times New Roman"/>
                <a:cs typeface="Times New Roman"/>
              </a:rPr>
              <a:t>UAT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07123" y="1083563"/>
            <a:ext cx="3715512" cy="242925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44623" y="1316736"/>
            <a:ext cx="4590287" cy="29337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28015" y="4509515"/>
            <a:ext cx="6085840" cy="1754505"/>
          </a:xfrm>
          <a:prstGeom prst="rect">
            <a:avLst/>
          </a:prstGeom>
          <a:solidFill>
            <a:srgbClr val="FFF1CC"/>
          </a:solidFill>
        </p:spPr>
        <p:txBody>
          <a:bodyPr vert="horz" wrap="square" lIns="0" tIns="31114" rIns="0" bIns="0" rtlCol="0">
            <a:spAutoFit/>
          </a:bodyPr>
          <a:lstStyle/>
          <a:p>
            <a:pPr marL="90805" marR="195580">
              <a:lnSpc>
                <a:spcPct val="100000"/>
              </a:lnSpc>
              <a:spcBef>
                <a:spcPts val="244"/>
              </a:spcBef>
            </a:pP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For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this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illustrative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proof,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we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will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consider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simple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example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where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we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have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one-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dimensional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input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x</a:t>
            </a:r>
            <a:r>
              <a:rPr sz="1800" b="1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output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y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,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the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graph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shown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above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represents</a:t>
            </a:r>
            <a:r>
              <a:rPr sz="18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true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relationship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between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input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output.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Let’s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assume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that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we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don’t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know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what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that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function</a:t>
            </a:r>
            <a:r>
              <a:rPr sz="18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equation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between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x</a:t>
            </a:r>
            <a:r>
              <a:rPr sz="1800" b="1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y</a:t>
            </a:r>
            <a:r>
              <a:rPr sz="1800" b="1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we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can’t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come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up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with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representation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for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equation.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34911" y="4514088"/>
            <a:ext cx="5622290" cy="1754505"/>
          </a:xfrm>
          <a:prstGeom prst="rect">
            <a:avLst/>
          </a:prstGeom>
          <a:solidFill>
            <a:srgbClr val="DEEBF7"/>
          </a:solidFill>
        </p:spPr>
        <p:txBody>
          <a:bodyPr vert="horz" wrap="square" lIns="0" tIns="31750" rIns="0" bIns="0" rtlCol="0">
            <a:spAutoFit/>
          </a:bodyPr>
          <a:lstStyle/>
          <a:p>
            <a:pPr marL="92710" marR="158115">
              <a:lnSpc>
                <a:spcPct val="100000"/>
              </a:lnSpc>
              <a:spcBef>
                <a:spcPts val="250"/>
              </a:spcBef>
            </a:pPr>
            <a:r>
              <a:rPr sz="1800" spc="-65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solve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this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problem,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we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will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break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this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function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into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multiple</a:t>
            </a:r>
            <a:r>
              <a:rPr sz="18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smaller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parts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so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that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each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part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is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represented</a:t>
            </a:r>
            <a:r>
              <a:rPr sz="18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by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simpler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function.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By</a:t>
            </a:r>
            <a:r>
              <a:rPr sz="18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combining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series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of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smaller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functions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(rectangular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bars/towers)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can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approximate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the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relation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between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x</a:t>
            </a:r>
            <a:r>
              <a:rPr sz="1800" b="1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y</a:t>
            </a:r>
            <a:r>
              <a:rPr sz="1800" b="1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as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close</a:t>
            </a:r>
            <a:r>
              <a:rPr sz="18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true</a:t>
            </a:r>
            <a:r>
              <a:rPr sz="18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relationship possible.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9052" y="766929"/>
            <a:ext cx="7800975" cy="257103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813560" y="4145279"/>
            <a:ext cx="8510270" cy="1478280"/>
          </a:xfrm>
          <a:custGeom>
            <a:avLst/>
            <a:gdLst/>
            <a:ahLst/>
            <a:cxnLst/>
            <a:rect l="l" t="t" r="r" b="b"/>
            <a:pathLst>
              <a:path w="8510270" h="1478279">
                <a:moveTo>
                  <a:pt x="8510016" y="0"/>
                </a:moveTo>
                <a:lnTo>
                  <a:pt x="0" y="0"/>
                </a:lnTo>
                <a:lnTo>
                  <a:pt x="0" y="1478280"/>
                </a:lnTo>
                <a:lnTo>
                  <a:pt x="8510016" y="1478280"/>
                </a:lnTo>
                <a:lnTo>
                  <a:pt x="8510016" y="0"/>
                </a:lnTo>
                <a:close/>
              </a:path>
            </a:pathLst>
          </a:custGeom>
          <a:solidFill>
            <a:srgbClr val="FFF1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892935" y="4164025"/>
            <a:ext cx="8295005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key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point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note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in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this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case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is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that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we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don’t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have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worry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about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coming</a:t>
            </a:r>
            <a:r>
              <a:rPr sz="18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up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with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complex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equations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represent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relationship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between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input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output.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we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can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just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come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up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with</a:t>
            </a:r>
            <a:r>
              <a:rPr sz="18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simple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function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use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combination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of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these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functions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to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approximate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relationship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my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true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relationship.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more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functions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that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choose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in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this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method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better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will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be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my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approximation.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957CADE-467B-C013-1065-64E880C01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000000"/>
                </a:solidFill>
                <a:latin typeface="Times New Roman"/>
                <a:cs typeface="Times New Roman"/>
              </a:rPr>
              <a:t>Illustrative</a:t>
            </a:r>
            <a:r>
              <a:rPr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000000"/>
                </a:solidFill>
                <a:latin typeface="Times New Roman"/>
                <a:cs typeface="Times New Roman"/>
              </a:rPr>
              <a:t>proof</a:t>
            </a:r>
            <a:r>
              <a:rPr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000000"/>
                </a:solidFill>
                <a:latin typeface="Times New Roman"/>
                <a:cs typeface="Times New Roman"/>
              </a:rPr>
              <a:t>of</a:t>
            </a:r>
            <a:r>
              <a:rPr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pc="-70" dirty="0">
                <a:solidFill>
                  <a:srgbClr val="000000"/>
                </a:solidFill>
                <a:latin typeface="Times New Roman"/>
                <a:cs typeface="Times New Roman"/>
              </a:rPr>
              <a:t>UAT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6636" y="1671800"/>
            <a:ext cx="2991194" cy="411406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43755" y="1693177"/>
            <a:ext cx="3809619" cy="417269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099644" y="1831848"/>
            <a:ext cx="3716758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499109" marR="5080">
              <a:lnSpc>
                <a:spcPts val="3020"/>
              </a:lnSpc>
              <a:spcBef>
                <a:spcPts val="480"/>
              </a:spcBef>
            </a:pPr>
            <a:r>
              <a:rPr sz="2800" spc="-325" dirty="0"/>
              <a:t>How</a:t>
            </a:r>
            <a:r>
              <a:rPr sz="2800" spc="-70" dirty="0"/>
              <a:t> </a:t>
            </a:r>
            <a:r>
              <a:rPr sz="2800" spc="-295" dirty="0"/>
              <a:t>do</a:t>
            </a:r>
            <a:r>
              <a:rPr sz="2800" spc="-70" dirty="0"/>
              <a:t> </a:t>
            </a:r>
            <a:r>
              <a:rPr sz="2800" spc="-254" dirty="0"/>
              <a:t>we</a:t>
            </a:r>
            <a:r>
              <a:rPr sz="2800" spc="-55" dirty="0"/>
              <a:t> </a:t>
            </a:r>
            <a:r>
              <a:rPr sz="2800" spc="-300" dirty="0"/>
              <a:t>come</a:t>
            </a:r>
            <a:r>
              <a:rPr sz="2800" spc="-65" dirty="0"/>
              <a:t> </a:t>
            </a:r>
            <a:r>
              <a:rPr sz="2800" spc="-275" dirty="0"/>
              <a:t>up</a:t>
            </a:r>
            <a:r>
              <a:rPr sz="2800" spc="-65" dirty="0"/>
              <a:t> </a:t>
            </a:r>
            <a:r>
              <a:rPr sz="2800" spc="-204" dirty="0"/>
              <a:t>with</a:t>
            </a:r>
            <a:r>
              <a:rPr sz="2800" spc="-65" dirty="0"/>
              <a:t> </a:t>
            </a:r>
            <a:r>
              <a:rPr sz="2800" spc="-215" dirty="0"/>
              <a:t>these</a:t>
            </a:r>
            <a:r>
              <a:rPr sz="2800" spc="-50" dirty="0"/>
              <a:t> </a:t>
            </a:r>
            <a:r>
              <a:rPr sz="2800" spc="-204" dirty="0"/>
              <a:t>rectangles/towers</a:t>
            </a:r>
            <a:r>
              <a:rPr sz="2800" spc="-65" dirty="0"/>
              <a:t> </a:t>
            </a:r>
            <a:r>
              <a:rPr sz="2800" spc="-270" dirty="0"/>
              <a:t>and</a:t>
            </a:r>
            <a:r>
              <a:rPr sz="2800" spc="-55" dirty="0"/>
              <a:t> </a:t>
            </a:r>
            <a:r>
              <a:rPr sz="2800" spc="-320" dirty="0"/>
              <a:t>how</a:t>
            </a:r>
            <a:r>
              <a:rPr sz="2800" spc="-50" dirty="0"/>
              <a:t> </a:t>
            </a:r>
            <a:r>
              <a:rPr sz="2800" spc="-90" dirty="0"/>
              <a:t>it</a:t>
            </a:r>
            <a:r>
              <a:rPr sz="2800" spc="-70" dirty="0"/>
              <a:t> </a:t>
            </a:r>
            <a:r>
              <a:rPr sz="2800" spc="-135" dirty="0"/>
              <a:t>will</a:t>
            </a:r>
            <a:r>
              <a:rPr sz="2800" spc="-75" dirty="0"/>
              <a:t> </a:t>
            </a:r>
            <a:r>
              <a:rPr sz="2800" spc="-25" dirty="0"/>
              <a:t>tie </a:t>
            </a:r>
            <a:r>
              <a:rPr sz="2800" spc="-275" dirty="0"/>
              <a:t>back</a:t>
            </a:r>
            <a:r>
              <a:rPr sz="2800" spc="-30" dirty="0"/>
              <a:t> </a:t>
            </a:r>
            <a:r>
              <a:rPr sz="2800" spc="-235" dirty="0"/>
              <a:t>to</a:t>
            </a:r>
            <a:r>
              <a:rPr sz="2800" spc="-45" dirty="0"/>
              <a:t> </a:t>
            </a:r>
            <a:r>
              <a:rPr sz="2800" spc="-204" dirty="0"/>
              <a:t>the</a:t>
            </a:r>
            <a:r>
              <a:rPr sz="2800" spc="-45" dirty="0"/>
              <a:t> </a:t>
            </a:r>
            <a:r>
              <a:rPr sz="2800" spc="-254" dirty="0"/>
              <a:t>sigmoid</a:t>
            </a:r>
            <a:r>
              <a:rPr sz="2800" spc="-75" dirty="0"/>
              <a:t> </a:t>
            </a:r>
            <a:r>
              <a:rPr sz="2800" spc="-290" dirty="0"/>
              <a:t>neuron?</a:t>
            </a:r>
            <a:endParaRPr sz="28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93371" y="1674852"/>
            <a:ext cx="8076092" cy="241861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720595" y="4700015"/>
            <a:ext cx="7703820" cy="1199515"/>
          </a:xfrm>
          <a:prstGeom prst="rect">
            <a:avLst/>
          </a:prstGeom>
          <a:solidFill>
            <a:srgbClr val="FFF1CC"/>
          </a:solidFill>
        </p:spPr>
        <p:txBody>
          <a:bodyPr vert="horz" wrap="square" lIns="0" tIns="31114" rIns="0" bIns="0" rtlCol="0">
            <a:spAutoFit/>
          </a:bodyPr>
          <a:lstStyle/>
          <a:p>
            <a:pPr marL="91440" marR="140335">
              <a:lnSpc>
                <a:spcPct val="100000"/>
              </a:lnSpc>
              <a:spcBef>
                <a:spcPts val="244"/>
              </a:spcBef>
            </a:pP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Let’s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take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two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step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functions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having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very</a:t>
            </a:r>
            <a:r>
              <a:rPr sz="18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steep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slope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notice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that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they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have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</a:t>
            </a:r>
            <a:r>
              <a:rPr sz="18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different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place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at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which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they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peak.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left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sigmoid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peaks</a:t>
            </a:r>
            <a:r>
              <a:rPr sz="18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just</a:t>
            </a:r>
            <a:r>
              <a:rPr sz="18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before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zero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and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right</a:t>
            </a:r>
            <a:r>
              <a:rPr sz="18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sigmoid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peaks</a:t>
            </a:r>
            <a:r>
              <a:rPr sz="18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just</a:t>
            </a:r>
            <a:r>
              <a:rPr sz="18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after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zero.</a:t>
            </a:r>
            <a:r>
              <a:rPr sz="18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If</a:t>
            </a:r>
            <a:r>
              <a:rPr sz="18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we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just</a:t>
            </a:r>
            <a:r>
              <a:rPr sz="18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subtract</a:t>
            </a:r>
            <a:r>
              <a:rPr sz="18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these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two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functions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800" spc="50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net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effect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is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going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be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tower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(rectangular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output).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600" y="746023"/>
            <a:ext cx="8666168" cy="480832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50" dirty="0"/>
              <a:t>Neural</a:t>
            </a:r>
            <a:r>
              <a:rPr sz="2000" spc="-40" dirty="0"/>
              <a:t> </a:t>
            </a:r>
            <a:r>
              <a:rPr sz="2000" spc="-155" dirty="0"/>
              <a:t>Network-</a:t>
            </a:r>
            <a:r>
              <a:rPr sz="2000" spc="-250" dirty="0"/>
              <a:t>Can</a:t>
            </a:r>
            <a:r>
              <a:rPr sz="2000" spc="-55" dirty="0"/>
              <a:t> </a:t>
            </a:r>
            <a:r>
              <a:rPr sz="2000" spc="-165" dirty="0"/>
              <a:t>we</a:t>
            </a:r>
            <a:r>
              <a:rPr sz="2000" spc="-45" dirty="0"/>
              <a:t> </a:t>
            </a:r>
            <a:r>
              <a:rPr sz="2000" spc="-220" dirty="0"/>
              <a:t>come</a:t>
            </a:r>
            <a:r>
              <a:rPr sz="2000" spc="-30" dirty="0"/>
              <a:t> </a:t>
            </a:r>
            <a:r>
              <a:rPr sz="2000" spc="-215" dirty="0"/>
              <a:t>up</a:t>
            </a:r>
            <a:r>
              <a:rPr sz="2000" spc="-30" dirty="0"/>
              <a:t> </a:t>
            </a:r>
            <a:r>
              <a:rPr sz="2000" spc="-140" dirty="0"/>
              <a:t>with</a:t>
            </a:r>
            <a:r>
              <a:rPr sz="2000" spc="-45" dirty="0"/>
              <a:t> </a:t>
            </a:r>
            <a:r>
              <a:rPr sz="2000" spc="-150" dirty="0"/>
              <a:t>a</a:t>
            </a:r>
            <a:r>
              <a:rPr sz="2000" spc="-25" dirty="0"/>
              <a:t> </a:t>
            </a:r>
            <a:r>
              <a:rPr sz="2000" spc="-150" dirty="0"/>
              <a:t>neural</a:t>
            </a:r>
            <a:r>
              <a:rPr sz="2000" spc="-25" dirty="0"/>
              <a:t> </a:t>
            </a:r>
            <a:r>
              <a:rPr sz="2000" spc="-165" dirty="0"/>
              <a:t>network</a:t>
            </a:r>
            <a:r>
              <a:rPr sz="2000" spc="-60" dirty="0"/>
              <a:t> </a:t>
            </a:r>
            <a:r>
              <a:rPr sz="2000" spc="-160" dirty="0"/>
              <a:t>to</a:t>
            </a:r>
            <a:r>
              <a:rPr sz="2000" spc="-35" dirty="0"/>
              <a:t> </a:t>
            </a:r>
            <a:r>
              <a:rPr sz="2000" spc="-145" dirty="0"/>
              <a:t>represent</a:t>
            </a:r>
            <a:r>
              <a:rPr sz="2000" spc="-70" dirty="0"/>
              <a:t> </a:t>
            </a:r>
            <a:r>
              <a:rPr sz="2000" spc="-145" dirty="0"/>
              <a:t>this</a:t>
            </a:r>
            <a:r>
              <a:rPr sz="2000" spc="-25" dirty="0"/>
              <a:t> </a:t>
            </a:r>
            <a:r>
              <a:rPr sz="2000" spc="-160" dirty="0"/>
              <a:t>operation</a:t>
            </a:r>
            <a:r>
              <a:rPr sz="2000" spc="-75" dirty="0"/>
              <a:t> </a:t>
            </a:r>
            <a:r>
              <a:rPr sz="2000" spc="-170" dirty="0"/>
              <a:t>of</a:t>
            </a:r>
            <a:r>
              <a:rPr sz="2000" spc="-25" dirty="0"/>
              <a:t> </a:t>
            </a:r>
            <a:r>
              <a:rPr sz="2000" spc="-160" dirty="0"/>
              <a:t>subtracting</a:t>
            </a:r>
            <a:r>
              <a:rPr sz="2000" spc="-30" dirty="0"/>
              <a:t> </a:t>
            </a:r>
            <a:r>
              <a:rPr sz="2000" spc="-25" dirty="0"/>
              <a:t>one</a:t>
            </a:r>
            <a:endParaRPr sz="2000"/>
          </a:p>
        </p:txBody>
      </p:sp>
      <p:sp>
        <p:nvSpPr>
          <p:cNvPr id="4" name="object 4"/>
          <p:cNvSpPr txBox="1"/>
          <p:nvPr/>
        </p:nvSpPr>
        <p:spPr>
          <a:xfrm>
            <a:off x="152400" y="1108708"/>
            <a:ext cx="388556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55" dirty="0">
                <a:solidFill>
                  <a:srgbClr val="C00000"/>
                </a:solidFill>
                <a:latin typeface="Arial"/>
                <a:cs typeface="Arial"/>
              </a:rPr>
              <a:t>step/sigmoid</a:t>
            </a:r>
            <a:r>
              <a:rPr sz="2000" b="1" spc="-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170" dirty="0">
                <a:solidFill>
                  <a:srgbClr val="C00000"/>
                </a:solidFill>
                <a:latin typeface="Arial"/>
                <a:cs typeface="Arial"/>
              </a:rPr>
              <a:t>function</a:t>
            </a:r>
            <a:r>
              <a:rPr sz="2000" b="1" spc="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190" dirty="0">
                <a:solidFill>
                  <a:srgbClr val="C00000"/>
                </a:solidFill>
                <a:latin typeface="Arial"/>
                <a:cs typeface="Arial"/>
              </a:rPr>
              <a:t>from</a:t>
            </a:r>
            <a:r>
              <a:rPr sz="2000" b="1" spc="-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105" dirty="0">
                <a:solidFill>
                  <a:srgbClr val="C00000"/>
                </a:solidFill>
                <a:latin typeface="Arial"/>
                <a:cs typeface="Arial"/>
              </a:rPr>
              <a:t>another?.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01231" y="914400"/>
            <a:ext cx="6105525" cy="1201420"/>
          </a:xfrm>
          <a:prstGeom prst="rect">
            <a:avLst/>
          </a:prstGeom>
          <a:solidFill>
            <a:srgbClr val="E1EFD9"/>
          </a:solidFill>
        </p:spPr>
        <p:txBody>
          <a:bodyPr vert="horz" wrap="square" lIns="0" tIns="31115" rIns="0" bIns="0" rtlCol="0">
            <a:spAutoFit/>
          </a:bodyPr>
          <a:lstStyle/>
          <a:p>
            <a:pPr marL="92075" marR="168910">
              <a:lnSpc>
                <a:spcPct val="100000"/>
              </a:lnSpc>
              <a:spcBef>
                <a:spcPts val="245"/>
              </a:spcBef>
            </a:pP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if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we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have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input </a:t>
            </a: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x</a:t>
            </a:r>
            <a:r>
              <a:rPr sz="1800" b="1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it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is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passed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through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8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two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sigmoid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neurons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output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from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these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two</a:t>
            </a:r>
            <a:r>
              <a:rPr sz="18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neurons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are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combined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in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another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neuron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with</a:t>
            </a:r>
            <a:r>
              <a:rPr sz="18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weights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+1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-1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i.e…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same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is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as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subtracting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these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two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outputs,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then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we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will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get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our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tower.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43600" y="5032328"/>
            <a:ext cx="6106795" cy="1477010"/>
          </a:xfrm>
          <a:prstGeom prst="rect">
            <a:avLst/>
          </a:prstGeom>
          <a:solidFill>
            <a:srgbClr val="ECECEC"/>
          </a:solidFill>
        </p:spPr>
        <p:txBody>
          <a:bodyPr vert="horz" wrap="square" lIns="0" tIns="31115" rIns="0" bIns="0" rtlCol="0">
            <a:spAutoFit/>
          </a:bodyPr>
          <a:lstStyle/>
          <a:p>
            <a:pPr marL="92075" marR="283845">
              <a:lnSpc>
                <a:spcPct val="100000"/>
              </a:lnSpc>
              <a:spcBef>
                <a:spcPts val="245"/>
              </a:spcBef>
            </a:pP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If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we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can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construct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many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such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building</a:t>
            </a:r>
            <a:r>
              <a:rPr sz="18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blocks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add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all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of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them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up,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we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can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approximate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any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complex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true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relationship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between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input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output.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This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is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called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800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i="1" spc="-10" dirty="0">
                <a:solidFill>
                  <a:srgbClr val="292929"/>
                </a:solidFill>
                <a:latin typeface="Calibri"/>
                <a:cs typeface="Calibri"/>
              </a:rPr>
              <a:t>representational </a:t>
            </a:r>
            <a:r>
              <a:rPr sz="1800" b="1" i="1" dirty="0">
                <a:solidFill>
                  <a:srgbClr val="292929"/>
                </a:solidFill>
                <a:latin typeface="Calibri"/>
                <a:cs typeface="Calibri"/>
              </a:rPr>
              <a:t>power</a:t>
            </a:r>
            <a:r>
              <a:rPr sz="1800" b="1" i="1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i="1" dirty="0">
                <a:solidFill>
                  <a:srgbClr val="292929"/>
                </a:solidFill>
                <a:latin typeface="Calibri"/>
                <a:cs typeface="Calibri"/>
              </a:rPr>
              <a:t>of</a:t>
            </a:r>
            <a:r>
              <a:rPr sz="1800" b="1" i="1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i="1" dirty="0">
                <a:solidFill>
                  <a:srgbClr val="292929"/>
                </a:solidFill>
                <a:latin typeface="Calibri"/>
                <a:cs typeface="Calibri"/>
              </a:rPr>
              <a:t>deep</a:t>
            </a:r>
            <a:r>
              <a:rPr sz="1800" b="1" i="1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i="1" dirty="0">
                <a:solidFill>
                  <a:srgbClr val="292929"/>
                </a:solidFill>
                <a:latin typeface="Calibri"/>
                <a:cs typeface="Calibri"/>
              </a:rPr>
              <a:t>neural</a:t>
            </a:r>
            <a:r>
              <a:rPr sz="1800" b="1" i="1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i="1" dirty="0">
                <a:solidFill>
                  <a:srgbClr val="292929"/>
                </a:solidFill>
                <a:latin typeface="Calibri"/>
                <a:cs typeface="Calibri"/>
              </a:rPr>
              <a:t>networks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,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approximate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any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kind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of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relationship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between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input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output.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370320"/>
            <a:ext cx="12192000" cy="487680"/>
            <a:chOff x="0" y="6370320"/>
            <a:chExt cx="12192000" cy="4876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370320"/>
              <a:ext cx="12192000" cy="48767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6492" y="6490714"/>
              <a:ext cx="1781556" cy="313944"/>
            </a:xfrm>
            <a:prstGeom prst="rect">
              <a:avLst/>
            </a:prstGeom>
          </p:spPr>
        </p:pic>
      </p:grpSp>
      <p:sp>
        <p:nvSpPr>
          <p:cNvPr id="9" name="Title 8">
            <a:extLst>
              <a:ext uri="{FF2B5EF4-FFF2-40B4-BE49-F238E27FC236}">
                <a16:creationId xmlns:a16="http://schemas.microsoft.com/office/drawing/2014/main" id="{004F4007-41A3-613C-1DA5-21DBB9932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7270" y="2514600"/>
            <a:ext cx="11209376" cy="464000"/>
          </a:xfrm>
        </p:spPr>
        <p:txBody>
          <a:bodyPr/>
          <a:lstStyle/>
          <a:p>
            <a:r>
              <a:rPr lang="en-US" sz="4000" dirty="0"/>
              <a:t>Feed</a:t>
            </a:r>
            <a:r>
              <a:rPr lang="en-US" sz="4000" spc="-160" dirty="0"/>
              <a:t> </a:t>
            </a:r>
            <a:r>
              <a:rPr lang="en-US" sz="4000" dirty="0"/>
              <a:t>Forward</a:t>
            </a:r>
            <a:r>
              <a:rPr lang="en-US" sz="4000" spc="-155" dirty="0"/>
              <a:t> </a:t>
            </a:r>
            <a:r>
              <a:rPr lang="en-US" sz="4000" dirty="0"/>
              <a:t>Neural</a:t>
            </a:r>
            <a:r>
              <a:rPr lang="en-US" sz="4000" spc="-145" dirty="0"/>
              <a:t> </a:t>
            </a:r>
            <a:r>
              <a:rPr lang="en-US" sz="4000" spc="-10" dirty="0"/>
              <a:t>Networks- Introduction</a:t>
            </a:r>
            <a:br>
              <a:rPr lang="en-US" sz="4000" spc="-10" dirty="0"/>
            </a:br>
            <a:endParaRPr lang="en-IN" sz="4000" dirty="0"/>
          </a:p>
        </p:txBody>
      </p:sp>
      <p:sp>
        <p:nvSpPr>
          <p:cNvPr id="10" name="object 10"/>
          <p:cNvSpPr txBox="1"/>
          <p:nvPr/>
        </p:nvSpPr>
        <p:spPr>
          <a:xfrm>
            <a:off x="319836" y="5658103"/>
            <a:ext cx="841565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Citation</a:t>
            </a:r>
            <a:r>
              <a:rPr sz="1800" i="1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Note:</a:t>
            </a:r>
            <a:r>
              <a:rPr sz="1800" i="1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800" i="1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spc="-10" dirty="0">
                <a:solidFill>
                  <a:srgbClr val="292929"/>
                </a:solidFill>
                <a:latin typeface="Calibri"/>
                <a:cs typeface="Calibri"/>
              </a:rPr>
              <a:t>content,</a:t>
            </a:r>
            <a:r>
              <a:rPr sz="1800" i="1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of</a:t>
            </a:r>
            <a:r>
              <a:rPr sz="1800" i="1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this</a:t>
            </a:r>
            <a:r>
              <a:rPr sz="1800" i="1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spc="-10" dirty="0">
                <a:solidFill>
                  <a:srgbClr val="292929"/>
                </a:solidFill>
                <a:latin typeface="Calibri"/>
                <a:cs typeface="Calibri"/>
              </a:rPr>
              <a:t>presentation</a:t>
            </a:r>
            <a:r>
              <a:rPr sz="1800" i="1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were</a:t>
            </a:r>
            <a:r>
              <a:rPr sz="1800" i="1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inspired</a:t>
            </a:r>
            <a:r>
              <a:rPr sz="1800" i="1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by</a:t>
            </a:r>
            <a:r>
              <a:rPr sz="1800" i="1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800" i="1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awesome</a:t>
            </a:r>
            <a:r>
              <a:rPr sz="1800" i="1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lectures</a:t>
            </a:r>
            <a:r>
              <a:rPr sz="1800" i="1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spc="-25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800" i="1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material</a:t>
            </a:r>
            <a:r>
              <a:rPr sz="1800" i="1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offered</a:t>
            </a:r>
            <a:r>
              <a:rPr sz="1800" i="1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by</a:t>
            </a:r>
            <a:r>
              <a:rPr sz="1800" i="1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spc="-10" dirty="0">
                <a:solidFill>
                  <a:srgbClr val="292929"/>
                </a:solidFill>
                <a:latin typeface="Calibri"/>
                <a:cs typeface="Calibri"/>
              </a:rPr>
              <a:t>Prof.</a:t>
            </a:r>
            <a:r>
              <a:rPr sz="1800" i="1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i="1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Mitesh</a:t>
            </a:r>
            <a:r>
              <a:rPr sz="1800" b="1" i="1" u="sng" spc="-3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sz="1800" b="1" i="1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M.</a:t>
            </a:r>
            <a:r>
              <a:rPr sz="1800" b="1" i="1" u="sng" spc="-4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sz="1800" b="1" i="1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Khapra</a:t>
            </a:r>
            <a:r>
              <a:rPr sz="1800" b="1" i="1" spc="-30" dirty="0">
                <a:solidFill>
                  <a:srgbClr val="0462C1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on</a:t>
            </a:r>
            <a:r>
              <a:rPr sz="1800" i="1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u="sng" spc="-3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NPTEL</a:t>
            </a:r>
            <a:r>
              <a:rPr sz="1800" i="1" spc="-30" dirty="0">
                <a:solidFill>
                  <a:srgbClr val="292929"/>
                </a:solidFill>
                <a:latin typeface="Calibri"/>
                <a:cs typeface="Calibri"/>
              </a:rPr>
              <a:t>’s</a:t>
            </a:r>
            <a:r>
              <a:rPr sz="1800" i="1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Deep</a:t>
            </a:r>
            <a:r>
              <a:rPr sz="1800" i="1" u="sng" spc="-3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 </a:t>
            </a:r>
            <a:r>
              <a:rPr sz="1800" i="1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Learning</a:t>
            </a:r>
            <a:r>
              <a:rPr sz="1800" i="1" spc="-30" dirty="0">
                <a:solidFill>
                  <a:srgbClr val="0462C1"/>
                </a:solidFill>
                <a:latin typeface="Calibri"/>
                <a:cs typeface="Calibri"/>
              </a:rPr>
              <a:t> </a:t>
            </a:r>
            <a:r>
              <a:rPr sz="1800" i="1" spc="-10" dirty="0">
                <a:solidFill>
                  <a:srgbClr val="292929"/>
                </a:solidFill>
                <a:latin typeface="Calibri"/>
                <a:cs typeface="Calibri"/>
              </a:rPr>
              <a:t>course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65056" y="365759"/>
            <a:ext cx="11827510" cy="5811520"/>
            <a:chOff x="365056" y="365759"/>
            <a:chExt cx="11827510" cy="58115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5056" y="681227"/>
              <a:ext cx="5799523" cy="468780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86099" y="5262371"/>
              <a:ext cx="9105900" cy="9144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84747" y="365759"/>
              <a:ext cx="6207252" cy="4171188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95" dirty="0"/>
              <a:t>Multiple</a:t>
            </a:r>
            <a:r>
              <a:rPr sz="3600" spc="-70" dirty="0"/>
              <a:t> </a:t>
            </a:r>
            <a:r>
              <a:rPr sz="3600" spc="-315" dirty="0"/>
              <a:t>sigmoid</a:t>
            </a:r>
            <a:r>
              <a:rPr sz="3600" spc="-65" dirty="0"/>
              <a:t> </a:t>
            </a:r>
            <a:r>
              <a:rPr sz="3600" spc="-345" dirty="0"/>
              <a:t>Neurons</a:t>
            </a:r>
            <a:endParaRPr sz="36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5056" y="396240"/>
            <a:ext cx="5799523" cy="468780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00400" y="5262371"/>
            <a:ext cx="8715375" cy="8763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96000" y="1069847"/>
            <a:ext cx="5978652" cy="336804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95" dirty="0"/>
              <a:t>Multiple</a:t>
            </a:r>
            <a:r>
              <a:rPr sz="3600" spc="-70" dirty="0"/>
              <a:t> </a:t>
            </a:r>
            <a:r>
              <a:rPr sz="3600" spc="-315" dirty="0"/>
              <a:t>sigmoid</a:t>
            </a:r>
            <a:r>
              <a:rPr sz="3600" spc="-65" dirty="0"/>
              <a:t> </a:t>
            </a:r>
            <a:r>
              <a:rPr sz="3600" spc="-345" dirty="0"/>
              <a:t>Neurons</a:t>
            </a:r>
            <a:endParaRPr sz="36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5056" y="396240"/>
            <a:ext cx="5799523" cy="468780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00400" y="5262371"/>
            <a:ext cx="8715375" cy="8763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96000" y="801623"/>
            <a:ext cx="5978652" cy="336651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95" dirty="0"/>
              <a:t>Multiple</a:t>
            </a:r>
            <a:r>
              <a:rPr sz="3600" spc="-70" dirty="0"/>
              <a:t> </a:t>
            </a:r>
            <a:r>
              <a:rPr sz="3600" spc="-315" dirty="0"/>
              <a:t>sigmoid</a:t>
            </a:r>
            <a:r>
              <a:rPr sz="3600" spc="-65" dirty="0"/>
              <a:t> </a:t>
            </a:r>
            <a:r>
              <a:rPr sz="3600" spc="-345" dirty="0"/>
              <a:t>Neurons</a:t>
            </a:r>
            <a:endParaRPr sz="36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5056" y="396240"/>
            <a:ext cx="5799523" cy="468780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00400" y="5262371"/>
            <a:ext cx="8715375" cy="8763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96000" y="1225296"/>
            <a:ext cx="5698236" cy="3287267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08DE85-6C01-74B2-AB8D-55D469F4F1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95" dirty="0"/>
              <a:t>Multiple</a:t>
            </a:r>
            <a:r>
              <a:rPr sz="3600" spc="-70" dirty="0"/>
              <a:t> </a:t>
            </a:r>
            <a:r>
              <a:rPr sz="3600" spc="-315" dirty="0"/>
              <a:t>sigmoid</a:t>
            </a:r>
            <a:r>
              <a:rPr sz="3600" spc="-65" dirty="0"/>
              <a:t> </a:t>
            </a:r>
            <a:r>
              <a:rPr sz="3600" spc="-345" dirty="0"/>
              <a:t>Neurons</a:t>
            </a:r>
            <a:endParaRPr sz="36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5056" y="396240"/>
            <a:ext cx="5799523" cy="468780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00400" y="5262371"/>
            <a:ext cx="8715375" cy="8763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96000" y="801623"/>
            <a:ext cx="5978652" cy="336651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95" dirty="0"/>
              <a:t>Multiple</a:t>
            </a:r>
            <a:r>
              <a:rPr sz="3600" spc="-70" dirty="0"/>
              <a:t> </a:t>
            </a:r>
            <a:r>
              <a:rPr sz="3600" spc="-315" dirty="0"/>
              <a:t>sigmoid</a:t>
            </a:r>
            <a:r>
              <a:rPr sz="3600" spc="-65" dirty="0"/>
              <a:t> </a:t>
            </a:r>
            <a:r>
              <a:rPr sz="3600" spc="-345" dirty="0"/>
              <a:t>Neurons</a:t>
            </a:r>
            <a:endParaRPr sz="36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5056" y="396240"/>
            <a:ext cx="5799523" cy="468780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00400" y="5262371"/>
            <a:ext cx="8715375" cy="8763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96000" y="801623"/>
            <a:ext cx="5978652" cy="336651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95" dirty="0"/>
              <a:t>Multiple</a:t>
            </a:r>
            <a:r>
              <a:rPr sz="3600" spc="-70" dirty="0"/>
              <a:t> </a:t>
            </a:r>
            <a:r>
              <a:rPr sz="3600" spc="-315" dirty="0"/>
              <a:t>sigmoid</a:t>
            </a:r>
            <a:r>
              <a:rPr sz="3600" spc="-65" dirty="0"/>
              <a:t> </a:t>
            </a:r>
            <a:r>
              <a:rPr sz="3600" spc="-345" dirty="0"/>
              <a:t>Neurons</a:t>
            </a:r>
            <a:endParaRPr sz="36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5056" y="396240"/>
            <a:ext cx="5799523" cy="468780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00400" y="5262371"/>
            <a:ext cx="8715375" cy="8763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01511" y="923544"/>
            <a:ext cx="6033516" cy="348233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75" dirty="0"/>
              <a:t>Multi</a:t>
            </a:r>
            <a:r>
              <a:rPr sz="3600" spc="-80" dirty="0"/>
              <a:t> </a:t>
            </a:r>
            <a:r>
              <a:rPr sz="3600" spc="-330" dirty="0"/>
              <a:t>Layer</a:t>
            </a:r>
            <a:r>
              <a:rPr sz="3600" spc="-80" dirty="0"/>
              <a:t> </a:t>
            </a:r>
            <a:r>
              <a:rPr sz="3600" spc="-265" dirty="0"/>
              <a:t>Neural</a:t>
            </a:r>
            <a:r>
              <a:rPr sz="3600" spc="-80" dirty="0"/>
              <a:t> </a:t>
            </a:r>
            <a:r>
              <a:rPr sz="3600" spc="-325" dirty="0"/>
              <a:t>Networks</a:t>
            </a:r>
            <a:endParaRPr sz="36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62889" rIns="0" bIns="0" rtlCol="0">
            <a:spAutoFit/>
          </a:bodyPr>
          <a:lstStyle/>
          <a:p>
            <a:pPr marL="587375">
              <a:lnSpc>
                <a:spcPct val="100000"/>
              </a:lnSpc>
              <a:spcBef>
                <a:spcPts val="105"/>
              </a:spcBef>
            </a:pPr>
            <a:r>
              <a:rPr spc="-380" dirty="0"/>
              <a:t>Feed</a:t>
            </a:r>
            <a:r>
              <a:rPr spc="-125" dirty="0"/>
              <a:t> </a:t>
            </a:r>
            <a:r>
              <a:rPr spc="-409" dirty="0"/>
              <a:t>Forward</a:t>
            </a:r>
            <a:r>
              <a:rPr spc="-120" dirty="0"/>
              <a:t> </a:t>
            </a:r>
            <a:r>
              <a:rPr spc="-320" dirty="0"/>
              <a:t>Neural</a:t>
            </a:r>
            <a:r>
              <a:rPr spc="-125" dirty="0"/>
              <a:t> </a:t>
            </a:r>
            <a:r>
              <a:rPr spc="-385" dirty="0"/>
              <a:t>Networks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2633" y="1709065"/>
            <a:ext cx="8263468" cy="446770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30206" y="1719072"/>
            <a:ext cx="2985009" cy="341985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10960" y="-33193"/>
            <a:ext cx="5610225" cy="934719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40"/>
              </a:spcBef>
            </a:pPr>
            <a:r>
              <a:rPr sz="3200" dirty="0">
                <a:solidFill>
                  <a:srgbClr val="000000"/>
                </a:solidFill>
                <a:latin typeface="Times New Roman"/>
                <a:cs typeface="Times New Roman"/>
              </a:rPr>
              <a:t>Understanding</a:t>
            </a:r>
            <a:r>
              <a:rPr sz="32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00"/>
                </a:solidFill>
                <a:latin typeface="Times New Roman"/>
                <a:cs typeface="Times New Roman"/>
              </a:rPr>
              <a:t>the </a:t>
            </a:r>
            <a:r>
              <a:rPr sz="3200" spc="-10" dirty="0">
                <a:solidFill>
                  <a:srgbClr val="000000"/>
                </a:solidFill>
                <a:latin typeface="Times New Roman"/>
                <a:cs typeface="Times New Roman"/>
              </a:rPr>
              <a:t>computation</a:t>
            </a:r>
            <a:endParaRPr sz="3200">
              <a:latin typeface="Times New Roman"/>
              <a:cs typeface="Times New Roman"/>
            </a:endParaRPr>
          </a:p>
          <a:p>
            <a:pPr marL="1365250">
              <a:lnSpc>
                <a:spcPct val="100000"/>
              </a:lnSpc>
              <a:spcBef>
                <a:spcPts val="420"/>
              </a:spcBef>
            </a:pPr>
            <a:r>
              <a:rPr sz="2700" b="0" baseline="13888" dirty="0">
                <a:solidFill>
                  <a:srgbClr val="000000"/>
                </a:solidFill>
                <a:latin typeface="Calibri"/>
                <a:cs typeface="Calibri"/>
              </a:rPr>
              <a:t>W</a:t>
            </a:r>
            <a:r>
              <a:rPr sz="1200" b="0" dirty="0">
                <a:solidFill>
                  <a:srgbClr val="000000"/>
                </a:solidFill>
                <a:latin typeface="Calibri"/>
                <a:cs typeface="Calibri"/>
              </a:rPr>
              <a:t>111</a:t>
            </a:r>
            <a:r>
              <a:rPr sz="2700" b="0" baseline="13888" dirty="0">
                <a:solidFill>
                  <a:srgbClr val="000000"/>
                </a:solidFill>
                <a:latin typeface="Calibri"/>
                <a:cs typeface="Calibri"/>
              </a:rPr>
              <a:t>=</a:t>
            </a:r>
            <a:r>
              <a:rPr sz="2700" b="0" spc="-37" baseline="1388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700" b="0" baseline="13888" dirty="0">
                <a:solidFill>
                  <a:srgbClr val="000000"/>
                </a:solidFill>
                <a:latin typeface="Calibri"/>
                <a:cs typeface="Calibri"/>
              </a:rPr>
              <a:t>W</a:t>
            </a:r>
            <a:r>
              <a:rPr sz="2700" b="0" spc="-37" baseline="1388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200" b="0" dirty="0">
                <a:solidFill>
                  <a:srgbClr val="000000"/>
                </a:solidFill>
                <a:latin typeface="Calibri"/>
                <a:cs typeface="Calibri"/>
              </a:rPr>
              <a:t>Layer</a:t>
            </a:r>
            <a:r>
              <a:rPr sz="1200" b="0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200" b="0" dirty="0">
                <a:solidFill>
                  <a:srgbClr val="000000"/>
                </a:solidFill>
                <a:latin typeface="Calibri"/>
                <a:cs typeface="Calibri"/>
              </a:rPr>
              <a:t>no,</a:t>
            </a:r>
            <a:r>
              <a:rPr sz="1200" b="0"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200" b="0" dirty="0">
                <a:solidFill>
                  <a:srgbClr val="000000"/>
                </a:solidFill>
                <a:latin typeface="Calibri"/>
                <a:cs typeface="Calibri"/>
              </a:rPr>
              <a:t>Neuron</a:t>
            </a:r>
            <a:r>
              <a:rPr sz="1200" b="0" spc="-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200" b="0" dirty="0">
                <a:solidFill>
                  <a:srgbClr val="000000"/>
                </a:solidFill>
                <a:latin typeface="Calibri"/>
                <a:cs typeface="Calibri"/>
              </a:rPr>
              <a:t>in</a:t>
            </a:r>
            <a:r>
              <a:rPr sz="1200" b="0" spc="-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200" b="0" dirty="0">
                <a:solidFill>
                  <a:srgbClr val="000000"/>
                </a:solidFill>
                <a:latin typeface="Calibri"/>
                <a:cs typeface="Calibri"/>
              </a:rPr>
              <a:t>the</a:t>
            </a:r>
            <a:r>
              <a:rPr sz="1200" b="0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200" b="0" dirty="0">
                <a:solidFill>
                  <a:srgbClr val="000000"/>
                </a:solidFill>
                <a:latin typeface="Calibri"/>
                <a:cs typeface="Calibri"/>
              </a:rPr>
              <a:t>next</a:t>
            </a:r>
            <a:r>
              <a:rPr sz="1200" b="0" spc="-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200" b="0" dirty="0">
                <a:solidFill>
                  <a:srgbClr val="000000"/>
                </a:solidFill>
                <a:latin typeface="Calibri"/>
                <a:cs typeface="Calibri"/>
              </a:rPr>
              <a:t>layer</a:t>
            </a:r>
            <a:r>
              <a:rPr sz="1200" b="0"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200" b="0" dirty="0">
                <a:solidFill>
                  <a:srgbClr val="000000"/>
                </a:solidFill>
                <a:latin typeface="Calibri"/>
                <a:cs typeface="Calibri"/>
              </a:rPr>
              <a:t>,Input</a:t>
            </a:r>
            <a:r>
              <a:rPr sz="1200" b="0" spc="-5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200" b="0" spc="-10" dirty="0">
                <a:solidFill>
                  <a:srgbClr val="000000"/>
                </a:solidFill>
                <a:latin typeface="Calibri"/>
                <a:cs typeface="Calibri"/>
              </a:rPr>
              <a:t>Neuron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163060" y="987586"/>
            <a:ext cx="9792970" cy="5316220"/>
            <a:chOff x="1163060" y="987586"/>
            <a:chExt cx="9792970" cy="531622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63060" y="987586"/>
              <a:ext cx="9792402" cy="477212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448300" y="5652516"/>
              <a:ext cx="1079500" cy="368935"/>
            </a:xfrm>
            <a:custGeom>
              <a:avLst/>
              <a:gdLst/>
              <a:ahLst/>
              <a:cxnLst/>
              <a:rect l="l" t="t" r="r" b="b"/>
              <a:pathLst>
                <a:path w="1079500" h="368935">
                  <a:moveTo>
                    <a:pt x="1078992" y="0"/>
                  </a:moveTo>
                  <a:lnTo>
                    <a:pt x="0" y="0"/>
                  </a:lnTo>
                  <a:lnTo>
                    <a:pt x="0" y="368807"/>
                  </a:lnTo>
                  <a:lnTo>
                    <a:pt x="1078992" y="368807"/>
                  </a:lnTo>
                  <a:lnTo>
                    <a:pt x="10789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87823" y="5797296"/>
              <a:ext cx="4991100" cy="505968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419201" y="103708"/>
            <a:ext cx="481520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1" i="0" u="none" strike="noStrike" kern="0" cap="none" spc="-26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cs typeface="Arial"/>
              </a:rPr>
              <a:t>Feed</a:t>
            </a:r>
            <a:r>
              <a:rPr kumimoji="0" sz="3000" b="1" i="0" u="none" strike="noStrike" kern="0" cap="none" spc="-6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3000" b="1" i="0" u="none" strike="noStrike" kern="0" cap="none" spc="-29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cs typeface="Arial"/>
              </a:rPr>
              <a:t>Forward</a:t>
            </a:r>
            <a:r>
              <a:rPr kumimoji="0" sz="3000" b="1" i="0" u="none" strike="noStrike" kern="0" cap="none" spc="-5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3000" b="1" i="0" u="none" strike="noStrike" kern="0" cap="none" spc="-22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cs typeface="Arial"/>
              </a:rPr>
              <a:t>Neural</a:t>
            </a:r>
            <a:r>
              <a:rPr kumimoji="0" sz="3000" b="1" i="0" u="none" strike="noStrike" kern="0" cap="none" spc="-7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3000" b="1" i="0" u="none" strike="noStrike" kern="0" cap="none" spc="-27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cs typeface="Arial"/>
              </a:rPr>
              <a:t>Networks</a:t>
            </a:r>
            <a:endParaRPr kumimoji="0" sz="3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97655" y="447235"/>
            <a:ext cx="9750425" cy="4365625"/>
            <a:chOff x="1197655" y="447235"/>
            <a:chExt cx="9750425" cy="43656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7655" y="447235"/>
              <a:ext cx="9750259" cy="436555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07252" y="3909059"/>
              <a:ext cx="2372868" cy="790956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11483" y="5462389"/>
            <a:ext cx="8755042" cy="491443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4226" rIns="0" bIns="0" rtlCol="0">
            <a:spAutoFit/>
          </a:bodyPr>
          <a:lstStyle/>
          <a:p>
            <a:pPr marL="353060">
              <a:lnSpc>
                <a:spcPct val="100000"/>
              </a:lnSpc>
              <a:spcBef>
                <a:spcPts val="100"/>
              </a:spcBef>
            </a:pPr>
            <a:r>
              <a:rPr sz="3000" spc="-265" dirty="0"/>
              <a:t>Feed</a:t>
            </a:r>
            <a:r>
              <a:rPr sz="3000" spc="-60" dirty="0"/>
              <a:t> </a:t>
            </a:r>
            <a:r>
              <a:rPr sz="3000" spc="-290" dirty="0"/>
              <a:t>Forward</a:t>
            </a:r>
            <a:r>
              <a:rPr sz="3000" spc="-55" dirty="0"/>
              <a:t> </a:t>
            </a:r>
            <a:r>
              <a:rPr sz="3000" spc="-225" dirty="0"/>
              <a:t>Neural</a:t>
            </a:r>
            <a:r>
              <a:rPr sz="3000" spc="-75" dirty="0"/>
              <a:t> </a:t>
            </a:r>
            <a:r>
              <a:rPr sz="3000" spc="-275" dirty="0"/>
              <a:t>Networks</a:t>
            </a:r>
            <a:endParaRPr sz="30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7909" rIns="0" bIns="0" rtlCol="0">
            <a:spAutoFit/>
          </a:bodyPr>
          <a:lstStyle/>
          <a:p>
            <a:pPr marL="850265">
              <a:lnSpc>
                <a:spcPct val="100000"/>
              </a:lnSpc>
              <a:spcBef>
                <a:spcPts val="95"/>
              </a:spcBef>
            </a:pPr>
            <a:r>
              <a:rPr spc="-345" dirty="0"/>
              <a:t>Feed</a:t>
            </a:r>
            <a:r>
              <a:rPr spc="-90" dirty="0"/>
              <a:t> </a:t>
            </a:r>
            <a:r>
              <a:rPr spc="-375" dirty="0"/>
              <a:t>Forward</a:t>
            </a:r>
            <a:r>
              <a:rPr spc="-70" dirty="0"/>
              <a:t> </a:t>
            </a:r>
            <a:r>
              <a:rPr spc="-290" dirty="0"/>
              <a:t>Neural</a:t>
            </a:r>
            <a:r>
              <a:rPr spc="-85" dirty="0"/>
              <a:t> </a:t>
            </a:r>
            <a:r>
              <a:rPr spc="-375" dirty="0"/>
              <a:t>Networks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2633" y="1524661"/>
            <a:ext cx="8263468" cy="446770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30206" y="1719072"/>
            <a:ext cx="2985009" cy="341985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76822" y="1524574"/>
            <a:ext cx="8967490" cy="400473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4226" rIns="0" bIns="0" rtlCol="0">
            <a:spAutoFit/>
          </a:bodyPr>
          <a:lstStyle/>
          <a:p>
            <a:pPr marL="353060">
              <a:lnSpc>
                <a:spcPct val="100000"/>
              </a:lnSpc>
              <a:spcBef>
                <a:spcPts val="100"/>
              </a:spcBef>
            </a:pPr>
            <a:r>
              <a:rPr sz="3000" spc="-265" dirty="0"/>
              <a:t>Feed</a:t>
            </a:r>
            <a:r>
              <a:rPr sz="3000" spc="-60" dirty="0"/>
              <a:t> </a:t>
            </a:r>
            <a:r>
              <a:rPr sz="3000" spc="-290" dirty="0"/>
              <a:t>Forward</a:t>
            </a:r>
            <a:r>
              <a:rPr sz="3000" spc="-55" dirty="0"/>
              <a:t> </a:t>
            </a:r>
            <a:r>
              <a:rPr sz="3000" spc="-225" dirty="0"/>
              <a:t>Neural</a:t>
            </a:r>
            <a:r>
              <a:rPr sz="3000" spc="-75" dirty="0"/>
              <a:t> </a:t>
            </a:r>
            <a:r>
              <a:rPr sz="3000" spc="-275" dirty="0"/>
              <a:t>Networks</a:t>
            </a:r>
            <a:endParaRPr sz="30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62227" y="239268"/>
            <a:ext cx="10927080" cy="5655945"/>
            <a:chOff x="1062227" y="239268"/>
            <a:chExt cx="10927080" cy="565594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62227" y="992123"/>
              <a:ext cx="10212324" cy="490270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320784" y="4969764"/>
              <a:ext cx="2668524" cy="71018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87439" y="239268"/>
              <a:ext cx="4771644" cy="941831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4498" rIns="0" bIns="0" rtlCol="0">
            <a:spAutoFit/>
          </a:bodyPr>
          <a:lstStyle/>
          <a:p>
            <a:pPr marL="1223010">
              <a:lnSpc>
                <a:spcPct val="100000"/>
              </a:lnSpc>
              <a:spcBef>
                <a:spcPts val="95"/>
              </a:spcBef>
            </a:pPr>
            <a:r>
              <a:rPr dirty="0">
                <a:latin typeface="Calibri"/>
                <a:cs typeface="Calibri"/>
              </a:rPr>
              <a:t>Is</a:t>
            </a:r>
            <a:r>
              <a:rPr spc="-5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this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spc="-25" dirty="0">
                <a:latin typeface="Calibri"/>
                <a:cs typeface="Calibri"/>
              </a:rPr>
              <a:t>ok?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203454"/>
            <a:ext cx="268414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0" dirty="0">
                <a:solidFill>
                  <a:srgbClr val="000000"/>
                </a:solidFill>
                <a:latin typeface="Calibri Light"/>
                <a:cs typeface="Calibri Light"/>
              </a:rPr>
              <a:t>Output </a:t>
            </a:r>
            <a:r>
              <a:rPr b="0" spc="-20" dirty="0">
                <a:solidFill>
                  <a:srgbClr val="000000"/>
                </a:solidFill>
                <a:latin typeface="Calibri Light"/>
                <a:cs typeface="Calibri Light"/>
              </a:rPr>
              <a:t>Layer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519005" y="1022603"/>
            <a:ext cx="8216900" cy="4861560"/>
            <a:chOff x="1519005" y="1022603"/>
            <a:chExt cx="8216900" cy="48615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19005" y="1022603"/>
              <a:ext cx="4243238" cy="486156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48300" y="2205227"/>
              <a:ext cx="4287011" cy="1257300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17488" y="1677983"/>
            <a:ext cx="4209687" cy="26690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096000" y="3712464"/>
            <a:ext cx="2953502" cy="214274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514850" y="217678"/>
            <a:ext cx="28829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4000" b="1" i="0" u="none" strike="noStrike" kern="0" cap="none" spc="-2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4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this</a:t>
            </a:r>
            <a:r>
              <a:rPr kumimoji="0" sz="4000" b="1" i="0" u="none" strike="noStrike" kern="0" cap="none" spc="-2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4000" b="1" i="0" u="none" strike="noStrike" kern="0" cap="none" spc="-3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ok?-</a:t>
            </a:r>
            <a:r>
              <a:rPr kumimoji="0" sz="4000" b="1" i="0" u="none" strike="noStrike" kern="0" cap="none" spc="-2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No</a:t>
            </a:r>
            <a:endParaRPr kumimoji="0" sz="4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223266"/>
            <a:ext cx="17145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000" b="1" i="0" u="none" strike="noStrike" kern="0" cap="none" spc="-38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cs typeface="Arial"/>
              </a:rPr>
              <a:t>Softmax</a:t>
            </a:r>
            <a:endParaRPr kumimoji="0" sz="4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6196" y="1619858"/>
            <a:ext cx="3362885" cy="133415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88106" y="1615891"/>
            <a:ext cx="3019082" cy="199957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92046" y="3996482"/>
            <a:ext cx="5486400" cy="2315327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559934" y="205231"/>
            <a:ext cx="7054215" cy="89535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5080">
              <a:lnSpc>
                <a:spcPts val="3490"/>
              </a:lnSpc>
              <a:spcBef>
                <a:spcPts val="65"/>
              </a:spcBef>
            </a:pPr>
            <a:r>
              <a:rPr sz="2800" b="0" dirty="0">
                <a:solidFill>
                  <a:srgbClr val="000000"/>
                </a:solidFill>
                <a:latin typeface="Calibri"/>
                <a:cs typeface="Calibri"/>
              </a:rPr>
              <a:t>Softmax</a:t>
            </a:r>
            <a:r>
              <a:rPr sz="2800" b="0" spc="-8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0" dirty="0">
                <a:solidFill>
                  <a:srgbClr val="000000"/>
                </a:solidFill>
                <a:latin typeface="Calibri"/>
                <a:cs typeface="Calibri"/>
              </a:rPr>
              <a:t>is</a:t>
            </a:r>
            <a:r>
              <a:rPr sz="2800" b="0"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0" dirty="0">
                <a:solidFill>
                  <a:srgbClr val="000000"/>
                </a:solidFill>
                <a:latin typeface="Calibri"/>
                <a:cs typeface="Calibri"/>
              </a:rPr>
              <a:t>a</a:t>
            </a:r>
            <a:r>
              <a:rPr sz="2800" b="0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0" dirty="0">
                <a:solidFill>
                  <a:srgbClr val="000000"/>
                </a:solidFill>
                <a:latin typeface="Calibri"/>
                <a:cs typeface="Calibri"/>
              </a:rPr>
              <a:t>kind</a:t>
            </a:r>
            <a:r>
              <a:rPr sz="2800" b="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0" dirty="0">
                <a:solidFill>
                  <a:srgbClr val="000000"/>
                </a:solidFill>
                <a:latin typeface="Calibri"/>
                <a:cs typeface="Calibri"/>
              </a:rPr>
              <a:t>of</a:t>
            </a:r>
            <a:r>
              <a:rPr sz="2800" b="0" spc="-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0" spc="-10" dirty="0">
                <a:solidFill>
                  <a:srgbClr val="000000"/>
                </a:solidFill>
                <a:latin typeface="Courier New"/>
                <a:cs typeface="Courier New"/>
              </a:rPr>
              <a:t>activation</a:t>
            </a:r>
            <a:r>
              <a:rPr sz="2800" b="0" spc="-108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2800" b="0" dirty="0">
                <a:solidFill>
                  <a:srgbClr val="000000"/>
                </a:solidFill>
                <a:latin typeface="Calibri"/>
                <a:cs typeface="Calibri"/>
              </a:rPr>
              <a:t>function</a:t>
            </a:r>
            <a:r>
              <a:rPr sz="2800" b="0" spc="-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0" spc="-20" dirty="0">
                <a:solidFill>
                  <a:srgbClr val="000000"/>
                </a:solidFill>
                <a:latin typeface="Calibri"/>
                <a:cs typeface="Calibri"/>
              </a:rPr>
              <a:t>with </a:t>
            </a:r>
            <a:r>
              <a:rPr sz="2800" b="0" dirty="0">
                <a:solidFill>
                  <a:srgbClr val="000000"/>
                </a:solidFill>
                <a:latin typeface="Calibri"/>
                <a:cs typeface="Calibri"/>
              </a:rPr>
              <a:t>the</a:t>
            </a:r>
            <a:r>
              <a:rPr sz="2800" b="0" spc="-6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0" dirty="0">
                <a:solidFill>
                  <a:srgbClr val="000000"/>
                </a:solidFill>
                <a:latin typeface="Calibri"/>
                <a:cs typeface="Calibri"/>
              </a:rPr>
              <a:t>speciality</a:t>
            </a:r>
            <a:r>
              <a:rPr sz="2800" b="0" spc="-7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0" dirty="0">
                <a:solidFill>
                  <a:srgbClr val="000000"/>
                </a:solidFill>
                <a:latin typeface="Calibri"/>
                <a:cs typeface="Calibri"/>
              </a:rPr>
              <a:t>of</a:t>
            </a:r>
            <a:r>
              <a:rPr sz="2800" b="0" spc="-6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0" dirty="0">
                <a:solidFill>
                  <a:srgbClr val="000000"/>
                </a:solidFill>
                <a:latin typeface="Calibri"/>
                <a:cs typeface="Calibri"/>
              </a:rPr>
              <a:t>output</a:t>
            </a:r>
            <a:r>
              <a:rPr sz="2800" b="0" spc="-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0" dirty="0">
                <a:solidFill>
                  <a:srgbClr val="000000"/>
                </a:solidFill>
                <a:latin typeface="Calibri"/>
                <a:cs typeface="Calibri"/>
              </a:rPr>
              <a:t>summing</a:t>
            </a:r>
            <a:r>
              <a:rPr sz="2800" b="0" spc="-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0" dirty="0">
                <a:solidFill>
                  <a:srgbClr val="000000"/>
                </a:solidFill>
                <a:latin typeface="Calibri"/>
                <a:cs typeface="Calibri"/>
              </a:rPr>
              <a:t>to</a:t>
            </a:r>
            <a:r>
              <a:rPr sz="2800" b="0" spc="-6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0" spc="-25" dirty="0">
                <a:solidFill>
                  <a:srgbClr val="000000"/>
                </a:solidFill>
                <a:latin typeface="Calibri"/>
                <a:cs typeface="Calibri"/>
              </a:rPr>
              <a:t>1.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8" name="Picture 7" descr="A graph of a function&#10;&#10;AI-generated content may be incorrect.">
            <a:extLst>
              <a:ext uri="{FF2B5EF4-FFF2-40B4-BE49-F238E27FC236}">
                <a16:creationId xmlns:a16="http://schemas.microsoft.com/office/drawing/2014/main" id="{6494358C-BD08-2010-D9F8-B78C16A6A0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6324" y="1316181"/>
            <a:ext cx="3651663" cy="2681846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3337" rIns="0" bIns="0" rtlCol="0">
            <a:spAutoFit/>
          </a:bodyPr>
          <a:lstStyle/>
          <a:p>
            <a:pPr marL="850265">
              <a:lnSpc>
                <a:spcPct val="100000"/>
              </a:lnSpc>
              <a:spcBef>
                <a:spcPts val="95"/>
              </a:spcBef>
            </a:pPr>
            <a:r>
              <a:rPr b="0" spc="-20" dirty="0">
                <a:solidFill>
                  <a:srgbClr val="000000"/>
                </a:solidFill>
                <a:latin typeface="Calibri Light"/>
                <a:cs typeface="Calibri Light"/>
              </a:rPr>
              <a:t>Different</a:t>
            </a:r>
            <a:r>
              <a:rPr b="0" spc="-17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b="0" dirty="0">
                <a:solidFill>
                  <a:srgbClr val="000000"/>
                </a:solidFill>
                <a:latin typeface="Calibri Light"/>
                <a:cs typeface="Calibri Light"/>
              </a:rPr>
              <a:t>network</a:t>
            </a:r>
            <a:r>
              <a:rPr b="0" spc="-16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b="0" spc="-10" dirty="0">
                <a:solidFill>
                  <a:srgbClr val="000000"/>
                </a:solidFill>
                <a:latin typeface="Calibri Light"/>
                <a:cs typeface="Calibri Light"/>
              </a:rPr>
              <a:t>configurations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9011" y="4202484"/>
            <a:ext cx="8916770" cy="163443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39646" y="1215287"/>
            <a:ext cx="4838190" cy="2758213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3337" rIns="0" bIns="0" rtlCol="0">
            <a:spAutoFit/>
          </a:bodyPr>
          <a:lstStyle/>
          <a:p>
            <a:pPr marL="850265">
              <a:lnSpc>
                <a:spcPct val="100000"/>
              </a:lnSpc>
              <a:spcBef>
                <a:spcPts val="95"/>
              </a:spcBef>
            </a:pPr>
            <a:r>
              <a:rPr b="0" dirty="0">
                <a:solidFill>
                  <a:srgbClr val="000000"/>
                </a:solidFill>
                <a:latin typeface="Calibri Light"/>
                <a:cs typeface="Calibri Light"/>
              </a:rPr>
              <a:t>Cross</a:t>
            </a:r>
            <a:r>
              <a:rPr b="0" spc="-13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b="0" dirty="0">
                <a:solidFill>
                  <a:srgbClr val="000000"/>
                </a:solidFill>
                <a:latin typeface="Calibri Light"/>
                <a:cs typeface="Calibri Light"/>
              </a:rPr>
              <a:t>Entropy</a:t>
            </a:r>
            <a:r>
              <a:rPr b="0" spc="-13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b="0" dirty="0">
                <a:solidFill>
                  <a:srgbClr val="000000"/>
                </a:solidFill>
                <a:latin typeface="Calibri Light"/>
                <a:cs typeface="Calibri Light"/>
              </a:rPr>
              <a:t>Loss</a:t>
            </a:r>
            <a:r>
              <a:rPr b="0" spc="-12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b="0" spc="-10" dirty="0">
                <a:solidFill>
                  <a:srgbClr val="000000"/>
                </a:solidFill>
                <a:latin typeface="Calibri Light"/>
                <a:cs typeface="Calibri Light"/>
              </a:rPr>
              <a:t>Function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10972" y="1338523"/>
            <a:ext cx="5180924" cy="178180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66901" y="3810457"/>
            <a:ext cx="10358120" cy="1946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0" lvl="0" indent="-286385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99085" algn="l"/>
              </a:tabLst>
              <a:defRPr/>
            </a:pPr>
            <a:r>
              <a:rPr kumimoji="0" sz="1800" b="0" i="0" u="none" strike="noStrike" kern="0" cap="none" spc="-5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Also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800" b="0" i="0" u="none" strike="noStrike" kern="0" cap="none" spc="-8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called </a:t>
            </a:r>
            <a:r>
              <a:rPr kumimoji="0" sz="1800" b="1" i="0" u="none" strike="noStrike" kern="0" cap="none" spc="-14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logarithmic</a:t>
            </a:r>
            <a:r>
              <a:rPr kumimoji="0" sz="1800" b="1" i="0" u="none" strike="noStrike" kern="0" cap="none" spc="-2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15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loss</a:t>
            </a:r>
            <a:r>
              <a:rPr kumimoji="0" sz="1800" b="0" i="0" u="none" strike="noStrike" kern="0" cap="none" spc="-15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,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800" b="1" i="0" u="none" strike="noStrike" kern="0" cap="none" spc="-14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log</a:t>
            </a:r>
            <a:r>
              <a:rPr kumimoji="0" sz="1800" b="1" i="0" u="none" strike="noStrike" kern="0" cap="none" spc="-1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17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loss</a:t>
            </a:r>
            <a:r>
              <a:rPr kumimoji="0" sz="1800" b="1" i="0" u="none" strike="noStrike" kern="0" cap="none" spc="2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-6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or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800" b="1" i="0" u="none" strike="noStrike" kern="0" cap="none" spc="-13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logistic</a:t>
            </a:r>
            <a:r>
              <a:rPr kumimoji="0" sz="1800" b="1" i="0" u="none" strike="noStrike" kern="0" cap="none" spc="-2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1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loss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.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ahoma"/>
              <a:cs typeface="Tahoma"/>
            </a:endParaRPr>
          </a:p>
          <a:p>
            <a:pPr marL="299085" marR="534670" lvl="0" indent="-28702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99085" algn="l"/>
              </a:tabLst>
              <a:defRPr/>
            </a:pPr>
            <a:r>
              <a:rPr kumimoji="0" sz="1800" b="0" i="0" u="none" strike="noStrike" kern="0" cap="none" spc="-10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Each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800" b="0" i="0" u="none" strike="noStrike" kern="0" cap="none" spc="-10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predicted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800" b="0" i="0" u="none" strike="noStrike" kern="0" cap="none" spc="-4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class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800" b="0" i="0" u="none" strike="noStrike" kern="0" cap="none" spc="-9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probability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is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800" b="0" i="0" u="none" strike="noStrike" kern="0" cap="none" spc="-10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compared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800" b="0" i="0" u="none" strike="noStrike" kern="0" cap="none" spc="-10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to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800" b="0" i="0" u="none" strike="noStrike" kern="0" cap="none" spc="-11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the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800" b="0" i="0" u="none" strike="noStrike" kern="0" cap="none" spc="-10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actual</a:t>
            </a:r>
            <a:r>
              <a:rPr kumimoji="0" sz="1800" b="0" i="0" u="none" strike="noStrike" kern="0" cap="none" spc="-5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800" b="0" i="0" u="none" strike="noStrike" kern="0" cap="none" spc="-4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class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800" b="0" i="0" u="none" strike="noStrike" kern="0" cap="none" spc="-8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desired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800" b="0" i="0" u="none" strike="noStrike" kern="0" cap="none" spc="-11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output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800" b="0" i="0" u="none" strike="noStrike" kern="0" cap="none" spc="-9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0</a:t>
            </a:r>
            <a:r>
              <a:rPr kumimoji="0" sz="1800" b="0" i="0" u="none" strike="noStrike" kern="0" cap="none" spc="-4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800" b="0" i="0" u="none" strike="noStrike" kern="0" cap="none" spc="-6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or</a:t>
            </a:r>
            <a:r>
              <a:rPr kumimoji="0" sz="1800" b="0" i="0" u="none" strike="noStrike" kern="0" cap="none" spc="-5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800" b="0" i="0" u="none" strike="noStrike" kern="0" cap="none" spc="-9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1</a:t>
            </a:r>
            <a:r>
              <a:rPr kumimoji="0" sz="1800" b="0" i="0" u="none" strike="noStrike" kern="0" cap="none" spc="-4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800" b="0" i="0" u="none" strike="noStrike" kern="0" cap="none" spc="-12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and</a:t>
            </a:r>
            <a:r>
              <a:rPr kumimoji="0" sz="1800" b="0" i="0" u="none" strike="noStrike" kern="0" cap="none" spc="-5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800" b="0" i="0" u="none" strike="noStrike" kern="0" cap="none" spc="-16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a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800" b="0" i="0" u="none" strike="noStrike" kern="0" cap="none" spc="-6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score/loss</a:t>
            </a:r>
            <a:r>
              <a:rPr kumimoji="0" sz="1800" b="0" i="0" u="none" strike="noStrike" kern="0" cap="none" spc="-4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is </a:t>
            </a:r>
            <a:r>
              <a:rPr kumimoji="0" sz="1800" b="0" i="0" u="none" strike="noStrike" kern="0" cap="none" spc="-9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calculated</a:t>
            </a:r>
            <a:r>
              <a:rPr kumimoji="0" sz="1800" b="0" i="0" u="none" strike="noStrike" kern="0" cap="none" spc="-4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800" b="0" i="0" u="none" strike="noStrike" kern="0" cap="none" spc="-12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that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800" b="1" i="0" u="none" strike="noStrike" kern="0" cap="none" spc="-13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penalizes</a:t>
            </a:r>
            <a:r>
              <a:rPr kumimoji="0" sz="1800" b="1" i="0" u="none" strike="noStrike" kern="0" cap="none" spc="-2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12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1800" b="1" i="0" u="none" strike="noStrike" kern="0" cap="none" spc="-3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13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probability</a:t>
            </a:r>
            <a:r>
              <a:rPr kumimoji="0" sz="1800" b="1" i="0" u="none" strike="noStrike" kern="0" cap="none" spc="-3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17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based</a:t>
            </a:r>
            <a:r>
              <a:rPr kumimoji="0" sz="1800" b="1" i="0" u="none" strike="noStrike" kern="0" cap="none" spc="-4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204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on</a:t>
            </a:r>
            <a:r>
              <a:rPr kumimoji="0" sz="1800" b="1" i="0" u="none" strike="noStrike" kern="0" cap="none" spc="-2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20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how</a:t>
            </a:r>
            <a:r>
              <a:rPr kumimoji="0" sz="1800" b="1" i="0" u="none" strike="noStrike" kern="0" cap="none" spc="-3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12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far</a:t>
            </a:r>
            <a:r>
              <a:rPr kumimoji="0" sz="1800" b="1" i="0" u="none" strike="noStrike" kern="0" cap="none" spc="-1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6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it</a:t>
            </a:r>
            <a:r>
              <a:rPr kumimoji="0" sz="1800" b="1" i="0" u="none" strike="noStrike" kern="0" cap="none" spc="-4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12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is</a:t>
            </a:r>
            <a:r>
              <a:rPr kumimoji="0" sz="1800" b="1" i="0" u="none" strike="noStrike" kern="0" cap="none" spc="-2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17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from</a:t>
            </a:r>
            <a:r>
              <a:rPr kumimoji="0" sz="1800" b="1" i="0" u="none" strike="noStrike" kern="0" cap="none" spc="-1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12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1800" b="1" i="0" u="none" strike="noStrike" kern="0" cap="none" spc="-3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13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actual</a:t>
            </a:r>
            <a:r>
              <a:rPr kumimoji="0" sz="1800" b="1" i="0" u="none" strike="noStrike" kern="0" cap="none" spc="-3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15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expected</a:t>
            </a:r>
            <a:r>
              <a:rPr kumimoji="0" sz="1800" b="1" i="0" u="none" strike="noStrike" kern="0" cap="none" spc="-3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1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value.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99085" marR="66040" lvl="0" indent="-28702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99085" algn="l"/>
              </a:tabLst>
              <a:defRPr/>
            </a:pPr>
            <a:r>
              <a:rPr kumimoji="0" sz="1800" b="0" i="0" u="none" strike="noStrike" kern="0" cap="none" spc="-14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The</a:t>
            </a:r>
            <a:r>
              <a:rPr kumimoji="0" sz="1800" b="0" i="0" u="none" strike="noStrike" kern="0" cap="none" spc="-5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800" b="1" i="0" u="none" strike="noStrike" kern="0" cap="none" spc="-13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penalty</a:t>
            </a:r>
            <a:r>
              <a:rPr kumimoji="0" sz="1800" b="1" i="0" u="none" strike="noStrike" kern="0" cap="none" spc="-3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12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is</a:t>
            </a:r>
            <a:r>
              <a:rPr kumimoji="0" sz="1800" b="1" i="0" u="none" strike="noStrike" kern="0" cap="none" spc="-3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13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logarithmic</a:t>
            </a:r>
            <a:r>
              <a:rPr kumimoji="0" sz="1800" b="1" i="0" u="none" strike="noStrike" kern="0" cap="none" spc="-3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114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in</a:t>
            </a:r>
            <a:r>
              <a:rPr kumimoji="0" sz="1800" b="1" i="0" u="none" strike="noStrike" kern="0" cap="none" spc="-3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14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nature</a:t>
            </a:r>
            <a:r>
              <a:rPr kumimoji="0" sz="1800" b="1" i="0" u="none" strike="noStrike" kern="0" cap="none" spc="-3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-9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yielding</a:t>
            </a:r>
            <a:r>
              <a:rPr kumimoji="0" sz="1800" b="0" i="0" u="none" strike="noStrike" kern="0" cap="none" spc="-4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800" b="0" i="0" u="none" strike="noStrike" kern="0" cap="none" spc="-16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a</a:t>
            </a:r>
            <a:r>
              <a:rPr kumimoji="0" sz="1800" b="0" i="0" u="none" strike="noStrike" kern="0" cap="none" spc="-6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800" b="0" i="0" u="none" strike="noStrike" kern="0" cap="none" spc="-10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large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 score</a:t>
            </a:r>
            <a:r>
              <a:rPr kumimoji="0" sz="1800" b="0" i="0" u="none" strike="noStrike" kern="0" cap="none" spc="-4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800" b="0" i="0" u="none" strike="noStrike" kern="0" cap="none" spc="-6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for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800" b="0" i="0" u="none" strike="noStrike" kern="0" cap="none" spc="-10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large</a:t>
            </a:r>
            <a:r>
              <a:rPr kumimoji="0" sz="1800" b="0" i="0" u="none" strike="noStrike" kern="0" cap="none" spc="-5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800" b="0" i="0" u="none" strike="noStrike" kern="0" cap="none" spc="-7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differences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close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800" b="0" i="0" u="none" strike="noStrike" kern="0" cap="none" spc="-10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to</a:t>
            </a:r>
            <a:r>
              <a:rPr kumimoji="0" sz="1800" b="0" i="0" u="none" strike="noStrike" kern="0" cap="none" spc="-5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800" b="0" i="0" u="none" strike="noStrike" kern="0" cap="none" spc="-9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1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800" b="0" i="0" u="none" strike="noStrike" kern="0" cap="none" spc="-12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and</a:t>
            </a:r>
            <a:r>
              <a:rPr kumimoji="0" sz="1800" b="0" i="0" u="none" strike="noStrike" kern="0" cap="none" spc="-6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800" b="0" i="0" u="none" strike="noStrike" kern="0" cap="none" spc="-7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small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800" b="0" i="0" u="none" strike="noStrike" kern="0" cap="none" spc="-4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score</a:t>
            </a:r>
            <a:r>
              <a:rPr kumimoji="0" sz="1800" b="0" i="0" u="none" strike="noStrike" kern="0" cap="none" spc="-5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for </a:t>
            </a:r>
            <a:r>
              <a:rPr kumimoji="0" sz="1800" b="0" i="0" u="none" strike="noStrike" kern="0" cap="none" spc="-7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small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800" b="0" i="0" u="none" strike="noStrike" kern="0" cap="none" spc="-7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differences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800" b="0" i="0" u="none" strike="noStrike" kern="0" cap="none" spc="-10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tending</a:t>
            </a:r>
            <a:r>
              <a:rPr kumimoji="0" sz="1800" b="0" i="0" u="none" strike="noStrike" kern="0" cap="none" spc="-4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800" b="0" i="0" u="none" strike="noStrike" kern="0" cap="none" spc="-10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to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0.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ahoma"/>
              <a:cs typeface="Tahoma"/>
            </a:endParaRPr>
          </a:p>
          <a:p>
            <a:pPr marL="299085" marR="0" lvl="0" indent="-286385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99085" algn="l"/>
              </a:tabLst>
              <a:defRPr/>
            </a:pP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Cross-</a:t>
            </a:r>
            <a:r>
              <a:rPr kumimoji="0" sz="1800" b="0" i="0" u="none" strike="noStrike" kern="0" cap="none" spc="-10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entropy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loss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is</a:t>
            </a:r>
            <a:r>
              <a:rPr kumimoji="0" sz="1800" b="0" i="0" u="none" strike="noStrike" kern="0" cap="none" spc="-4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800" b="0" i="0" u="none" strike="noStrike" kern="0" cap="none" spc="-8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used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800" b="0" i="0" u="none" strike="noStrike" kern="0" cap="none" spc="-12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when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800" b="0" i="0" u="none" strike="noStrike" kern="0" cap="none" spc="-10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adjusting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800" b="0" i="0" u="none" strike="noStrike" kern="0" cap="none" spc="-10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model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800" b="0" i="0" u="none" strike="noStrike" kern="0" cap="none" spc="-9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weights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800" b="0" i="0" u="none" strike="noStrike" kern="0" cap="none" spc="-9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during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800" b="0" i="0" u="none" strike="noStrike" kern="0" cap="none" spc="-10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training.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800" b="1" i="0" u="none" strike="noStrike" kern="0" cap="none" spc="-18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1800" b="1" i="0" u="none" strike="noStrike" kern="0" cap="none" spc="-3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15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aim</a:t>
            </a:r>
            <a:r>
              <a:rPr kumimoji="0" sz="1800" b="1" i="0" u="none" strike="noStrike" kern="0" cap="none" spc="-4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12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is</a:t>
            </a:r>
            <a:r>
              <a:rPr kumimoji="0" sz="1800" b="1" i="0" u="none" strike="noStrike" kern="0" cap="none" spc="-3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14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1800" b="1" i="0" u="none" strike="noStrike" kern="0" cap="none" spc="-3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15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minimize</a:t>
            </a:r>
            <a:r>
              <a:rPr kumimoji="0" sz="1800" b="1" i="0" u="none" strike="noStrike" kern="0" cap="none" spc="-3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12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1800" b="1" i="0" u="none" strike="noStrike" kern="0" cap="none" spc="-3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16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loss</a:t>
            </a:r>
            <a:r>
              <a:rPr kumimoji="0" sz="1800" b="0" i="0" u="none" strike="noStrike" kern="0" cap="none" spc="-16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,</a:t>
            </a:r>
            <a:r>
              <a:rPr kumimoji="0" sz="1800" b="0" i="0" u="none" strike="noStrike" kern="0" cap="none" spc="-4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i.e,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ahoma"/>
              <a:cs typeface="Tahoma"/>
            </a:endParaRPr>
          </a:p>
          <a:p>
            <a:pPr marL="299085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11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the</a:t>
            </a:r>
            <a:r>
              <a:rPr kumimoji="0" sz="1800" b="0" i="0" u="none" strike="noStrike" kern="0" cap="none" spc="-4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800" b="0" i="0" u="none" strike="noStrike" kern="0" cap="none" spc="-8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smaller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800" b="0" i="0" u="none" strike="noStrike" kern="0" cap="none" spc="-11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the</a:t>
            </a:r>
            <a:r>
              <a:rPr kumimoji="0" sz="1800" b="0" i="0" u="none" strike="noStrike" kern="0" cap="none" spc="-4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loss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800" b="0" i="0" u="none" strike="noStrike" kern="0" cap="none" spc="-11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the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800" b="0" i="0" u="none" strike="noStrike" kern="0" cap="none" spc="-10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better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800" b="0" i="0" u="none" strike="noStrike" kern="0" cap="none" spc="-11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the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800" b="0" i="0" u="none" strike="noStrike" kern="0" cap="none" spc="-10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model.</a:t>
            </a:r>
            <a:r>
              <a:rPr kumimoji="0" sz="1800" b="0" i="0" u="none" strike="noStrike" kern="0" cap="none" spc="-4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800" b="0" i="0" u="none" strike="noStrike" kern="0" cap="none" spc="-9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A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800" b="1" i="0" u="none" strike="noStrike" kern="0" cap="none" spc="-12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perfect</a:t>
            </a:r>
            <a:r>
              <a:rPr kumimoji="0" sz="1800" b="1" i="0" u="none" strike="noStrike" kern="0" cap="none" spc="-4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16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model</a:t>
            </a:r>
            <a:r>
              <a:rPr kumimoji="0" sz="1800" b="1" i="0" u="none" strike="noStrike" kern="0" cap="none" spc="-4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18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has</a:t>
            </a:r>
            <a:r>
              <a:rPr kumimoji="0" sz="1800" b="1" i="0" u="none" strike="noStrike" kern="0" cap="none" spc="-3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13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1800" b="1" i="0" u="none" strike="noStrike" kern="0" cap="none" spc="-3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15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cross-</a:t>
            </a:r>
            <a:r>
              <a:rPr kumimoji="0" sz="1800" b="1" i="0" u="none" strike="noStrike" kern="0" cap="none" spc="-15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entropy</a:t>
            </a:r>
            <a:r>
              <a:rPr kumimoji="0" sz="1800" b="1" i="0" u="none" strike="noStrike" kern="0" cap="none" spc="-4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16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loss</a:t>
            </a:r>
            <a:r>
              <a:rPr kumimoji="0" sz="1800" b="1" i="0" u="none" strike="noStrike" kern="0" cap="none" spc="-5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16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1800" b="1" i="0" u="none" strike="noStrike" kern="0" cap="none" spc="-4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2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0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.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2500" y="1975104"/>
            <a:ext cx="3952875" cy="93310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34059" y="1302258"/>
            <a:ext cx="399605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Cross</a:t>
            </a:r>
            <a:r>
              <a:rPr kumimoji="0" sz="2400" b="1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Entropy</a:t>
            </a:r>
            <a:r>
              <a:rPr kumimoji="0" sz="2400" b="1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Loss-</a:t>
            </a:r>
            <a:r>
              <a:rPr kumimoji="0" sz="2400" b="1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binary</a:t>
            </a:r>
            <a:r>
              <a:rPr kumimoji="0" sz="2400" b="1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class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311131" y="1352803"/>
            <a:ext cx="9880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Multiclass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1052" y="996957"/>
            <a:ext cx="10311427" cy="521029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3591" rIns="0" bIns="0" rtlCol="0">
            <a:spAutoFit/>
          </a:bodyPr>
          <a:lstStyle/>
          <a:p>
            <a:pPr marL="850265">
              <a:lnSpc>
                <a:spcPct val="100000"/>
              </a:lnSpc>
              <a:spcBef>
                <a:spcPts val="95"/>
              </a:spcBef>
            </a:pPr>
            <a:r>
              <a:rPr b="0" dirty="0">
                <a:solidFill>
                  <a:srgbClr val="000000"/>
                </a:solidFill>
                <a:latin typeface="Calibri Light"/>
                <a:cs typeface="Calibri Light"/>
              </a:rPr>
              <a:t>Loss</a:t>
            </a:r>
            <a:r>
              <a:rPr b="0" spc="-11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b="0" dirty="0">
                <a:solidFill>
                  <a:srgbClr val="000000"/>
                </a:solidFill>
                <a:latin typeface="Calibri Light"/>
                <a:cs typeface="Calibri Light"/>
              </a:rPr>
              <a:t>function</a:t>
            </a:r>
            <a:r>
              <a:rPr b="0" spc="-9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b="0" dirty="0">
                <a:solidFill>
                  <a:srgbClr val="000000"/>
                </a:solidFill>
                <a:latin typeface="Calibri Light"/>
                <a:cs typeface="Calibri Light"/>
              </a:rPr>
              <a:t>for</a:t>
            </a:r>
            <a:r>
              <a:rPr b="0" spc="-10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b="0" dirty="0">
                <a:solidFill>
                  <a:srgbClr val="000000"/>
                </a:solidFill>
                <a:latin typeface="Calibri Light"/>
                <a:cs typeface="Calibri Light"/>
              </a:rPr>
              <a:t>binary</a:t>
            </a:r>
            <a:r>
              <a:rPr b="0" spc="-11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b="0" dirty="0">
                <a:solidFill>
                  <a:srgbClr val="000000"/>
                </a:solidFill>
                <a:latin typeface="Calibri Light"/>
                <a:cs typeface="Calibri Light"/>
              </a:rPr>
              <a:t>class</a:t>
            </a:r>
            <a:r>
              <a:rPr b="0" spc="-9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b="0" spc="-10" dirty="0">
                <a:solidFill>
                  <a:srgbClr val="000000"/>
                </a:solidFill>
                <a:latin typeface="Calibri Light"/>
                <a:cs typeface="Calibri Light"/>
              </a:rPr>
              <a:t>classification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3337" rIns="0" bIns="0" rtlCol="0">
            <a:spAutoFit/>
          </a:bodyPr>
          <a:lstStyle/>
          <a:p>
            <a:pPr marL="850265">
              <a:lnSpc>
                <a:spcPct val="100000"/>
              </a:lnSpc>
              <a:spcBef>
                <a:spcPts val="95"/>
              </a:spcBef>
            </a:pPr>
            <a:r>
              <a:rPr b="0" dirty="0">
                <a:solidFill>
                  <a:srgbClr val="000000"/>
                </a:solidFill>
                <a:latin typeface="Calibri Light"/>
                <a:cs typeface="Calibri Light"/>
              </a:rPr>
              <a:t>Loss</a:t>
            </a:r>
            <a:r>
              <a:rPr b="0" spc="-10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b="0" dirty="0">
                <a:solidFill>
                  <a:srgbClr val="000000"/>
                </a:solidFill>
                <a:latin typeface="Calibri Light"/>
                <a:cs typeface="Calibri Light"/>
              </a:rPr>
              <a:t>function</a:t>
            </a:r>
            <a:r>
              <a:rPr b="0" spc="-10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b="0" dirty="0">
                <a:solidFill>
                  <a:srgbClr val="000000"/>
                </a:solidFill>
                <a:latin typeface="Calibri Light"/>
                <a:cs typeface="Calibri Light"/>
              </a:rPr>
              <a:t>for</a:t>
            </a:r>
            <a:r>
              <a:rPr b="0" spc="-10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b="0" dirty="0">
                <a:solidFill>
                  <a:srgbClr val="000000"/>
                </a:solidFill>
                <a:latin typeface="Calibri Light"/>
                <a:cs typeface="Calibri Light"/>
              </a:rPr>
              <a:t>multi</a:t>
            </a:r>
            <a:r>
              <a:rPr b="0" spc="-9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b="0" dirty="0">
                <a:solidFill>
                  <a:srgbClr val="000000"/>
                </a:solidFill>
                <a:latin typeface="Calibri Light"/>
                <a:cs typeface="Calibri Light"/>
              </a:rPr>
              <a:t>class</a:t>
            </a:r>
            <a:r>
              <a:rPr b="0" spc="-10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b="0" spc="-10" dirty="0">
                <a:solidFill>
                  <a:srgbClr val="000000"/>
                </a:solidFill>
                <a:latin typeface="Calibri Light"/>
                <a:cs typeface="Calibri Light"/>
              </a:rPr>
              <a:t>classification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9619" y="992124"/>
            <a:ext cx="9755134" cy="4896612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362438" y="726546"/>
            <a:ext cx="9991725" cy="5601335"/>
            <a:chOff x="1362438" y="726546"/>
            <a:chExt cx="9991725" cy="56013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62438" y="726546"/>
              <a:ext cx="9371880" cy="496180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96199" y="4206240"/>
              <a:ext cx="3657600" cy="212140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09843" y="4175759"/>
              <a:ext cx="1819655" cy="658368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72363" rIns="0" bIns="0" rtlCol="0">
            <a:spAutoFit/>
          </a:bodyPr>
          <a:lstStyle/>
          <a:p>
            <a:pPr marL="850265">
              <a:lnSpc>
                <a:spcPct val="100000"/>
              </a:lnSpc>
              <a:spcBef>
                <a:spcPts val="100"/>
              </a:spcBef>
            </a:pPr>
            <a:r>
              <a:rPr sz="3200" spc="-260" dirty="0"/>
              <a:t>Learning</a:t>
            </a:r>
            <a:r>
              <a:rPr sz="3200" spc="-75" dirty="0"/>
              <a:t> </a:t>
            </a:r>
            <a:r>
              <a:rPr sz="3200" spc="-250" dirty="0"/>
              <a:t>Algorithm-</a:t>
            </a:r>
            <a:r>
              <a:rPr sz="3200" spc="-85" dirty="0"/>
              <a:t> </a:t>
            </a:r>
            <a:r>
              <a:rPr sz="3200" spc="-280" dirty="0"/>
              <a:t>backpropagation</a:t>
            </a:r>
            <a:endParaRPr sz="32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3337" rIns="0" bIns="0" rtlCol="0">
            <a:spAutoFit/>
          </a:bodyPr>
          <a:lstStyle/>
          <a:p>
            <a:pPr marL="850265">
              <a:lnSpc>
                <a:spcPct val="100000"/>
              </a:lnSpc>
              <a:spcBef>
                <a:spcPts val="95"/>
              </a:spcBef>
            </a:pPr>
            <a:r>
              <a:rPr b="0" dirty="0">
                <a:solidFill>
                  <a:srgbClr val="000000"/>
                </a:solidFill>
                <a:latin typeface="Calibri Light"/>
                <a:cs typeface="Calibri Light"/>
              </a:rPr>
              <a:t>Calculation</a:t>
            </a:r>
            <a:r>
              <a:rPr b="0" spc="-21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b="0" spc="-25" dirty="0">
                <a:solidFill>
                  <a:srgbClr val="000000"/>
                </a:solidFill>
                <a:latin typeface="Calibri Light"/>
                <a:cs typeface="Calibri Light"/>
              </a:rPr>
              <a:t>of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4362" y="1636293"/>
            <a:ext cx="10723885" cy="385315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84878" y="372618"/>
            <a:ext cx="665321" cy="363474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3149" rIns="0" bIns="0" rtlCol="0">
            <a:spAutoFit/>
          </a:bodyPr>
          <a:lstStyle/>
          <a:p>
            <a:pPr marL="850265">
              <a:lnSpc>
                <a:spcPct val="100000"/>
              </a:lnSpc>
              <a:spcBef>
                <a:spcPts val="95"/>
              </a:spcBef>
            </a:pPr>
            <a:r>
              <a:rPr spc="-240" dirty="0"/>
              <a:t>Partial</a:t>
            </a:r>
            <a:r>
              <a:rPr spc="-65" dirty="0"/>
              <a:t> </a:t>
            </a:r>
            <a:r>
              <a:rPr spc="-270" dirty="0"/>
              <a:t>derivative</a:t>
            </a:r>
            <a:r>
              <a:rPr spc="-80" dirty="0"/>
              <a:t> </a:t>
            </a:r>
            <a:r>
              <a:rPr spc="210" dirty="0"/>
              <a:t>,</a:t>
            </a:r>
            <a:r>
              <a:rPr spc="-90" dirty="0"/>
              <a:t> </a:t>
            </a:r>
            <a:r>
              <a:rPr spc="-325" dirty="0"/>
              <a:t>Gradient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2052" y="1021676"/>
            <a:ext cx="11739958" cy="422576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518147" y="4965191"/>
            <a:ext cx="5511165" cy="923925"/>
          </a:xfrm>
          <a:prstGeom prst="rect">
            <a:avLst/>
          </a:prstGeom>
          <a:solidFill>
            <a:srgbClr val="E1EFD9"/>
          </a:solidFill>
        </p:spPr>
        <p:txBody>
          <a:bodyPr vert="horz" wrap="square" lIns="0" tIns="43180" rIns="0" bIns="0" rtlCol="0">
            <a:spAutoFit/>
          </a:bodyPr>
          <a:lstStyle/>
          <a:p>
            <a:pPr marL="92075" marR="345440" lvl="0" indent="0" defTabSz="914400" eaLnBrk="1" fontAlgn="auto" latinLnBrk="0" hangingPunct="1">
              <a:lnSpc>
                <a:spcPct val="98900"/>
              </a:lnSpc>
              <a:spcBef>
                <a:spcPts val="340"/>
              </a:spcBef>
              <a:spcAft>
                <a:spcPts val="0"/>
              </a:spcAft>
              <a:buClrTx/>
              <a:buSzTx/>
              <a:buFontTx/>
              <a:buNone/>
              <a:tabLst>
                <a:tab pos="4195445" algn="l"/>
              </a:tabLst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gradient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function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f,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denoted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as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	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Cambria Math"/>
                <a:cs typeface="Cambria Math"/>
              </a:rPr>
              <a:t>∇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f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,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1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the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collection</a:t>
            </a:r>
            <a:r>
              <a:rPr kumimoji="0" sz="1800" b="1" i="0" u="none" strike="noStrike" kern="0" cap="none" spc="-4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1800" b="1" i="0" u="none" strike="noStrike" kern="0" cap="none" spc="-3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all</a:t>
            </a:r>
            <a:r>
              <a:rPr kumimoji="0" sz="1800" b="1" i="0" u="none" strike="noStrike" kern="0" cap="none" spc="-3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its</a:t>
            </a:r>
            <a:r>
              <a:rPr kumimoji="0" sz="1800" b="1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partial</a:t>
            </a:r>
            <a:r>
              <a:rPr kumimoji="0" sz="1800" b="1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derivatives</a:t>
            </a:r>
            <a:r>
              <a:rPr kumimoji="0" sz="1800" b="1" i="0" u="none" strike="noStrike" kern="0" cap="none" spc="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into</a:t>
            </a:r>
            <a:r>
              <a:rPr kumimoji="0" sz="1800" b="1" i="0" u="none" strike="noStrike" kern="0" cap="none" spc="-4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5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a </a:t>
            </a:r>
            <a:r>
              <a:rPr kumimoji="0" sz="1800" b="1" i="0" u="none" strike="noStrike" kern="0" cap="none" spc="-1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vector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.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73540" y="1123188"/>
            <a:ext cx="1819655" cy="65684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6011" y="4965191"/>
            <a:ext cx="6106795" cy="92392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43180" rIns="0" bIns="0" rtlCol="0">
            <a:spAutoFit/>
          </a:bodyPr>
          <a:lstStyle/>
          <a:p>
            <a:pPr marL="91440" marR="137795" lvl="0" indent="0" defTabSz="914400" eaLnBrk="1" fontAlgn="auto" latinLnBrk="0" hangingPunct="1">
              <a:lnSpc>
                <a:spcPct val="98900"/>
              </a:lnSpc>
              <a:spcBef>
                <a:spcPts val="3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partial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derivative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notation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used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1800" b="1" i="0" u="none" strike="noStrike" kern="0" cap="none" spc="-3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specify</a:t>
            </a:r>
            <a:r>
              <a:rPr kumimoji="0" sz="1800" b="1" i="0" u="none" strike="noStrike" kern="0" cap="none" spc="-1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the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derivative</a:t>
            </a:r>
            <a:r>
              <a:rPr kumimoji="0" sz="1800" b="1" i="0" u="none" strike="noStrike" kern="0" cap="none" spc="2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1800" b="1" i="0" u="none" strike="noStrike" kern="0" cap="none" spc="-3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1800" b="1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function</a:t>
            </a:r>
            <a:r>
              <a:rPr kumimoji="0" sz="1800" b="1" i="0" u="none" strike="noStrike" kern="0" cap="none" spc="-3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1800" b="1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more</a:t>
            </a:r>
            <a:r>
              <a:rPr kumimoji="0" sz="1800" b="1" i="0" u="none" strike="noStrike" kern="0" cap="none" spc="-3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than</a:t>
            </a:r>
            <a:r>
              <a:rPr kumimoji="0" sz="1800" b="1" i="0" u="none" strike="noStrike" kern="0" cap="none" spc="-3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one</a:t>
            </a:r>
            <a:r>
              <a:rPr kumimoji="0" sz="1800" b="1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variable</a:t>
            </a:r>
            <a:r>
              <a:rPr kumimoji="0" sz="1800" b="1" i="0" u="none" strike="noStrike" kern="0" cap="none" spc="-1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2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with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respect</a:t>
            </a:r>
            <a:r>
              <a:rPr kumimoji="0" sz="1800" b="1" i="0" u="none" strike="noStrike" kern="0" cap="none" spc="-1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1800" b="1" i="0" u="none" strike="noStrike" kern="0" cap="none" spc="-1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one</a:t>
            </a:r>
            <a:r>
              <a:rPr kumimoji="0" sz="1800" b="1" i="0" u="none" strike="noStrike" kern="0" cap="none" spc="-2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1800" b="1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its</a:t>
            </a:r>
            <a:r>
              <a:rPr kumimoji="0" sz="1800" b="1" i="0" u="none" strike="noStrike" kern="0" cap="none" spc="-1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1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variables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.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69316" rIns="0" bIns="0" rtlCol="0">
            <a:spAutoFit/>
          </a:bodyPr>
          <a:lstStyle/>
          <a:p>
            <a:pPr marL="850265">
              <a:lnSpc>
                <a:spcPct val="100000"/>
              </a:lnSpc>
              <a:spcBef>
                <a:spcPts val="100"/>
              </a:spcBef>
            </a:pPr>
            <a:r>
              <a:rPr sz="3200" spc="-10" dirty="0">
                <a:solidFill>
                  <a:srgbClr val="000000"/>
                </a:solidFill>
                <a:latin typeface="Times New Roman"/>
                <a:cs typeface="Times New Roman"/>
              </a:rPr>
              <a:t>Backpropagation</a:t>
            </a:r>
            <a:endParaRPr sz="32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14819" y="1020579"/>
            <a:ext cx="4103115" cy="511675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20239" y="1817497"/>
            <a:ext cx="4252701" cy="98451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00584" y="5553455"/>
            <a:ext cx="6105525" cy="646430"/>
          </a:xfrm>
          <a:prstGeom prst="rect">
            <a:avLst/>
          </a:prstGeom>
          <a:solidFill>
            <a:srgbClr val="E1EFD9"/>
          </a:solidFill>
        </p:spPr>
        <p:txBody>
          <a:bodyPr vert="horz" wrap="square" lIns="0" tIns="40640" rIns="0" bIns="0" rtlCol="0">
            <a:spAutoFit/>
          </a:bodyPr>
          <a:lstStyle/>
          <a:p>
            <a:pPr marL="90805" marR="0" lvl="0" indent="0" defTabSz="914400" eaLnBrk="1" fontAlgn="auto" latinLnBrk="0" hangingPunct="1">
              <a:lnSpc>
                <a:spcPts val="2135"/>
              </a:lnSpc>
              <a:spcBef>
                <a:spcPts val="320"/>
              </a:spcBef>
              <a:spcAft>
                <a:spcPts val="0"/>
              </a:spcAft>
              <a:buClrTx/>
              <a:buSzTx/>
              <a:buFontTx/>
              <a:buNone/>
              <a:tabLst>
                <a:tab pos="4194175" algn="l"/>
              </a:tabLst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gradient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function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f,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denoted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as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	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Cambria Math"/>
                <a:cs typeface="Cambria Math"/>
              </a:rPr>
              <a:t>∇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f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,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1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90805" marR="0" lvl="0" indent="0" defTabSz="914400" eaLnBrk="1" fontAlgn="auto" latinLnBrk="0" hangingPunct="1">
              <a:lnSpc>
                <a:spcPts val="21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collection</a:t>
            </a:r>
            <a:r>
              <a:rPr kumimoji="0" sz="1800" b="1" i="0" u="none" strike="noStrike" kern="0" cap="none" spc="-4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1800" b="1" i="0" u="none" strike="noStrike" kern="0" cap="none" spc="-3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all</a:t>
            </a:r>
            <a:r>
              <a:rPr kumimoji="0" sz="1800" b="1" i="0" u="none" strike="noStrike" kern="0" cap="none" spc="-3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its</a:t>
            </a:r>
            <a:r>
              <a:rPr kumimoji="0" sz="1800" b="1" i="0" u="none" strike="noStrike" kern="0" cap="none" spc="-2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partial</a:t>
            </a:r>
            <a:r>
              <a:rPr kumimoji="0" sz="1800" b="1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derivatives</a:t>
            </a:r>
            <a:r>
              <a:rPr kumimoji="0" sz="1800" b="1" i="0" u="none" strike="noStrike" kern="0" cap="none" spc="3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into</a:t>
            </a:r>
            <a:r>
              <a:rPr kumimoji="0" sz="1800" b="1" i="0" u="none" strike="noStrike" kern="0" cap="none" spc="-4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1800" b="1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1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vector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.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0584" y="3540252"/>
            <a:ext cx="1819656" cy="65684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86868" y="4413503"/>
            <a:ext cx="6105525" cy="92392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43815" rIns="0" bIns="0" rtlCol="0">
            <a:spAutoFit/>
          </a:bodyPr>
          <a:lstStyle/>
          <a:p>
            <a:pPr marL="90805" marR="137160" lvl="0" indent="0" defTabSz="914400" eaLnBrk="1" fontAlgn="auto" latinLnBrk="0" hangingPunct="1">
              <a:lnSpc>
                <a:spcPct val="98900"/>
              </a:lnSpc>
              <a:spcBef>
                <a:spcPts val="3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partial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derivative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notation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used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1800" b="1" i="0" u="none" strike="noStrike" kern="0" cap="none" spc="-3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specify</a:t>
            </a:r>
            <a:r>
              <a:rPr kumimoji="0" sz="1800" b="1" i="0" u="none" strike="noStrike" kern="0" cap="none" spc="-1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the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derivative</a:t>
            </a:r>
            <a:r>
              <a:rPr kumimoji="0" sz="1800" b="1" i="0" u="none" strike="noStrike" kern="0" cap="none" spc="2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1800" b="1" i="0" u="none" strike="noStrike" kern="0" cap="none" spc="-3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1800" b="1" i="0" u="none" strike="noStrike" kern="0" cap="none" spc="-4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function</a:t>
            </a:r>
            <a:r>
              <a:rPr kumimoji="0" sz="1800" b="1" i="0" u="none" strike="noStrike" kern="0" cap="none" spc="-5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1800" b="1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more</a:t>
            </a:r>
            <a:r>
              <a:rPr kumimoji="0" sz="1800" b="1" i="0" u="none" strike="noStrike" kern="0" cap="none" spc="-4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than</a:t>
            </a:r>
            <a:r>
              <a:rPr kumimoji="0" sz="1800" b="1" i="0" u="none" strike="noStrike" kern="0" cap="none" spc="-4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one</a:t>
            </a:r>
            <a:r>
              <a:rPr kumimoji="0" sz="1800" b="1" i="0" u="none" strike="noStrike" kern="0" cap="none" spc="-3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variable</a:t>
            </a:r>
            <a:r>
              <a:rPr kumimoji="0" sz="1800" b="1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2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with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respect</a:t>
            </a:r>
            <a:r>
              <a:rPr kumimoji="0" sz="1800" b="1" i="0" u="none" strike="noStrike" kern="0" cap="none" spc="-1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1800" b="1" i="0" u="none" strike="noStrike" kern="0" cap="none" spc="-2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one</a:t>
            </a:r>
            <a:r>
              <a:rPr kumimoji="0" sz="1800" b="1" i="0" u="none" strike="noStrike" kern="0" cap="none" spc="-2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1800" b="1" i="0" u="none" strike="noStrike" kern="0" cap="none" spc="-2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its</a:t>
            </a:r>
            <a:r>
              <a:rPr kumimoji="0" sz="1800" b="1" i="0" u="none" strike="noStrike" kern="0" cap="none" spc="-1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variables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.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4012" y="235077"/>
            <a:ext cx="57778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70" dirty="0"/>
              <a:t>Calculus</a:t>
            </a:r>
            <a:r>
              <a:rPr spc="-80" dirty="0"/>
              <a:t> </a:t>
            </a:r>
            <a:r>
              <a:rPr spc="-360" dirty="0"/>
              <a:t>basics</a:t>
            </a:r>
            <a:r>
              <a:rPr spc="-100" dirty="0"/>
              <a:t> </a:t>
            </a:r>
            <a:r>
              <a:rPr dirty="0"/>
              <a:t>-</a:t>
            </a:r>
            <a:r>
              <a:rPr spc="-90" dirty="0"/>
              <a:t> </a:t>
            </a:r>
            <a:r>
              <a:rPr spc="-380" dirty="0"/>
              <a:t>Chain</a:t>
            </a:r>
            <a:r>
              <a:rPr spc="-105" dirty="0"/>
              <a:t> </a:t>
            </a:r>
            <a:r>
              <a:rPr spc="-160" dirty="0"/>
              <a:t>rule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2285" y="1764735"/>
            <a:ext cx="8471316" cy="1578966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6350508" y="4108703"/>
            <a:ext cx="5532120" cy="1786255"/>
          </a:xfrm>
          <a:custGeom>
            <a:avLst/>
            <a:gdLst/>
            <a:ahLst/>
            <a:cxnLst/>
            <a:rect l="l" t="t" r="r" b="b"/>
            <a:pathLst>
              <a:path w="5532120" h="1786254">
                <a:moveTo>
                  <a:pt x="5532120" y="0"/>
                </a:moveTo>
                <a:lnTo>
                  <a:pt x="0" y="0"/>
                </a:lnTo>
                <a:lnTo>
                  <a:pt x="0" y="1786128"/>
                </a:lnTo>
                <a:lnTo>
                  <a:pt x="5532120" y="1786128"/>
                </a:lnTo>
                <a:lnTo>
                  <a:pt x="553212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17183" y="4117085"/>
            <a:ext cx="1692275" cy="1002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 marR="3048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h=f(x) </a:t>
            </a: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Y=f(h)=</a:t>
            </a:r>
            <a:r>
              <a:rPr kumimoji="0" sz="3200" b="0" i="0" u="none" strike="noStrike" kern="0" cap="none" spc="-10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3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</a:t>
            </a:r>
            <a:r>
              <a:rPr kumimoji="0" sz="3150" b="0" i="0" u="none" strike="noStrike" kern="0" cap="none" spc="-37" normalizeH="0" baseline="25132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</a:t>
            </a:r>
            <a:endParaRPr kumimoji="0" sz="3150" b="0" i="0" u="none" strike="noStrike" kern="0" cap="none" spc="0" normalizeH="0" baseline="25132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441821" y="5497195"/>
            <a:ext cx="2818130" cy="26034"/>
          </a:xfrm>
          <a:custGeom>
            <a:avLst/>
            <a:gdLst/>
            <a:ahLst/>
            <a:cxnLst/>
            <a:rect l="l" t="t" r="r" b="b"/>
            <a:pathLst>
              <a:path w="2818129" h="26035">
                <a:moveTo>
                  <a:pt x="384048" y="0"/>
                </a:moveTo>
                <a:lnTo>
                  <a:pt x="0" y="0"/>
                </a:lnTo>
                <a:lnTo>
                  <a:pt x="0" y="25908"/>
                </a:lnTo>
                <a:lnTo>
                  <a:pt x="384048" y="25908"/>
                </a:lnTo>
                <a:lnTo>
                  <a:pt x="384048" y="0"/>
                </a:lnTo>
                <a:close/>
              </a:path>
              <a:path w="2818129" h="26035">
                <a:moveTo>
                  <a:pt x="970788" y="0"/>
                </a:moveTo>
                <a:lnTo>
                  <a:pt x="586740" y="0"/>
                </a:lnTo>
                <a:lnTo>
                  <a:pt x="586740" y="25908"/>
                </a:lnTo>
                <a:lnTo>
                  <a:pt x="970788" y="25908"/>
                </a:lnTo>
                <a:lnTo>
                  <a:pt x="970788" y="0"/>
                </a:lnTo>
                <a:close/>
              </a:path>
              <a:path w="2818129" h="26035">
                <a:moveTo>
                  <a:pt x="1418844" y="0"/>
                </a:moveTo>
                <a:lnTo>
                  <a:pt x="1037844" y="0"/>
                </a:lnTo>
                <a:lnTo>
                  <a:pt x="1037844" y="25908"/>
                </a:lnTo>
                <a:lnTo>
                  <a:pt x="1418844" y="25908"/>
                </a:lnTo>
                <a:lnTo>
                  <a:pt x="1418844" y="0"/>
                </a:lnTo>
                <a:close/>
              </a:path>
              <a:path w="2818129" h="26035">
                <a:moveTo>
                  <a:pt x="2247900" y="0"/>
                </a:moveTo>
                <a:lnTo>
                  <a:pt x="1714500" y="0"/>
                </a:lnTo>
                <a:lnTo>
                  <a:pt x="1714500" y="25908"/>
                </a:lnTo>
                <a:lnTo>
                  <a:pt x="2247900" y="25908"/>
                </a:lnTo>
                <a:lnTo>
                  <a:pt x="2247900" y="0"/>
                </a:lnTo>
                <a:close/>
              </a:path>
              <a:path w="2818129" h="26035">
                <a:moveTo>
                  <a:pt x="2817876" y="0"/>
                </a:moveTo>
                <a:lnTo>
                  <a:pt x="2314956" y="0"/>
                </a:lnTo>
                <a:lnTo>
                  <a:pt x="2314956" y="25908"/>
                </a:lnTo>
                <a:lnTo>
                  <a:pt x="2817876" y="25908"/>
                </a:lnTo>
                <a:lnTo>
                  <a:pt x="281787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48678" y="5520944"/>
            <a:ext cx="2754630" cy="3822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>
                <a:tab pos="581660" algn="l"/>
                <a:tab pos="1784350" algn="l"/>
                <a:tab pos="2374265" algn="l"/>
              </a:tabLst>
              <a:defRPr/>
            </a:pPr>
            <a:r>
              <a:rPr kumimoji="0" sz="2350" b="0" i="0" u="none" strike="noStrike" kern="0" cap="none" spc="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 Math"/>
                <a:cs typeface="Cambria Math"/>
              </a:rPr>
              <a:t>𝑑𝑥</a:t>
            </a:r>
            <a:r>
              <a:rPr kumimoji="0" sz="23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 Math"/>
                <a:cs typeface="Cambria Math"/>
              </a:rPr>
              <a:t>	</a:t>
            </a:r>
            <a:r>
              <a:rPr kumimoji="0" sz="2350" b="0" i="0" u="none" strike="noStrike" kern="0" cap="none" spc="1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 Math"/>
                <a:cs typeface="Cambria Math"/>
              </a:rPr>
              <a:t>𝑑ℎ</a:t>
            </a:r>
            <a:r>
              <a:rPr kumimoji="0" sz="2350" b="0" i="0" u="none" strike="noStrike" kern="0" cap="none" spc="10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 Math"/>
                <a:cs typeface="Cambria Math"/>
              </a:rPr>
              <a:t> </a:t>
            </a:r>
            <a:r>
              <a:rPr kumimoji="0" sz="2350" b="0" i="0" u="none" strike="noStrike" kern="0" cap="none" spc="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 Math"/>
                <a:cs typeface="Cambria Math"/>
              </a:rPr>
              <a:t>𝑑𝑥</a:t>
            </a:r>
            <a:r>
              <a:rPr kumimoji="0" sz="23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 Math"/>
                <a:cs typeface="Cambria Math"/>
              </a:rPr>
              <a:t>	</a:t>
            </a:r>
            <a:r>
              <a:rPr kumimoji="0" sz="2350" b="0" i="0" u="none" strike="noStrike" kern="0" cap="none" spc="10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 Math"/>
                <a:cs typeface="Cambria Math"/>
              </a:rPr>
              <a:t>𝑑ℎ</a:t>
            </a:r>
            <a:r>
              <a:rPr kumimoji="0" sz="23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 Math"/>
                <a:cs typeface="Cambria Math"/>
              </a:rPr>
              <a:t>	</a:t>
            </a:r>
            <a:r>
              <a:rPr kumimoji="0" sz="2350" b="0" i="0" u="none" strike="noStrike" kern="0" cap="none" spc="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 Math"/>
                <a:cs typeface="Cambria Math"/>
              </a:rPr>
              <a:t>𝑑𝑥</a:t>
            </a:r>
            <a:endParaRPr kumimoji="0" sz="23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17183" y="4969255"/>
            <a:ext cx="5360670" cy="751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 marR="0" lvl="0" indent="0" defTabSz="914400" eaLnBrk="1" fontAlgn="auto" latinLnBrk="0" hangingPunct="1">
              <a:lnSpc>
                <a:spcPts val="2855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>
                <a:tab pos="611505" algn="l"/>
                <a:tab pos="1739900" algn="l"/>
              </a:tabLst>
              <a:defRPr/>
            </a:pPr>
            <a:r>
              <a:rPr kumimoji="0" sz="2350" b="0" i="0" u="none" strike="noStrike" kern="0" cap="none" spc="114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 Math"/>
                <a:cs typeface="Cambria Math"/>
              </a:rPr>
              <a:t>𝑑𝑦</a:t>
            </a:r>
            <a:r>
              <a:rPr kumimoji="0" sz="23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 Math"/>
                <a:cs typeface="Cambria Math"/>
              </a:rPr>
              <a:t>	</a:t>
            </a:r>
            <a:r>
              <a:rPr kumimoji="0" sz="2350" b="0" i="0" u="none" strike="noStrike" kern="0" cap="none" spc="1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 Math"/>
                <a:cs typeface="Cambria Math"/>
              </a:rPr>
              <a:t>𝑑𝑦</a:t>
            </a:r>
            <a:r>
              <a:rPr kumimoji="0" sz="2350" b="0" i="0" u="none" strike="noStrike" kern="0" cap="none" spc="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 Math"/>
                <a:cs typeface="Cambria Math"/>
              </a:rPr>
              <a:t> </a:t>
            </a:r>
            <a:r>
              <a:rPr kumimoji="0" sz="2350" b="0" i="0" u="none" strike="noStrike" kern="0" cap="none" spc="10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 Math"/>
                <a:cs typeface="Cambria Math"/>
              </a:rPr>
              <a:t>𝑑ℎ</a:t>
            </a:r>
            <a:r>
              <a:rPr kumimoji="0" sz="23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 Math"/>
                <a:cs typeface="Cambria Math"/>
              </a:rPr>
              <a:t>	𝑑</a:t>
            </a: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</a:t>
            </a:r>
            <a:r>
              <a:rPr kumimoji="0" sz="3150" b="0" i="0" u="none" strike="noStrike" kern="0" cap="none" spc="0" normalizeH="0" baseline="25132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</a:t>
            </a:r>
            <a:r>
              <a:rPr kumimoji="0" sz="3150" b="0" i="0" u="none" strike="noStrike" kern="0" cap="none" spc="254" normalizeH="0" baseline="25132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35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 Math"/>
                <a:cs typeface="Cambria Math"/>
              </a:rPr>
              <a:t>𝑑</a:t>
            </a:r>
            <a:r>
              <a:rPr kumimoji="0" sz="3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x</a:t>
            </a:r>
            <a:r>
              <a:rPr kumimoji="0" sz="3150" b="0" i="0" u="none" strike="noStrike" kern="0" cap="none" spc="-37" normalizeH="0" baseline="25132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</a:t>
            </a:r>
            <a:endParaRPr kumimoji="0" sz="3150" b="0" i="0" u="none" strike="noStrike" kern="0" cap="none" spc="0" normalizeH="0" baseline="25132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408940" marR="0" lvl="0" indent="0" defTabSz="914400" eaLnBrk="1" fontAlgn="auto" latinLnBrk="0" hangingPunct="1">
              <a:lnSpc>
                <a:spcPts val="28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537335" algn="l"/>
                <a:tab pos="2955925" algn="l"/>
              </a:tabLst>
              <a:defRPr/>
            </a:pPr>
            <a:r>
              <a:rPr kumimoji="0" sz="3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=</a:t>
            </a: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	</a:t>
            </a:r>
            <a:r>
              <a:rPr kumimoji="0" sz="3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=</a:t>
            </a: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	</a:t>
            </a: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 Math"/>
                <a:cs typeface="Cambria Math"/>
              </a:rPr>
              <a:t>=</a:t>
            </a:r>
            <a:r>
              <a:rPr kumimoji="0" sz="3200" b="0" i="0" u="none" strike="noStrike" kern="0" cap="none" spc="1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 Math"/>
                <a:cs typeface="Cambria Math"/>
              </a:rPr>
              <a:t> </a:t>
            </a: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</a:t>
            </a:r>
            <a:r>
              <a:rPr kumimoji="0" sz="3150" b="0" i="0" u="none" strike="noStrike" kern="0" cap="none" spc="0" normalizeH="0" baseline="25132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</a:t>
            </a:r>
            <a:r>
              <a:rPr kumimoji="0" sz="3150" b="0" i="0" u="none" strike="noStrike" kern="0" cap="none" spc="337" normalizeH="0" baseline="25132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2x=2x</a:t>
            </a:r>
            <a:r>
              <a:rPr kumimoji="0" sz="3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3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</a:t>
            </a:r>
            <a:r>
              <a:rPr kumimoji="0" sz="3150" b="0" i="0" u="none" strike="noStrike" kern="0" cap="none" spc="-37" normalizeH="0" baseline="25132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x2</a:t>
            </a:r>
            <a:endParaRPr kumimoji="0" sz="3150" b="0" i="0" u="none" strike="noStrike" kern="0" cap="none" spc="0" normalizeH="0" baseline="25132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881885" y="5519673"/>
            <a:ext cx="3507740" cy="721360"/>
            <a:chOff x="1881885" y="5519673"/>
            <a:chExt cx="3507740" cy="721360"/>
          </a:xfrm>
        </p:grpSpPr>
        <p:sp>
          <p:nvSpPr>
            <p:cNvPr id="10" name="object 10"/>
            <p:cNvSpPr/>
            <p:nvPr/>
          </p:nvSpPr>
          <p:spPr>
            <a:xfrm>
              <a:off x="1888235" y="5526023"/>
              <a:ext cx="707390" cy="701040"/>
            </a:xfrm>
            <a:custGeom>
              <a:avLst/>
              <a:gdLst/>
              <a:ahLst/>
              <a:cxnLst/>
              <a:rect l="l" t="t" r="r" b="b"/>
              <a:pathLst>
                <a:path w="707389" h="701039">
                  <a:moveTo>
                    <a:pt x="353568" y="0"/>
                  </a:moveTo>
                  <a:lnTo>
                    <a:pt x="305579" y="3199"/>
                  </a:lnTo>
                  <a:lnTo>
                    <a:pt x="259556" y="12520"/>
                  </a:lnTo>
                  <a:lnTo>
                    <a:pt x="215919" y="27545"/>
                  </a:lnTo>
                  <a:lnTo>
                    <a:pt x="175090" y="47856"/>
                  </a:lnTo>
                  <a:lnTo>
                    <a:pt x="137489" y="73035"/>
                  </a:lnTo>
                  <a:lnTo>
                    <a:pt x="103536" y="102665"/>
                  </a:lnTo>
                  <a:lnTo>
                    <a:pt x="73653" y="136327"/>
                  </a:lnTo>
                  <a:lnTo>
                    <a:pt x="48259" y="173606"/>
                  </a:lnTo>
                  <a:lnTo>
                    <a:pt x="27777" y="214082"/>
                  </a:lnTo>
                  <a:lnTo>
                    <a:pt x="12625" y="257338"/>
                  </a:lnTo>
                  <a:lnTo>
                    <a:pt x="3226" y="302956"/>
                  </a:lnTo>
                  <a:lnTo>
                    <a:pt x="0" y="350519"/>
                  </a:lnTo>
                  <a:lnTo>
                    <a:pt x="3226" y="398083"/>
                  </a:lnTo>
                  <a:lnTo>
                    <a:pt x="12625" y="443701"/>
                  </a:lnTo>
                  <a:lnTo>
                    <a:pt x="27777" y="486957"/>
                  </a:lnTo>
                  <a:lnTo>
                    <a:pt x="48260" y="527433"/>
                  </a:lnTo>
                  <a:lnTo>
                    <a:pt x="73653" y="564712"/>
                  </a:lnTo>
                  <a:lnTo>
                    <a:pt x="103536" y="598374"/>
                  </a:lnTo>
                  <a:lnTo>
                    <a:pt x="137489" y="628004"/>
                  </a:lnTo>
                  <a:lnTo>
                    <a:pt x="175090" y="653183"/>
                  </a:lnTo>
                  <a:lnTo>
                    <a:pt x="215919" y="673494"/>
                  </a:lnTo>
                  <a:lnTo>
                    <a:pt x="259556" y="688519"/>
                  </a:lnTo>
                  <a:lnTo>
                    <a:pt x="305579" y="697840"/>
                  </a:lnTo>
                  <a:lnTo>
                    <a:pt x="353568" y="701040"/>
                  </a:lnTo>
                  <a:lnTo>
                    <a:pt x="401556" y="697840"/>
                  </a:lnTo>
                  <a:lnTo>
                    <a:pt x="447579" y="688519"/>
                  </a:lnTo>
                  <a:lnTo>
                    <a:pt x="491216" y="673494"/>
                  </a:lnTo>
                  <a:lnTo>
                    <a:pt x="532045" y="653183"/>
                  </a:lnTo>
                  <a:lnTo>
                    <a:pt x="569646" y="628004"/>
                  </a:lnTo>
                  <a:lnTo>
                    <a:pt x="603599" y="598374"/>
                  </a:lnTo>
                  <a:lnTo>
                    <a:pt x="633482" y="564712"/>
                  </a:lnTo>
                  <a:lnTo>
                    <a:pt x="658876" y="527433"/>
                  </a:lnTo>
                  <a:lnTo>
                    <a:pt x="679358" y="486957"/>
                  </a:lnTo>
                  <a:lnTo>
                    <a:pt x="694510" y="443701"/>
                  </a:lnTo>
                  <a:lnTo>
                    <a:pt x="703909" y="398083"/>
                  </a:lnTo>
                  <a:lnTo>
                    <a:pt x="707136" y="350519"/>
                  </a:lnTo>
                  <a:lnTo>
                    <a:pt x="703909" y="302956"/>
                  </a:lnTo>
                  <a:lnTo>
                    <a:pt x="694510" y="257338"/>
                  </a:lnTo>
                  <a:lnTo>
                    <a:pt x="679358" y="214082"/>
                  </a:lnTo>
                  <a:lnTo>
                    <a:pt x="658876" y="173606"/>
                  </a:lnTo>
                  <a:lnTo>
                    <a:pt x="633482" y="136327"/>
                  </a:lnTo>
                  <a:lnTo>
                    <a:pt x="603599" y="102665"/>
                  </a:lnTo>
                  <a:lnTo>
                    <a:pt x="569646" y="73035"/>
                  </a:lnTo>
                  <a:lnTo>
                    <a:pt x="532045" y="47856"/>
                  </a:lnTo>
                  <a:lnTo>
                    <a:pt x="491216" y="27545"/>
                  </a:lnTo>
                  <a:lnTo>
                    <a:pt x="447579" y="12520"/>
                  </a:lnTo>
                  <a:lnTo>
                    <a:pt x="401556" y="3199"/>
                  </a:lnTo>
                  <a:lnTo>
                    <a:pt x="353568" y="0"/>
                  </a:lnTo>
                  <a:close/>
                </a:path>
              </a:pathLst>
            </a:custGeom>
            <a:solidFill>
              <a:srgbClr val="E1EFD9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1888235" y="5526023"/>
              <a:ext cx="707390" cy="701040"/>
            </a:xfrm>
            <a:custGeom>
              <a:avLst/>
              <a:gdLst/>
              <a:ahLst/>
              <a:cxnLst/>
              <a:rect l="l" t="t" r="r" b="b"/>
              <a:pathLst>
                <a:path w="707389" h="701039">
                  <a:moveTo>
                    <a:pt x="0" y="350519"/>
                  </a:moveTo>
                  <a:lnTo>
                    <a:pt x="3226" y="302956"/>
                  </a:lnTo>
                  <a:lnTo>
                    <a:pt x="12625" y="257338"/>
                  </a:lnTo>
                  <a:lnTo>
                    <a:pt x="27777" y="214082"/>
                  </a:lnTo>
                  <a:lnTo>
                    <a:pt x="48259" y="173606"/>
                  </a:lnTo>
                  <a:lnTo>
                    <a:pt x="73653" y="136327"/>
                  </a:lnTo>
                  <a:lnTo>
                    <a:pt x="103536" y="102665"/>
                  </a:lnTo>
                  <a:lnTo>
                    <a:pt x="137489" y="73035"/>
                  </a:lnTo>
                  <a:lnTo>
                    <a:pt x="175090" y="47856"/>
                  </a:lnTo>
                  <a:lnTo>
                    <a:pt x="215919" y="27545"/>
                  </a:lnTo>
                  <a:lnTo>
                    <a:pt x="259556" y="12520"/>
                  </a:lnTo>
                  <a:lnTo>
                    <a:pt x="305579" y="3199"/>
                  </a:lnTo>
                  <a:lnTo>
                    <a:pt x="353568" y="0"/>
                  </a:lnTo>
                  <a:lnTo>
                    <a:pt x="401556" y="3199"/>
                  </a:lnTo>
                  <a:lnTo>
                    <a:pt x="447579" y="12520"/>
                  </a:lnTo>
                  <a:lnTo>
                    <a:pt x="491216" y="27545"/>
                  </a:lnTo>
                  <a:lnTo>
                    <a:pt x="532045" y="47856"/>
                  </a:lnTo>
                  <a:lnTo>
                    <a:pt x="569646" y="73035"/>
                  </a:lnTo>
                  <a:lnTo>
                    <a:pt x="603599" y="102665"/>
                  </a:lnTo>
                  <a:lnTo>
                    <a:pt x="633482" y="136327"/>
                  </a:lnTo>
                  <a:lnTo>
                    <a:pt x="658876" y="173606"/>
                  </a:lnTo>
                  <a:lnTo>
                    <a:pt x="679358" y="214082"/>
                  </a:lnTo>
                  <a:lnTo>
                    <a:pt x="694510" y="257338"/>
                  </a:lnTo>
                  <a:lnTo>
                    <a:pt x="703909" y="302956"/>
                  </a:lnTo>
                  <a:lnTo>
                    <a:pt x="707136" y="350519"/>
                  </a:lnTo>
                  <a:lnTo>
                    <a:pt x="703909" y="398083"/>
                  </a:lnTo>
                  <a:lnTo>
                    <a:pt x="694510" y="443701"/>
                  </a:lnTo>
                  <a:lnTo>
                    <a:pt x="679358" y="486957"/>
                  </a:lnTo>
                  <a:lnTo>
                    <a:pt x="658876" y="527433"/>
                  </a:lnTo>
                  <a:lnTo>
                    <a:pt x="633482" y="564712"/>
                  </a:lnTo>
                  <a:lnTo>
                    <a:pt x="603599" y="598374"/>
                  </a:lnTo>
                  <a:lnTo>
                    <a:pt x="569646" y="628004"/>
                  </a:lnTo>
                  <a:lnTo>
                    <a:pt x="532045" y="653183"/>
                  </a:lnTo>
                  <a:lnTo>
                    <a:pt x="491216" y="673494"/>
                  </a:lnTo>
                  <a:lnTo>
                    <a:pt x="447579" y="688519"/>
                  </a:lnTo>
                  <a:lnTo>
                    <a:pt x="401556" y="697840"/>
                  </a:lnTo>
                  <a:lnTo>
                    <a:pt x="353568" y="701040"/>
                  </a:lnTo>
                  <a:lnTo>
                    <a:pt x="305579" y="697840"/>
                  </a:lnTo>
                  <a:lnTo>
                    <a:pt x="259556" y="688519"/>
                  </a:lnTo>
                  <a:lnTo>
                    <a:pt x="215919" y="673494"/>
                  </a:lnTo>
                  <a:lnTo>
                    <a:pt x="175090" y="653183"/>
                  </a:lnTo>
                  <a:lnTo>
                    <a:pt x="137489" y="628004"/>
                  </a:lnTo>
                  <a:lnTo>
                    <a:pt x="103536" y="598374"/>
                  </a:lnTo>
                  <a:lnTo>
                    <a:pt x="73653" y="564712"/>
                  </a:lnTo>
                  <a:lnTo>
                    <a:pt x="48260" y="527433"/>
                  </a:lnTo>
                  <a:lnTo>
                    <a:pt x="27777" y="486957"/>
                  </a:lnTo>
                  <a:lnTo>
                    <a:pt x="12625" y="443701"/>
                  </a:lnTo>
                  <a:lnTo>
                    <a:pt x="3226" y="398083"/>
                  </a:lnTo>
                  <a:lnTo>
                    <a:pt x="0" y="350519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3634739" y="5535167"/>
              <a:ext cx="708660" cy="699770"/>
            </a:xfrm>
            <a:custGeom>
              <a:avLst/>
              <a:gdLst/>
              <a:ahLst/>
              <a:cxnLst/>
              <a:rect l="l" t="t" r="r" b="b"/>
              <a:pathLst>
                <a:path w="708660" h="699770">
                  <a:moveTo>
                    <a:pt x="354330" y="0"/>
                  </a:moveTo>
                  <a:lnTo>
                    <a:pt x="306246" y="3192"/>
                  </a:lnTo>
                  <a:lnTo>
                    <a:pt x="260129" y="12493"/>
                  </a:lnTo>
                  <a:lnTo>
                    <a:pt x="216402" y="27485"/>
                  </a:lnTo>
                  <a:lnTo>
                    <a:pt x="175485" y="47751"/>
                  </a:lnTo>
                  <a:lnTo>
                    <a:pt x="137802" y="72876"/>
                  </a:lnTo>
                  <a:lnTo>
                    <a:pt x="103774" y="102441"/>
                  </a:lnTo>
                  <a:lnTo>
                    <a:pt x="73824" y="136030"/>
                  </a:lnTo>
                  <a:lnTo>
                    <a:pt x="48372" y="173227"/>
                  </a:lnTo>
                  <a:lnTo>
                    <a:pt x="27842" y="213615"/>
                  </a:lnTo>
                  <a:lnTo>
                    <a:pt x="12655" y="256778"/>
                  </a:lnTo>
                  <a:lnTo>
                    <a:pt x="3234" y="302297"/>
                  </a:lnTo>
                  <a:lnTo>
                    <a:pt x="0" y="349757"/>
                  </a:lnTo>
                  <a:lnTo>
                    <a:pt x="3234" y="397218"/>
                  </a:lnTo>
                  <a:lnTo>
                    <a:pt x="12655" y="442737"/>
                  </a:lnTo>
                  <a:lnTo>
                    <a:pt x="27842" y="485900"/>
                  </a:lnTo>
                  <a:lnTo>
                    <a:pt x="48372" y="526287"/>
                  </a:lnTo>
                  <a:lnTo>
                    <a:pt x="73824" y="563485"/>
                  </a:lnTo>
                  <a:lnTo>
                    <a:pt x="103774" y="597074"/>
                  </a:lnTo>
                  <a:lnTo>
                    <a:pt x="137802" y="626639"/>
                  </a:lnTo>
                  <a:lnTo>
                    <a:pt x="175485" y="651763"/>
                  </a:lnTo>
                  <a:lnTo>
                    <a:pt x="216402" y="672030"/>
                  </a:lnTo>
                  <a:lnTo>
                    <a:pt x="260129" y="687022"/>
                  </a:lnTo>
                  <a:lnTo>
                    <a:pt x="306246" y="696323"/>
                  </a:lnTo>
                  <a:lnTo>
                    <a:pt x="354330" y="699515"/>
                  </a:lnTo>
                  <a:lnTo>
                    <a:pt x="402413" y="696323"/>
                  </a:lnTo>
                  <a:lnTo>
                    <a:pt x="448530" y="687022"/>
                  </a:lnTo>
                  <a:lnTo>
                    <a:pt x="492257" y="672030"/>
                  </a:lnTo>
                  <a:lnTo>
                    <a:pt x="533174" y="651763"/>
                  </a:lnTo>
                  <a:lnTo>
                    <a:pt x="570857" y="626639"/>
                  </a:lnTo>
                  <a:lnTo>
                    <a:pt x="604885" y="597074"/>
                  </a:lnTo>
                  <a:lnTo>
                    <a:pt x="634835" y="563485"/>
                  </a:lnTo>
                  <a:lnTo>
                    <a:pt x="660287" y="526287"/>
                  </a:lnTo>
                  <a:lnTo>
                    <a:pt x="680817" y="485900"/>
                  </a:lnTo>
                  <a:lnTo>
                    <a:pt x="696004" y="442737"/>
                  </a:lnTo>
                  <a:lnTo>
                    <a:pt x="705425" y="397218"/>
                  </a:lnTo>
                  <a:lnTo>
                    <a:pt x="708660" y="349757"/>
                  </a:lnTo>
                  <a:lnTo>
                    <a:pt x="705425" y="302297"/>
                  </a:lnTo>
                  <a:lnTo>
                    <a:pt x="696004" y="256778"/>
                  </a:lnTo>
                  <a:lnTo>
                    <a:pt x="680817" y="213615"/>
                  </a:lnTo>
                  <a:lnTo>
                    <a:pt x="660287" y="173227"/>
                  </a:lnTo>
                  <a:lnTo>
                    <a:pt x="634835" y="136030"/>
                  </a:lnTo>
                  <a:lnTo>
                    <a:pt x="604885" y="102441"/>
                  </a:lnTo>
                  <a:lnTo>
                    <a:pt x="570857" y="72876"/>
                  </a:lnTo>
                  <a:lnTo>
                    <a:pt x="533174" y="47751"/>
                  </a:lnTo>
                  <a:lnTo>
                    <a:pt x="492257" y="27485"/>
                  </a:lnTo>
                  <a:lnTo>
                    <a:pt x="448530" y="12493"/>
                  </a:lnTo>
                  <a:lnTo>
                    <a:pt x="402413" y="3192"/>
                  </a:lnTo>
                  <a:lnTo>
                    <a:pt x="354330" y="0"/>
                  </a:lnTo>
                  <a:close/>
                </a:path>
              </a:pathLst>
            </a:custGeom>
            <a:solidFill>
              <a:srgbClr val="E1EFD9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3634739" y="5535167"/>
              <a:ext cx="708660" cy="699770"/>
            </a:xfrm>
            <a:custGeom>
              <a:avLst/>
              <a:gdLst/>
              <a:ahLst/>
              <a:cxnLst/>
              <a:rect l="l" t="t" r="r" b="b"/>
              <a:pathLst>
                <a:path w="708660" h="699770">
                  <a:moveTo>
                    <a:pt x="0" y="349757"/>
                  </a:moveTo>
                  <a:lnTo>
                    <a:pt x="3234" y="302297"/>
                  </a:lnTo>
                  <a:lnTo>
                    <a:pt x="12655" y="256778"/>
                  </a:lnTo>
                  <a:lnTo>
                    <a:pt x="27842" y="213615"/>
                  </a:lnTo>
                  <a:lnTo>
                    <a:pt x="48372" y="173227"/>
                  </a:lnTo>
                  <a:lnTo>
                    <a:pt x="73824" y="136030"/>
                  </a:lnTo>
                  <a:lnTo>
                    <a:pt x="103774" y="102441"/>
                  </a:lnTo>
                  <a:lnTo>
                    <a:pt x="137802" y="72876"/>
                  </a:lnTo>
                  <a:lnTo>
                    <a:pt x="175485" y="47751"/>
                  </a:lnTo>
                  <a:lnTo>
                    <a:pt x="216402" y="27485"/>
                  </a:lnTo>
                  <a:lnTo>
                    <a:pt x="260129" y="12493"/>
                  </a:lnTo>
                  <a:lnTo>
                    <a:pt x="306246" y="3192"/>
                  </a:lnTo>
                  <a:lnTo>
                    <a:pt x="354330" y="0"/>
                  </a:lnTo>
                  <a:lnTo>
                    <a:pt x="402413" y="3192"/>
                  </a:lnTo>
                  <a:lnTo>
                    <a:pt x="448530" y="12493"/>
                  </a:lnTo>
                  <a:lnTo>
                    <a:pt x="492257" y="27485"/>
                  </a:lnTo>
                  <a:lnTo>
                    <a:pt x="533174" y="47751"/>
                  </a:lnTo>
                  <a:lnTo>
                    <a:pt x="570857" y="72876"/>
                  </a:lnTo>
                  <a:lnTo>
                    <a:pt x="604885" y="102441"/>
                  </a:lnTo>
                  <a:lnTo>
                    <a:pt x="634835" y="136030"/>
                  </a:lnTo>
                  <a:lnTo>
                    <a:pt x="660287" y="173227"/>
                  </a:lnTo>
                  <a:lnTo>
                    <a:pt x="680817" y="213615"/>
                  </a:lnTo>
                  <a:lnTo>
                    <a:pt x="696004" y="256778"/>
                  </a:lnTo>
                  <a:lnTo>
                    <a:pt x="705425" y="302297"/>
                  </a:lnTo>
                  <a:lnTo>
                    <a:pt x="708660" y="349757"/>
                  </a:lnTo>
                  <a:lnTo>
                    <a:pt x="705425" y="397218"/>
                  </a:lnTo>
                  <a:lnTo>
                    <a:pt x="696004" y="442737"/>
                  </a:lnTo>
                  <a:lnTo>
                    <a:pt x="680817" y="485900"/>
                  </a:lnTo>
                  <a:lnTo>
                    <a:pt x="660287" y="526287"/>
                  </a:lnTo>
                  <a:lnTo>
                    <a:pt x="634835" y="563485"/>
                  </a:lnTo>
                  <a:lnTo>
                    <a:pt x="604885" y="597074"/>
                  </a:lnTo>
                  <a:lnTo>
                    <a:pt x="570857" y="626639"/>
                  </a:lnTo>
                  <a:lnTo>
                    <a:pt x="533174" y="651763"/>
                  </a:lnTo>
                  <a:lnTo>
                    <a:pt x="492257" y="672030"/>
                  </a:lnTo>
                  <a:lnTo>
                    <a:pt x="448530" y="687022"/>
                  </a:lnTo>
                  <a:lnTo>
                    <a:pt x="402413" y="696323"/>
                  </a:lnTo>
                  <a:lnTo>
                    <a:pt x="354330" y="699515"/>
                  </a:lnTo>
                  <a:lnTo>
                    <a:pt x="306246" y="696323"/>
                  </a:lnTo>
                  <a:lnTo>
                    <a:pt x="260129" y="687022"/>
                  </a:lnTo>
                  <a:lnTo>
                    <a:pt x="216402" y="672030"/>
                  </a:lnTo>
                  <a:lnTo>
                    <a:pt x="175485" y="651763"/>
                  </a:lnTo>
                  <a:lnTo>
                    <a:pt x="137802" y="626639"/>
                  </a:lnTo>
                  <a:lnTo>
                    <a:pt x="103774" y="597074"/>
                  </a:lnTo>
                  <a:lnTo>
                    <a:pt x="73824" y="563485"/>
                  </a:lnTo>
                  <a:lnTo>
                    <a:pt x="48372" y="526287"/>
                  </a:lnTo>
                  <a:lnTo>
                    <a:pt x="27842" y="485900"/>
                  </a:lnTo>
                  <a:lnTo>
                    <a:pt x="12655" y="442737"/>
                  </a:lnTo>
                  <a:lnTo>
                    <a:pt x="3234" y="397218"/>
                  </a:lnTo>
                  <a:lnTo>
                    <a:pt x="0" y="349757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2595371" y="5751575"/>
              <a:ext cx="1039494" cy="256540"/>
            </a:xfrm>
            <a:custGeom>
              <a:avLst/>
              <a:gdLst/>
              <a:ahLst/>
              <a:cxnLst/>
              <a:rect l="l" t="t" r="r" b="b"/>
              <a:pathLst>
                <a:path w="1039495" h="256539">
                  <a:moveTo>
                    <a:pt x="911351" y="0"/>
                  </a:moveTo>
                  <a:lnTo>
                    <a:pt x="911351" y="64008"/>
                  </a:lnTo>
                  <a:lnTo>
                    <a:pt x="0" y="64008"/>
                  </a:lnTo>
                  <a:lnTo>
                    <a:pt x="0" y="192024"/>
                  </a:lnTo>
                  <a:lnTo>
                    <a:pt x="911351" y="192024"/>
                  </a:lnTo>
                  <a:lnTo>
                    <a:pt x="911351" y="256032"/>
                  </a:lnTo>
                  <a:lnTo>
                    <a:pt x="1039367" y="128015"/>
                  </a:lnTo>
                  <a:lnTo>
                    <a:pt x="911351" y="0"/>
                  </a:lnTo>
                  <a:close/>
                </a:path>
              </a:pathLst>
            </a:custGeom>
            <a:solidFill>
              <a:srgbClr val="DEEBF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2595371" y="5751575"/>
              <a:ext cx="1039494" cy="256540"/>
            </a:xfrm>
            <a:custGeom>
              <a:avLst/>
              <a:gdLst/>
              <a:ahLst/>
              <a:cxnLst/>
              <a:rect l="l" t="t" r="r" b="b"/>
              <a:pathLst>
                <a:path w="1039495" h="256539">
                  <a:moveTo>
                    <a:pt x="0" y="64008"/>
                  </a:moveTo>
                  <a:lnTo>
                    <a:pt x="911351" y="64008"/>
                  </a:lnTo>
                  <a:lnTo>
                    <a:pt x="911351" y="0"/>
                  </a:lnTo>
                  <a:lnTo>
                    <a:pt x="1039367" y="128015"/>
                  </a:lnTo>
                  <a:lnTo>
                    <a:pt x="911351" y="256032"/>
                  </a:lnTo>
                  <a:lnTo>
                    <a:pt x="911351" y="192024"/>
                  </a:lnTo>
                  <a:lnTo>
                    <a:pt x="0" y="192024"/>
                  </a:lnTo>
                  <a:lnTo>
                    <a:pt x="0" y="64008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4343400" y="5775959"/>
              <a:ext cx="1039494" cy="256540"/>
            </a:xfrm>
            <a:custGeom>
              <a:avLst/>
              <a:gdLst/>
              <a:ahLst/>
              <a:cxnLst/>
              <a:rect l="l" t="t" r="r" b="b"/>
              <a:pathLst>
                <a:path w="1039495" h="256539">
                  <a:moveTo>
                    <a:pt x="911351" y="0"/>
                  </a:moveTo>
                  <a:lnTo>
                    <a:pt x="911351" y="64007"/>
                  </a:lnTo>
                  <a:lnTo>
                    <a:pt x="0" y="64007"/>
                  </a:lnTo>
                  <a:lnTo>
                    <a:pt x="0" y="192023"/>
                  </a:lnTo>
                  <a:lnTo>
                    <a:pt x="911351" y="192023"/>
                  </a:lnTo>
                  <a:lnTo>
                    <a:pt x="911351" y="256031"/>
                  </a:lnTo>
                  <a:lnTo>
                    <a:pt x="1039367" y="128015"/>
                  </a:lnTo>
                  <a:lnTo>
                    <a:pt x="911351" y="0"/>
                  </a:lnTo>
                  <a:close/>
                </a:path>
              </a:pathLst>
            </a:custGeom>
            <a:solidFill>
              <a:srgbClr val="DAE2F3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4343400" y="5775959"/>
              <a:ext cx="1039494" cy="256540"/>
            </a:xfrm>
            <a:custGeom>
              <a:avLst/>
              <a:gdLst/>
              <a:ahLst/>
              <a:cxnLst/>
              <a:rect l="l" t="t" r="r" b="b"/>
              <a:pathLst>
                <a:path w="1039495" h="256539">
                  <a:moveTo>
                    <a:pt x="0" y="64007"/>
                  </a:moveTo>
                  <a:lnTo>
                    <a:pt x="911351" y="64007"/>
                  </a:lnTo>
                  <a:lnTo>
                    <a:pt x="911351" y="0"/>
                  </a:lnTo>
                  <a:lnTo>
                    <a:pt x="1039367" y="128015"/>
                  </a:lnTo>
                  <a:lnTo>
                    <a:pt x="911351" y="256031"/>
                  </a:lnTo>
                  <a:lnTo>
                    <a:pt x="911351" y="192023"/>
                  </a:lnTo>
                  <a:lnTo>
                    <a:pt x="0" y="192023"/>
                  </a:lnTo>
                  <a:lnTo>
                    <a:pt x="0" y="64007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846703" y="5687059"/>
            <a:ext cx="3562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exp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397375" y="5423103"/>
            <a:ext cx="104521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Y=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f(h)=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</a:t>
            </a:r>
            <a:r>
              <a:rPr kumimoji="0" sz="1800" b="0" i="0" u="none" strike="noStrike" kern="0" cap="none" spc="-37" normalizeH="0" baseline="25462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</a:t>
            </a:r>
            <a:endParaRPr kumimoji="0" sz="1800" b="0" i="0" u="none" strike="noStrike" kern="0" cap="none" spc="0" normalizeH="0" baseline="25462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505322" y="5354523"/>
            <a:ext cx="511809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=</a:t>
            </a:r>
            <a:r>
              <a:rPr kumimoji="0" sz="1200" b="0" i="0" u="none" strike="noStrike" kern="0" cap="none" spc="1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 </a:t>
            </a:r>
            <a:r>
              <a:rPr kumimoji="0" sz="2700" b="0" i="0" u="none" strike="noStrike" kern="0" cap="none" spc="-37" normalizeH="0" baseline="-16975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</a:t>
            </a:r>
            <a:r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x2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513710" y="5507228"/>
            <a:ext cx="48768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h=x</a:t>
            </a:r>
            <a:r>
              <a:rPr kumimoji="0" sz="1800" b="0" i="0" u="none" strike="noStrike" kern="0" cap="none" spc="-30" normalizeH="0" baseline="25462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</a:t>
            </a:r>
            <a:endParaRPr kumimoji="0" sz="1800" b="0" i="0" u="none" strike="noStrike" kern="0" cap="none" spc="0" normalizeH="0" baseline="25462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96342" y="5547105"/>
            <a:ext cx="1739900" cy="713740"/>
            <a:chOff x="196342" y="5547105"/>
            <a:chExt cx="1739900" cy="713740"/>
          </a:xfrm>
        </p:grpSpPr>
        <p:sp>
          <p:nvSpPr>
            <p:cNvPr id="23" name="object 23"/>
            <p:cNvSpPr/>
            <p:nvPr/>
          </p:nvSpPr>
          <p:spPr>
            <a:xfrm>
              <a:off x="890015" y="5775959"/>
              <a:ext cx="1039494" cy="256540"/>
            </a:xfrm>
            <a:custGeom>
              <a:avLst/>
              <a:gdLst/>
              <a:ahLst/>
              <a:cxnLst/>
              <a:rect l="l" t="t" r="r" b="b"/>
              <a:pathLst>
                <a:path w="1039494" h="256539">
                  <a:moveTo>
                    <a:pt x="911352" y="0"/>
                  </a:moveTo>
                  <a:lnTo>
                    <a:pt x="911352" y="64007"/>
                  </a:lnTo>
                  <a:lnTo>
                    <a:pt x="0" y="64007"/>
                  </a:lnTo>
                  <a:lnTo>
                    <a:pt x="0" y="192023"/>
                  </a:lnTo>
                  <a:lnTo>
                    <a:pt x="911352" y="192023"/>
                  </a:lnTo>
                  <a:lnTo>
                    <a:pt x="911352" y="256031"/>
                  </a:lnTo>
                  <a:lnTo>
                    <a:pt x="1039367" y="128015"/>
                  </a:lnTo>
                  <a:lnTo>
                    <a:pt x="911352" y="0"/>
                  </a:lnTo>
                  <a:close/>
                </a:path>
              </a:pathLst>
            </a:custGeom>
            <a:solidFill>
              <a:srgbClr val="DEEBF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4" name="object 24"/>
            <p:cNvSpPr/>
            <p:nvPr/>
          </p:nvSpPr>
          <p:spPr>
            <a:xfrm>
              <a:off x="890015" y="5775959"/>
              <a:ext cx="1039494" cy="256540"/>
            </a:xfrm>
            <a:custGeom>
              <a:avLst/>
              <a:gdLst/>
              <a:ahLst/>
              <a:cxnLst/>
              <a:rect l="l" t="t" r="r" b="b"/>
              <a:pathLst>
                <a:path w="1039494" h="256539">
                  <a:moveTo>
                    <a:pt x="0" y="64007"/>
                  </a:moveTo>
                  <a:lnTo>
                    <a:pt x="911352" y="64007"/>
                  </a:lnTo>
                  <a:lnTo>
                    <a:pt x="911352" y="0"/>
                  </a:lnTo>
                  <a:lnTo>
                    <a:pt x="1039367" y="128015"/>
                  </a:lnTo>
                  <a:lnTo>
                    <a:pt x="911352" y="256031"/>
                  </a:lnTo>
                  <a:lnTo>
                    <a:pt x="911352" y="192023"/>
                  </a:lnTo>
                  <a:lnTo>
                    <a:pt x="0" y="192023"/>
                  </a:lnTo>
                  <a:lnTo>
                    <a:pt x="0" y="64007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5" name="object 25"/>
            <p:cNvSpPr/>
            <p:nvPr/>
          </p:nvSpPr>
          <p:spPr>
            <a:xfrm>
              <a:off x="202692" y="5553455"/>
              <a:ext cx="708660" cy="701040"/>
            </a:xfrm>
            <a:custGeom>
              <a:avLst/>
              <a:gdLst/>
              <a:ahLst/>
              <a:cxnLst/>
              <a:rect l="l" t="t" r="r" b="b"/>
              <a:pathLst>
                <a:path w="708660" h="701039">
                  <a:moveTo>
                    <a:pt x="354330" y="0"/>
                  </a:moveTo>
                  <a:lnTo>
                    <a:pt x="306248" y="3199"/>
                  </a:lnTo>
                  <a:lnTo>
                    <a:pt x="260133" y="12520"/>
                  </a:lnTo>
                  <a:lnTo>
                    <a:pt x="216407" y="27545"/>
                  </a:lnTo>
                  <a:lnTo>
                    <a:pt x="175491" y="47856"/>
                  </a:lnTo>
                  <a:lnTo>
                    <a:pt x="137808" y="73035"/>
                  </a:lnTo>
                  <a:lnTo>
                    <a:pt x="103779" y="102665"/>
                  </a:lnTo>
                  <a:lnTo>
                    <a:pt x="73828" y="136327"/>
                  </a:lnTo>
                  <a:lnTo>
                    <a:pt x="48375" y="173606"/>
                  </a:lnTo>
                  <a:lnTo>
                    <a:pt x="27844" y="214082"/>
                  </a:lnTo>
                  <a:lnTo>
                    <a:pt x="12656" y="257338"/>
                  </a:lnTo>
                  <a:lnTo>
                    <a:pt x="3234" y="302956"/>
                  </a:lnTo>
                  <a:lnTo>
                    <a:pt x="0" y="350520"/>
                  </a:lnTo>
                  <a:lnTo>
                    <a:pt x="3234" y="398083"/>
                  </a:lnTo>
                  <a:lnTo>
                    <a:pt x="12656" y="443701"/>
                  </a:lnTo>
                  <a:lnTo>
                    <a:pt x="27844" y="486957"/>
                  </a:lnTo>
                  <a:lnTo>
                    <a:pt x="48375" y="527433"/>
                  </a:lnTo>
                  <a:lnTo>
                    <a:pt x="73828" y="564712"/>
                  </a:lnTo>
                  <a:lnTo>
                    <a:pt x="103779" y="598374"/>
                  </a:lnTo>
                  <a:lnTo>
                    <a:pt x="137808" y="628004"/>
                  </a:lnTo>
                  <a:lnTo>
                    <a:pt x="175491" y="653183"/>
                  </a:lnTo>
                  <a:lnTo>
                    <a:pt x="216407" y="673494"/>
                  </a:lnTo>
                  <a:lnTo>
                    <a:pt x="260133" y="688519"/>
                  </a:lnTo>
                  <a:lnTo>
                    <a:pt x="306248" y="697840"/>
                  </a:lnTo>
                  <a:lnTo>
                    <a:pt x="354330" y="701040"/>
                  </a:lnTo>
                  <a:lnTo>
                    <a:pt x="402411" y="697840"/>
                  </a:lnTo>
                  <a:lnTo>
                    <a:pt x="448526" y="688519"/>
                  </a:lnTo>
                  <a:lnTo>
                    <a:pt x="492252" y="673494"/>
                  </a:lnTo>
                  <a:lnTo>
                    <a:pt x="533168" y="653183"/>
                  </a:lnTo>
                  <a:lnTo>
                    <a:pt x="570851" y="628004"/>
                  </a:lnTo>
                  <a:lnTo>
                    <a:pt x="604880" y="598374"/>
                  </a:lnTo>
                  <a:lnTo>
                    <a:pt x="634831" y="564712"/>
                  </a:lnTo>
                  <a:lnTo>
                    <a:pt x="660284" y="527433"/>
                  </a:lnTo>
                  <a:lnTo>
                    <a:pt x="680815" y="486957"/>
                  </a:lnTo>
                  <a:lnTo>
                    <a:pt x="696003" y="443701"/>
                  </a:lnTo>
                  <a:lnTo>
                    <a:pt x="705425" y="398083"/>
                  </a:lnTo>
                  <a:lnTo>
                    <a:pt x="708660" y="350520"/>
                  </a:lnTo>
                  <a:lnTo>
                    <a:pt x="705425" y="302956"/>
                  </a:lnTo>
                  <a:lnTo>
                    <a:pt x="696003" y="257338"/>
                  </a:lnTo>
                  <a:lnTo>
                    <a:pt x="680815" y="214082"/>
                  </a:lnTo>
                  <a:lnTo>
                    <a:pt x="660284" y="173606"/>
                  </a:lnTo>
                  <a:lnTo>
                    <a:pt x="634831" y="136327"/>
                  </a:lnTo>
                  <a:lnTo>
                    <a:pt x="604880" y="102665"/>
                  </a:lnTo>
                  <a:lnTo>
                    <a:pt x="570851" y="73035"/>
                  </a:lnTo>
                  <a:lnTo>
                    <a:pt x="533168" y="47856"/>
                  </a:lnTo>
                  <a:lnTo>
                    <a:pt x="492252" y="27545"/>
                  </a:lnTo>
                  <a:lnTo>
                    <a:pt x="448526" y="12520"/>
                  </a:lnTo>
                  <a:lnTo>
                    <a:pt x="402411" y="3199"/>
                  </a:lnTo>
                  <a:lnTo>
                    <a:pt x="354330" y="0"/>
                  </a:lnTo>
                  <a:close/>
                </a:path>
              </a:pathLst>
            </a:custGeom>
            <a:solidFill>
              <a:srgbClr val="E1EFD9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6" name="object 26"/>
            <p:cNvSpPr/>
            <p:nvPr/>
          </p:nvSpPr>
          <p:spPr>
            <a:xfrm>
              <a:off x="202692" y="5553455"/>
              <a:ext cx="708660" cy="701040"/>
            </a:xfrm>
            <a:custGeom>
              <a:avLst/>
              <a:gdLst/>
              <a:ahLst/>
              <a:cxnLst/>
              <a:rect l="l" t="t" r="r" b="b"/>
              <a:pathLst>
                <a:path w="708660" h="701039">
                  <a:moveTo>
                    <a:pt x="0" y="350520"/>
                  </a:moveTo>
                  <a:lnTo>
                    <a:pt x="3234" y="302956"/>
                  </a:lnTo>
                  <a:lnTo>
                    <a:pt x="12656" y="257338"/>
                  </a:lnTo>
                  <a:lnTo>
                    <a:pt x="27844" y="214082"/>
                  </a:lnTo>
                  <a:lnTo>
                    <a:pt x="48375" y="173606"/>
                  </a:lnTo>
                  <a:lnTo>
                    <a:pt x="73828" y="136327"/>
                  </a:lnTo>
                  <a:lnTo>
                    <a:pt x="103779" y="102665"/>
                  </a:lnTo>
                  <a:lnTo>
                    <a:pt x="137808" y="73035"/>
                  </a:lnTo>
                  <a:lnTo>
                    <a:pt x="175491" y="47856"/>
                  </a:lnTo>
                  <a:lnTo>
                    <a:pt x="216407" y="27545"/>
                  </a:lnTo>
                  <a:lnTo>
                    <a:pt x="260133" y="12520"/>
                  </a:lnTo>
                  <a:lnTo>
                    <a:pt x="306248" y="3199"/>
                  </a:lnTo>
                  <a:lnTo>
                    <a:pt x="354330" y="0"/>
                  </a:lnTo>
                  <a:lnTo>
                    <a:pt x="402411" y="3199"/>
                  </a:lnTo>
                  <a:lnTo>
                    <a:pt x="448526" y="12520"/>
                  </a:lnTo>
                  <a:lnTo>
                    <a:pt x="492252" y="27545"/>
                  </a:lnTo>
                  <a:lnTo>
                    <a:pt x="533168" y="47856"/>
                  </a:lnTo>
                  <a:lnTo>
                    <a:pt x="570851" y="73035"/>
                  </a:lnTo>
                  <a:lnTo>
                    <a:pt x="604880" y="102665"/>
                  </a:lnTo>
                  <a:lnTo>
                    <a:pt x="634831" y="136327"/>
                  </a:lnTo>
                  <a:lnTo>
                    <a:pt x="660284" y="173606"/>
                  </a:lnTo>
                  <a:lnTo>
                    <a:pt x="680815" y="214082"/>
                  </a:lnTo>
                  <a:lnTo>
                    <a:pt x="696003" y="257338"/>
                  </a:lnTo>
                  <a:lnTo>
                    <a:pt x="705425" y="302956"/>
                  </a:lnTo>
                  <a:lnTo>
                    <a:pt x="708660" y="350520"/>
                  </a:lnTo>
                  <a:lnTo>
                    <a:pt x="705425" y="398083"/>
                  </a:lnTo>
                  <a:lnTo>
                    <a:pt x="696003" y="443701"/>
                  </a:lnTo>
                  <a:lnTo>
                    <a:pt x="680815" y="486957"/>
                  </a:lnTo>
                  <a:lnTo>
                    <a:pt x="660284" y="527433"/>
                  </a:lnTo>
                  <a:lnTo>
                    <a:pt x="634831" y="564712"/>
                  </a:lnTo>
                  <a:lnTo>
                    <a:pt x="604880" y="598374"/>
                  </a:lnTo>
                  <a:lnTo>
                    <a:pt x="570851" y="628004"/>
                  </a:lnTo>
                  <a:lnTo>
                    <a:pt x="533168" y="653183"/>
                  </a:lnTo>
                  <a:lnTo>
                    <a:pt x="492252" y="673494"/>
                  </a:lnTo>
                  <a:lnTo>
                    <a:pt x="448526" y="688519"/>
                  </a:lnTo>
                  <a:lnTo>
                    <a:pt x="402411" y="697840"/>
                  </a:lnTo>
                  <a:lnTo>
                    <a:pt x="354330" y="701040"/>
                  </a:lnTo>
                  <a:lnTo>
                    <a:pt x="306248" y="697840"/>
                  </a:lnTo>
                  <a:lnTo>
                    <a:pt x="260133" y="688519"/>
                  </a:lnTo>
                  <a:lnTo>
                    <a:pt x="216407" y="673494"/>
                  </a:lnTo>
                  <a:lnTo>
                    <a:pt x="175491" y="653183"/>
                  </a:lnTo>
                  <a:lnTo>
                    <a:pt x="137808" y="628004"/>
                  </a:lnTo>
                  <a:lnTo>
                    <a:pt x="103779" y="598374"/>
                  </a:lnTo>
                  <a:lnTo>
                    <a:pt x="73828" y="564712"/>
                  </a:lnTo>
                  <a:lnTo>
                    <a:pt x="48375" y="527433"/>
                  </a:lnTo>
                  <a:lnTo>
                    <a:pt x="27844" y="486957"/>
                  </a:lnTo>
                  <a:lnTo>
                    <a:pt x="12656" y="443701"/>
                  </a:lnTo>
                  <a:lnTo>
                    <a:pt x="3234" y="398083"/>
                  </a:lnTo>
                  <a:lnTo>
                    <a:pt x="0" y="350520"/>
                  </a:lnTo>
                  <a:close/>
                </a:path>
              </a:pathLst>
            </a:custGeom>
            <a:ln w="12699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1014780" y="5523382"/>
            <a:ext cx="1244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x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052954" y="5640425"/>
            <a:ext cx="3155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sqr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328028" y="276605"/>
            <a:ext cx="5789930" cy="84264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ct val="98900"/>
              </a:lnSpc>
              <a:spcBef>
                <a:spcPts val="1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chain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rule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1800" b="1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method</a:t>
            </a:r>
            <a:r>
              <a:rPr kumimoji="0" sz="1800" b="1" i="0" u="none" strike="noStrike" kern="0" cap="none" spc="-3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for</a:t>
            </a:r>
            <a:r>
              <a:rPr kumimoji="0" sz="1800" b="1" i="0" u="none" strike="noStrike" kern="0" cap="none" spc="-3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finding</a:t>
            </a:r>
            <a:r>
              <a:rPr kumimoji="0" sz="1800" b="1" i="0" u="none" strike="noStrike" kern="0" cap="none" spc="-5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1800" b="1" i="0" u="none" strike="noStrike" kern="0" cap="none" spc="-3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derivative</a:t>
            </a:r>
            <a:r>
              <a:rPr kumimoji="0" sz="1800" b="1" i="0" u="none" strike="noStrike" kern="0" cap="none" spc="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of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composite</a:t>
            </a:r>
            <a:r>
              <a:rPr kumimoji="0" sz="1800" b="1" i="0" u="none" strike="noStrike" kern="0" cap="none" spc="-3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functions,</a:t>
            </a:r>
            <a:r>
              <a:rPr kumimoji="0" sz="1800" b="1" i="0" u="none" strike="noStrike" kern="0" cap="none" spc="-5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or</a:t>
            </a:r>
            <a:r>
              <a:rPr kumimoji="0" sz="1800" b="1" i="0" u="none" strike="noStrike" kern="0" cap="none" spc="-3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functions</a:t>
            </a:r>
            <a:r>
              <a:rPr kumimoji="0" sz="1800" b="1" i="0" u="none" strike="noStrike" kern="0" cap="none" spc="-5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that</a:t>
            </a:r>
            <a:r>
              <a:rPr kumimoji="0" sz="1800" b="1" i="0" u="none" strike="noStrike" kern="0" cap="none" spc="-3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are</a:t>
            </a:r>
            <a:r>
              <a:rPr kumimoji="0" sz="1800" b="1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made</a:t>
            </a:r>
            <a:r>
              <a:rPr kumimoji="0" sz="1800" b="1" i="0" u="none" strike="noStrike" kern="0" cap="none" spc="-3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by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combining</a:t>
            </a:r>
            <a:r>
              <a:rPr kumimoji="0" sz="1800" b="1" i="0" u="none" strike="noStrike" kern="0" cap="none" spc="-3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one</a:t>
            </a:r>
            <a:r>
              <a:rPr kumimoji="0" sz="1800" b="1" i="0" u="none" strike="noStrike" kern="0" cap="none" spc="-2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or</a:t>
            </a:r>
            <a:r>
              <a:rPr kumimoji="0" sz="1800" b="1" i="0" u="none" strike="noStrike" kern="0" cap="none" spc="-1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more</a:t>
            </a:r>
            <a:r>
              <a:rPr kumimoji="0" sz="1800" b="1" i="0" u="none" strike="noStrike" kern="0" cap="none" spc="-1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1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functions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.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705602" y="74422"/>
            <a:ext cx="5205095" cy="1311275"/>
            <a:chOff x="5705602" y="74422"/>
            <a:chExt cx="5205095" cy="1311275"/>
          </a:xfrm>
        </p:grpSpPr>
        <p:sp>
          <p:nvSpPr>
            <p:cNvPr id="3" name="object 3"/>
            <p:cNvSpPr/>
            <p:nvPr/>
          </p:nvSpPr>
          <p:spPr>
            <a:xfrm>
              <a:off x="5731002" y="99822"/>
              <a:ext cx="5154295" cy="1260475"/>
            </a:xfrm>
            <a:custGeom>
              <a:avLst/>
              <a:gdLst/>
              <a:ahLst/>
              <a:cxnLst/>
              <a:rect l="l" t="t" r="r" b="b"/>
              <a:pathLst>
                <a:path w="5154295" h="1260475">
                  <a:moveTo>
                    <a:pt x="0" y="1260348"/>
                  </a:moveTo>
                  <a:lnTo>
                    <a:pt x="5154167" y="1260348"/>
                  </a:lnTo>
                  <a:lnTo>
                    <a:pt x="5154167" y="0"/>
                  </a:lnTo>
                  <a:lnTo>
                    <a:pt x="0" y="0"/>
                  </a:lnTo>
                  <a:lnTo>
                    <a:pt x="0" y="1260348"/>
                  </a:lnTo>
                  <a:close/>
                </a:path>
              </a:pathLst>
            </a:custGeom>
            <a:ln w="50800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25118" y="336855"/>
              <a:ext cx="1123258" cy="75272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02490" y="288862"/>
              <a:ext cx="877045" cy="83876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65285" y="396270"/>
              <a:ext cx="1200485" cy="781365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3337" rIns="0" bIns="0" rtlCol="0">
            <a:spAutoFit/>
          </a:bodyPr>
          <a:lstStyle/>
          <a:p>
            <a:pPr marL="850265">
              <a:lnSpc>
                <a:spcPct val="100000"/>
              </a:lnSpc>
              <a:spcBef>
                <a:spcPts val="95"/>
              </a:spcBef>
            </a:pPr>
            <a:r>
              <a:rPr b="0" dirty="0">
                <a:latin typeface="Calibri Light"/>
                <a:cs typeface="Calibri Light"/>
              </a:rPr>
              <a:t>Chain</a:t>
            </a:r>
            <a:r>
              <a:rPr b="0" spc="-210" dirty="0">
                <a:latin typeface="Calibri Light"/>
                <a:cs typeface="Calibri Light"/>
              </a:rPr>
              <a:t> </a:t>
            </a:r>
            <a:r>
              <a:rPr b="0" spc="-20" dirty="0">
                <a:latin typeface="Calibri Light"/>
                <a:cs typeface="Calibri Light"/>
              </a:rPr>
              <a:t>rule</a:t>
            </a: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86552" y="2044842"/>
            <a:ext cx="11692880" cy="3174875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1881885" y="5519673"/>
            <a:ext cx="3507740" cy="721360"/>
            <a:chOff x="1881885" y="5519673"/>
            <a:chExt cx="3507740" cy="721360"/>
          </a:xfrm>
        </p:grpSpPr>
        <p:sp>
          <p:nvSpPr>
            <p:cNvPr id="10" name="object 10"/>
            <p:cNvSpPr/>
            <p:nvPr/>
          </p:nvSpPr>
          <p:spPr>
            <a:xfrm>
              <a:off x="1888235" y="5526023"/>
              <a:ext cx="707390" cy="701040"/>
            </a:xfrm>
            <a:custGeom>
              <a:avLst/>
              <a:gdLst/>
              <a:ahLst/>
              <a:cxnLst/>
              <a:rect l="l" t="t" r="r" b="b"/>
              <a:pathLst>
                <a:path w="707389" h="701039">
                  <a:moveTo>
                    <a:pt x="353568" y="0"/>
                  </a:moveTo>
                  <a:lnTo>
                    <a:pt x="305579" y="3199"/>
                  </a:lnTo>
                  <a:lnTo>
                    <a:pt x="259556" y="12520"/>
                  </a:lnTo>
                  <a:lnTo>
                    <a:pt x="215919" y="27545"/>
                  </a:lnTo>
                  <a:lnTo>
                    <a:pt x="175090" y="47856"/>
                  </a:lnTo>
                  <a:lnTo>
                    <a:pt x="137489" y="73035"/>
                  </a:lnTo>
                  <a:lnTo>
                    <a:pt x="103536" y="102665"/>
                  </a:lnTo>
                  <a:lnTo>
                    <a:pt x="73653" y="136327"/>
                  </a:lnTo>
                  <a:lnTo>
                    <a:pt x="48259" y="173606"/>
                  </a:lnTo>
                  <a:lnTo>
                    <a:pt x="27777" y="214082"/>
                  </a:lnTo>
                  <a:lnTo>
                    <a:pt x="12625" y="257338"/>
                  </a:lnTo>
                  <a:lnTo>
                    <a:pt x="3226" y="302956"/>
                  </a:lnTo>
                  <a:lnTo>
                    <a:pt x="0" y="350519"/>
                  </a:lnTo>
                  <a:lnTo>
                    <a:pt x="3226" y="398083"/>
                  </a:lnTo>
                  <a:lnTo>
                    <a:pt x="12625" y="443701"/>
                  </a:lnTo>
                  <a:lnTo>
                    <a:pt x="27777" y="486957"/>
                  </a:lnTo>
                  <a:lnTo>
                    <a:pt x="48260" y="527433"/>
                  </a:lnTo>
                  <a:lnTo>
                    <a:pt x="73653" y="564712"/>
                  </a:lnTo>
                  <a:lnTo>
                    <a:pt x="103536" y="598374"/>
                  </a:lnTo>
                  <a:lnTo>
                    <a:pt x="137489" y="628004"/>
                  </a:lnTo>
                  <a:lnTo>
                    <a:pt x="175090" y="653183"/>
                  </a:lnTo>
                  <a:lnTo>
                    <a:pt x="215919" y="673494"/>
                  </a:lnTo>
                  <a:lnTo>
                    <a:pt x="259556" y="688519"/>
                  </a:lnTo>
                  <a:lnTo>
                    <a:pt x="305579" y="697840"/>
                  </a:lnTo>
                  <a:lnTo>
                    <a:pt x="353568" y="701040"/>
                  </a:lnTo>
                  <a:lnTo>
                    <a:pt x="401556" y="697840"/>
                  </a:lnTo>
                  <a:lnTo>
                    <a:pt x="447579" y="688519"/>
                  </a:lnTo>
                  <a:lnTo>
                    <a:pt x="491216" y="673494"/>
                  </a:lnTo>
                  <a:lnTo>
                    <a:pt x="532045" y="653183"/>
                  </a:lnTo>
                  <a:lnTo>
                    <a:pt x="569646" y="628004"/>
                  </a:lnTo>
                  <a:lnTo>
                    <a:pt x="603599" y="598374"/>
                  </a:lnTo>
                  <a:lnTo>
                    <a:pt x="633482" y="564712"/>
                  </a:lnTo>
                  <a:lnTo>
                    <a:pt x="658876" y="527433"/>
                  </a:lnTo>
                  <a:lnTo>
                    <a:pt x="679358" y="486957"/>
                  </a:lnTo>
                  <a:lnTo>
                    <a:pt x="694510" y="443701"/>
                  </a:lnTo>
                  <a:lnTo>
                    <a:pt x="703909" y="398083"/>
                  </a:lnTo>
                  <a:lnTo>
                    <a:pt x="707136" y="350519"/>
                  </a:lnTo>
                  <a:lnTo>
                    <a:pt x="703909" y="302956"/>
                  </a:lnTo>
                  <a:lnTo>
                    <a:pt x="694510" y="257338"/>
                  </a:lnTo>
                  <a:lnTo>
                    <a:pt x="679358" y="214082"/>
                  </a:lnTo>
                  <a:lnTo>
                    <a:pt x="658876" y="173606"/>
                  </a:lnTo>
                  <a:lnTo>
                    <a:pt x="633482" y="136327"/>
                  </a:lnTo>
                  <a:lnTo>
                    <a:pt x="603599" y="102665"/>
                  </a:lnTo>
                  <a:lnTo>
                    <a:pt x="569646" y="73035"/>
                  </a:lnTo>
                  <a:lnTo>
                    <a:pt x="532045" y="47856"/>
                  </a:lnTo>
                  <a:lnTo>
                    <a:pt x="491216" y="27545"/>
                  </a:lnTo>
                  <a:lnTo>
                    <a:pt x="447579" y="12520"/>
                  </a:lnTo>
                  <a:lnTo>
                    <a:pt x="401556" y="3199"/>
                  </a:lnTo>
                  <a:lnTo>
                    <a:pt x="353568" y="0"/>
                  </a:lnTo>
                  <a:close/>
                </a:path>
              </a:pathLst>
            </a:custGeom>
            <a:solidFill>
              <a:srgbClr val="E1EFD9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1888235" y="5526023"/>
              <a:ext cx="707390" cy="701040"/>
            </a:xfrm>
            <a:custGeom>
              <a:avLst/>
              <a:gdLst/>
              <a:ahLst/>
              <a:cxnLst/>
              <a:rect l="l" t="t" r="r" b="b"/>
              <a:pathLst>
                <a:path w="707389" h="701039">
                  <a:moveTo>
                    <a:pt x="0" y="350519"/>
                  </a:moveTo>
                  <a:lnTo>
                    <a:pt x="3226" y="302956"/>
                  </a:lnTo>
                  <a:lnTo>
                    <a:pt x="12625" y="257338"/>
                  </a:lnTo>
                  <a:lnTo>
                    <a:pt x="27777" y="214082"/>
                  </a:lnTo>
                  <a:lnTo>
                    <a:pt x="48259" y="173606"/>
                  </a:lnTo>
                  <a:lnTo>
                    <a:pt x="73653" y="136327"/>
                  </a:lnTo>
                  <a:lnTo>
                    <a:pt x="103536" y="102665"/>
                  </a:lnTo>
                  <a:lnTo>
                    <a:pt x="137489" y="73035"/>
                  </a:lnTo>
                  <a:lnTo>
                    <a:pt x="175090" y="47856"/>
                  </a:lnTo>
                  <a:lnTo>
                    <a:pt x="215919" y="27545"/>
                  </a:lnTo>
                  <a:lnTo>
                    <a:pt x="259556" y="12520"/>
                  </a:lnTo>
                  <a:lnTo>
                    <a:pt x="305579" y="3199"/>
                  </a:lnTo>
                  <a:lnTo>
                    <a:pt x="353568" y="0"/>
                  </a:lnTo>
                  <a:lnTo>
                    <a:pt x="401556" y="3199"/>
                  </a:lnTo>
                  <a:lnTo>
                    <a:pt x="447579" y="12520"/>
                  </a:lnTo>
                  <a:lnTo>
                    <a:pt x="491216" y="27545"/>
                  </a:lnTo>
                  <a:lnTo>
                    <a:pt x="532045" y="47856"/>
                  </a:lnTo>
                  <a:lnTo>
                    <a:pt x="569646" y="73035"/>
                  </a:lnTo>
                  <a:lnTo>
                    <a:pt x="603599" y="102665"/>
                  </a:lnTo>
                  <a:lnTo>
                    <a:pt x="633482" y="136327"/>
                  </a:lnTo>
                  <a:lnTo>
                    <a:pt x="658876" y="173606"/>
                  </a:lnTo>
                  <a:lnTo>
                    <a:pt x="679358" y="214082"/>
                  </a:lnTo>
                  <a:lnTo>
                    <a:pt x="694510" y="257338"/>
                  </a:lnTo>
                  <a:lnTo>
                    <a:pt x="703909" y="302956"/>
                  </a:lnTo>
                  <a:lnTo>
                    <a:pt x="707136" y="350519"/>
                  </a:lnTo>
                  <a:lnTo>
                    <a:pt x="703909" y="398083"/>
                  </a:lnTo>
                  <a:lnTo>
                    <a:pt x="694510" y="443701"/>
                  </a:lnTo>
                  <a:lnTo>
                    <a:pt x="679358" y="486957"/>
                  </a:lnTo>
                  <a:lnTo>
                    <a:pt x="658876" y="527433"/>
                  </a:lnTo>
                  <a:lnTo>
                    <a:pt x="633482" y="564712"/>
                  </a:lnTo>
                  <a:lnTo>
                    <a:pt x="603599" y="598374"/>
                  </a:lnTo>
                  <a:lnTo>
                    <a:pt x="569646" y="628004"/>
                  </a:lnTo>
                  <a:lnTo>
                    <a:pt x="532045" y="653183"/>
                  </a:lnTo>
                  <a:lnTo>
                    <a:pt x="491216" y="673494"/>
                  </a:lnTo>
                  <a:lnTo>
                    <a:pt x="447579" y="688519"/>
                  </a:lnTo>
                  <a:lnTo>
                    <a:pt x="401556" y="697840"/>
                  </a:lnTo>
                  <a:lnTo>
                    <a:pt x="353568" y="701040"/>
                  </a:lnTo>
                  <a:lnTo>
                    <a:pt x="305579" y="697840"/>
                  </a:lnTo>
                  <a:lnTo>
                    <a:pt x="259556" y="688519"/>
                  </a:lnTo>
                  <a:lnTo>
                    <a:pt x="215919" y="673494"/>
                  </a:lnTo>
                  <a:lnTo>
                    <a:pt x="175090" y="653183"/>
                  </a:lnTo>
                  <a:lnTo>
                    <a:pt x="137489" y="628004"/>
                  </a:lnTo>
                  <a:lnTo>
                    <a:pt x="103536" y="598374"/>
                  </a:lnTo>
                  <a:lnTo>
                    <a:pt x="73653" y="564712"/>
                  </a:lnTo>
                  <a:lnTo>
                    <a:pt x="48260" y="527433"/>
                  </a:lnTo>
                  <a:lnTo>
                    <a:pt x="27777" y="486957"/>
                  </a:lnTo>
                  <a:lnTo>
                    <a:pt x="12625" y="443701"/>
                  </a:lnTo>
                  <a:lnTo>
                    <a:pt x="3226" y="398083"/>
                  </a:lnTo>
                  <a:lnTo>
                    <a:pt x="0" y="350519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3634739" y="5535167"/>
              <a:ext cx="708660" cy="699770"/>
            </a:xfrm>
            <a:custGeom>
              <a:avLst/>
              <a:gdLst/>
              <a:ahLst/>
              <a:cxnLst/>
              <a:rect l="l" t="t" r="r" b="b"/>
              <a:pathLst>
                <a:path w="708660" h="699770">
                  <a:moveTo>
                    <a:pt x="354330" y="0"/>
                  </a:moveTo>
                  <a:lnTo>
                    <a:pt x="306246" y="3192"/>
                  </a:lnTo>
                  <a:lnTo>
                    <a:pt x="260129" y="12493"/>
                  </a:lnTo>
                  <a:lnTo>
                    <a:pt x="216402" y="27485"/>
                  </a:lnTo>
                  <a:lnTo>
                    <a:pt x="175485" y="47751"/>
                  </a:lnTo>
                  <a:lnTo>
                    <a:pt x="137802" y="72876"/>
                  </a:lnTo>
                  <a:lnTo>
                    <a:pt x="103774" y="102441"/>
                  </a:lnTo>
                  <a:lnTo>
                    <a:pt x="73824" y="136030"/>
                  </a:lnTo>
                  <a:lnTo>
                    <a:pt x="48372" y="173227"/>
                  </a:lnTo>
                  <a:lnTo>
                    <a:pt x="27842" y="213615"/>
                  </a:lnTo>
                  <a:lnTo>
                    <a:pt x="12655" y="256778"/>
                  </a:lnTo>
                  <a:lnTo>
                    <a:pt x="3234" y="302297"/>
                  </a:lnTo>
                  <a:lnTo>
                    <a:pt x="0" y="349757"/>
                  </a:lnTo>
                  <a:lnTo>
                    <a:pt x="3234" y="397218"/>
                  </a:lnTo>
                  <a:lnTo>
                    <a:pt x="12655" y="442737"/>
                  </a:lnTo>
                  <a:lnTo>
                    <a:pt x="27842" y="485900"/>
                  </a:lnTo>
                  <a:lnTo>
                    <a:pt x="48372" y="526287"/>
                  </a:lnTo>
                  <a:lnTo>
                    <a:pt x="73824" y="563485"/>
                  </a:lnTo>
                  <a:lnTo>
                    <a:pt x="103774" y="597074"/>
                  </a:lnTo>
                  <a:lnTo>
                    <a:pt x="137802" y="626639"/>
                  </a:lnTo>
                  <a:lnTo>
                    <a:pt x="175485" y="651763"/>
                  </a:lnTo>
                  <a:lnTo>
                    <a:pt x="216402" y="672030"/>
                  </a:lnTo>
                  <a:lnTo>
                    <a:pt x="260129" y="687022"/>
                  </a:lnTo>
                  <a:lnTo>
                    <a:pt x="306246" y="696323"/>
                  </a:lnTo>
                  <a:lnTo>
                    <a:pt x="354330" y="699515"/>
                  </a:lnTo>
                  <a:lnTo>
                    <a:pt x="402413" y="696323"/>
                  </a:lnTo>
                  <a:lnTo>
                    <a:pt x="448530" y="687022"/>
                  </a:lnTo>
                  <a:lnTo>
                    <a:pt x="492257" y="672030"/>
                  </a:lnTo>
                  <a:lnTo>
                    <a:pt x="533174" y="651763"/>
                  </a:lnTo>
                  <a:lnTo>
                    <a:pt x="570857" y="626639"/>
                  </a:lnTo>
                  <a:lnTo>
                    <a:pt x="604885" y="597074"/>
                  </a:lnTo>
                  <a:lnTo>
                    <a:pt x="634835" y="563485"/>
                  </a:lnTo>
                  <a:lnTo>
                    <a:pt x="660287" y="526287"/>
                  </a:lnTo>
                  <a:lnTo>
                    <a:pt x="680817" y="485900"/>
                  </a:lnTo>
                  <a:lnTo>
                    <a:pt x="696004" y="442737"/>
                  </a:lnTo>
                  <a:lnTo>
                    <a:pt x="705425" y="397218"/>
                  </a:lnTo>
                  <a:lnTo>
                    <a:pt x="708660" y="349757"/>
                  </a:lnTo>
                  <a:lnTo>
                    <a:pt x="705425" y="302297"/>
                  </a:lnTo>
                  <a:lnTo>
                    <a:pt x="696004" y="256778"/>
                  </a:lnTo>
                  <a:lnTo>
                    <a:pt x="680817" y="213615"/>
                  </a:lnTo>
                  <a:lnTo>
                    <a:pt x="660287" y="173227"/>
                  </a:lnTo>
                  <a:lnTo>
                    <a:pt x="634835" y="136030"/>
                  </a:lnTo>
                  <a:lnTo>
                    <a:pt x="604885" y="102441"/>
                  </a:lnTo>
                  <a:lnTo>
                    <a:pt x="570857" y="72876"/>
                  </a:lnTo>
                  <a:lnTo>
                    <a:pt x="533174" y="47751"/>
                  </a:lnTo>
                  <a:lnTo>
                    <a:pt x="492257" y="27485"/>
                  </a:lnTo>
                  <a:lnTo>
                    <a:pt x="448530" y="12493"/>
                  </a:lnTo>
                  <a:lnTo>
                    <a:pt x="402413" y="3192"/>
                  </a:lnTo>
                  <a:lnTo>
                    <a:pt x="354330" y="0"/>
                  </a:lnTo>
                  <a:close/>
                </a:path>
              </a:pathLst>
            </a:custGeom>
            <a:solidFill>
              <a:srgbClr val="E1EFD9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3634739" y="5535167"/>
              <a:ext cx="708660" cy="699770"/>
            </a:xfrm>
            <a:custGeom>
              <a:avLst/>
              <a:gdLst/>
              <a:ahLst/>
              <a:cxnLst/>
              <a:rect l="l" t="t" r="r" b="b"/>
              <a:pathLst>
                <a:path w="708660" h="699770">
                  <a:moveTo>
                    <a:pt x="0" y="349757"/>
                  </a:moveTo>
                  <a:lnTo>
                    <a:pt x="3234" y="302297"/>
                  </a:lnTo>
                  <a:lnTo>
                    <a:pt x="12655" y="256778"/>
                  </a:lnTo>
                  <a:lnTo>
                    <a:pt x="27842" y="213615"/>
                  </a:lnTo>
                  <a:lnTo>
                    <a:pt x="48372" y="173227"/>
                  </a:lnTo>
                  <a:lnTo>
                    <a:pt x="73824" y="136030"/>
                  </a:lnTo>
                  <a:lnTo>
                    <a:pt x="103774" y="102441"/>
                  </a:lnTo>
                  <a:lnTo>
                    <a:pt x="137802" y="72876"/>
                  </a:lnTo>
                  <a:lnTo>
                    <a:pt x="175485" y="47751"/>
                  </a:lnTo>
                  <a:lnTo>
                    <a:pt x="216402" y="27485"/>
                  </a:lnTo>
                  <a:lnTo>
                    <a:pt x="260129" y="12493"/>
                  </a:lnTo>
                  <a:lnTo>
                    <a:pt x="306246" y="3192"/>
                  </a:lnTo>
                  <a:lnTo>
                    <a:pt x="354330" y="0"/>
                  </a:lnTo>
                  <a:lnTo>
                    <a:pt x="402413" y="3192"/>
                  </a:lnTo>
                  <a:lnTo>
                    <a:pt x="448530" y="12493"/>
                  </a:lnTo>
                  <a:lnTo>
                    <a:pt x="492257" y="27485"/>
                  </a:lnTo>
                  <a:lnTo>
                    <a:pt x="533174" y="47751"/>
                  </a:lnTo>
                  <a:lnTo>
                    <a:pt x="570857" y="72876"/>
                  </a:lnTo>
                  <a:lnTo>
                    <a:pt x="604885" y="102441"/>
                  </a:lnTo>
                  <a:lnTo>
                    <a:pt x="634835" y="136030"/>
                  </a:lnTo>
                  <a:lnTo>
                    <a:pt x="660287" y="173227"/>
                  </a:lnTo>
                  <a:lnTo>
                    <a:pt x="680817" y="213615"/>
                  </a:lnTo>
                  <a:lnTo>
                    <a:pt x="696004" y="256778"/>
                  </a:lnTo>
                  <a:lnTo>
                    <a:pt x="705425" y="302297"/>
                  </a:lnTo>
                  <a:lnTo>
                    <a:pt x="708660" y="349757"/>
                  </a:lnTo>
                  <a:lnTo>
                    <a:pt x="705425" y="397218"/>
                  </a:lnTo>
                  <a:lnTo>
                    <a:pt x="696004" y="442737"/>
                  </a:lnTo>
                  <a:lnTo>
                    <a:pt x="680817" y="485900"/>
                  </a:lnTo>
                  <a:lnTo>
                    <a:pt x="660287" y="526287"/>
                  </a:lnTo>
                  <a:lnTo>
                    <a:pt x="634835" y="563485"/>
                  </a:lnTo>
                  <a:lnTo>
                    <a:pt x="604885" y="597074"/>
                  </a:lnTo>
                  <a:lnTo>
                    <a:pt x="570857" y="626639"/>
                  </a:lnTo>
                  <a:lnTo>
                    <a:pt x="533174" y="651763"/>
                  </a:lnTo>
                  <a:lnTo>
                    <a:pt x="492257" y="672030"/>
                  </a:lnTo>
                  <a:lnTo>
                    <a:pt x="448530" y="687022"/>
                  </a:lnTo>
                  <a:lnTo>
                    <a:pt x="402413" y="696323"/>
                  </a:lnTo>
                  <a:lnTo>
                    <a:pt x="354330" y="699515"/>
                  </a:lnTo>
                  <a:lnTo>
                    <a:pt x="306246" y="696323"/>
                  </a:lnTo>
                  <a:lnTo>
                    <a:pt x="260129" y="687022"/>
                  </a:lnTo>
                  <a:lnTo>
                    <a:pt x="216402" y="672030"/>
                  </a:lnTo>
                  <a:lnTo>
                    <a:pt x="175485" y="651763"/>
                  </a:lnTo>
                  <a:lnTo>
                    <a:pt x="137802" y="626639"/>
                  </a:lnTo>
                  <a:lnTo>
                    <a:pt x="103774" y="597074"/>
                  </a:lnTo>
                  <a:lnTo>
                    <a:pt x="73824" y="563485"/>
                  </a:lnTo>
                  <a:lnTo>
                    <a:pt x="48372" y="526287"/>
                  </a:lnTo>
                  <a:lnTo>
                    <a:pt x="27842" y="485900"/>
                  </a:lnTo>
                  <a:lnTo>
                    <a:pt x="12655" y="442737"/>
                  </a:lnTo>
                  <a:lnTo>
                    <a:pt x="3234" y="397218"/>
                  </a:lnTo>
                  <a:lnTo>
                    <a:pt x="0" y="349757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2595371" y="5751575"/>
              <a:ext cx="1039494" cy="256540"/>
            </a:xfrm>
            <a:custGeom>
              <a:avLst/>
              <a:gdLst/>
              <a:ahLst/>
              <a:cxnLst/>
              <a:rect l="l" t="t" r="r" b="b"/>
              <a:pathLst>
                <a:path w="1039495" h="256539">
                  <a:moveTo>
                    <a:pt x="911351" y="0"/>
                  </a:moveTo>
                  <a:lnTo>
                    <a:pt x="911351" y="64008"/>
                  </a:lnTo>
                  <a:lnTo>
                    <a:pt x="0" y="64008"/>
                  </a:lnTo>
                  <a:lnTo>
                    <a:pt x="0" y="192024"/>
                  </a:lnTo>
                  <a:lnTo>
                    <a:pt x="911351" y="192024"/>
                  </a:lnTo>
                  <a:lnTo>
                    <a:pt x="911351" y="256032"/>
                  </a:lnTo>
                  <a:lnTo>
                    <a:pt x="1039367" y="128015"/>
                  </a:lnTo>
                  <a:lnTo>
                    <a:pt x="911351" y="0"/>
                  </a:lnTo>
                  <a:close/>
                </a:path>
              </a:pathLst>
            </a:custGeom>
            <a:solidFill>
              <a:srgbClr val="DEEBF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2595371" y="5751575"/>
              <a:ext cx="1039494" cy="256540"/>
            </a:xfrm>
            <a:custGeom>
              <a:avLst/>
              <a:gdLst/>
              <a:ahLst/>
              <a:cxnLst/>
              <a:rect l="l" t="t" r="r" b="b"/>
              <a:pathLst>
                <a:path w="1039495" h="256539">
                  <a:moveTo>
                    <a:pt x="0" y="64008"/>
                  </a:moveTo>
                  <a:lnTo>
                    <a:pt x="911351" y="64008"/>
                  </a:lnTo>
                  <a:lnTo>
                    <a:pt x="911351" y="0"/>
                  </a:lnTo>
                  <a:lnTo>
                    <a:pt x="1039367" y="128015"/>
                  </a:lnTo>
                  <a:lnTo>
                    <a:pt x="911351" y="256032"/>
                  </a:lnTo>
                  <a:lnTo>
                    <a:pt x="911351" y="192024"/>
                  </a:lnTo>
                  <a:lnTo>
                    <a:pt x="0" y="192024"/>
                  </a:lnTo>
                  <a:lnTo>
                    <a:pt x="0" y="64008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4343400" y="5775959"/>
              <a:ext cx="1039494" cy="256540"/>
            </a:xfrm>
            <a:custGeom>
              <a:avLst/>
              <a:gdLst/>
              <a:ahLst/>
              <a:cxnLst/>
              <a:rect l="l" t="t" r="r" b="b"/>
              <a:pathLst>
                <a:path w="1039495" h="256539">
                  <a:moveTo>
                    <a:pt x="911351" y="0"/>
                  </a:moveTo>
                  <a:lnTo>
                    <a:pt x="911351" y="64007"/>
                  </a:lnTo>
                  <a:lnTo>
                    <a:pt x="0" y="64007"/>
                  </a:lnTo>
                  <a:lnTo>
                    <a:pt x="0" y="192023"/>
                  </a:lnTo>
                  <a:lnTo>
                    <a:pt x="911351" y="192023"/>
                  </a:lnTo>
                  <a:lnTo>
                    <a:pt x="911351" y="256031"/>
                  </a:lnTo>
                  <a:lnTo>
                    <a:pt x="1039367" y="128015"/>
                  </a:lnTo>
                  <a:lnTo>
                    <a:pt x="911351" y="0"/>
                  </a:lnTo>
                  <a:close/>
                </a:path>
              </a:pathLst>
            </a:custGeom>
            <a:solidFill>
              <a:srgbClr val="DAE2F3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4343400" y="5775959"/>
              <a:ext cx="1039494" cy="256540"/>
            </a:xfrm>
            <a:custGeom>
              <a:avLst/>
              <a:gdLst/>
              <a:ahLst/>
              <a:cxnLst/>
              <a:rect l="l" t="t" r="r" b="b"/>
              <a:pathLst>
                <a:path w="1039495" h="256539">
                  <a:moveTo>
                    <a:pt x="0" y="64007"/>
                  </a:moveTo>
                  <a:lnTo>
                    <a:pt x="911351" y="64007"/>
                  </a:lnTo>
                  <a:lnTo>
                    <a:pt x="911351" y="0"/>
                  </a:lnTo>
                  <a:lnTo>
                    <a:pt x="1039367" y="128015"/>
                  </a:lnTo>
                  <a:lnTo>
                    <a:pt x="911351" y="256031"/>
                  </a:lnTo>
                  <a:lnTo>
                    <a:pt x="911351" y="192023"/>
                  </a:lnTo>
                  <a:lnTo>
                    <a:pt x="0" y="192023"/>
                  </a:lnTo>
                  <a:lnTo>
                    <a:pt x="0" y="64007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846703" y="5687059"/>
            <a:ext cx="3562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exp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397375" y="5423103"/>
            <a:ext cx="104521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Y=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f(h)=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</a:t>
            </a:r>
            <a:r>
              <a:rPr kumimoji="0" sz="1800" b="0" i="0" u="none" strike="noStrike" kern="0" cap="none" spc="-37" normalizeH="0" baseline="25462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</a:t>
            </a:r>
            <a:endParaRPr kumimoji="0" sz="1800" b="0" i="0" u="none" strike="noStrike" kern="0" cap="none" spc="0" normalizeH="0" baseline="25462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513710" y="5507228"/>
            <a:ext cx="48768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h=x</a:t>
            </a:r>
            <a:r>
              <a:rPr kumimoji="0" sz="1800" b="0" i="0" u="none" strike="noStrike" kern="0" cap="none" spc="-30" normalizeH="0" baseline="25462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</a:t>
            </a:r>
            <a:endParaRPr kumimoji="0" sz="1800" b="0" i="0" u="none" strike="noStrike" kern="0" cap="none" spc="0" normalizeH="0" baseline="25462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96342" y="5547105"/>
            <a:ext cx="1739900" cy="713740"/>
            <a:chOff x="196342" y="5547105"/>
            <a:chExt cx="1739900" cy="713740"/>
          </a:xfrm>
        </p:grpSpPr>
        <p:sp>
          <p:nvSpPr>
            <p:cNvPr id="22" name="object 22"/>
            <p:cNvSpPr/>
            <p:nvPr/>
          </p:nvSpPr>
          <p:spPr>
            <a:xfrm>
              <a:off x="890015" y="5775959"/>
              <a:ext cx="1039494" cy="256540"/>
            </a:xfrm>
            <a:custGeom>
              <a:avLst/>
              <a:gdLst/>
              <a:ahLst/>
              <a:cxnLst/>
              <a:rect l="l" t="t" r="r" b="b"/>
              <a:pathLst>
                <a:path w="1039494" h="256539">
                  <a:moveTo>
                    <a:pt x="911352" y="0"/>
                  </a:moveTo>
                  <a:lnTo>
                    <a:pt x="911352" y="64007"/>
                  </a:lnTo>
                  <a:lnTo>
                    <a:pt x="0" y="64007"/>
                  </a:lnTo>
                  <a:lnTo>
                    <a:pt x="0" y="192023"/>
                  </a:lnTo>
                  <a:lnTo>
                    <a:pt x="911352" y="192023"/>
                  </a:lnTo>
                  <a:lnTo>
                    <a:pt x="911352" y="256031"/>
                  </a:lnTo>
                  <a:lnTo>
                    <a:pt x="1039367" y="128015"/>
                  </a:lnTo>
                  <a:lnTo>
                    <a:pt x="911352" y="0"/>
                  </a:lnTo>
                  <a:close/>
                </a:path>
              </a:pathLst>
            </a:custGeom>
            <a:solidFill>
              <a:srgbClr val="DEEBF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3" name="object 23"/>
            <p:cNvSpPr/>
            <p:nvPr/>
          </p:nvSpPr>
          <p:spPr>
            <a:xfrm>
              <a:off x="890015" y="5775959"/>
              <a:ext cx="1039494" cy="256540"/>
            </a:xfrm>
            <a:custGeom>
              <a:avLst/>
              <a:gdLst/>
              <a:ahLst/>
              <a:cxnLst/>
              <a:rect l="l" t="t" r="r" b="b"/>
              <a:pathLst>
                <a:path w="1039494" h="256539">
                  <a:moveTo>
                    <a:pt x="0" y="64007"/>
                  </a:moveTo>
                  <a:lnTo>
                    <a:pt x="911352" y="64007"/>
                  </a:lnTo>
                  <a:lnTo>
                    <a:pt x="911352" y="0"/>
                  </a:lnTo>
                  <a:lnTo>
                    <a:pt x="1039367" y="128015"/>
                  </a:lnTo>
                  <a:lnTo>
                    <a:pt x="911352" y="256031"/>
                  </a:lnTo>
                  <a:lnTo>
                    <a:pt x="911352" y="192023"/>
                  </a:lnTo>
                  <a:lnTo>
                    <a:pt x="0" y="192023"/>
                  </a:lnTo>
                  <a:lnTo>
                    <a:pt x="0" y="64007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4" name="object 24"/>
            <p:cNvSpPr/>
            <p:nvPr/>
          </p:nvSpPr>
          <p:spPr>
            <a:xfrm>
              <a:off x="202692" y="5553455"/>
              <a:ext cx="708660" cy="701040"/>
            </a:xfrm>
            <a:custGeom>
              <a:avLst/>
              <a:gdLst/>
              <a:ahLst/>
              <a:cxnLst/>
              <a:rect l="l" t="t" r="r" b="b"/>
              <a:pathLst>
                <a:path w="708660" h="701039">
                  <a:moveTo>
                    <a:pt x="354330" y="0"/>
                  </a:moveTo>
                  <a:lnTo>
                    <a:pt x="306248" y="3199"/>
                  </a:lnTo>
                  <a:lnTo>
                    <a:pt x="260133" y="12520"/>
                  </a:lnTo>
                  <a:lnTo>
                    <a:pt x="216407" y="27545"/>
                  </a:lnTo>
                  <a:lnTo>
                    <a:pt x="175491" y="47856"/>
                  </a:lnTo>
                  <a:lnTo>
                    <a:pt x="137808" y="73035"/>
                  </a:lnTo>
                  <a:lnTo>
                    <a:pt x="103779" y="102665"/>
                  </a:lnTo>
                  <a:lnTo>
                    <a:pt x="73828" y="136327"/>
                  </a:lnTo>
                  <a:lnTo>
                    <a:pt x="48375" y="173606"/>
                  </a:lnTo>
                  <a:lnTo>
                    <a:pt x="27844" y="214082"/>
                  </a:lnTo>
                  <a:lnTo>
                    <a:pt x="12656" y="257338"/>
                  </a:lnTo>
                  <a:lnTo>
                    <a:pt x="3234" y="302956"/>
                  </a:lnTo>
                  <a:lnTo>
                    <a:pt x="0" y="350520"/>
                  </a:lnTo>
                  <a:lnTo>
                    <a:pt x="3234" y="398083"/>
                  </a:lnTo>
                  <a:lnTo>
                    <a:pt x="12656" y="443701"/>
                  </a:lnTo>
                  <a:lnTo>
                    <a:pt x="27844" y="486957"/>
                  </a:lnTo>
                  <a:lnTo>
                    <a:pt x="48375" y="527433"/>
                  </a:lnTo>
                  <a:lnTo>
                    <a:pt x="73828" y="564712"/>
                  </a:lnTo>
                  <a:lnTo>
                    <a:pt x="103779" y="598374"/>
                  </a:lnTo>
                  <a:lnTo>
                    <a:pt x="137808" y="628004"/>
                  </a:lnTo>
                  <a:lnTo>
                    <a:pt x="175491" y="653183"/>
                  </a:lnTo>
                  <a:lnTo>
                    <a:pt x="216407" y="673494"/>
                  </a:lnTo>
                  <a:lnTo>
                    <a:pt x="260133" y="688519"/>
                  </a:lnTo>
                  <a:lnTo>
                    <a:pt x="306248" y="697840"/>
                  </a:lnTo>
                  <a:lnTo>
                    <a:pt x="354330" y="701040"/>
                  </a:lnTo>
                  <a:lnTo>
                    <a:pt x="402411" y="697840"/>
                  </a:lnTo>
                  <a:lnTo>
                    <a:pt x="448526" y="688519"/>
                  </a:lnTo>
                  <a:lnTo>
                    <a:pt x="492252" y="673494"/>
                  </a:lnTo>
                  <a:lnTo>
                    <a:pt x="533168" y="653183"/>
                  </a:lnTo>
                  <a:lnTo>
                    <a:pt x="570851" y="628004"/>
                  </a:lnTo>
                  <a:lnTo>
                    <a:pt x="604880" y="598374"/>
                  </a:lnTo>
                  <a:lnTo>
                    <a:pt x="634831" y="564712"/>
                  </a:lnTo>
                  <a:lnTo>
                    <a:pt x="660284" y="527433"/>
                  </a:lnTo>
                  <a:lnTo>
                    <a:pt x="680815" y="486957"/>
                  </a:lnTo>
                  <a:lnTo>
                    <a:pt x="696003" y="443701"/>
                  </a:lnTo>
                  <a:lnTo>
                    <a:pt x="705425" y="398083"/>
                  </a:lnTo>
                  <a:lnTo>
                    <a:pt x="708660" y="350520"/>
                  </a:lnTo>
                  <a:lnTo>
                    <a:pt x="705425" y="302956"/>
                  </a:lnTo>
                  <a:lnTo>
                    <a:pt x="696003" y="257338"/>
                  </a:lnTo>
                  <a:lnTo>
                    <a:pt x="680815" y="214082"/>
                  </a:lnTo>
                  <a:lnTo>
                    <a:pt x="660284" y="173606"/>
                  </a:lnTo>
                  <a:lnTo>
                    <a:pt x="634831" y="136327"/>
                  </a:lnTo>
                  <a:lnTo>
                    <a:pt x="604880" y="102665"/>
                  </a:lnTo>
                  <a:lnTo>
                    <a:pt x="570851" y="73035"/>
                  </a:lnTo>
                  <a:lnTo>
                    <a:pt x="533168" y="47856"/>
                  </a:lnTo>
                  <a:lnTo>
                    <a:pt x="492252" y="27545"/>
                  </a:lnTo>
                  <a:lnTo>
                    <a:pt x="448526" y="12520"/>
                  </a:lnTo>
                  <a:lnTo>
                    <a:pt x="402411" y="3199"/>
                  </a:lnTo>
                  <a:lnTo>
                    <a:pt x="354330" y="0"/>
                  </a:lnTo>
                  <a:close/>
                </a:path>
              </a:pathLst>
            </a:custGeom>
            <a:solidFill>
              <a:srgbClr val="E1EFD9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5" name="object 25"/>
            <p:cNvSpPr/>
            <p:nvPr/>
          </p:nvSpPr>
          <p:spPr>
            <a:xfrm>
              <a:off x="202692" y="5553455"/>
              <a:ext cx="708660" cy="701040"/>
            </a:xfrm>
            <a:custGeom>
              <a:avLst/>
              <a:gdLst/>
              <a:ahLst/>
              <a:cxnLst/>
              <a:rect l="l" t="t" r="r" b="b"/>
              <a:pathLst>
                <a:path w="708660" h="701039">
                  <a:moveTo>
                    <a:pt x="0" y="350520"/>
                  </a:moveTo>
                  <a:lnTo>
                    <a:pt x="3234" y="302956"/>
                  </a:lnTo>
                  <a:lnTo>
                    <a:pt x="12656" y="257338"/>
                  </a:lnTo>
                  <a:lnTo>
                    <a:pt x="27844" y="214082"/>
                  </a:lnTo>
                  <a:lnTo>
                    <a:pt x="48375" y="173606"/>
                  </a:lnTo>
                  <a:lnTo>
                    <a:pt x="73828" y="136327"/>
                  </a:lnTo>
                  <a:lnTo>
                    <a:pt x="103779" y="102665"/>
                  </a:lnTo>
                  <a:lnTo>
                    <a:pt x="137808" y="73035"/>
                  </a:lnTo>
                  <a:lnTo>
                    <a:pt x="175491" y="47856"/>
                  </a:lnTo>
                  <a:lnTo>
                    <a:pt x="216407" y="27545"/>
                  </a:lnTo>
                  <a:lnTo>
                    <a:pt x="260133" y="12520"/>
                  </a:lnTo>
                  <a:lnTo>
                    <a:pt x="306248" y="3199"/>
                  </a:lnTo>
                  <a:lnTo>
                    <a:pt x="354330" y="0"/>
                  </a:lnTo>
                  <a:lnTo>
                    <a:pt x="402411" y="3199"/>
                  </a:lnTo>
                  <a:lnTo>
                    <a:pt x="448526" y="12520"/>
                  </a:lnTo>
                  <a:lnTo>
                    <a:pt x="492252" y="27545"/>
                  </a:lnTo>
                  <a:lnTo>
                    <a:pt x="533168" y="47856"/>
                  </a:lnTo>
                  <a:lnTo>
                    <a:pt x="570851" y="73035"/>
                  </a:lnTo>
                  <a:lnTo>
                    <a:pt x="604880" y="102665"/>
                  </a:lnTo>
                  <a:lnTo>
                    <a:pt x="634831" y="136327"/>
                  </a:lnTo>
                  <a:lnTo>
                    <a:pt x="660284" y="173606"/>
                  </a:lnTo>
                  <a:lnTo>
                    <a:pt x="680815" y="214082"/>
                  </a:lnTo>
                  <a:lnTo>
                    <a:pt x="696003" y="257338"/>
                  </a:lnTo>
                  <a:lnTo>
                    <a:pt x="705425" y="302956"/>
                  </a:lnTo>
                  <a:lnTo>
                    <a:pt x="708660" y="350520"/>
                  </a:lnTo>
                  <a:lnTo>
                    <a:pt x="705425" y="398083"/>
                  </a:lnTo>
                  <a:lnTo>
                    <a:pt x="696003" y="443701"/>
                  </a:lnTo>
                  <a:lnTo>
                    <a:pt x="680815" y="486957"/>
                  </a:lnTo>
                  <a:lnTo>
                    <a:pt x="660284" y="527433"/>
                  </a:lnTo>
                  <a:lnTo>
                    <a:pt x="634831" y="564712"/>
                  </a:lnTo>
                  <a:lnTo>
                    <a:pt x="604880" y="598374"/>
                  </a:lnTo>
                  <a:lnTo>
                    <a:pt x="570851" y="628004"/>
                  </a:lnTo>
                  <a:lnTo>
                    <a:pt x="533168" y="653183"/>
                  </a:lnTo>
                  <a:lnTo>
                    <a:pt x="492252" y="673494"/>
                  </a:lnTo>
                  <a:lnTo>
                    <a:pt x="448526" y="688519"/>
                  </a:lnTo>
                  <a:lnTo>
                    <a:pt x="402411" y="697840"/>
                  </a:lnTo>
                  <a:lnTo>
                    <a:pt x="354330" y="701040"/>
                  </a:lnTo>
                  <a:lnTo>
                    <a:pt x="306248" y="697840"/>
                  </a:lnTo>
                  <a:lnTo>
                    <a:pt x="260133" y="688519"/>
                  </a:lnTo>
                  <a:lnTo>
                    <a:pt x="216407" y="673494"/>
                  </a:lnTo>
                  <a:lnTo>
                    <a:pt x="175491" y="653183"/>
                  </a:lnTo>
                  <a:lnTo>
                    <a:pt x="137808" y="628004"/>
                  </a:lnTo>
                  <a:lnTo>
                    <a:pt x="103779" y="598374"/>
                  </a:lnTo>
                  <a:lnTo>
                    <a:pt x="73828" y="564712"/>
                  </a:lnTo>
                  <a:lnTo>
                    <a:pt x="48375" y="527433"/>
                  </a:lnTo>
                  <a:lnTo>
                    <a:pt x="27844" y="486957"/>
                  </a:lnTo>
                  <a:lnTo>
                    <a:pt x="12656" y="443701"/>
                  </a:lnTo>
                  <a:lnTo>
                    <a:pt x="3234" y="398083"/>
                  </a:lnTo>
                  <a:lnTo>
                    <a:pt x="0" y="350520"/>
                  </a:lnTo>
                  <a:close/>
                </a:path>
              </a:pathLst>
            </a:custGeom>
            <a:ln w="12699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014780" y="5523382"/>
            <a:ext cx="1244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x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052954" y="5640425"/>
            <a:ext cx="3155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sqr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5464936" y="5664580"/>
            <a:ext cx="939165" cy="707390"/>
            <a:chOff x="5464936" y="5664580"/>
            <a:chExt cx="939165" cy="707390"/>
          </a:xfrm>
        </p:grpSpPr>
        <p:pic>
          <p:nvPicPr>
            <p:cNvPr id="29" name="object 2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468111" y="5667755"/>
              <a:ext cx="932688" cy="701040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5468111" y="5667755"/>
              <a:ext cx="932815" cy="701040"/>
            </a:xfrm>
            <a:custGeom>
              <a:avLst/>
              <a:gdLst/>
              <a:ahLst/>
              <a:cxnLst/>
              <a:rect l="l" t="t" r="r" b="b"/>
              <a:pathLst>
                <a:path w="932814" h="701039">
                  <a:moveTo>
                    <a:pt x="0" y="350520"/>
                  </a:moveTo>
                  <a:lnTo>
                    <a:pt x="3137" y="309642"/>
                  </a:lnTo>
                  <a:lnTo>
                    <a:pt x="12316" y="270149"/>
                  </a:lnTo>
                  <a:lnTo>
                    <a:pt x="27187" y="232304"/>
                  </a:lnTo>
                  <a:lnTo>
                    <a:pt x="47399" y="196370"/>
                  </a:lnTo>
                  <a:lnTo>
                    <a:pt x="72603" y="162610"/>
                  </a:lnTo>
                  <a:lnTo>
                    <a:pt x="102450" y="131287"/>
                  </a:lnTo>
                  <a:lnTo>
                    <a:pt x="136588" y="102665"/>
                  </a:lnTo>
                  <a:lnTo>
                    <a:pt x="174669" y="77005"/>
                  </a:lnTo>
                  <a:lnTo>
                    <a:pt x="216341" y="54571"/>
                  </a:lnTo>
                  <a:lnTo>
                    <a:pt x="261257" y="35627"/>
                  </a:lnTo>
                  <a:lnTo>
                    <a:pt x="309064" y="20434"/>
                  </a:lnTo>
                  <a:lnTo>
                    <a:pt x="359415" y="9257"/>
                  </a:lnTo>
                  <a:lnTo>
                    <a:pt x="411958" y="2358"/>
                  </a:lnTo>
                  <a:lnTo>
                    <a:pt x="466343" y="0"/>
                  </a:lnTo>
                  <a:lnTo>
                    <a:pt x="520729" y="2358"/>
                  </a:lnTo>
                  <a:lnTo>
                    <a:pt x="573272" y="9257"/>
                  </a:lnTo>
                  <a:lnTo>
                    <a:pt x="623623" y="20434"/>
                  </a:lnTo>
                  <a:lnTo>
                    <a:pt x="671430" y="35627"/>
                  </a:lnTo>
                  <a:lnTo>
                    <a:pt x="716346" y="54571"/>
                  </a:lnTo>
                  <a:lnTo>
                    <a:pt x="758018" y="77005"/>
                  </a:lnTo>
                  <a:lnTo>
                    <a:pt x="796099" y="102665"/>
                  </a:lnTo>
                  <a:lnTo>
                    <a:pt x="830237" y="131287"/>
                  </a:lnTo>
                  <a:lnTo>
                    <a:pt x="860084" y="162610"/>
                  </a:lnTo>
                  <a:lnTo>
                    <a:pt x="885288" y="196370"/>
                  </a:lnTo>
                  <a:lnTo>
                    <a:pt x="905500" y="232304"/>
                  </a:lnTo>
                  <a:lnTo>
                    <a:pt x="920371" y="270149"/>
                  </a:lnTo>
                  <a:lnTo>
                    <a:pt x="929550" y="309642"/>
                  </a:lnTo>
                  <a:lnTo>
                    <a:pt x="932688" y="350520"/>
                  </a:lnTo>
                  <a:lnTo>
                    <a:pt x="929550" y="391397"/>
                  </a:lnTo>
                  <a:lnTo>
                    <a:pt x="920371" y="430890"/>
                  </a:lnTo>
                  <a:lnTo>
                    <a:pt x="905500" y="468735"/>
                  </a:lnTo>
                  <a:lnTo>
                    <a:pt x="885288" y="504669"/>
                  </a:lnTo>
                  <a:lnTo>
                    <a:pt x="860084" y="538429"/>
                  </a:lnTo>
                  <a:lnTo>
                    <a:pt x="830237" y="569752"/>
                  </a:lnTo>
                  <a:lnTo>
                    <a:pt x="796099" y="598374"/>
                  </a:lnTo>
                  <a:lnTo>
                    <a:pt x="758018" y="624034"/>
                  </a:lnTo>
                  <a:lnTo>
                    <a:pt x="716346" y="646468"/>
                  </a:lnTo>
                  <a:lnTo>
                    <a:pt x="671430" y="665412"/>
                  </a:lnTo>
                  <a:lnTo>
                    <a:pt x="623623" y="680605"/>
                  </a:lnTo>
                  <a:lnTo>
                    <a:pt x="573272" y="691782"/>
                  </a:lnTo>
                  <a:lnTo>
                    <a:pt x="520729" y="698681"/>
                  </a:lnTo>
                  <a:lnTo>
                    <a:pt x="466343" y="701040"/>
                  </a:lnTo>
                  <a:lnTo>
                    <a:pt x="411958" y="698681"/>
                  </a:lnTo>
                  <a:lnTo>
                    <a:pt x="359415" y="691782"/>
                  </a:lnTo>
                  <a:lnTo>
                    <a:pt x="309064" y="680605"/>
                  </a:lnTo>
                  <a:lnTo>
                    <a:pt x="261257" y="665412"/>
                  </a:lnTo>
                  <a:lnTo>
                    <a:pt x="216341" y="646468"/>
                  </a:lnTo>
                  <a:lnTo>
                    <a:pt x="174669" y="624034"/>
                  </a:lnTo>
                  <a:lnTo>
                    <a:pt x="136588" y="598374"/>
                  </a:lnTo>
                  <a:lnTo>
                    <a:pt x="102450" y="569752"/>
                  </a:lnTo>
                  <a:lnTo>
                    <a:pt x="72603" y="538429"/>
                  </a:lnTo>
                  <a:lnTo>
                    <a:pt x="47399" y="504669"/>
                  </a:lnTo>
                  <a:lnTo>
                    <a:pt x="27187" y="468735"/>
                  </a:lnTo>
                  <a:lnTo>
                    <a:pt x="12316" y="430890"/>
                  </a:lnTo>
                  <a:lnTo>
                    <a:pt x="3137" y="391397"/>
                  </a:lnTo>
                  <a:lnTo>
                    <a:pt x="0" y="350520"/>
                  </a:lnTo>
                  <a:close/>
                </a:path>
              </a:pathLst>
            </a:custGeom>
            <a:ln w="6350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5505322" y="5197916"/>
            <a:ext cx="560070" cy="888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9090" marR="30480" lvl="0" indent="-301625" defTabSz="914400" eaLnBrk="1" fontAlgn="auto" latinLnBrk="0" hangingPunct="1">
              <a:lnSpc>
                <a:spcPct val="1572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=</a:t>
            </a:r>
            <a:r>
              <a:rPr kumimoji="0" sz="1200" b="0" i="0" u="none" strike="noStrike" kern="0" cap="none" spc="1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 </a:t>
            </a:r>
            <a:r>
              <a:rPr kumimoji="0" sz="2700" b="0" i="0" u="none" strike="noStrike" kern="0" cap="none" spc="-37" normalizeH="0" baseline="-16975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</a:t>
            </a:r>
            <a:r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x2 </a:t>
            </a:r>
            <a:r>
              <a:rPr kumimoji="0" sz="2700" b="0" i="0" u="none" strike="noStrike" kern="0" cap="none" spc="-37" normalizeH="0" baseline="-16975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</a:t>
            </a:r>
            <a:r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y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69316" rIns="0" bIns="0" rtlCol="0">
            <a:spAutoFit/>
          </a:bodyPr>
          <a:lstStyle/>
          <a:p>
            <a:pPr marL="850265">
              <a:lnSpc>
                <a:spcPct val="100000"/>
              </a:lnSpc>
              <a:spcBef>
                <a:spcPts val="100"/>
              </a:spcBef>
            </a:pPr>
            <a:r>
              <a:rPr sz="3200" spc="-10" dirty="0">
                <a:solidFill>
                  <a:srgbClr val="000000"/>
                </a:solidFill>
                <a:latin typeface="Times New Roman"/>
                <a:cs typeface="Times New Roman"/>
              </a:rPr>
              <a:t>Backpropagation</a:t>
            </a:r>
            <a:endParaRPr sz="32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14819" y="1020579"/>
            <a:ext cx="4103115" cy="511675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20239" y="1817497"/>
            <a:ext cx="4252701" cy="98451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00584" y="5553455"/>
            <a:ext cx="6105525" cy="646430"/>
          </a:xfrm>
          <a:prstGeom prst="rect">
            <a:avLst/>
          </a:prstGeom>
          <a:solidFill>
            <a:srgbClr val="E1EFD9"/>
          </a:solidFill>
        </p:spPr>
        <p:txBody>
          <a:bodyPr vert="horz" wrap="square" lIns="0" tIns="40640" rIns="0" bIns="0" rtlCol="0">
            <a:spAutoFit/>
          </a:bodyPr>
          <a:lstStyle/>
          <a:p>
            <a:pPr marL="90805" marR="0" lvl="0" indent="0" defTabSz="914400" eaLnBrk="1" fontAlgn="auto" latinLnBrk="0" hangingPunct="1">
              <a:lnSpc>
                <a:spcPts val="2135"/>
              </a:lnSpc>
              <a:spcBef>
                <a:spcPts val="320"/>
              </a:spcBef>
              <a:spcAft>
                <a:spcPts val="0"/>
              </a:spcAft>
              <a:buClrTx/>
              <a:buSzTx/>
              <a:buFontTx/>
              <a:buNone/>
              <a:tabLst>
                <a:tab pos="4194175" algn="l"/>
              </a:tabLst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gradient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function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f,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denoted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as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	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Cambria Math"/>
                <a:cs typeface="Cambria Math"/>
              </a:rPr>
              <a:t>∇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f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,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1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90805" marR="0" lvl="0" indent="0" defTabSz="914400" eaLnBrk="1" fontAlgn="auto" latinLnBrk="0" hangingPunct="1">
              <a:lnSpc>
                <a:spcPts val="21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collection</a:t>
            </a:r>
            <a:r>
              <a:rPr kumimoji="0" sz="1800" b="1" i="0" u="none" strike="noStrike" kern="0" cap="none" spc="-4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1800" b="1" i="0" u="none" strike="noStrike" kern="0" cap="none" spc="-3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all</a:t>
            </a:r>
            <a:r>
              <a:rPr kumimoji="0" sz="1800" b="1" i="0" u="none" strike="noStrike" kern="0" cap="none" spc="-3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its</a:t>
            </a:r>
            <a:r>
              <a:rPr kumimoji="0" sz="1800" b="1" i="0" u="none" strike="noStrike" kern="0" cap="none" spc="-2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partial</a:t>
            </a:r>
            <a:r>
              <a:rPr kumimoji="0" sz="1800" b="1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derivatives</a:t>
            </a:r>
            <a:r>
              <a:rPr kumimoji="0" sz="1800" b="1" i="0" u="none" strike="noStrike" kern="0" cap="none" spc="3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into</a:t>
            </a:r>
            <a:r>
              <a:rPr kumimoji="0" sz="1800" b="1" i="0" u="none" strike="noStrike" kern="0" cap="none" spc="-4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1800" b="1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1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vector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.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0584" y="3540252"/>
            <a:ext cx="1819656" cy="65684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86868" y="4413503"/>
            <a:ext cx="6105525" cy="92392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43815" rIns="0" bIns="0" rtlCol="0">
            <a:spAutoFit/>
          </a:bodyPr>
          <a:lstStyle/>
          <a:p>
            <a:pPr marL="90805" marR="137160" lvl="0" indent="0" defTabSz="914400" eaLnBrk="1" fontAlgn="auto" latinLnBrk="0" hangingPunct="1">
              <a:lnSpc>
                <a:spcPct val="98900"/>
              </a:lnSpc>
              <a:spcBef>
                <a:spcPts val="3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partial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derivative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notation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used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1800" b="1" i="0" u="none" strike="noStrike" kern="0" cap="none" spc="-3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specify</a:t>
            </a:r>
            <a:r>
              <a:rPr kumimoji="0" sz="1800" b="1" i="0" u="none" strike="noStrike" kern="0" cap="none" spc="-1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the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derivative</a:t>
            </a:r>
            <a:r>
              <a:rPr kumimoji="0" sz="1800" b="1" i="0" u="none" strike="noStrike" kern="0" cap="none" spc="2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1800" b="1" i="0" u="none" strike="noStrike" kern="0" cap="none" spc="-3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1800" b="1" i="0" u="none" strike="noStrike" kern="0" cap="none" spc="-4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function</a:t>
            </a:r>
            <a:r>
              <a:rPr kumimoji="0" sz="1800" b="1" i="0" u="none" strike="noStrike" kern="0" cap="none" spc="-5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1800" b="1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more</a:t>
            </a:r>
            <a:r>
              <a:rPr kumimoji="0" sz="1800" b="1" i="0" u="none" strike="noStrike" kern="0" cap="none" spc="-4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than</a:t>
            </a:r>
            <a:r>
              <a:rPr kumimoji="0" sz="1800" b="1" i="0" u="none" strike="noStrike" kern="0" cap="none" spc="-4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one</a:t>
            </a:r>
            <a:r>
              <a:rPr kumimoji="0" sz="1800" b="1" i="0" u="none" strike="noStrike" kern="0" cap="none" spc="-3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variable</a:t>
            </a:r>
            <a:r>
              <a:rPr kumimoji="0" sz="1800" b="1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2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with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respect</a:t>
            </a:r>
            <a:r>
              <a:rPr kumimoji="0" sz="1800" b="1" i="0" u="none" strike="noStrike" kern="0" cap="none" spc="-1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1800" b="1" i="0" u="none" strike="noStrike" kern="0" cap="none" spc="-2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one</a:t>
            </a:r>
            <a:r>
              <a:rPr kumimoji="0" sz="1800" b="1" i="0" u="none" strike="noStrike" kern="0" cap="none" spc="-2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1800" b="1" i="0" u="none" strike="noStrike" kern="0" cap="none" spc="-2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its</a:t>
            </a:r>
            <a:r>
              <a:rPr kumimoji="0" sz="1800" b="1" i="0" u="none" strike="noStrike" kern="0" cap="none" spc="-1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variables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.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38760" rIns="0" bIns="0" rtlCol="0">
            <a:spAutoFit/>
          </a:bodyPr>
          <a:lstStyle/>
          <a:p>
            <a:pPr marL="1932305">
              <a:lnSpc>
                <a:spcPct val="100000"/>
              </a:lnSpc>
              <a:spcBef>
                <a:spcPts val="100"/>
              </a:spcBef>
            </a:pPr>
            <a:r>
              <a:rPr sz="4400" spc="-10" dirty="0">
                <a:solidFill>
                  <a:srgbClr val="000000"/>
                </a:solidFill>
                <a:latin typeface="Times New Roman"/>
                <a:cs typeface="Times New Roman"/>
              </a:rPr>
              <a:t>Backpropagation</a:t>
            </a:r>
            <a:endParaRPr sz="44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54468" y="951327"/>
            <a:ext cx="4110525" cy="522544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20239" y="1817497"/>
            <a:ext cx="4252701" cy="98451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00584" y="5553455"/>
            <a:ext cx="6105525" cy="646430"/>
          </a:xfrm>
          <a:prstGeom prst="rect">
            <a:avLst/>
          </a:prstGeom>
          <a:solidFill>
            <a:srgbClr val="E1EFD9"/>
          </a:solidFill>
        </p:spPr>
        <p:txBody>
          <a:bodyPr vert="horz" wrap="square" lIns="0" tIns="40640" rIns="0" bIns="0" rtlCol="0">
            <a:spAutoFit/>
          </a:bodyPr>
          <a:lstStyle/>
          <a:p>
            <a:pPr marL="90805" marR="0" lvl="0" indent="0" defTabSz="914400" eaLnBrk="1" fontAlgn="auto" latinLnBrk="0" hangingPunct="1">
              <a:lnSpc>
                <a:spcPts val="2135"/>
              </a:lnSpc>
              <a:spcBef>
                <a:spcPts val="320"/>
              </a:spcBef>
              <a:spcAft>
                <a:spcPts val="0"/>
              </a:spcAft>
              <a:buClrTx/>
              <a:buSzTx/>
              <a:buFontTx/>
              <a:buNone/>
              <a:tabLst>
                <a:tab pos="4194175" algn="l"/>
              </a:tabLst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gradient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function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f,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denoted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as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	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Cambria Math"/>
                <a:cs typeface="Cambria Math"/>
              </a:rPr>
              <a:t>∇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f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,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1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90805" marR="0" lvl="0" indent="0" defTabSz="914400" eaLnBrk="1" fontAlgn="auto" latinLnBrk="0" hangingPunct="1">
              <a:lnSpc>
                <a:spcPts val="21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collection</a:t>
            </a:r>
            <a:r>
              <a:rPr kumimoji="0" sz="1800" b="1" i="0" u="none" strike="noStrike" kern="0" cap="none" spc="-4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1800" b="1" i="0" u="none" strike="noStrike" kern="0" cap="none" spc="-3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all</a:t>
            </a:r>
            <a:r>
              <a:rPr kumimoji="0" sz="1800" b="1" i="0" u="none" strike="noStrike" kern="0" cap="none" spc="-3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its</a:t>
            </a:r>
            <a:r>
              <a:rPr kumimoji="0" sz="1800" b="1" i="0" u="none" strike="noStrike" kern="0" cap="none" spc="-2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partial</a:t>
            </a:r>
            <a:r>
              <a:rPr kumimoji="0" sz="1800" b="1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derivatives</a:t>
            </a:r>
            <a:r>
              <a:rPr kumimoji="0" sz="1800" b="1" i="0" u="none" strike="noStrike" kern="0" cap="none" spc="3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into</a:t>
            </a:r>
            <a:r>
              <a:rPr kumimoji="0" sz="1800" b="1" i="0" u="none" strike="noStrike" kern="0" cap="none" spc="-4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1800" b="1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1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vector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.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0584" y="3540252"/>
            <a:ext cx="1819656" cy="65684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86868" y="4413503"/>
            <a:ext cx="6105525" cy="92392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43815" rIns="0" bIns="0" rtlCol="0">
            <a:spAutoFit/>
          </a:bodyPr>
          <a:lstStyle/>
          <a:p>
            <a:pPr marL="90805" marR="137160" lvl="0" indent="0" defTabSz="914400" eaLnBrk="1" fontAlgn="auto" latinLnBrk="0" hangingPunct="1">
              <a:lnSpc>
                <a:spcPct val="98900"/>
              </a:lnSpc>
              <a:spcBef>
                <a:spcPts val="3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partial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derivative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notation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used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1800" b="1" i="0" u="none" strike="noStrike" kern="0" cap="none" spc="-3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specify</a:t>
            </a:r>
            <a:r>
              <a:rPr kumimoji="0" sz="1800" b="1" i="0" u="none" strike="noStrike" kern="0" cap="none" spc="-1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the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derivative</a:t>
            </a:r>
            <a:r>
              <a:rPr kumimoji="0" sz="1800" b="1" i="0" u="none" strike="noStrike" kern="0" cap="none" spc="2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1800" b="1" i="0" u="none" strike="noStrike" kern="0" cap="none" spc="-3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1800" b="1" i="0" u="none" strike="noStrike" kern="0" cap="none" spc="-4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function</a:t>
            </a:r>
            <a:r>
              <a:rPr kumimoji="0" sz="1800" b="1" i="0" u="none" strike="noStrike" kern="0" cap="none" spc="-5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1800" b="1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more</a:t>
            </a:r>
            <a:r>
              <a:rPr kumimoji="0" sz="1800" b="1" i="0" u="none" strike="noStrike" kern="0" cap="none" spc="-4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than</a:t>
            </a:r>
            <a:r>
              <a:rPr kumimoji="0" sz="1800" b="1" i="0" u="none" strike="noStrike" kern="0" cap="none" spc="-4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one</a:t>
            </a:r>
            <a:r>
              <a:rPr kumimoji="0" sz="1800" b="1" i="0" u="none" strike="noStrike" kern="0" cap="none" spc="-3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variable</a:t>
            </a:r>
            <a:r>
              <a:rPr kumimoji="0" sz="1800" b="1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2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with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respect</a:t>
            </a:r>
            <a:r>
              <a:rPr kumimoji="0" sz="1800" b="1" i="0" u="none" strike="noStrike" kern="0" cap="none" spc="-1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1800" b="1" i="0" u="none" strike="noStrike" kern="0" cap="none" spc="-2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one</a:t>
            </a:r>
            <a:r>
              <a:rPr kumimoji="0" sz="1800" b="1" i="0" u="none" strike="noStrike" kern="0" cap="none" spc="-2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1800" b="1" i="0" u="none" strike="noStrike" kern="0" cap="none" spc="-2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its</a:t>
            </a:r>
            <a:r>
              <a:rPr kumimoji="0" sz="1800" b="1" i="0" u="none" strike="noStrike" kern="0" cap="none" spc="-1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variables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.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5379" rIns="0" bIns="0" rtlCol="0">
            <a:spAutoFit/>
          </a:bodyPr>
          <a:lstStyle/>
          <a:p>
            <a:pPr marL="1951989">
              <a:lnSpc>
                <a:spcPct val="100000"/>
              </a:lnSpc>
              <a:spcBef>
                <a:spcPts val="105"/>
              </a:spcBef>
            </a:pPr>
            <a:r>
              <a:rPr sz="4400" spc="-10" dirty="0">
                <a:solidFill>
                  <a:srgbClr val="000000"/>
                </a:solidFill>
                <a:latin typeface="Times New Roman"/>
                <a:cs typeface="Times New Roman"/>
              </a:rPr>
              <a:t>Backpropagation</a:t>
            </a:r>
            <a:endParaRPr sz="44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14616" y="901700"/>
            <a:ext cx="4229100" cy="51562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20239" y="1817497"/>
            <a:ext cx="4252701" cy="98451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00584" y="5553455"/>
            <a:ext cx="6105525" cy="646430"/>
          </a:xfrm>
          <a:prstGeom prst="rect">
            <a:avLst/>
          </a:prstGeom>
          <a:solidFill>
            <a:srgbClr val="E1EFD9"/>
          </a:solidFill>
        </p:spPr>
        <p:txBody>
          <a:bodyPr vert="horz" wrap="square" lIns="0" tIns="40640" rIns="0" bIns="0" rtlCol="0">
            <a:spAutoFit/>
          </a:bodyPr>
          <a:lstStyle/>
          <a:p>
            <a:pPr marL="90805" marR="0" lvl="0" indent="0" defTabSz="914400" eaLnBrk="1" fontAlgn="auto" latinLnBrk="0" hangingPunct="1">
              <a:lnSpc>
                <a:spcPts val="2135"/>
              </a:lnSpc>
              <a:spcBef>
                <a:spcPts val="320"/>
              </a:spcBef>
              <a:spcAft>
                <a:spcPts val="0"/>
              </a:spcAft>
              <a:buClrTx/>
              <a:buSzTx/>
              <a:buFontTx/>
              <a:buNone/>
              <a:tabLst>
                <a:tab pos="4194175" algn="l"/>
              </a:tabLst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gradient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function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f,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denoted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as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	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Cambria Math"/>
                <a:cs typeface="Cambria Math"/>
              </a:rPr>
              <a:t>∇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f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,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1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90805" marR="0" lvl="0" indent="0" defTabSz="914400" eaLnBrk="1" fontAlgn="auto" latinLnBrk="0" hangingPunct="1">
              <a:lnSpc>
                <a:spcPts val="21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collection</a:t>
            </a:r>
            <a:r>
              <a:rPr kumimoji="0" sz="1800" b="1" i="0" u="none" strike="noStrike" kern="0" cap="none" spc="-4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1800" b="1" i="0" u="none" strike="noStrike" kern="0" cap="none" spc="-3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all</a:t>
            </a:r>
            <a:r>
              <a:rPr kumimoji="0" sz="1800" b="1" i="0" u="none" strike="noStrike" kern="0" cap="none" spc="-3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its</a:t>
            </a:r>
            <a:r>
              <a:rPr kumimoji="0" sz="1800" b="1" i="0" u="none" strike="noStrike" kern="0" cap="none" spc="-2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partial</a:t>
            </a:r>
            <a:r>
              <a:rPr kumimoji="0" sz="1800" b="1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derivatives</a:t>
            </a:r>
            <a:r>
              <a:rPr kumimoji="0" sz="1800" b="1" i="0" u="none" strike="noStrike" kern="0" cap="none" spc="3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into</a:t>
            </a:r>
            <a:r>
              <a:rPr kumimoji="0" sz="1800" b="1" i="0" u="none" strike="noStrike" kern="0" cap="none" spc="-4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1800" b="1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1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vector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.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0584" y="3540252"/>
            <a:ext cx="1819656" cy="65684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86868" y="4413503"/>
            <a:ext cx="6105525" cy="92392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43815" rIns="0" bIns="0" rtlCol="0">
            <a:spAutoFit/>
          </a:bodyPr>
          <a:lstStyle/>
          <a:p>
            <a:pPr marL="90805" marR="137160" lvl="0" indent="0" defTabSz="914400" eaLnBrk="1" fontAlgn="auto" latinLnBrk="0" hangingPunct="1">
              <a:lnSpc>
                <a:spcPct val="98900"/>
              </a:lnSpc>
              <a:spcBef>
                <a:spcPts val="3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partial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derivative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notation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used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1800" b="1" i="0" u="none" strike="noStrike" kern="0" cap="none" spc="-3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specify</a:t>
            </a:r>
            <a:r>
              <a:rPr kumimoji="0" sz="1800" b="1" i="0" u="none" strike="noStrike" kern="0" cap="none" spc="-1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the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derivative</a:t>
            </a:r>
            <a:r>
              <a:rPr kumimoji="0" sz="1800" b="1" i="0" u="none" strike="noStrike" kern="0" cap="none" spc="2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1800" b="1" i="0" u="none" strike="noStrike" kern="0" cap="none" spc="-3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1800" b="1" i="0" u="none" strike="noStrike" kern="0" cap="none" spc="-4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function</a:t>
            </a:r>
            <a:r>
              <a:rPr kumimoji="0" sz="1800" b="1" i="0" u="none" strike="noStrike" kern="0" cap="none" spc="-5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1800" b="1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more</a:t>
            </a:r>
            <a:r>
              <a:rPr kumimoji="0" sz="1800" b="1" i="0" u="none" strike="noStrike" kern="0" cap="none" spc="-4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than</a:t>
            </a:r>
            <a:r>
              <a:rPr kumimoji="0" sz="1800" b="1" i="0" u="none" strike="noStrike" kern="0" cap="none" spc="-4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one</a:t>
            </a:r>
            <a:r>
              <a:rPr kumimoji="0" sz="1800" b="1" i="0" u="none" strike="noStrike" kern="0" cap="none" spc="-3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variable</a:t>
            </a:r>
            <a:r>
              <a:rPr kumimoji="0" sz="1800" b="1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2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with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respect</a:t>
            </a:r>
            <a:r>
              <a:rPr kumimoji="0" sz="1800" b="1" i="0" u="none" strike="noStrike" kern="0" cap="none" spc="-1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1800" b="1" i="0" u="none" strike="noStrike" kern="0" cap="none" spc="-2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one</a:t>
            </a:r>
            <a:r>
              <a:rPr kumimoji="0" sz="1800" b="1" i="0" u="none" strike="noStrike" kern="0" cap="none" spc="-2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1800" b="1" i="0" u="none" strike="noStrike" kern="0" cap="none" spc="-2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its</a:t>
            </a:r>
            <a:r>
              <a:rPr kumimoji="0" sz="1800" b="1" i="0" u="none" strike="noStrike" kern="0" cap="none" spc="-1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variables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.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5549" rIns="0" bIns="0" rtlCol="0">
            <a:spAutoFit/>
          </a:bodyPr>
          <a:lstStyle/>
          <a:p>
            <a:pPr marL="1964689">
              <a:lnSpc>
                <a:spcPct val="100000"/>
              </a:lnSpc>
              <a:spcBef>
                <a:spcPts val="105"/>
              </a:spcBef>
            </a:pPr>
            <a:r>
              <a:rPr sz="4400" spc="-10" dirty="0">
                <a:solidFill>
                  <a:srgbClr val="000000"/>
                </a:solidFill>
                <a:latin typeface="Times New Roman"/>
                <a:cs typeface="Times New Roman"/>
              </a:rPr>
              <a:t>Backpropagation</a:t>
            </a:r>
            <a:endParaRPr sz="44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86471" y="826401"/>
            <a:ext cx="4113215" cy="515072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20239" y="1817497"/>
            <a:ext cx="4252701" cy="98451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00584" y="5553455"/>
            <a:ext cx="6105525" cy="646430"/>
          </a:xfrm>
          <a:prstGeom prst="rect">
            <a:avLst/>
          </a:prstGeom>
          <a:solidFill>
            <a:srgbClr val="E1EFD9"/>
          </a:solidFill>
        </p:spPr>
        <p:txBody>
          <a:bodyPr vert="horz" wrap="square" lIns="0" tIns="40640" rIns="0" bIns="0" rtlCol="0">
            <a:spAutoFit/>
          </a:bodyPr>
          <a:lstStyle/>
          <a:p>
            <a:pPr marL="90805" marR="0" lvl="0" indent="0" defTabSz="914400" eaLnBrk="1" fontAlgn="auto" latinLnBrk="0" hangingPunct="1">
              <a:lnSpc>
                <a:spcPts val="2135"/>
              </a:lnSpc>
              <a:spcBef>
                <a:spcPts val="320"/>
              </a:spcBef>
              <a:spcAft>
                <a:spcPts val="0"/>
              </a:spcAft>
              <a:buClrTx/>
              <a:buSzTx/>
              <a:buFontTx/>
              <a:buNone/>
              <a:tabLst>
                <a:tab pos="4194175" algn="l"/>
              </a:tabLst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gradient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function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f,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denoted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as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	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Cambria Math"/>
                <a:cs typeface="Cambria Math"/>
              </a:rPr>
              <a:t>∇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f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,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1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90805" marR="0" lvl="0" indent="0" defTabSz="914400" eaLnBrk="1" fontAlgn="auto" latinLnBrk="0" hangingPunct="1">
              <a:lnSpc>
                <a:spcPts val="21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collection</a:t>
            </a:r>
            <a:r>
              <a:rPr kumimoji="0" sz="1800" b="1" i="0" u="none" strike="noStrike" kern="0" cap="none" spc="-4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1800" b="1" i="0" u="none" strike="noStrike" kern="0" cap="none" spc="-3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all</a:t>
            </a:r>
            <a:r>
              <a:rPr kumimoji="0" sz="1800" b="1" i="0" u="none" strike="noStrike" kern="0" cap="none" spc="-3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its</a:t>
            </a:r>
            <a:r>
              <a:rPr kumimoji="0" sz="1800" b="1" i="0" u="none" strike="noStrike" kern="0" cap="none" spc="-2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partial</a:t>
            </a:r>
            <a:r>
              <a:rPr kumimoji="0" sz="1800" b="1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derivatives</a:t>
            </a:r>
            <a:r>
              <a:rPr kumimoji="0" sz="1800" b="1" i="0" u="none" strike="noStrike" kern="0" cap="none" spc="3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into</a:t>
            </a:r>
            <a:r>
              <a:rPr kumimoji="0" sz="1800" b="1" i="0" u="none" strike="noStrike" kern="0" cap="none" spc="-4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1800" b="1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1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vector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.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0584" y="3540252"/>
            <a:ext cx="1819656" cy="65684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86868" y="4413503"/>
            <a:ext cx="6105525" cy="92392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43815" rIns="0" bIns="0" rtlCol="0">
            <a:spAutoFit/>
          </a:bodyPr>
          <a:lstStyle/>
          <a:p>
            <a:pPr marL="90805" marR="137160" lvl="0" indent="0" defTabSz="914400" eaLnBrk="1" fontAlgn="auto" latinLnBrk="0" hangingPunct="1">
              <a:lnSpc>
                <a:spcPct val="98900"/>
              </a:lnSpc>
              <a:spcBef>
                <a:spcPts val="3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partial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derivative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notation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used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1800" b="1" i="0" u="none" strike="noStrike" kern="0" cap="none" spc="-3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specify</a:t>
            </a:r>
            <a:r>
              <a:rPr kumimoji="0" sz="1800" b="1" i="0" u="none" strike="noStrike" kern="0" cap="none" spc="-1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the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derivative</a:t>
            </a:r>
            <a:r>
              <a:rPr kumimoji="0" sz="1800" b="1" i="0" u="none" strike="noStrike" kern="0" cap="none" spc="2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1800" b="1" i="0" u="none" strike="noStrike" kern="0" cap="none" spc="-3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1800" b="1" i="0" u="none" strike="noStrike" kern="0" cap="none" spc="-4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function</a:t>
            </a:r>
            <a:r>
              <a:rPr kumimoji="0" sz="1800" b="1" i="0" u="none" strike="noStrike" kern="0" cap="none" spc="-5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1800" b="1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more</a:t>
            </a:r>
            <a:r>
              <a:rPr kumimoji="0" sz="1800" b="1" i="0" u="none" strike="noStrike" kern="0" cap="none" spc="-4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than</a:t>
            </a:r>
            <a:r>
              <a:rPr kumimoji="0" sz="1800" b="1" i="0" u="none" strike="noStrike" kern="0" cap="none" spc="-4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one</a:t>
            </a:r>
            <a:r>
              <a:rPr kumimoji="0" sz="1800" b="1" i="0" u="none" strike="noStrike" kern="0" cap="none" spc="-3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variable</a:t>
            </a:r>
            <a:r>
              <a:rPr kumimoji="0" sz="1800" b="1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2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with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respect</a:t>
            </a:r>
            <a:r>
              <a:rPr kumimoji="0" sz="1800" b="1" i="0" u="none" strike="noStrike" kern="0" cap="none" spc="-1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1800" b="1" i="0" u="none" strike="noStrike" kern="0" cap="none" spc="-2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one</a:t>
            </a:r>
            <a:r>
              <a:rPr kumimoji="0" sz="1800" b="1" i="0" u="none" strike="noStrike" kern="0" cap="none" spc="-2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1800" b="1" i="0" u="none" strike="noStrike" kern="0" cap="none" spc="-2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its</a:t>
            </a:r>
            <a:r>
              <a:rPr kumimoji="0" sz="1800" b="1" i="0" u="none" strike="noStrike" kern="0" cap="none" spc="-1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variables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.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29844" rIns="0" bIns="0" rtlCol="0">
            <a:spAutoFit/>
          </a:bodyPr>
          <a:lstStyle/>
          <a:p>
            <a:pPr marL="850265">
              <a:lnSpc>
                <a:spcPct val="100000"/>
              </a:lnSpc>
              <a:spcBef>
                <a:spcPts val="95"/>
              </a:spcBef>
            </a:pPr>
            <a:r>
              <a:rPr sz="2500" dirty="0">
                <a:solidFill>
                  <a:srgbClr val="000000"/>
                </a:solidFill>
                <a:latin typeface="Times New Roman"/>
                <a:cs typeface="Times New Roman"/>
              </a:rPr>
              <a:t>Learning</a:t>
            </a:r>
            <a:r>
              <a:rPr sz="2500" spc="-7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000000"/>
                </a:solidFill>
                <a:latin typeface="Times New Roman"/>
                <a:cs typeface="Times New Roman"/>
              </a:rPr>
              <a:t>algorithm-</a:t>
            </a:r>
            <a:r>
              <a:rPr sz="2500" spc="-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000000"/>
                </a:solidFill>
                <a:latin typeface="Times New Roman"/>
                <a:cs typeface="Times New Roman"/>
              </a:rPr>
              <a:t>Back</a:t>
            </a:r>
            <a:r>
              <a:rPr sz="25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500" spc="-10" dirty="0">
                <a:solidFill>
                  <a:srgbClr val="000000"/>
                </a:solidFill>
                <a:latin typeface="Times New Roman"/>
                <a:cs typeface="Times New Roman"/>
              </a:rPr>
              <a:t>propagation</a:t>
            </a:r>
            <a:endParaRPr sz="25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3410" y="2133600"/>
            <a:ext cx="8825787" cy="4152615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3337" rIns="0" bIns="0" rtlCol="0">
            <a:spAutoFit/>
          </a:bodyPr>
          <a:lstStyle/>
          <a:p>
            <a:pPr marL="850265">
              <a:lnSpc>
                <a:spcPct val="100000"/>
              </a:lnSpc>
              <a:spcBef>
                <a:spcPts val="95"/>
              </a:spcBef>
            </a:pPr>
            <a:r>
              <a:rPr b="0" dirty="0">
                <a:solidFill>
                  <a:srgbClr val="000000"/>
                </a:solidFill>
                <a:latin typeface="Calibri Light"/>
                <a:cs typeface="Calibri Light"/>
              </a:rPr>
              <a:t>Multiple</a:t>
            </a:r>
            <a:r>
              <a:rPr b="0" spc="-16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b="0" spc="-10" dirty="0">
                <a:solidFill>
                  <a:srgbClr val="000000"/>
                </a:solidFill>
                <a:latin typeface="Calibri Light"/>
                <a:cs typeface="Calibri Light"/>
              </a:rPr>
              <a:t>paths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233159" y="1641348"/>
            <a:ext cx="5587365" cy="258635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1115" rIns="0" bIns="0" rtlCol="0">
            <a:spAutoFit/>
          </a:bodyPr>
          <a:lstStyle/>
          <a:p>
            <a:pPr marL="379095" marR="0" lvl="0" indent="-286385" defTabSz="914400" eaLnBrk="1" fontAlgn="auto" latinLnBrk="0" hangingPunct="1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379095" algn="l"/>
              </a:tabLst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There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are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different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paths</a:t>
            </a:r>
            <a:r>
              <a:rPr kumimoji="0" sz="18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connecting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w131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with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loss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79095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function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79095" marR="553720" lvl="0" indent="-28702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379095" algn="l"/>
              </a:tabLst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Consider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all</a:t>
            </a:r>
            <a:r>
              <a:rPr kumimoji="0" sz="18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those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paths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through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which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gradient</a:t>
            </a:r>
            <a:r>
              <a:rPr kumimoji="0" sz="18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flowing</a:t>
            </a:r>
            <a:r>
              <a:rPr kumimoji="0" sz="18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back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79095" marR="0" lvl="0" indent="-286385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379095" algn="l"/>
              </a:tabLst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Sum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up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gradients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along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all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these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paths(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here)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79095" marR="92075" lvl="0" indent="-28702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379095" algn="l"/>
              </a:tabLst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ie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Apply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independent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chain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rules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all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those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multiple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paths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sum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up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derivatives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across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all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these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paths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get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total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derivative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loss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function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w.r.t 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w131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08452" y="1571526"/>
            <a:ext cx="4156330" cy="3740925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8739" y="-67818"/>
            <a:ext cx="9425939" cy="760720"/>
          </a:xfrm>
          <a:prstGeom prst="rect">
            <a:avLst/>
          </a:prstGeom>
        </p:spPr>
        <p:txBody>
          <a:bodyPr vert="horz" wrap="square" lIns="0" tIns="372363" rIns="0" bIns="0" rtlCol="0" anchor="t">
            <a:spAutoFit/>
          </a:bodyPr>
          <a:lstStyle/>
          <a:p>
            <a:pPr marL="850265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solidFill>
                  <a:srgbClr val="000000"/>
                </a:solidFill>
                <a:latin typeface="Times New Roman"/>
                <a:cs typeface="Times New Roman"/>
              </a:rPr>
              <a:t>Learning Algorithm- backpropagation</a:t>
            </a:r>
            <a:endParaRPr sz="250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87C312-BFE8-7586-CDDD-A12BB6E4E2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2201" y="693099"/>
            <a:ext cx="9636453" cy="5640037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0844" y="2718257"/>
            <a:ext cx="7028180" cy="1764030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12700" marR="5080">
              <a:lnSpc>
                <a:spcPts val="6480"/>
              </a:lnSpc>
              <a:spcBef>
                <a:spcPts val="915"/>
              </a:spcBef>
            </a:pPr>
            <a:r>
              <a:rPr sz="6000" b="0" dirty="0">
                <a:solidFill>
                  <a:srgbClr val="000000"/>
                </a:solidFill>
                <a:latin typeface="Calibri Light"/>
                <a:cs typeface="Calibri Light"/>
              </a:rPr>
              <a:t>Practice</a:t>
            </a:r>
            <a:r>
              <a:rPr sz="6000" b="0" spc="-24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6000" b="0" dirty="0">
                <a:solidFill>
                  <a:srgbClr val="000000"/>
                </a:solidFill>
                <a:latin typeface="Calibri Light"/>
                <a:cs typeface="Calibri Light"/>
              </a:rPr>
              <a:t>Problem-</a:t>
            </a:r>
            <a:r>
              <a:rPr sz="6000" b="0" spc="-24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6000" b="0" spc="-20" dirty="0">
                <a:solidFill>
                  <a:srgbClr val="000000"/>
                </a:solidFill>
                <a:latin typeface="Calibri Light"/>
                <a:cs typeface="Calibri Light"/>
              </a:rPr>
              <a:t>Back </a:t>
            </a:r>
            <a:r>
              <a:rPr sz="6000" b="0" spc="-10" dirty="0">
                <a:solidFill>
                  <a:srgbClr val="000000"/>
                </a:solidFill>
                <a:latin typeface="Calibri Light"/>
                <a:cs typeface="Calibri Light"/>
              </a:rPr>
              <a:t>Propagation</a:t>
            </a:r>
            <a:endParaRPr sz="60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2756" y="502948"/>
            <a:ext cx="3848100" cy="309595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69989" y="1770916"/>
            <a:ext cx="3848100" cy="309595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09778" y="3721100"/>
            <a:ext cx="11588115" cy="1960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15188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Georgia"/>
                <a:cs typeface="Georgia"/>
              </a:rPr>
              <a:t>In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Georgia"/>
                <a:cs typeface="Georgia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Georgia"/>
                <a:cs typeface="Georgia"/>
              </a:rPr>
              <a:t>order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Georgia"/>
                <a:cs typeface="Georgia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Georgia"/>
                <a:cs typeface="Georgia"/>
              </a:rPr>
              <a:t>to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Georgia"/>
                <a:cs typeface="Georgia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Georgia"/>
                <a:cs typeface="Georgia"/>
              </a:rPr>
              <a:t>have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Georgia"/>
                <a:cs typeface="Georgia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Georgia"/>
                <a:cs typeface="Georgia"/>
              </a:rPr>
              <a:t>some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Georgia"/>
                <a:cs typeface="Georgia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Georgia"/>
                <a:cs typeface="Georgia"/>
              </a:rPr>
              <a:t>numbers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Georgia"/>
                <a:cs typeface="Georgia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Georgia"/>
                <a:cs typeface="Georgia"/>
              </a:rPr>
              <a:t>to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Georgia"/>
                <a:cs typeface="Georgia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Georgia"/>
                <a:cs typeface="Georgia"/>
              </a:rPr>
              <a:t>work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Georgia"/>
                <a:cs typeface="Georgia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Georgia"/>
                <a:cs typeface="Georgia"/>
              </a:rPr>
              <a:t>with,</a:t>
            </a:r>
            <a:r>
              <a:rPr kumimoji="0" sz="1800" b="0" i="0" u="none" strike="noStrike" kern="0" cap="none" spc="-8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Georgia"/>
                <a:cs typeface="Georgia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Georgia"/>
                <a:cs typeface="Georgia"/>
              </a:rPr>
              <a:t>here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Georgia"/>
                <a:cs typeface="Georgia"/>
              </a:rPr>
              <a:t> 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Georgia"/>
                <a:cs typeface="Georgia"/>
              </a:rPr>
              <a:t>are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Georgia"/>
                <a:cs typeface="Georgia"/>
              </a:rPr>
              <a:t>the</a:t>
            </a:r>
            <a:r>
              <a:rPr kumimoji="0" sz="1800" b="0" i="0" u="none" strike="noStrike" kern="0" cap="none" spc="35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Georgia"/>
                <a:cs typeface="Georgia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eorgia"/>
                <a:cs typeface="Georgia"/>
              </a:rPr>
              <a:t>initial</a:t>
            </a:r>
            <a:r>
              <a:rPr kumimoji="0" sz="1800" b="0" i="0" u="none" strike="noStrike" kern="0" cap="none" spc="4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eorgia"/>
                <a:cs typeface="Georgia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eorgia"/>
                <a:cs typeface="Georgia"/>
              </a:rPr>
              <a:t>weights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Georgia"/>
                <a:cs typeface="Georgia"/>
              </a:rPr>
              <a:t>,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Georgia"/>
                <a:cs typeface="Georgia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Georgia"/>
                <a:cs typeface="Georgia"/>
              </a:rPr>
              <a:t>the</a:t>
            </a:r>
            <a:r>
              <a:rPr kumimoji="0" sz="1800" b="0" i="0" u="none" strike="noStrike" kern="0" cap="none" spc="4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Georgia"/>
                <a:cs typeface="Georgia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Georgia"/>
                <a:cs typeface="Georgia"/>
              </a:rPr>
              <a:t>biases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Georgia"/>
                <a:cs typeface="Georgia"/>
              </a:rPr>
              <a:t>,</a:t>
            </a:r>
            <a:r>
              <a:rPr kumimoji="0" sz="1800" b="0" i="0" u="none" strike="noStrike" kern="0" cap="none" spc="-55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Georgia"/>
                <a:cs typeface="Georgia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Georgia"/>
                <a:cs typeface="Georgia"/>
              </a:rPr>
              <a:t>and</a:t>
            </a:r>
            <a:r>
              <a:rPr kumimoji="0" sz="1800" b="0" i="0" u="none" strike="noStrike" kern="0" cap="none" spc="65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Georgia"/>
                <a:cs typeface="Georgia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eorgia"/>
                <a:cs typeface="Georgia"/>
              </a:rPr>
              <a:t>training inputs/outputs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Georgia"/>
                <a:cs typeface="Georgia"/>
              </a:rPr>
              <a:t>: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  <a:cs typeface="Georgia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  <a:cs typeface="Georgia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3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  <a:cs typeface="Georgia"/>
            </a:endParaRPr>
          </a:p>
          <a:p>
            <a:pPr marL="5745480" marR="5080" lvl="0" indent="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Georgia"/>
                <a:cs typeface="Georgia"/>
              </a:rPr>
              <a:t>Given</a:t>
            </a:r>
            <a:r>
              <a:rPr kumimoji="0" sz="1800" b="0" i="0" u="none" strike="noStrike" kern="0" cap="none" spc="5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Georgia"/>
                <a:cs typeface="Georgia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Georgia"/>
                <a:cs typeface="Georgia"/>
              </a:rPr>
              <a:t>a</a:t>
            </a:r>
            <a:r>
              <a:rPr kumimoji="0" sz="1800" b="0" i="0" u="none" strike="noStrike" kern="0" cap="none" spc="2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Georgia"/>
                <a:cs typeface="Georgia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Georgia"/>
                <a:cs typeface="Georgia"/>
              </a:rPr>
              <a:t>single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Georgia"/>
                <a:cs typeface="Georgia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Georgia"/>
                <a:cs typeface="Georgia"/>
              </a:rPr>
              <a:t>training</a:t>
            </a:r>
            <a:r>
              <a:rPr kumimoji="0" sz="1800" b="0" i="0" u="none" strike="noStrike" kern="0" cap="none" spc="5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Georgia"/>
                <a:cs typeface="Georgia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Georgia"/>
                <a:cs typeface="Georgia"/>
              </a:rPr>
              <a:t>set: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Georgia"/>
                <a:cs typeface="Georgia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Georgia"/>
                <a:cs typeface="Georgia"/>
              </a:rPr>
              <a:t>given</a:t>
            </a:r>
            <a:r>
              <a:rPr kumimoji="0" sz="1800" b="0" i="0" u="none" strike="noStrike" kern="0" cap="none" spc="2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Georgia"/>
                <a:cs typeface="Georgia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Georgia"/>
                <a:cs typeface="Georgia"/>
              </a:rPr>
              <a:t>inputs</a:t>
            </a:r>
            <a:r>
              <a:rPr kumimoji="0" sz="1800" b="0" i="0" u="none" strike="noStrike" kern="0" cap="none" spc="5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Georgia"/>
                <a:cs typeface="Georgia"/>
              </a:rPr>
              <a:t> </a:t>
            </a:r>
            <a:r>
              <a:rPr kumimoji="0" sz="1800" b="0" i="0" u="none" strike="noStrike" kern="0" cap="none" spc="-6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Georgia"/>
                <a:cs typeface="Georgia"/>
              </a:rPr>
              <a:t>0.05</a:t>
            </a:r>
            <a:r>
              <a:rPr kumimoji="0" sz="1800" b="0" i="0" u="none" strike="noStrike" kern="0" cap="none" spc="1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Georgia"/>
                <a:cs typeface="Georgia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Georgia"/>
                <a:cs typeface="Georgia"/>
              </a:rPr>
              <a:t>and</a:t>
            </a:r>
            <a:r>
              <a:rPr kumimoji="0" sz="1800" b="0" i="0" u="none" strike="noStrike" kern="0" cap="none" spc="5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Georgia"/>
                <a:cs typeface="Georgia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Georgia"/>
                <a:cs typeface="Georgia"/>
              </a:rPr>
              <a:t>0.10,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Georgia"/>
                <a:cs typeface="Georgia"/>
              </a:rPr>
              <a:t> 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Georgia"/>
                <a:cs typeface="Georgia"/>
              </a:rPr>
              <a:t>we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Georgia"/>
                <a:cs typeface="Georgia"/>
              </a:rPr>
              <a:t>want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Georgia"/>
                <a:cs typeface="Georgia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Georgia"/>
                <a:cs typeface="Georgia"/>
              </a:rPr>
              <a:t>the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Georgia"/>
                <a:cs typeface="Georgia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Georgia"/>
                <a:cs typeface="Georgia"/>
              </a:rPr>
              <a:t>neural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Georgia"/>
                <a:cs typeface="Georgia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Georgia"/>
                <a:cs typeface="Georgia"/>
              </a:rPr>
              <a:t>network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Georgia"/>
                <a:cs typeface="Georgia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Georgia"/>
                <a:cs typeface="Georgia"/>
              </a:rPr>
              <a:t>to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Georgia"/>
                <a:cs typeface="Georgia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Georgia"/>
                <a:cs typeface="Georgia"/>
              </a:rPr>
              <a:t>output 0.01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Georgia"/>
                <a:cs typeface="Georgia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Georgia"/>
                <a:cs typeface="Georgia"/>
              </a:rPr>
              <a:t>and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Georgia"/>
                <a:cs typeface="Georgia"/>
              </a:rPr>
              <a:t>0.99.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  <a:cs typeface="Georgi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787009" y="454914"/>
            <a:ext cx="587438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0" dirty="0">
                <a:solidFill>
                  <a:srgbClr val="444444"/>
                </a:solidFill>
                <a:latin typeface="Georgia"/>
                <a:cs typeface="Georgia"/>
              </a:rPr>
              <a:t>The</a:t>
            </a:r>
            <a:r>
              <a:rPr sz="1800" b="0" spc="35" dirty="0">
                <a:solidFill>
                  <a:srgbClr val="444444"/>
                </a:solidFill>
                <a:latin typeface="Georgia"/>
                <a:cs typeface="Georgia"/>
              </a:rPr>
              <a:t> </a:t>
            </a:r>
            <a:r>
              <a:rPr sz="1800" b="0" dirty="0">
                <a:solidFill>
                  <a:srgbClr val="444444"/>
                </a:solidFill>
                <a:latin typeface="Georgia"/>
                <a:cs typeface="Georgia"/>
              </a:rPr>
              <a:t>goal</a:t>
            </a:r>
            <a:r>
              <a:rPr sz="1800" b="0" spc="30" dirty="0">
                <a:solidFill>
                  <a:srgbClr val="444444"/>
                </a:solidFill>
                <a:latin typeface="Georgia"/>
                <a:cs typeface="Georgia"/>
              </a:rPr>
              <a:t> </a:t>
            </a:r>
            <a:r>
              <a:rPr sz="1800" b="0" dirty="0">
                <a:solidFill>
                  <a:srgbClr val="444444"/>
                </a:solidFill>
                <a:latin typeface="Georgia"/>
                <a:cs typeface="Georgia"/>
              </a:rPr>
              <a:t>of</a:t>
            </a:r>
            <a:r>
              <a:rPr sz="1800" b="0" spc="40" dirty="0">
                <a:solidFill>
                  <a:srgbClr val="444444"/>
                </a:solidFill>
                <a:latin typeface="Georgia"/>
                <a:cs typeface="Georgia"/>
              </a:rPr>
              <a:t> </a:t>
            </a:r>
            <a:r>
              <a:rPr sz="1800" b="0" dirty="0">
                <a:solidFill>
                  <a:srgbClr val="444444"/>
                </a:solidFill>
                <a:latin typeface="Georgia"/>
                <a:cs typeface="Georgia"/>
              </a:rPr>
              <a:t>backpropagation</a:t>
            </a:r>
            <a:r>
              <a:rPr sz="1800" b="0" spc="35" dirty="0">
                <a:solidFill>
                  <a:srgbClr val="444444"/>
                </a:solidFill>
                <a:latin typeface="Georgia"/>
                <a:cs typeface="Georgia"/>
              </a:rPr>
              <a:t> </a:t>
            </a:r>
            <a:r>
              <a:rPr sz="1800" b="0" dirty="0">
                <a:solidFill>
                  <a:srgbClr val="444444"/>
                </a:solidFill>
                <a:latin typeface="Georgia"/>
                <a:cs typeface="Georgia"/>
              </a:rPr>
              <a:t>is</a:t>
            </a:r>
            <a:r>
              <a:rPr sz="1800" b="0" spc="20" dirty="0">
                <a:solidFill>
                  <a:srgbClr val="444444"/>
                </a:solidFill>
                <a:latin typeface="Georgia"/>
                <a:cs typeface="Georgia"/>
              </a:rPr>
              <a:t> </a:t>
            </a:r>
            <a:r>
              <a:rPr sz="1800" b="0" dirty="0">
                <a:solidFill>
                  <a:srgbClr val="444444"/>
                </a:solidFill>
                <a:latin typeface="Georgia"/>
                <a:cs typeface="Georgia"/>
              </a:rPr>
              <a:t>to</a:t>
            </a:r>
            <a:r>
              <a:rPr sz="1800" b="0" spc="40" dirty="0">
                <a:solidFill>
                  <a:srgbClr val="444444"/>
                </a:solidFill>
                <a:latin typeface="Georgia"/>
                <a:cs typeface="Georgia"/>
              </a:rPr>
              <a:t> </a:t>
            </a:r>
            <a:r>
              <a:rPr sz="1800" b="0" dirty="0">
                <a:solidFill>
                  <a:srgbClr val="444444"/>
                </a:solidFill>
                <a:latin typeface="Georgia"/>
                <a:cs typeface="Georgia"/>
              </a:rPr>
              <a:t>optimize</a:t>
            </a:r>
            <a:r>
              <a:rPr sz="1800" b="0" spc="35" dirty="0">
                <a:solidFill>
                  <a:srgbClr val="444444"/>
                </a:solidFill>
                <a:latin typeface="Georgia"/>
                <a:cs typeface="Georgia"/>
              </a:rPr>
              <a:t> </a:t>
            </a:r>
            <a:r>
              <a:rPr sz="1800" b="0" dirty="0">
                <a:solidFill>
                  <a:srgbClr val="444444"/>
                </a:solidFill>
                <a:latin typeface="Georgia"/>
                <a:cs typeface="Georgia"/>
              </a:rPr>
              <a:t>the</a:t>
            </a:r>
            <a:r>
              <a:rPr sz="1800" b="0" spc="35" dirty="0">
                <a:solidFill>
                  <a:srgbClr val="444444"/>
                </a:solidFill>
                <a:latin typeface="Georgia"/>
                <a:cs typeface="Georgia"/>
              </a:rPr>
              <a:t> </a:t>
            </a:r>
            <a:r>
              <a:rPr sz="1800" b="0" dirty="0">
                <a:solidFill>
                  <a:srgbClr val="444444"/>
                </a:solidFill>
                <a:latin typeface="Georgia"/>
                <a:cs typeface="Georgia"/>
              </a:rPr>
              <a:t>weights</a:t>
            </a:r>
            <a:r>
              <a:rPr sz="1800" b="0" spc="45" dirty="0">
                <a:solidFill>
                  <a:srgbClr val="444444"/>
                </a:solidFill>
                <a:latin typeface="Georgia"/>
                <a:cs typeface="Georgia"/>
              </a:rPr>
              <a:t> </a:t>
            </a:r>
            <a:r>
              <a:rPr sz="1800" b="0" spc="-25" dirty="0">
                <a:solidFill>
                  <a:srgbClr val="444444"/>
                </a:solidFill>
                <a:latin typeface="Georgia"/>
                <a:cs typeface="Georgia"/>
              </a:rPr>
              <a:t>so </a:t>
            </a:r>
            <a:r>
              <a:rPr sz="1800" b="0" dirty="0">
                <a:solidFill>
                  <a:srgbClr val="444444"/>
                </a:solidFill>
                <a:latin typeface="Georgia"/>
                <a:cs typeface="Georgia"/>
              </a:rPr>
              <a:t>that</a:t>
            </a:r>
            <a:r>
              <a:rPr sz="1800" b="0" spc="5" dirty="0">
                <a:solidFill>
                  <a:srgbClr val="444444"/>
                </a:solidFill>
                <a:latin typeface="Georgia"/>
                <a:cs typeface="Georgia"/>
              </a:rPr>
              <a:t> </a:t>
            </a:r>
            <a:r>
              <a:rPr sz="1800" b="0" dirty="0">
                <a:solidFill>
                  <a:srgbClr val="444444"/>
                </a:solidFill>
                <a:latin typeface="Georgia"/>
                <a:cs typeface="Georgia"/>
              </a:rPr>
              <a:t>the</a:t>
            </a:r>
            <a:r>
              <a:rPr sz="1800" b="0" spc="15" dirty="0">
                <a:solidFill>
                  <a:srgbClr val="444444"/>
                </a:solidFill>
                <a:latin typeface="Georgia"/>
                <a:cs typeface="Georgia"/>
              </a:rPr>
              <a:t> </a:t>
            </a:r>
            <a:r>
              <a:rPr sz="1800" b="0" dirty="0">
                <a:solidFill>
                  <a:srgbClr val="444444"/>
                </a:solidFill>
                <a:latin typeface="Georgia"/>
                <a:cs typeface="Georgia"/>
              </a:rPr>
              <a:t>neural</a:t>
            </a:r>
            <a:r>
              <a:rPr sz="1800" b="0" spc="15" dirty="0">
                <a:solidFill>
                  <a:srgbClr val="444444"/>
                </a:solidFill>
                <a:latin typeface="Georgia"/>
                <a:cs typeface="Georgia"/>
              </a:rPr>
              <a:t> </a:t>
            </a:r>
            <a:r>
              <a:rPr sz="1800" b="0" dirty="0">
                <a:solidFill>
                  <a:srgbClr val="444444"/>
                </a:solidFill>
                <a:latin typeface="Georgia"/>
                <a:cs typeface="Georgia"/>
              </a:rPr>
              <a:t>network</a:t>
            </a:r>
            <a:r>
              <a:rPr sz="1800" b="0" spc="20" dirty="0">
                <a:solidFill>
                  <a:srgbClr val="444444"/>
                </a:solidFill>
                <a:latin typeface="Georgia"/>
                <a:cs typeface="Georgia"/>
              </a:rPr>
              <a:t> </a:t>
            </a:r>
            <a:r>
              <a:rPr sz="1800" b="0" dirty="0">
                <a:solidFill>
                  <a:srgbClr val="444444"/>
                </a:solidFill>
                <a:latin typeface="Georgia"/>
                <a:cs typeface="Georgia"/>
              </a:rPr>
              <a:t>can</a:t>
            </a:r>
            <a:r>
              <a:rPr sz="1800" b="0" spc="15" dirty="0">
                <a:solidFill>
                  <a:srgbClr val="444444"/>
                </a:solidFill>
                <a:latin typeface="Georgia"/>
                <a:cs typeface="Georgia"/>
              </a:rPr>
              <a:t> </a:t>
            </a:r>
            <a:r>
              <a:rPr sz="1800" b="0" dirty="0">
                <a:solidFill>
                  <a:srgbClr val="444444"/>
                </a:solidFill>
                <a:latin typeface="Georgia"/>
                <a:cs typeface="Georgia"/>
              </a:rPr>
              <a:t>learn</a:t>
            </a:r>
            <a:r>
              <a:rPr sz="1800" b="0" spc="10" dirty="0">
                <a:solidFill>
                  <a:srgbClr val="444444"/>
                </a:solidFill>
                <a:latin typeface="Georgia"/>
                <a:cs typeface="Georgia"/>
              </a:rPr>
              <a:t> </a:t>
            </a:r>
            <a:r>
              <a:rPr sz="1800" b="0" dirty="0">
                <a:solidFill>
                  <a:srgbClr val="444444"/>
                </a:solidFill>
                <a:latin typeface="Georgia"/>
                <a:cs typeface="Georgia"/>
              </a:rPr>
              <a:t>how</a:t>
            </a:r>
            <a:r>
              <a:rPr sz="1800" b="0" spc="35" dirty="0">
                <a:solidFill>
                  <a:srgbClr val="444444"/>
                </a:solidFill>
                <a:latin typeface="Georgia"/>
                <a:cs typeface="Georgia"/>
              </a:rPr>
              <a:t> </a:t>
            </a:r>
            <a:r>
              <a:rPr sz="1800" b="0" dirty="0">
                <a:solidFill>
                  <a:srgbClr val="444444"/>
                </a:solidFill>
                <a:latin typeface="Georgia"/>
                <a:cs typeface="Georgia"/>
              </a:rPr>
              <a:t>to</a:t>
            </a:r>
            <a:r>
              <a:rPr sz="1800" b="0" spc="15" dirty="0">
                <a:solidFill>
                  <a:srgbClr val="444444"/>
                </a:solidFill>
                <a:latin typeface="Georgia"/>
                <a:cs typeface="Georgia"/>
              </a:rPr>
              <a:t> </a:t>
            </a:r>
            <a:r>
              <a:rPr sz="1800" b="0" dirty="0">
                <a:solidFill>
                  <a:srgbClr val="444444"/>
                </a:solidFill>
                <a:latin typeface="Georgia"/>
                <a:cs typeface="Georgia"/>
              </a:rPr>
              <a:t>correctly</a:t>
            </a:r>
            <a:r>
              <a:rPr sz="1800" b="0" spc="-10" dirty="0">
                <a:solidFill>
                  <a:srgbClr val="444444"/>
                </a:solidFill>
                <a:latin typeface="Georgia"/>
                <a:cs typeface="Georgia"/>
              </a:rPr>
              <a:t> </a:t>
            </a:r>
            <a:r>
              <a:rPr sz="1800" b="0" spc="-25" dirty="0">
                <a:solidFill>
                  <a:srgbClr val="444444"/>
                </a:solidFill>
                <a:latin typeface="Georgia"/>
                <a:cs typeface="Georgia"/>
              </a:rPr>
              <a:t>map </a:t>
            </a:r>
            <a:r>
              <a:rPr sz="1800" b="0" spc="-10" dirty="0">
                <a:solidFill>
                  <a:srgbClr val="444444"/>
                </a:solidFill>
                <a:latin typeface="Georgia"/>
                <a:cs typeface="Georgia"/>
              </a:rPr>
              <a:t>arbitrary</a:t>
            </a:r>
            <a:r>
              <a:rPr sz="1800" b="0" spc="-15" dirty="0">
                <a:solidFill>
                  <a:srgbClr val="444444"/>
                </a:solidFill>
                <a:latin typeface="Georgia"/>
                <a:cs typeface="Georgia"/>
              </a:rPr>
              <a:t> </a:t>
            </a:r>
            <a:r>
              <a:rPr sz="1800" b="0" dirty="0">
                <a:solidFill>
                  <a:srgbClr val="444444"/>
                </a:solidFill>
                <a:latin typeface="Georgia"/>
                <a:cs typeface="Georgia"/>
              </a:rPr>
              <a:t>inputs</a:t>
            </a:r>
            <a:r>
              <a:rPr sz="1800" b="0" spc="40" dirty="0">
                <a:solidFill>
                  <a:srgbClr val="444444"/>
                </a:solidFill>
                <a:latin typeface="Georgia"/>
                <a:cs typeface="Georgia"/>
              </a:rPr>
              <a:t> </a:t>
            </a:r>
            <a:r>
              <a:rPr sz="1800" b="0" dirty="0">
                <a:solidFill>
                  <a:srgbClr val="444444"/>
                </a:solidFill>
                <a:latin typeface="Georgia"/>
                <a:cs typeface="Georgia"/>
              </a:rPr>
              <a:t>to</a:t>
            </a:r>
            <a:r>
              <a:rPr sz="1800" b="0" spc="25" dirty="0">
                <a:solidFill>
                  <a:srgbClr val="444444"/>
                </a:solidFill>
                <a:latin typeface="Georgia"/>
                <a:cs typeface="Georgia"/>
              </a:rPr>
              <a:t> </a:t>
            </a:r>
            <a:r>
              <a:rPr sz="1800" b="0" spc="-10" dirty="0">
                <a:solidFill>
                  <a:srgbClr val="444444"/>
                </a:solidFill>
                <a:latin typeface="Georgia"/>
                <a:cs typeface="Georgia"/>
              </a:rPr>
              <a:t>outputs.</a:t>
            </a:r>
            <a:endParaRPr sz="1800">
              <a:latin typeface="Georgia"/>
              <a:cs typeface="Georgia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44" y="4547614"/>
            <a:ext cx="4844795" cy="2310382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203454"/>
            <a:ext cx="270764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0" spc="-10" dirty="0">
                <a:solidFill>
                  <a:srgbClr val="000000"/>
                </a:solidFill>
                <a:latin typeface="Calibri Light"/>
                <a:cs typeface="Calibri Light"/>
              </a:rPr>
              <a:t>Forward</a:t>
            </a:r>
            <a:r>
              <a:rPr b="0" spc="-17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b="0" spc="-20" dirty="0">
                <a:solidFill>
                  <a:srgbClr val="000000"/>
                </a:solidFill>
                <a:latin typeface="Calibri Light"/>
                <a:cs typeface="Calibri Light"/>
              </a:rPr>
              <a:t>Pass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2227" y="1546860"/>
            <a:ext cx="3631691" cy="24079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82980" y="2004060"/>
            <a:ext cx="6862572" cy="31412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62227" y="2631948"/>
            <a:ext cx="4664964" cy="33375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57529" y="3837900"/>
            <a:ext cx="4254192" cy="197458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961376" y="1321308"/>
            <a:ext cx="2903220" cy="30327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580503" y="855090"/>
            <a:ext cx="42995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Carrying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out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same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process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h_2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get: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002780" y="2721864"/>
            <a:ext cx="4451604" cy="24383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8850248" y="5237429"/>
            <a:ext cx="2880360" cy="849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Notation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as</a:t>
            </a:r>
            <a:r>
              <a:rPr kumimoji="0" sz="18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per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previous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slides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1811655" lvl="0" indent="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Net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O1=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a1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Outo1=h1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960500"/>
            <a:ext cx="10297795" cy="134810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029" marR="5080" lvl="0" indent="-227329" defTabSz="914400" eaLnBrk="1" fontAlgn="auto" latinLnBrk="0" hangingPunct="1">
              <a:lnSpc>
                <a:spcPts val="3020"/>
              </a:lnSpc>
              <a:spcBef>
                <a:spcPts val="48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sz="2800" b="0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repeat</a:t>
            </a:r>
            <a:r>
              <a:rPr kumimoji="0" sz="2800" b="0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this</a:t>
            </a:r>
            <a:r>
              <a:rPr kumimoji="0" sz="28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process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sz="28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8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output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layer</a:t>
            </a:r>
            <a:r>
              <a:rPr kumimoji="0" sz="2800" b="0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neurons,</a:t>
            </a:r>
            <a:r>
              <a:rPr kumimoji="0" sz="2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using</a:t>
            </a:r>
            <a:r>
              <a:rPr kumimoji="0" sz="28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8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output 	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from</a:t>
            </a:r>
            <a:r>
              <a:rPr kumimoji="0" sz="28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8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hidden</a:t>
            </a: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layer</a:t>
            </a:r>
            <a:r>
              <a:rPr kumimoji="0" sz="2800" b="0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neurons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as</a:t>
            </a:r>
            <a:r>
              <a:rPr kumimoji="0" sz="28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inputs.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40029" marR="0" lvl="0" indent="-227329" defTabSz="914400" eaLnBrk="1" fontAlgn="auto" latinLnBrk="0" hangingPunct="1">
              <a:lnSpc>
                <a:spcPct val="100000"/>
              </a:lnSpc>
              <a:spcBef>
                <a:spcPts val="63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40029" algn="l"/>
              </a:tabLst>
              <a:defRPr/>
            </a:pP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Here’s</a:t>
            </a:r>
            <a:r>
              <a:rPr kumimoji="0" sz="28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8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output</a:t>
            </a:r>
            <a:r>
              <a:rPr kumimoji="0" sz="2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sz="28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o_1: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2791" y="2305811"/>
            <a:ext cx="7935468" cy="4062984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-67818"/>
            <a:ext cx="654621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114" dirty="0">
                <a:solidFill>
                  <a:srgbClr val="333333"/>
                </a:solidFill>
                <a:latin typeface="Cambria"/>
                <a:cs typeface="Cambria"/>
              </a:rPr>
              <a:t>Calculating</a:t>
            </a:r>
            <a:r>
              <a:rPr spc="22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pc="95" dirty="0">
                <a:solidFill>
                  <a:srgbClr val="333333"/>
                </a:solidFill>
                <a:latin typeface="Cambria"/>
                <a:cs typeface="Cambria"/>
              </a:rPr>
              <a:t>the</a:t>
            </a:r>
            <a:r>
              <a:rPr spc="204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pc="50" dirty="0">
                <a:solidFill>
                  <a:srgbClr val="333333"/>
                </a:solidFill>
                <a:latin typeface="Cambria"/>
                <a:cs typeface="Cambria"/>
              </a:rPr>
              <a:t>Total</a:t>
            </a:r>
            <a:r>
              <a:rPr spc="204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pc="-10" dirty="0">
                <a:solidFill>
                  <a:srgbClr val="333333"/>
                </a:solidFill>
                <a:latin typeface="Cambria"/>
                <a:cs typeface="Cambria"/>
              </a:rPr>
              <a:t>Error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963548"/>
            <a:ext cx="10171430" cy="83566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029" marR="5080" lvl="0" indent="-227329" defTabSz="914400" eaLnBrk="1" fontAlgn="auto" latinLnBrk="0" hangingPunct="1">
              <a:lnSpc>
                <a:spcPts val="3020"/>
              </a:lnSpc>
              <a:spcBef>
                <a:spcPts val="48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0" cap="none" spc="-9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Georgia"/>
                <a:cs typeface="Georgia"/>
              </a:rPr>
              <a:t>We</a:t>
            </a:r>
            <a:r>
              <a:rPr kumimoji="0" sz="2800" b="0" i="0" u="none" strike="noStrike" kern="0" cap="none" spc="15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Georgia"/>
                <a:cs typeface="Georgia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Georgia"/>
                <a:cs typeface="Georgia"/>
              </a:rPr>
              <a:t>can</a:t>
            </a:r>
            <a:r>
              <a:rPr kumimoji="0" sz="2800" b="0" i="0" u="none" strike="noStrike" kern="0" cap="none" spc="2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Georgia"/>
                <a:cs typeface="Georgia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Georgia"/>
                <a:cs typeface="Georgia"/>
              </a:rPr>
              <a:t>now</a:t>
            </a:r>
            <a:r>
              <a:rPr kumimoji="0" sz="2800" b="0" i="0" u="none" strike="noStrike" kern="0" cap="none" spc="3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Georgia"/>
                <a:cs typeface="Georgia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Georgia"/>
                <a:cs typeface="Georgia"/>
              </a:rPr>
              <a:t>calculate</a:t>
            </a:r>
            <a:r>
              <a:rPr kumimoji="0" sz="2800" b="0" i="0" u="none" strike="noStrike" kern="0" cap="none" spc="2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Georgia"/>
                <a:cs typeface="Georgia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Georgia"/>
                <a:cs typeface="Georgia"/>
              </a:rPr>
              <a:t>the</a:t>
            </a:r>
            <a:r>
              <a:rPr kumimoji="0" sz="2800" b="0" i="0" u="none" strike="noStrike" kern="0" cap="none" spc="2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Georgia"/>
                <a:cs typeface="Georgia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Georgia"/>
                <a:cs typeface="Georgia"/>
              </a:rPr>
              <a:t>error</a:t>
            </a:r>
            <a:r>
              <a:rPr kumimoji="0" sz="2800" b="0" i="0" u="none" strike="noStrike" kern="0" cap="none" spc="45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Georgia"/>
                <a:cs typeface="Georgia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Georgia"/>
                <a:cs typeface="Georgia"/>
              </a:rPr>
              <a:t>for</a:t>
            </a:r>
            <a:r>
              <a:rPr kumimoji="0" sz="2800" b="0" i="0" u="none" strike="noStrike" kern="0" cap="none" spc="2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Georgia"/>
                <a:cs typeface="Georgia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Georgia"/>
                <a:cs typeface="Georgia"/>
              </a:rPr>
              <a:t>each</a:t>
            </a:r>
            <a:r>
              <a:rPr kumimoji="0" sz="2800" b="0" i="0" u="none" strike="noStrike" kern="0" cap="none" spc="1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Georgia"/>
                <a:cs typeface="Georgia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Georgia"/>
                <a:cs typeface="Georgia"/>
              </a:rPr>
              <a:t>output</a:t>
            </a:r>
            <a:r>
              <a:rPr kumimoji="0" sz="2800" b="0" i="0" u="none" strike="noStrike" kern="0" cap="none" spc="4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Georgia"/>
                <a:cs typeface="Georgia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Georgia"/>
                <a:cs typeface="Georgia"/>
              </a:rPr>
              <a:t>neuron</a:t>
            </a:r>
            <a:r>
              <a:rPr kumimoji="0" sz="2800" b="0" i="0" u="none" strike="noStrike" kern="0" cap="none" spc="65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Georgia"/>
                <a:cs typeface="Georgia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Georgia"/>
                <a:cs typeface="Georgia"/>
              </a:rPr>
              <a:t>using 	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Georgia"/>
                <a:cs typeface="Georgia"/>
              </a:rPr>
              <a:t>the</a:t>
            </a:r>
            <a:r>
              <a:rPr kumimoji="0" sz="2800" b="0" i="0" u="none" strike="noStrike" kern="0" cap="none" spc="35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Georgia"/>
                <a:cs typeface="Georgia"/>
              </a:rPr>
              <a:t> </a:t>
            </a:r>
            <a:r>
              <a:rPr kumimoji="0" sz="2800" b="0" i="0" u="sng" strike="noStrike" kern="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>
                  <a:solidFill>
                    <a:srgbClr val="444444"/>
                  </a:solidFill>
                </a:uFill>
                <a:latin typeface="Georgia"/>
                <a:cs typeface="Georgia"/>
                <a:hlinkClick r:id="rId2"/>
              </a:rPr>
              <a:t>squared</a:t>
            </a:r>
            <a:r>
              <a:rPr kumimoji="0" sz="2800" b="0" i="0" u="sng" strike="noStrike" kern="0" cap="none" spc="4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>
                  <a:solidFill>
                    <a:srgbClr val="444444"/>
                  </a:solidFill>
                </a:uFill>
                <a:latin typeface="Georgia"/>
                <a:cs typeface="Georgia"/>
                <a:hlinkClick r:id="rId2"/>
              </a:rPr>
              <a:t> </a:t>
            </a:r>
            <a:r>
              <a:rPr kumimoji="0" sz="2800" b="0" i="0" u="sng" strike="noStrike" kern="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>
                  <a:solidFill>
                    <a:srgbClr val="444444"/>
                  </a:solidFill>
                </a:uFill>
                <a:latin typeface="Georgia"/>
                <a:cs typeface="Georgia"/>
                <a:hlinkClick r:id="rId2"/>
              </a:rPr>
              <a:t>error</a:t>
            </a:r>
            <a:r>
              <a:rPr kumimoji="0" sz="2800" b="0" i="0" u="sng" strike="noStrike" kern="0" cap="none" spc="6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>
                  <a:solidFill>
                    <a:srgbClr val="444444"/>
                  </a:solidFill>
                </a:uFill>
                <a:latin typeface="Georgia"/>
                <a:cs typeface="Georgia"/>
                <a:hlinkClick r:id="rId2"/>
              </a:rPr>
              <a:t> </a:t>
            </a:r>
            <a:r>
              <a:rPr kumimoji="0" sz="2800" b="0" i="0" u="sng" strike="noStrike" kern="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>
                  <a:solidFill>
                    <a:srgbClr val="444444"/>
                  </a:solidFill>
                </a:uFill>
                <a:latin typeface="Georgia"/>
                <a:cs typeface="Georgia"/>
                <a:hlinkClick r:id="rId2"/>
              </a:rPr>
              <a:t>function</a:t>
            </a:r>
            <a:r>
              <a:rPr kumimoji="0" sz="2800" b="0" i="0" u="none" strike="noStrike" kern="0" cap="none" spc="4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Georgia"/>
                <a:cs typeface="Georgia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Georgia"/>
                <a:cs typeface="Georgia"/>
              </a:rPr>
              <a:t>and</a:t>
            </a:r>
            <a:r>
              <a:rPr kumimoji="0" sz="2800" b="0" i="0" u="none" strike="noStrike" kern="0" cap="none" spc="4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Georgia"/>
                <a:cs typeface="Georgia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Georgia"/>
                <a:cs typeface="Georgia"/>
              </a:rPr>
              <a:t>sum</a:t>
            </a:r>
            <a:r>
              <a:rPr kumimoji="0" sz="2800" b="0" i="0" u="none" strike="noStrike" kern="0" cap="none" spc="45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Georgia"/>
                <a:cs typeface="Georgia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Georgia"/>
                <a:cs typeface="Georgia"/>
              </a:rPr>
              <a:t>them</a:t>
            </a:r>
            <a:r>
              <a:rPr kumimoji="0" sz="2800" b="0" i="0" u="none" strike="noStrike" kern="0" cap="none" spc="4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Georgia"/>
                <a:cs typeface="Georgia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Georgia"/>
                <a:cs typeface="Georgia"/>
              </a:rPr>
              <a:t>to</a:t>
            </a:r>
            <a:r>
              <a:rPr kumimoji="0" sz="2800" b="0" i="0" u="none" strike="noStrike" kern="0" cap="none" spc="5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Georgia"/>
                <a:cs typeface="Georgia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Georgia"/>
                <a:cs typeface="Georgia"/>
              </a:rPr>
              <a:t>get</a:t>
            </a:r>
            <a:r>
              <a:rPr kumimoji="0" sz="2800" b="0" i="0" u="none" strike="noStrike" kern="0" cap="none" spc="6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Georgia"/>
                <a:cs typeface="Georgia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Georgia"/>
                <a:cs typeface="Georgia"/>
              </a:rPr>
              <a:t>the</a:t>
            </a:r>
            <a:r>
              <a:rPr kumimoji="0" sz="2800" b="0" i="0" u="none" strike="noStrike" kern="0" cap="none" spc="4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Georgia"/>
                <a:cs typeface="Georgia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Georgia"/>
                <a:cs typeface="Georgia"/>
              </a:rPr>
              <a:t>total</a:t>
            </a:r>
            <a:r>
              <a:rPr kumimoji="0" sz="2800" b="0" i="0" u="none" strike="noStrike" kern="0" cap="none" spc="35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Georgia"/>
                <a:cs typeface="Georgia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Georgia"/>
                <a:cs typeface="Georgia"/>
              </a:rPr>
              <a:t>error: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  <a:cs typeface="Georgia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0685" y="2508504"/>
            <a:ext cx="3922902" cy="36271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884831" y="2094466"/>
            <a:ext cx="6990082" cy="3830592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50265">
              <a:lnSpc>
                <a:spcPct val="100000"/>
              </a:lnSpc>
              <a:spcBef>
                <a:spcPts val="95"/>
              </a:spcBef>
            </a:pPr>
            <a:r>
              <a:rPr spc="90" dirty="0">
                <a:solidFill>
                  <a:srgbClr val="333333"/>
                </a:solidFill>
                <a:latin typeface="Cambria"/>
                <a:cs typeface="Cambria"/>
              </a:rPr>
              <a:t>The</a:t>
            </a:r>
            <a:r>
              <a:rPr spc="12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dirty="0">
                <a:solidFill>
                  <a:srgbClr val="333333"/>
                </a:solidFill>
                <a:latin typeface="Cambria"/>
                <a:cs typeface="Cambria"/>
              </a:rPr>
              <a:t>Backwards</a:t>
            </a:r>
            <a:r>
              <a:rPr spc="17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pc="-20" dirty="0">
                <a:solidFill>
                  <a:srgbClr val="333333"/>
                </a:solidFill>
                <a:latin typeface="Cambria"/>
                <a:cs typeface="Cambria"/>
              </a:rPr>
              <a:t>Pass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917610" y="238304"/>
            <a:ext cx="11063700" cy="5876524"/>
            <a:chOff x="917610" y="238304"/>
            <a:chExt cx="11063700" cy="5876524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81047" y="238304"/>
              <a:ext cx="5000263" cy="61959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7610" y="873252"/>
              <a:ext cx="6884669" cy="524157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84192" y="4070604"/>
              <a:ext cx="7171944" cy="790956"/>
            </a:xfrm>
            <a:prstGeom prst="rect">
              <a:avLst/>
            </a:prstGeom>
          </p:spPr>
        </p:pic>
      </p:grpSp>
      <p:pic>
        <p:nvPicPr>
          <p:cNvPr id="8" name="Picture 7" descr="A diagram of a circle with arrows pointing to the center&#10;&#10;AI-generated content may be incorrect.">
            <a:extLst>
              <a:ext uri="{FF2B5EF4-FFF2-40B4-BE49-F238E27FC236}">
                <a16:creationId xmlns:a16="http://schemas.microsoft.com/office/drawing/2014/main" id="{243E0857-D03D-937B-6C11-D374ED5128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4644" y="974396"/>
            <a:ext cx="4380633" cy="244508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8937" y="2801165"/>
            <a:ext cx="2305050" cy="198188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8036" y="801623"/>
            <a:ext cx="7171944" cy="78943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8300" y="1968137"/>
            <a:ext cx="7118794" cy="31089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528450" y="3513878"/>
            <a:ext cx="8323274" cy="22116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760135" y="2969895"/>
            <a:ext cx="1715140" cy="25717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481042" y="559049"/>
            <a:ext cx="3009284" cy="2420428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143886" y="1262592"/>
            <a:ext cx="8870315" cy="4696460"/>
            <a:chOff x="2143886" y="1262592"/>
            <a:chExt cx="8870315" cy="46964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43886" y="1262592"/>
              <a:ext cx="8001000" cy="446613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61047" y="2424683"/>
              <a:ext cx="4152900" cy="353415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3149" rIns="0" bIns="0" rtlCol="0">
            <a:spAutoFit/>
          </a:bodyPr>
          <a:lstStyle/>
          <a:p>
            <a:pPr marL="850265">
              <a:lnSpc>
                <a:spcPct val="100000"/>
              </a:lnSpc>
              <a:spcBef>
                <a:spcPts val="95"/>
              </a:spcBef>
            </a:pPr>
            <a:r>
              <a:rPr spc="-350" dirty="0"/>
              <a:t>Hyper</a:t>
            </a:r>
            <a:r>
              <a:rPr spc="-85" dirty="0"/>
              <a:t> </a:t>
            </a:r>
            <a:r>
              <a:rPr spc="-305" dirty="0"/>
              <a:t>parameter</a:t>
            </a:r>
            <a:r>
              <a:rPr spc="-80" dirty="0"/>
              <a:t> </a:t>
            </a:r>
            <a:r>
              <a:rPr spc="-320" dirty="0"/>
              <a:t>tuning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45336" y="1220724"/>
            <a:ext cx="8932164" cy="46451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381</TotalTime>
  <Words>1564</Words>
  <Application>Microsoft Office PowerPoint</Application>
  <PresentationFormat>Widescreen</PresentationFormat>
  <Paragraphs>126</Paragraphs>
  <Slides>53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53</vt:i4>
      </vt:variant>
    </vt:vector>
  </HeadingPairs>
  <TitlesOfParts>
    <vt:vector size="65" baseType="lpstr">
      <vt:lpstr>Arial</vt:lpstr>
      <vt:lpstr>Arial MT</vt:lpstr>
      <vt:lpstr>Calibri</vt:lpstr>
      <vt:lpstr>Calibri Light</vt:lpstr>
      <vt:lpstr>Cambria</vt:lpstr>
      <vt:lpstr>Cambria Math</vt:lpstr>
      <vt:lpstr>Courier New</vt:lpstr>
      <vt:lpstr>Georgia</vt:lpstr>
      <vt:lpstr>Tahoma</vt:lpstr>
      <vt:lpstr>Times New Roman</vt:lpstr>
      <vt:lpstr>1_Office Theme</vt:lpstr>
      <vt:lpstr>Office Theme</vt:lpstr>
      <vt:lpstr>PowerPoint Presentation</vt:lpstr>
      <vt:lpstr>Non linearly separated data</vt:lpstr>
      <vt:lpstr>Analogy</vt:lpstr>
      <vt:lpstr>Universal Approximation Theorem (UAT)</vt:lpstr>
      <vt:lpstr>Modelling Complex Functions</vt:lpstr>
      <vt:lpstr>Universal Approximation Theorem (UAT)</vt:lpstr>
      <vt:lpstr>Illustrative proof of UAT</vt:lpstr>
      <vt:lpstr>PowerPoint Presentation</vt:lpstr>
      <vt:lpstr>Illustrative proof of UAT</vt:lpstr>
      <vt:lpstr>How do we come up with these rectangles/towers and how it will tie back to the sigmoid neuron?</vt:lpstr>
      <vt:lpstr>Neural Network-Can we come up with a neural network to represent this operation of subtracting one</vt:lpstr>
      <vt:lpstr>Feed Forward Neural Networks- Introduction </vt:lpstr>
      <vt:lpstr>Multiple sigmoid Neurons</vt:lpstr>
      <vt:lpstr>Multiple sigmoid Neurons</vt:lpstr>
      <vt:lpstr>Multiple sigmoid Neurons</vt:lpstr>
      <vt:lpstr>Multiple sigmoid Neurons</vt:lpstr>
      <vt:lpstr>Multiple sigmoid Neurons</vt:lpstr>
      <vt:lpstr>Multiple sigmoid Neurons</vt:lpstr>
      <vt:lpstr>Multi Layer Neural Networks</vt:lpstr>
      <vt:lpstr>Feed Forward Neural Networks</vt:lpstr>
      <vt:lpstr>Understanding the computation W111= W Layer no, Neuron in the next layer ,Input Neuron</vt:lpstr>
      <vt:lpstr>Feed Forward Neural Networks</vt:lpstr>
      <vt:lpstr>Feed Forward Neural Networks</vt:lpstr>
      <vt:lpstr>Feed Forward Neural Networks</vt:lpstr>
      <vt:lpstr>Is this ok?</vt:lpstr>
      <vt:lpstr>Output Layer</vt:lpstr>
      <vt:lpstr>Softmax is a kind of activation function with the speciality of output summing to 1.</vt:lpstr>
      <vt:lpstr>Different network configurations</vt:lpstr>
      <vt:lpstr>Cross Entropy Loss Function</vt:lpstr>
      <vt:lpstr>Loss function for binary class classification</vt:lpstr>
      <vt:lpstr>Loss function for multi class classification</vt:lpstr>
      <vt:lpstr>Learning Algorithm- backpropagation</vt:lpstr>
      <vt:lpstr>Calculation of</vt:lpstr>
      <vt:lpstr>Partial derivative , Gradient</vt:lpstr>
      <vt:lpstr>Backpropagation</vt:lpstr>
      <vt:lpstr>Calculus basics - Chain rule</vt:lpstr>
      <vt:lpstr>Chain rule</vt:lpstr>
      <vt:lpstr>Backpropagation</vt:lpstr>
      <vt:lpstr>Backpropagation</vt:lpstr>
      <vt:lpstr>Backpropagation</vt:lpstr>
      <vt:lpstr>Backpropagation</vt:lpstr>
      <vt:lpstr>Learning algorithm- Back propagation</vt:lpstr>
      <vt:lpstr>Multiple paths</vt:lpstr>
      <vt:lpstr>Learning Algorithm- backpropagation</vt:lpstr>
      <vt:lpstr>Practice Problem- Back Propagation</vt:lpstr>
      <vt:lpstr>The goal of backpropagation is to optimize the weights so that the neural network can learn how to correctly map arbitrary inputs to outputs.</vt:lpstr>
      <vt:lpstr>Forward Pass</vt:lpstr>
      <vt:lpstr>PowerPoint Presentation</vt:lpstr>
      <vt:lpstr>Calculating the Total Error</vt:lpstr>
      <vt:lpstr>The Backwards Pass</vt:lpstr>
      <vt:lpstr>PowerPoint Presentation</vt:lpstr>
      <vt:lpstr>PowerPoint Presentation</vt:lpstr>
      <vt:lpstr>Hyper parameter tuning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saraths@am.amrita.edu</dc:creator>
  <cp:lastModifiedBy>Anjali T</cp:lastModifiedBy>
  <cp:revision>36</cp:revision>
  <dcterms:created xsi:type="dcterms:W3CDTF">2025-01-30T11:06:30Z</dcterms:created>
  <dcterms:modified xsi:type="dcterms:W3CDTF">2025-08-29T08:19:34Z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2022-03-08T00:00:00Z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2025-01-30T00:00:00Z</vt:filetime>
  </property>
  <property fmtid="{D5CDD505-2E9C-101B-9397-08002B2CF9AE}" pid="5" name="Producer">
    <vt:lpwstr>Microsoft® PowerPoint® for Microsoft 365</vt:lpwstr>
  </property>
</Properties>
</file>
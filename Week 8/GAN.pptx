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756"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50240" y="286257"/>
            <a:ext cx="3404870" cy="513715"/>
          </a:xfrm>
          <a:prstGeom prst="rect">
            <a:avLst/>
          </a:prstGeom>
        </p:spPr>
        <p:txBody>
          <a:bodyPr wrap="square" lIns="0" tIns="0" rIns="0" bIns="0">
            <a:spAutoFit/>
          </a:bodyPr>
          <a:lstStyle>
            <a:lvl1pPr>
              <a:defRPr sz="3200" b="0" i="0">
                <a:solidFill>
                  <a:srgbClr val="A3123E"/>
                </a:solidFill>
                <a:latin typeface="Georgia"/>
                <a:cs typeface="Georg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rgbClr val="21212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A3123E"/>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800" b="0" i="0">
                <a:solidFill>
                  <a:srgbClr val="21212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A3123E"/>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A3123E"/>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370320"/>
            <a:ext cx="12192000" cy="487677"/>
          </a:xfrm>
          <a:prstGeom prst="rect">
            <a:avLst/>
          </a:prstGeom>
        </p:spPr>
      </p:pic>
      <p:pic>
        <p:nvPicPr>
          <p:cNvPr id="17" name="bg object 17"/>
          <p:cNvPicPr/>
          <p:nvPr/>
        </p:nvPicPr>
        <p:blipFill>
          <a:blip r:embed="rId8" cstate="print"/>
          <a:stretch>
            <a:fillRect/>
          </a:stretch>
        </p:blipFill>
        <p:spPr>
          <a:xfrm>
            <a:off x="126492" y="6490714"/>
            <a:ext cx="1781556" cy="313944"/>
          </a:xfrm>
          <a:prstGeom prst="rect">
            <a:avLst/>
          </a:prstGeom>
        </p:spPr>
      </p:pic>
      <p:pic>
        <p:nvPicPr>
          <p:cNvPr id="18" name="bg object 18"/>
          <p:cNvPicPr/>
          <p:nvPr/>
        </p:nvPicPr>
        <p:blipFill>
          <a:blip r:embed="rId7" cstate="print"/>
          <a:stretch>
            <a:fillRect/>
          </a:stretch>
        </p:blipFill>
        <p:spPr>
          <a:xfrm>
            <a:off x="0" y="6370320"/>
            <a:ext cx="12192000" cy="487677"/>
          </a:xfrm>
          <a:prstGeom prst="rect">
            <a:avLst/>
          </a:prstGeom>
        </p:spPr>
      </p:pic>
      <p:pic>
        <p:nvPicPr>
          <p:cNvPr id="19" name="bg object 19"/>
          <p:cNvPicPr/>
          <p:nvPr/>
        </p:nvPicPr>
        <p:blipFill>
          <a:blip r:embed="rId8" cstate="print"/>
          <a:stretch>
            <a:fillRect/>
          </a:stretch>
        </p:blipFill>
        <p:spPr>
          <a:xfrm>
            <a:off x="126492" y="6490714"/>
            <a:ext cx="1781556" cy="313944"/>
          </a:xfrm>
          <a:prstGeom prst="rect">
            <a:avLst/>
          </a:prstGeom>
        </p:spPr>
      </p:pic>
      <p:sp>
        <p:nvSpPr>
          <p:cNvPr id="2" name="Holder 2"/>
          <p:cNvSpPr>
            <a:spLocks noGrp="1"/>
          </p:cNvSpPr>
          <p:nvPr>
            <p:ph type="title"/>
          </p:nvPr>
        </p:nvSpPr>
        <p:spPr>
          <a:xfrm>
            <a:off x="650240" y="73863"/>
            <a:ext cx="10581005" cy="947419"/>
          </a:xfrm>
          <a:prstGeom prst="rect">
            <a:avLst/>
          </a:prstGeom>
        </p:spPr>
        <p:txBody>
          <a:bodyPr wrap="square" lIns="0" tIns="0" rIns="0" bIns="0">
            <a:spAutoFit/>
          </a:bodyPr>
          <a:lstStyle>
            <a:lvl1pPr>
              <a:defRPr sz="3200" b="0" i="0">
                <a:solidFill>
                  <a:srgbClr val="A3123E"/>
                </a:solidFill>
                <a:latin typeface="Georgia"/>
                <a:cs typeface="Georgia"/>
              </a:defRPr>
            </a:lvl1pPr>
          </a:lstStyle>
          <a:p>
            <a:endParaRPr/>
          </a:p>
        </p:txBody>
      </p:sp>
      <p:sp>
        <p:nvSpPr>
          <p:cNvPr id="3" name="Holder 3"/>
          <p:cNvSpPr>
            <a:spLocks noGrp="1"/>
          </p:cNvSpPr>
          <p:nvPr>
            <p:ph type="body" idx="1"/>
          </p:nvPr>
        </p:nvSpPr>
        <p:spPr>
          <a:xfrm>
            <a:off x="403961" y="1058671"/>
            <a:ext cx="11491595" cy="4690110"/>
          </a:xfrm>
          <a:prstGeom prst="rect">
            <a:avLst/>
          </a:prstGeom>
        </p:spPr>
        <p:txBody>
          <a:bodyPr wrap="square" lIns="0" tIns="0" rIns="0" bIns="0">
            <a:spAutoFit/>
          </a:bodyPr>
          <a:lstStyle>
            <a:lvl1pPr>
              <a:defRPr sz="1800" b="0" i="0">
                <a:solidFill>
                  <a:srgbClr val="212121"/>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search/cs?searchtype=author&amp;query=Perarnau%2C%2BG" TargetMode="External"/><Relationship Id="rId2" Type="http://schemas.openxmlformats.org/officeDocument/2006/relationships/image" Target="../media/image25.jpg"/><Relationship Id="rId1" Type="http://schemas.openxmlformats.org/officeDocument/2006/relationships/slideLayout" Target="../slideLayouts/slideLayout2.xml"/><Relationship Id="rId6" Type="http://schemas.openxmlformats.org/officeDocument/2006/relationships/hyperlink" Target="https://arxiv.org/search/cs?searchtype=author&amp;query=%C3%81lvarez%2C%2BJ%2BM" TargetMode="External"/><Relationship Id="rId5" Type="http://schemas.openxmlformats.org/officeDocument/2006/relationships/hyperlink" Target="https://arxiv.org/search/cs?searchtype=author&amp;query=Raducanu%2C%2BB" TargetMode="External"/><Relationship Id="rId4" Type="http://schemas.openxmlformats.org/officeDocument/2006/relationships/hyperlink" Target="https://arxiv.org/search/cs?searchtype=author&amp;query=van%2Bde%2BWeijer%2C%2BJ"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hyperlink" Target="https://arxiv.org/abs/1611.07004"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4.xml"/><Relationship Id="rId4" Type="http://schemas.openxmlformats.org/officeDocument/2006/relationships/image" Target="../media/image34.jpg"/></Relationships>
</file>

<file path=ppt/slides/_rels/slide2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207343" cy="6858000"/>
            <a:chOff x="0" y="0"/>
            <a:chExt cx="12192254" cy="6858000"/>
          </a:xfrm>
        </p:grpSpPr>
        <p:pic>
          <p:nvPicPr>
            <p:cNvPr id="3" name="object 3"/>
            <p:cNvPicPr/>
            <p:nvPr/>
          </p:nvPicPr>
          <p:blipFill>
            <a:blip r:embed="rId2" cstate="print"/>
            <a:stretch>
              <a:fillRect/>
            </a:stretch>
          </p:blipFill>
          <p:spPr>
            <a:xfrm>
              <a:off x="0" y="6370320"/>
              <a:ext cx="12192000" cy="487677"/>
            </a:xfrm>
            <a:prstGeom prst="rect">
              <a:avLst/>
            </a:prstGeom>
          </p:spPr>
        </p:pic>
        <p:pic>
          <p:nvPicPr>
            <p:cNvPr id="4" name="object 4"/>
            <p:cNvPicPr/>
            <p:nvPr/>
          </p:nvPicPr>
          <p:blipFill>
            <a:blip r:embed="rId3" cstate="print"/>
            <a:stretch>
              <a:fillRect/>
            </a:stretch>
          </p:blipFill>
          <p:spPr>
            <a:xfrm>
              <a:off x="126492" y="6490714"/>
              <a:ext cx="1781556" cy="313944"/>
            </a:xfrm>
            <a:prstGeom prst="rect">
              <a:avLst/>
            </a:prstGeom>
          </p:spPr>
        </p:pic>
        <p:sp>
          <p:nvSpPr>
            <p:cNvPr id="5" name="object 5"/>
            <p:cNvSpPr/>
            <p:nvPr/>
          </p:nvSpPr>
          <p:spPr>
            <a:xfrm>
              <a:off x="32004" y="0"/>
              <a:ext cx="12160250" cy="6858000"/>
            </a:xfrm>
            <a:custGeom>
              <a:avLst/>
              <a:gdLst/>
              <a:ahLst/>
              <a:cxnLst/>
              <a:rect l="l" t="t" r="r" b="b"/>
              <a:pathLst>
                <a:path w="12160250" h="6858000">
                  <a:moveTo>
                    <a:pt x="12159996" y="0"/>
                  </a:moveTo>
                  <a:lnTo>
                    <a:pt x="0" y="0"/>
                  </a:lnTo>
                  <a:lnTo>
                    <a:pt x="0" y="6858000"/>
                  </a:lnTo>
                  <a:lnTo>
                    <a:pt x="12159996" y="6858000"/>
                  </a:lnTo>
                  <a:lnTo>
                    <a:pt x="12159996" y="0"/>
                  </a:lnTo>
                  <a:close/>
                </a:path>
              </a:pathLst>
            </a:custGeom>
            <a:solidFill>
              <a:srgbClr val="B8114F"/>
            </a:solidFill>
          </p:spPr>
          <p:txBody>
            <a:bodyPr wrap="square" lIns="0" tIns="0" rIns="0" bIns="0" rtlCol="0"/>
            <a:lstStyle/>
            <a:p>
              <a:endParaRPr/>
            </a:p>
          </p:txBody>
        </p:sp>
        <p:pic>
          <p:nvPicPr>
            <p:cNvPr id="6" name="object 6"/>
            <p:cNvPicPr/>
            <p:nvPr/>
          </p:nvPicPr>
          <p:blipFill>
            <a:blip r:embed="rId4" cstate="print"/>
            <a:stretch>
              <a:fillRect/>
            </a:stretch>
          </p:blipFill>
          <p:spPr>
            <a:xfrm>
              <a:off x="2068971" y="3021208"/>
              <a:ext cx="3442716" cy="1104900"/>
            </a:xfrm>
            <a:prstGeom prst="rect">
              <a:avLst/>
            </a:prstGeom>
          </p:spPr>
        </p:pic>
      </p:grpSp>
      <p:sp>
        <p:nvSpPr>
          <p:cNvPr id="7" name="object 7"/>
          <p:cNvSpPr txBox="1">
            <a:spLocks noGrp="1"/>
          </p:cNvSpPr>
          <p:nvPr>
            <p:ph type="title"/>
          </p:nvPr>
        </p:nvSpPr>
        <p:spPr>
          <a:xfrm>
            <a:off x="6019800" y="3573397"/>
            <a:ext cx="5098922" cy="1674817"/>
          </a:xfrm>
          <a:prstGeom prst="rect">
            <a:avLst/>
          </a:prstGeom>
        </p:spPr>
        <p:txBody>
          <a:bodyPr vert="horz" wrap="square" lIns="0" tIns="12700" rIns="0" bIns="0" rtlCol="0">
            <a:spAutoFit/>
          </a:bodyPr>
          <a:lstStyle/>
          <a:p>
            <a:pPr marL="85725" marR="5080" indent="-73660">
              <a:spcBef>
                <a:spcPts val="100"/>
              </a:spcBef>
            </a:pPr>
            <a:r>
              <a:rPr lang="en-IN" sz="3600" b="1" dirty="0">
                <a:solidFill>
                  <a:srgbClr val="FFFFFF"/>
                </a:solidFill>
                <a:latin typeface="Calibri"/>
                <a:cs typeface="Calibri"/>
              </a:rPr>
              <a:t>Generative Adversarial Network (GAN)</a:t>
            </a:r>
            <a:br>
              <a:rPr lang="en-IN" sz="3600" b="1" dirty="0">
                <a:solidFill>
                  <a:srgbClr val="FFFFFF"/>
                </a:solidFill>
                <a:latin typeface="Calibri"/>
                <a:cs typeface="Calibri"/>
              </a:rPr>
            </a:br>
            <a:endParaRPr sz="36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1480" y="3590544"/>
            <a:ext cx="4011295" cy="1755775"/>
          </a:xfrm>
          <a:prstGeom prst="rect">
            <a:avLst/>
          </a:prstGeom>
          <a:solidFill>
            <a:srgbClr val="DEEBF7"/>
          </a:solidFill>
        </p:spPr>
        <p:txBody>
          <a:bodyPr vert="horz" wrap="square" lIns="0" tIns="43815" rIns="0" bIns="0" rtlCol="0">
            <a:spAutoFit/>
          </a:bodyPr>
          <a:lstStyle/>
          <a:p>
            <a:pPr marL="90805" marR="99695" indent="-10160">
              <a:lnSpc>
                <a:spcPct val="100000"/>
              </a:lnSpc>
              <a:spcBef>
                <a:spcPts val="345"/>
              </a:spcBef>
              <a:buSzPct val="94444"/>
              <a:buFont typeface="Arial MT"/>
              <a:buChar char="•"/>
              <a:tabLst>
                <a:tab pos="169545" algn="l"/>
              </a:tabLst>
            </a:pPr>
            <a:r>
              <a:rPr sz="1800" dirty="0">
                <a:solidFill>
                  <a:srgbClr val="212121"/>
                </a:solidFill>
                <a:latin typeface="Tahoma"/>
                <a:cs typeface="Tahoma"/>
              </a:rPr>
              <a:t>	You</a:t>
            </a:r>
            <a:r>
              <a:rPr sz="1800" spc="-65" dirty="0">
                <a:solidFill>
                  <a:srgbClr val="212121"/>
                </a:solidFill>
                <a:latin typeface="Tahoma"/>
                <a:cs typeface="Tahoma"/>
              </a:rPr>
              <a:t> </a:t>
            </a:r>
            <a:r>
              <a:rPr sz="1800" spc="-20" dirty="0">
                <a:solidFill>
                  <a:srgbClr val="212121"/>
                </a:solidFill>
                <a:latin typeface="Tahoma"/>
                <a:cs typeface="Tahoma"/>
              </a:rPr>
              <a:t>are</a:t>
            </a:r>
            <a:r>
              <a:rPr sz="1800" spc="-75" dirty="0">
                <a:solidFill>
                  <a:srgbClr val="212121"/>
                </a:solidFill>
                <a:latin typeface="Tahoma"/>
                <a:cs typeface="Tahoma"/>
              </a:rPr>
              <a:t> </a:t>
            </a:r>
            <a:r>
              <a:rPr sz="1800" dirty="0">
                <a:solidFill>
                  <a:srgbClr val="212121"/>
                </a:solidFill>
                <a:latin typeface="Tahoma"/>
                <a:cs typeface="Tahoma"/>
              </a:rPr>
              <a:t>not</a:t>
            </a:r>
            <a:r>
              <a:rPr sz="1800" spc="-65" dirty="0">
                <a:solidFill>
                  <a:srgbClr val="212121"/>
                </a:solidFill>
                <a:latin typeface="Tahoma"/>
                <a:cs typeface="Tahoma"/>
              </a:rPr>
              <a:t> </a:t>
            </a:r>
            <a:r>
              <a:rPr sz="1800" spc="-10" dirty="0">
                <a:solidFill>
                  <a:srgbClr val="212121"/>
                </a:solidFill>
                <a:latin typeface="Tahoma"/>
                <a:cs typeface="Tahoma"/>
              </a:rPr>
              <a:t>able</a:t>
            </a:r>
            <a:r>
              <a:rPr sz="1800" spc="-45" dirty="0">
                <a:solidFill>
                  <a:srgbClr val="212121"/>
                </a:solidFill>
                <a:latin typeface="Tahoma"/>
                <a:cs typeface="Tahoma"/>
              </a:rPr>
              <a:t> </a:t>
            </a:r>
            <a:r>
              <a:rPr sz="1800" dirty="0">
                <a:solidFill>
                  <a:srgbClr val="212121"/>
                </a:solidFill>
                <a:latin typeface="Tahoma"/>
                <a:cs typeface="Tahoma"/>
              </a:rPr>
              <a:t>to</a:t>
            </a:r>
            <a:r>
              <a:rPr sz="1800" spc="-60" dirty="0">
                <a:solidFill>
                  <a:srgbClr val="212121"/>
                </a:solidFill>
                <a:latin typeface="Tahoma"/>
                <a:cs typeface="Tahoma"/>
              </a:rPr>
              <a:t> </a:t>
            </a:r>
            <a:r>
              <a:rPr sz="1800" dirty="0">
                <a:solidFill>
                  <a:srgbClr val="212121"/>
                </a:solidFill>
                <a:latin typeface="Tahoma"/>
                <a:cs typeface="Tahoma"/>
              </a:rPr>
              <a:t>buy</a:t>
            </a:r>
            <a:r>
              <a:rPr sz="1800" spc="-75" dirty="0">
                <a:solidFill>
                  <a:srgbClr val="212121"/>
                </a:solidFill>
                <a:latin typeface="Tahoma"/>
                <a:cs typeface="Tahoma"/>
              </a:rPr>
              <a:t> </a:t>
            </a:r>
            <a:r>
              <a:rPr sz="1800" spc="-60" dirty="0">
                <a:solidFill>
                  <a:srgbClr val="212121"/>
                </a:solidFill>
                <a:latin typeface="Tahoma"/>
                <a:cs typeface="Tahoma"/>
              </a:rPr>
              <a:t>a</a:t>
            </a:r>
            <a:r>
              <a:rPr sz="1800" spc="-50" dirty="0">
                <a:solidFill>
                  <a:srgbClr val="212121"/>
                </a:solidFill>
                <a:latin typeface="Tahoma"/>
                <a:cs typeface="Tahoma"/>
              </a:rPr>
              <a:t> </a:t>
            </a:r>
            <a:r>
              <a:rPr sz="1800" spc="-10" dirty="0">
                <a:solidFill>
                  <a:srgbClr val="212121"/>
                </a:solidFill>
                <a:latin typeface="Tahoma"/>
                <a:cs typeface="Tahoma"/>
              </a:rPr>
              <a:t>painting </a:t>
            </a:r>
            <a:r>
              <a:rPr sz="1800" dirty="0">
                <a:solidFill>
                  <a:srgbClr val="212121"/>
                </a:solidFill>
                <a:latin typeface="Tahoma"/>
                <a:cs typeface="Tahoma"/>
              </a:rPr>
              <a:t>from</a:t>
            </a:r>
            <a:r>
              <a:rPr sz="1800" spc="-110" dirty="0">
                <a:solidFill>
                  <a:srgbClr val="212121"/>
                </a:solidFill>
                <a:latin typeface="Tahoma"/>
                <a:cs typeface="Tahoma"/>
              </a:rPr>
              <a:t> </a:t>
            </a:r>
            <a:r>
              <a:rPr sz="1800" spc="-60" dirty="0">
                <a:solidFill>
                  <a:srgbClr val="212121"/>
                </a:solidFill>
                <a:latin typeface="Tahoma"/>
                <a:cs typeface="Tahoma"/>
              </a:rPr>
              <a:t>a</a:t>
            </a:r>
            <a:r>
              <a:rPr sz="1800" spc="-75" dirty="0">
                <a:solidFill>
                  <a:srgbClr val="212121"/>
                </a:solidFill>
                <a:latin typeface="Tahoma"/>
                <a:cs typeface="Tahoma"/>
              </a:rPr>
              <a:t> </a:t>
            </a:r>
            <a:r>
              <a:rPr sz="1800" dirty="0">
                <a:solidFill>
                  <a:srgbClr val="212121"/>
                </a:solidFill>
                <a:latin typeface="Tahoma"/>
                <a:cs typeface="Tahoma"/>
              </a:rPr>
              <a:t>famous</a:t>
            </a:r>
            <a:r>
              <a:rPr sz="1800" spc="-95" dirty="0">
                <a:solidFill>
                  <a:srgbClr val="212121"/>
                </a:solidFill>
                <a:latin typeface="Tahoma"/>
                <a:cs typeface="Tahoma"/>
              </a:rPr>
              <a:t> </a:t>
            </a:r>
            <a:r>
              <a:rPr sz="1800" dirty="0">
                <a:solidFill>
                  <a:srgbClr val="212121"/>
                </a:solidFill>
                <a:latin typeface="Tahoma"/>
                <a:cs typeface="Tahoma"/>
              </a:rPr>
              <a:t>painter</a:t>
            </a:r>
            <a:r>
              <a:rPr sz="1800" spc="-85" dirty="0">
                <a:solidFill>
                  <a:srgbClr val="212121"/>
                </a:solidFill>
                <a:latin typeface="Tahoma"/>
                <a:cs typeface="Tahoma"/>
              </a:rPr>
              <a:t> </a:t>
            </a:r>
            <a:r>
              <a:rPr sz="1800" dirty="0">
                <a:solidFill>
                  <a:srgbClr val="212121"/>
                </a:solidFill>
                <a:latin typeface="Tahoma"/>
                <a:cs typeface="Tahoma"/>
              </a:rPr>
              <a:t>which</a:t>
            </a:r>
            <a:r>
              <a:rPr sz="1800" spc="-95" dirty="0">
                <a:solidFill>
                  <a:srgbClr val="212121"/>
                </a:solidFill>
                <a:latin typeface="Tahoma"/>
                <a:cs typeface="Tahoma"/>
              </a:rPr>
              <a:t> </a:t>
            </a:r>
            <a:r>
              <a:rPr sz="1800" dirty="0">
                <a:solidFill>
                  <a:srgbClr val="212121"/>
                </a:solidFill>
                <a:latin typeface="Tahoma"/>
                <a:cs typeface="Tahoma"/>
              </a:rPr>
              <a:t>might</a:t>
            </a:r>
            <a:r>
              <a:rPr sz="1800" spc="-70" dirty="0">
                <a:solidFill>
                  <a:srgbClr val="212121"/>
                </a:solidFill>
                <a:latin typeface="Tahoma"/>
                <a:cs typeface="Tahoma"/>
              </a:rPr>
              <a:t> </a:t>
            </a:r>
            <a:r>
              <a:rPr sz="1800" spc="-25" dirty="0">
                <a:solidFill>
                  <a:srgbClr val="212121"/>
                </a:solidFill>
                <a:latin typeface="Tahoma"/>
                <a:cs typeface="Tahoma"/>
              </a:rPr>
              <a:t>be </a:t>
            </a:r>
            <a:r>
              <a:rPr sz="1800" dirty="0">
                <a:solidFill>
                  <a:srgbClr val="212121"/>
                </a:solidFill>
                <a:latin typeface="Tahoma"/>
                <a:cs typeface="Tahoma"/>
              </a:rPr>
              <a:t>too</a:t>
            </a:r>
            <a:r>
              <a:rPr sz="1800" spc="-25" dirty="0">
                <a:solidFill>
                  <a:srgbClr val="212121"/>
                </a:solidFill>
                <a:latin typeface="Tahoma"/>
                <a:cs typeface="Tahoma"/>
              </a:rPr>
              <a:t> </a:t>
            </a:r>
            <a:r>
              <a:rPr sz="1800" spc="-20" dirty="0">
                <a:solidFill>
                  <a:srgbClr val="212121"/>
                </a:solidFill>
                <a:latin typeface="Tahoma"/>
                <a:cs typeface="Tahoma"/>
              </a:rPr>
              <a:t>expensive.</a:t>
            </a:r>
            <a:r>
              <a:rPr sz="1800" spc="-40" dirty="0">
                <a:solidFill>
                  <a:srgbClr val="212121"/>
                </a:solidFill>
                <a:latin typeface="Tahoma"/>
                <a:cs typeface="Tahoma"/>
              </a:rPr>
              <a:t> </a:t>
            </a:r>
            <a:r>
              <a:rPr sz="1800" dirty="0">
                <a:solidFill>
                  <a:srgbClr val="212121"/>
                </a:solidFill>
                <a:latin typeface="Tahoma"/>
                <a:cs typeface="Tahoma"/>
              </a:rPr>
              <a:t>Can</a:t>
            </a:r>
            <a:r>
              <a:rPr sz="1800" spc="-45" dirty="0">
                <a:solidFill>
                  <a:srgbClr val="212121"/>
                </a:solidFill>
                <a:latin typeface="Tahoma"/>
                <a:cs typeface="Tahoma"/>
              </a:rPr>
              <a:t> </a:t>
            </a:r>
            <a:r>
              <a:rPr sz="1800" dirty="0">
                <a:solidFill>
                  <a:srgbClr val="212121"/>
                </a:solidFill>
                <a:latin typeface="Tahoma"/>
                <a:cs typeface="Tahoma"/>
              </a:rPr>
              <a:t>you</a:t>
            </a:r>
            <a:r>
              <a:rPr sz="1800" spc="-40" dirty="0">
                <a:solidFill>
                  <a:srgbClr val="212121"/>
                </a:solidFill>
                <a:latin typeface="Tahoma"/>
                <a:cs typeface="Tahoma"/>
              </a:rPr>
              <a:t> </a:t>
            </a:r>
            <a:r>
              <a:rPr sz="1800" dirty="0">
                <a:solidFill>
                  <a:srgbClr val="212121"/>
                </a:solidFill>
                <a:latin typeface="Tahoma"/>
                <a:cs typeface="Tahoma"/>
              </a:rPr>
              <a:t>create</a:t>
            </a:r>
            <a:r>
              <a:rPr sz="1800" spc="-40" dirty="0">
                <a:solidFill>
                  <a:srgbClr val="212121"/>
                </a:solidFill>
                <a:latin typeface="Tahoma"/>
                <a:cs typeface="Tahoma"/>
              </a:rPr>
              <a:t> </a:t>
            </a:r>
            <a:r>
              <a:rPr sz="1800" spc="-25" dirty="0">
                <a:solidFill>
                  <a:srgbClr val="212121"/>
                </a:solidFill>
                <a:latin typeface="Tahoma"/>
                <a:cs typeface="Tahoma"/>
              </a:rPr>
              <a:t>an </a:t>
            </a:r>
            <a:r>
              <a:rPr sz="1800" dirty="0">
                <a:solidFill>
                  <a:srgbClr val="212121"/>
                </a:solidFill>
                <a:latin typeface="Tahoma"/>
                <a:cs typeface="Tahoma"/>
              </a:rPr>
              <a:t>artificial</a:t>
            </a:r>
            <a:r>
              <a:rPr sz="1800" spc="-70" dirty="0">
                <a:solidFill>
                  <a:srgbClr val="212121"/>
                </a:solidFill>
                <a:latin typeface="Tahoma"/>
                <a:cs typeface="Tahoma"/>
              </a:rPr>
              <a:t> </a:t>
            </a:r>
            <a:r>
              <a:rPr sz="1800" dirty="0">
                <a:solidFill>
                  <a:srgbClr val="212121"/>
                </a:solidFill>
                <a:latin typeface="Tahoma"/>
                <a:cs typeface="Tahoma"/>
              </a:rPr>
              <a:t>painter</a:t>
            </a:r>
            <a:r>
              <a:rPr sz="1800" spc="-60" dirty="0">
                <a:solidFill>
                  <a:srgbClr val="212121"/>
                </a:solidFill>
                <a:latin typeface="Tahoma"/>
                <a:cs typeface="Tahoma"/>
              </a:rPr>
              <a:t> </a:t>
            </a:r>
            <a:r>
              <a:rPr sz="1800" dirty="0">
                <a:solidFill>
                  <a:srgbClr val="212121"/>
                </a:solidFill>
                <a:latin typeface="Tahoma"/>
                <a:cs typeface="Tahoma"/>
              </a:rPr>
              <a:t>which</a:t>
            </a:r>
            <a:r>
              <a:rPr sz="1800" spc="-75" dirty="0">
                <a:solidFill>
                  <a:srgbClr val="212121"/>
                </a:solidFill>
                <a:latin typeface="Tahoma"/>
                <a:cs typeface="Tahoma"/>
              </a:rPr>
              <a:t> </a:t>
            </a:r>
            <a:r>
              <a:rPr sz="1800" dirty="0">
                <a:solidFill>
                  <a:srgbClr val="212121"/>
                </a:solidFill>
                <a:latin typeface="Tahoma"/>
                <a:cs typeface="Tahoma"/>
              </a:rPr>
              <a:t>can</a:t>
            </a:r>
            <a:r>
              <a:rPr sz="1800" spc="-70" dirty="0">
                <a:solidFill>
                  <a:srgbClr val="212121"/>
                </a:solidFill>
                <a:latin typeface="Tahoma"/>
                <a:cs typeface="Tahoma"/>
              </a:rPr>
              <a:t> </a:t>
            </a:r>
            <a:r>
              <a:rPr sz="1800" dirty="0">
                <a:solidFill>
                  <a:srgbClr val="212121"/>
                </a:solidFill>
                <a:latin typeface="Tahoma"/>
                <a:cs typeface="Tahoma"/>
              </a:rPr>
              <a:t>paint</a:t>
            </a:r>
            <a:r>
              <a:rPr sz="1800" spc="-55" dirty="0">
                <a:solidFill>
                  <a:srgbClr val="212121"/>
                </a:solidFill>
                <a:latin typeface="Tahoma"/>
                <a:cs typeface="Tahoma"/>
              </a:rPr>
              <a:t> </a:t>
            </a:r>
            <a:r>
              <a:rPr sz="1800" spc="-20" dirty="0">
                <a:solidFill>
                  <a:srgbClr val="212121"/>
                </a:solidFill>
                <a:latin typeface="Tahoma"/>
                <a:cs typeface="Tahoma"/>
              </a:rPr>
              <a:t>like </a:t>
            </a:r>
            <a:r>
              <a:rPr sz="1800" dirty="0">
                <a:solidFill>
                  <a:srgbClr val="212121"/>
                </a:solidFill>
                <a:latin typeface="Tahoma"/>
                <a:cs typeface="Tahoma"/>
              </a:rPr>
              <a:t>any</a:t>
            </a:r>
            <a:r>
              <a:rPr sz="1800" spc="-95" dirty="0">
                <a:solidFill>
                  <a:srgbClr val="212121"/>
                </a:solidFill>
                <a:latin typeface="Tahoma"/>
                <a:cs typeface="Tahoma"/>
              </a:rPr>
              <a:t> </a:t>
            </a:r>
            <a:r>
              <a:rPr sz="1800" dirty="0">
                <a:solidFill>
                  <a:srgbClr val="212121"/>
                </a:solidFill>
                <a:latin typeface="Tahoma"/>
                <a:cs typeface="Tahoma"/>
              </a:rPr>
              <a:t>famous</a:t>
            </a:r>
            <a:r>
              <a:rPr sz="1800" spc="-100" dirty="0">
                <a:solidFill>
                  <a:srgbClr val="212121"/>
                </a:solidFill>
                <a:latin typeface="Tahoma"/>
                <a:cs typeface="Tahoma"/>
              </a:rPr>
              <a:t> </a:t>
            </a:r>
            <a:r>
              <a:rPr sz="1800" dirty="0">
                <a:solidFill>
                  <a:srgbClr val="212121"/>
                </a:solidFill>
                <a:latin typeface="Tahoma"/>
                <a:cs typeface="Tahoma"/>
              </a:rPr>
              <a:t>artist</a:t>
            </a:r>
            <a:r>
              <a:rPr sz="1800" spc="-90" dirty="0">
                <a:solidFill>
                  <a:srgbClr val="212121"/>
                </a:solidFill>
                <a:latin typeface="Tahoma"/>
                <a:cs typeface="Tahoma"/>
              </a:rPr>
              <a:t> </a:t>
            </a:r>
            <a:r>
              <a:rPr sz="1800" dirty="0">
                <a:solidFill>
                  <a:srgbClr val="212121"/>
                </a:solidFill>
                <a:latin typeface="Tahoma"/>
                <a:cs typeface="Tahoma"/>
              </a:rPr>
              <a:t>by</a:t>
            </a:r>
            <a:r>
              <a:rPr sz="1800" spc="-90" dirty="0">
                <a:solidFill>
                  <a:srgbClr val="212121"/>
                </a:solidFill>
                <a:latin typeface="Tahoma"/>
                <a:cs typeface="Tahoma"/>
              </a:rPr>
              <a:t> </a:t>
            </a:r>
            <a:r>
              <a:rPr sz="1800" spc="-20" dirty="0">
                <a:solidFill>
                  <a:srgbClr val="212121"/>
                </a:solidFill>
                <a:latin typeface="Tahoma"/>
                <a:cs typeface="Tahoma"/>
              </a:rPr>
              <a:t>learning</a:t>
            </a:r>
            <a:r>
              <a:rPr sz="1800" spc="-105" dirty="0">
                <a:solidFill>
                  <a:srgbClr val="212121"/>
                </a:solidFill>
                <a:latin typeface="Tahoma"/>
                <a:cs typeface="Tahoma"/>
              </a:rPr>
              <a:t> </a:t>
            </a:r>
            <a:r>
              <a:rPr sz="1800" dirty="0">
                <a:solidFill>
                  <a:srgbClr val="212121"/>
                </a:solidFill>
                <a:latin typeface="Tahoma"/>
                <a:cs typeface="Tahoma"/>
              </a:rPr>
              <a:t>from</a:t>
            </a:r>
            <a:r>
              <a:rPr sz="1800" spc="-95" dirty="0">
                <a:solidFill>
                  <a:srgbClr val="212121"/>
                </a:solidFill>
                <a:latin typeface="Tahoma"/>
                <a:cs typeface="Tahoma"/>
              </a:rPr>
              <a:t> </a:t>
            </a:r>
            <a:r>
              <a:rPr sz="1800" spc="-25" dirty="0">
                <a:solidFill>
                  <a:srgbClr val="212121"/>
                </a:solidFill>
                <a:latin typeface="Tahoma"/>
                <a:cs typeface="Tahoma"/>
              </a:rPr>
              <a:t>his</a:t>
            </a:r>
            <a:endParaRPr sz="1800">
              <a:latin typeface="Tahoma"/>
              <a:cs typeface="Tahoma"/>
            </a:endParaRPr>
          </a:p>
          <a:p>
            <a:pPr marL="90805">
              <a:lnSpc>
                <a:spcPct val="100000"/>
              </a:lnSpc>
              <a:spcBef>
                <a:spcPts val="5"/>
              </a:spcBef>
            </a:pPr>
            <a:r>
              <a:rPr sz="1800" spc="120" dirty="0">
                <a:solidFill>
                  <a:srgbClr val="212121"/>
                </a:solidFill>
                <a:latin typeface="Tahoma"/>
                <a:cs typeface="Tahoma"/>
              </a:rPr>
              <a:t>/</a:t>
            </a:r>
            <a:r>
              <a:rPr sz="1800" spc="-120" dirty="0">
                <a:solidFill>
                  <a:srgbClr val="212121"/>
                </a:solidFill>
                <a:latin typeface="Tahoma"/>
                <a:cs typeface="Tahoma"/>
              </a:rPr>
              <a:t> </a:t>
            </a:r>
            <a:r>
              <a:rPr sz="1800" dirty="0">
                <a:solidFill>
                  <a:srgbClr val="212121"/>
                </a:solidFill>
                <a:latin typeface="Tahoma"/>
                <a:cs typeface="Tahoma"/>
              </a:rPr>
              <a:t>her</a:t>
            </a:r>
            <a:r>
              <a:rPr sz="1800" spc="-130" dirty="0">
                <a:solidFill>
                  <a:srgbClr val="212121"/>
                </a:solidFill>
                <a:latin typeface="Tahoma"/>
                <a:cs typeface="Tahoma"/>
              </a:rPr>
              <a:t> </a:t>
            </a:r>
            <a:r>
              <a:rPr sz="1800" dirty="0">
                <a:solidFill>
                  <a:srgbClr val="212121"/>
                </a:solidFill>
                <a:latin typeface="Tahoma"/>
                <a:cs typeface="Tahoma"/>
              </a:rPr>
              <a:t>past</a:t>
            </a:r>
            <a:r>
              <a:rPr sz="1800" spc="-105" dirty="0">
                <a:solidFill>
                  <a:srgbClr val="212121"/>
                </a:solidFill>
                <a:latin typeface="Tahoma"/>
                <a:cs typeface="Tahoma"/>
              </a:rPr>
              <a:t> </a:t>
            </a:r>
            <a:r>
              <a:rPr sz="1800" spc="-10" dirty="0">
                <a:solidFill>
                  <a:srgbClr val="212121"/>
                </a:solidFill>
                <a:latin typeface="Tahoma"/>
                <a:cs typeface="Tahoma"/>
              </a:rPr>
              <a:t>collections?</a:t>
            </a:r>
            <a:endParaRPr sz="1800">
              <a:latin typeface="Tahoma"/>
              <a:cs typeface="Tahoma"/>
            </a:endParaRPr>
          </a:p>
        </p:txBody>
      </p:sp>
      <p:sp>
        <p:nvSpPr>
          <p:cNvPr id="3" name="object 3"/>
          <p:cNvSpPr txBox="1"/>
          <p:nvPr/>
        </p:nvSpPr>
        <p:spPr>
          <a:xfrm>
            <a:off x="155447" y="1626107"/>
            <a:ext cx="4800600" cy="1477010"/>
          </a:xfrm>
          <a:prstGeom prst="rect">
            <a:avLst/>
          </a:prstGeom>
          <a:solidFill>
            <a:srgbClr val="E1EFD9"/>
          </a:solidFill>
        </p:spPr>
        <p:txBody>
          <a:bodyPr vert="horz" wrap="square" lIns="0" tIns="42545" rIns="0" bIns="0" rtlCol="0">
            <a:spAutoFit/>
          </a:bodyPr>
          <a:lstStyle/>
          <a:p>
            <a:pPr marL="90805" marR="175895" indent="-10160">
              <a:lnSpc>
                <a:spcPct val="100000"/>
              </a:lnSpc>
              <a:spcBef>
                <a:spcPts val="335"/>
              </a:spcBef>
              <a:buSzPct val="94444"/>
              <a:buFont typeface="Arial MT"/>
              <a:buChar char="•"/>
              <a:tabLst>
                <a:tab pos="169545" algn="l"/>
              </a:tabLst>
            </a:pPr>
            <a:r>
              <a:rPr sz="1800" dirty="0">
                <a:solidFill>
                  <a:srgbClr val="212121"/>
                </a:solidFill>
                <a:latin typeface="Tahoma"/>
                <a:cs typeface="Tahoma"/>
              </a:rPr>
              <a:t>	Train</a:t>
            </a:r>
            <a:r>
              <a:rPr sz="1800" spc="-70" dirty="0">
                <a:solidFill>
                  <a:srgbClr val="212121"/>
                </a:solidFill>
                <a:latin typeface="Tahoma"/>
                <a:cs typeface="Tahoma"/>
              </a:rPr>
              <a:t> </a:t>
            </a:r>
            <a:r>
              <a:rPr sz="1800" spc="-20" dirty="0">
                <a:solidFill>
                  <a:srgbClr val="212121"/>
                </a:solidFill>
                <a:latin typeface="Tahoma"/>
                <a:cs typeface="Tahoma"/>
              </a:rPr>
              <a:t>an</a:t>
            </a:r>
            <a:r>
              <a:rPr sz="1800" spc="-50" dirty="0">
                <a:solidFill>
                  <a:srgbClr val="212121"/>
                </a:solidFill>
                <a:latin typeface="Tahoma"/>
                <a:cs typeface="Tahoma"/>
              </a:rPr>
              <a:t> </a:t>
            </a:r>
            <a:r>
              <a:rPr sz="1800" dirty="0">
                <a:solidFill>
                  <a:srgbClr val="212121"/>
                </a:solidFill>
                <a:latin typeface="Tahoma"/>
                <a:cs typeface="Tahoma"/>
              </a:rPr>
              <a:t>artificial</a:t>
            </a:r>
            <a:r>
              <a:rPr sz="1800" spc="-55" dirty="0">
                <a:solidFill>
                  <a:srgbClr val="212121"/>
                </a:solidFill>
                <a:latin typeface="Tahoma"/>
                <a:cs typeface="Tahoma"/>
              </a:rPr>
              <a:t> </a:t>
            </a:r>
            <a:r>
              <a:rPr sz="1800" dirty="0">
                <a:solidFill>
                  <a:srgbClr val="212121"/>
                </a:solidFill>
                <a:latin typeface="Tahoma"/>
                <a:cs typeface="Tahoma"/>
              </a:rPr>
              <a:t>author</a:t>
            </a:r>
            <a:r>
              <a:rPr sz="1800" spc="-65" dirty="0">
                <a:solidFill>
                  <a:srgbClr val="212121"/>
                </a:solidFill>
                <a:latin typeface="Tahoma"/>
                <a:cs typeface="Tahoma"/>
              </a:rPr>
              <a:t> </a:t>
            </a:r>
            <a:r>
              <a:rPr sz="1800" dirty="0">
                <a:solidFill>
                  <a:srgbClr val="212121"/>
                </a:solidFill>
                <a:latin typeface="Tahoma"/>
                <a:cs typeface="Tahoma"/>
              </a:rPr>
              <a:t>which</a:t>
            </a:r>
            <a:r>
              <a:rPr sz="1800" spc="-70" dirty="0">
                <a:solidFill>
                  <a:srgbClr val="212121"/>
                </a:solidFill>
                <a:latin typeface="Tahoma"/>
                <a:cs typeface="Tahoma"/>
              </a:rPr>
              <a:t> </a:t>
            </a:r>
            <a:r>
              <a:rPr sz="1800" dirty="0">
                <a:solidFill>
                  <a:srgbClr val="212121"/>
                </a:solidFill>
                <a:latin typeface="Tahoma"/>
                <a:cs typeface="Tahoma"/>
              </a:rPr>
              <a:t>can</a:t>
            </a:r>
            <a:r>
              <a:rPr sz="1800" spc="-50" dirty="0">
                <a:solidFill>
                  <a:srgbClr val="212121"/>
                </a:solidFill>
                <a:latin typeface="Tahoma"/>
                <a:cs typeface="Tahoma"/>
              </a:rPr>
              <a:t> </a:t>
            </a:r>
            <a:r>
              <a:rPr sz="1800" dirty="0">
                <a:solidFill>
                  <a:srgbClr val="212121"/>
                </a:solidFill>
                <a:latin typeface="Tahoma"/>
                <a:cs typeface="Tahoma"/>
              </a:rPr>
              <a:t>write</a:t>
            </a:r>
            <a:r>
              <a:rPr sz="1800" spc="-55" dirty="0">
                <a:solidFill>
                  <a:srgbClr val="212121"/>
                </a:solidFill>
                <a:latin typeface="Tahoma"/>
                <a:cs typeface="Tahoma"/>
              </a:rPr>
              <a:t> </a:t>
            </a:r>
            <a:r>
              <a:rPr sz="1800" spc="-25" dirty="0">
                <a:solidFill>
                  <a:srgbClr val="212121"/>
                </a:solidFill>
                <a:latin typeface="Tahoma"/>
                <a:cs typeface="Tahoma"/>
              </a:rPr>
              <a:t>an </a:t>
            </a:r>
            <a:r>
              <a:rPr sz="1800" dirty="0">
                <a:solidFill>
                  <a:srgbClr val="212121"/>
                </a:solidFill>
                <a:latin typeface="Tahoma"/>
                <a:cs typeface="Tahoma"/>
              </a:rPr>
              <a:t>article</a:t>
            </a:r>
            <a:r>
              <a:rPr sz="1800" spc="-70" dirty="0">
                <a:solidFill>
                  <a:srgbClr val="212121"/>
                </a:solidFill>
                <a:latin typeface="Tahoma"/>
                <a:cs typeface="Tahoma"/>
              </a:rPr>
              <a:t> </a:t>
            </a:r>
            <a:r>
              <a:rPr sz="1800" spc="-10" dirty="0">
                <a:solidFill>
                  <a:srgbClr val="212121"/>
                </a:solidFill>
                <a:latin typeface="Tahoma"/>
                <a:cs typeface="Tahoma"/>
              </a:rPr>
              <a:t>and</a:t>
            </a:r>
            <a:r>
              <a:rPr sz="1800" spc="-65" dirty="0">
                <a:solidFill>
                  <a:srgbClr val="212121"/>
                </a:solidFill>
                <a:latin typeface="Tahoma"/>
                <a:cs typeface="Tahoma"/>
              </a:rPr>
              <a:t> </a:t>
            </a:r>
            <a:r>
              <a:rPr sz="1800" spc="-10" dirty="0">
                <a:solidFill>
                  <a:srgbClr val="212121"/>
                </a:solidFill>
                <a:latin typeface="Tahoma"/>
                <a:cs typeface="Tahoma"/>
              </a:rPr>
              <a:t>explain</a:t>
            </a:r>
            <a:r>
              <a:rPr sz="1800" spc="-60" dirty="0">
                <a:solidFill>
                  <a:srgbClr val="212121"/>
                </a:solidFill>
                <a:latin typeface="Tahoma"/>
                <a:cs typeface="Tahoma"/>
              </a:rPr>
              <a:t> </a:t>
            </a:r>
            <a:r>
              <a:rPr sz="1800" spc="-20" dirty="0">
                <a:solidFill>
                  <a:srgbClr val="212121"/>
                </a:solidFill>
                <a:latin typeface="Tahoma"/>
                <a:cs typeface="Tahoma"/>
              </a:rPr>
              <a:t>data</a:t>
            </a:r>
            <a:r>
              <a:rPr sz="1800" spc="-55" dirty="0">
                <a:solidFill>
                  <a:srgbClr val="212121"/>
                </a:solidFill>
                <a:latin typeface="Tahoma"/>
                <a:cs typeface="Tahoma"/>
              </a:rPr>
              <a:t> </a:t>
            </a:r>
            <a:r>
              <a:rPr sz="1800" dirty="0">
                <a:solidFill>
                  <a:srgbClr val="212121"/>
                </a:solidFill>
                <a:latin typeface="Tahoma"/>
                <a:cs typeface="Tahoma"/>
              </a:rPr>
              <a:t>science</a:t>
            </a:r>
            <a:r>
              <a:rPr sz="1800" spc="-65" dirty="0">
                <a:solidFill>
                  <a:srgbClr val="212121"/>
                </a:solidFill>
                <a:latin typeface="Tahoma"/>
                <a:cs typeface="Tahoma"/>
              </a:rPr>
              <a:t> </a:t>
            </a:r>
            <a:r>
              <a:rPr sz="1800" dirty="0">
                <a:solidFill>
                  <a:srgbClr val="212121"/>
                </a:solidFill>
                <a:latin typeface="Tahoma"/>
                <a:cs typeface="Tahoma"/>
              </a:rPr>
              <a:t>concepts</a:t>
            </a:r>
            <a:r>
              <a:rPr sz="1800" spc="-60" dirty="0">
                <a:solidFill>
                  <a:srgbClr val="212121"/>
                </a:solidFill>
                <a:latin typeface="Tahoma"/>
                <a:cs typeface="Tahoma"/>
              </a:rPr>
              <a:t> </a:t>
            </a:r>
            <a:r>
              <a:rPr sz="1800" dirty="0">
                <a:solidFill>
                  <a:srgbClr val="212121"/>
                </a:solidFill>
                <a:latin typeface="Tahoma"/>
                <a:cs typeface="Tahoma"/>
              </a:rPr>
              <a:t>to</a:t>
            </a:r>
            <a:r>
              <a:rPr sz="1800" spc="-60" dirty="0">
                <a:solidFill>
                  <a:srgbClr val="212121"/>
                </a:solidFill>
                <a:latin typeface="Tahoma"/>
                <a:cs typeface="Tahoma"/>
              </a:rPr>
              <a:t> </a:t>
            </a:r>
            <a:r>
              <a:rPr sz="1800" spc="-50" dirty="0">
                <a:solidFill>
                  <a:srgbClr val="212121"/>
                </a:solidFill>
                <a:latin typeface="Tahoma"/>
                <a:cs typeface="Tahoma"/>
              </a:rPr>
              <a:t>a </a:t>
            </a:r>
            <a:r>
              <a:rPr sz="1800" dirty="0">
                <a:solidFill>
                  <a:srgbClr val="212121"/>
                </a:solidFill>
                <a:latin typeface="Tahoma"/>
                <a:cs typeface="Tahoma"/>
              </a:rPr>
              <a:t>community</a:t>
            </a:r>
            <a:r>
              <a:rPr sz="1800" spc="-80" dirty="0">
                <a:solidFill>
                  <a:srgbClr val="212121"/>
                </a:solidFill>
                <a:latin typeface="Tahoma"/>
                <a:cs typeface="Tahoma"/>
              </a:rPr>
              <a:t> </a:t>
            </a:r>
            <a:r>
              <a:rPr sz="1800" dirty="0">
                <a:solidFill>
                  <a:srgbClr val="212121"/>
                </a:solidFill>
                <a:latin typeface="Tahoma"/>
                <a:cs typeface="Tahoma"/>
              </a:rPr>
              <a:t>in</a:t>
            </a:r>
            <a:r>
              <a:rPr sz="1800" spc="-70" dirty="0">
                <a:solidFill>
                  <a:srgbClr val="212121"/>
                </a:solidFill>
                <a:latin typeface="Tahoma"/>
                <a:cs typeface="Tahoma"/>
              </a:rPr>
              <a:t> </a:t>
            </a:r>
            <a:r>
              <a:rPr sz="1800" spc="-60" dirty="0">
                <a:solidFill>
                  <a:srgbClr val="212121"/>
                </a:solidFill>
                <a:latin typeface="Tahoma"/>
                <a:cs typeface="Tahoma"/>
              </a:rPr>
              <a:t>a </a:t>
            </a:r>
            <a:r>
              <a:rPr sz="1800" dirty="0">
                <a:solidFill>
                  <a:srgbClr val="212121"/>
                </a:solidFill>
                <a:latin typeface="Tahoma"/>
                <a:cs typeface="Tahoma"/>
              </a:rPr>
              <a:t>very</a:t>
            </a:r>
            <a:r>
              <a:rPr sz="1800" spc="-70" dirty="0">
                <a:solidFill>
                  <a:srgbClr val="212121"/>
                </a:solidFill>
                <a:latin typeface="Tahoma"/>
                <a:cs typeface="Tahoma"/>
              </a:rPr>
              <a:t> </a:t>
            </a:r>
            <a:r>
              <a:rPr sz="1800" dirty="0">
                <a:solidFill>
                  <a:srgbClr val="212121"/>
                </a:solidFill>
                <a:latin typeface="Tahoma"/>
                <a:cs typeface="Tahoma"/>
              </a:rPr>
              <a:t>simplistic</a:t>
            </a:r>
            <a:r>
              <a:rPr sz="1800" spc="-45" dirty="0">
                <a:solidFill>
                  <a:srgbClr val="212121"/>
                </a:solidFill>
                <a:latin typeface="Tahoma"/>
                <a:cs typeface="Tahoma"/>
              </a:rPr>
              <a:t> </a:t>
            </a:r>
            <a:r>
              <a:rPr sz="1800" spc="-25" dirty="0">
                <a:solidFill>
                  <a:srgbClr val="212121"/>
                </a:solidFill>
                <a:latin typeface="Tahoma"/>
                <a:cs typeface="Tahoma"/>
              </a:rPr>
              <a:t>manner</a:t>
            </a:r>
            <a:r>
              <a:rPr sz="1800" spc="-95" dirty="0">
                <a:solidFill>
                  <a:srgbClr val="212121"/>
                </a:solidFill>
                <a:latin typeface="Tahoma"/>
                <a:cs typeface="Tahoma"/>
              </a:rPr>
              <a:t> </a:t>
            </a:r>
            <a:r>
              <a:rPr sz="1800" spc="-25" dirty="0">
                <a:solidFill>
                  <a:srgbClr val="212121"/>
                </a:solidFill>
                <a:latin typeface="Tahoma"/>
                <a:cs typeface="Tahoma"/>
              </a:rPr>
              <a:t>by </a:t>
            </a:r>
            <a:r>
              <a:rPr sz="1800" spc="-10" dirty="0">
                <a:solidFill>
                  <a:srgbClr val="212121"/>
                </a:solidFill>
                <a:latin typeface="Tahoma"/>
                <a:cs typeface="Tahoma"/>
              </a:rPr>
              <a:t>learning</a:t>
            </a:r>
            <a:r>
              <a:rPr sz="1800" spc="-90" dirty="0">
                <a:solidFill>
                  <a:srgbClr val="212121"/>
                </a:solidFill>
                <a:latin typeface="Tahoma"/>
                <a:cs typeface="Tahoma"/>
              </a:rPr>
              <a:t> </a:t>
            </a:r>
            <a:r>
              <a:rPr sz="1800" dirty="0">
                <a:solidFill>
                  <a:srgbClr val="212121"/>
                </a:solidFill>
                <a:latin typeface="Tahoma"/>
                <a:cs typeface="Tahoma"/>
              </a:rPr>
              <a:t>from</a:t>
            </a:r>
            <a:r>
              <a:rPr sz="1800" spc="-105" dirty="0">
                <a:solidFill>
                  <a:srgbClr val="212121"/>
                </a:solidFill>
                <a:latin typeface="Tahoma"/>
                <a:cs typeface="Tahoma"/>
              </a:rPr>
              <a:t> </a:t>
            </a:r>
            <a:r>
              <a:rPr sz="1800" dirty="0">
                <a:solidFill>
                  <a:srgbClr val="212121"/>
                </a:solidFill>
                <a:latin typeface="Tahoma"/>
                <a:cs typeface="Tahoma"/>
              </a:rPr>
              <a:t>past</a:t>
            </a:r>
            <a:r>
              <a:rPr sz="1800" spc="-90" dirty="0">
                <a:solidFill>
                  <a:srgbClr val="212121"/>
                </a:solidFill>
                <a:latin typeface="Tahoma"/>
                <a:cs typeface="Tahoma"/>
              </a:rPr>
              <a:t> </a:t>
            </a:r>
            <a:r>
              <a:rPr sz="1800" dirty="0">
                <a:solidFill>
                  <a:srgbClr val="212121"/>
                </a:solidFill>
                <a:latin typeface="Tahoma"/>
                <a:cs typeface="Tahoma"/>
              </a:rPr>
              <a:t>articles</a:t>
            </a:r>
            <a:r>
              <a:rPr sz="1800" spc="-80" dirty="0">
                <a:solidFill>
                  <a:srgbClr val="212121"/>
                </a:solidFill>
                <a:latin typeface="Tahoma"/>
                <a:cs typeface="Tahoma"/>
              </a:rPr>
              <a:t> </a:t>
            </a:r>
            <a:r>
              <a:rPr sz="1800" dirty="0">
                <a:solidFill>
                  <a:srgbClr val="212121"/>
                </a:solidFill>
                <a:latin typeface="Tahoma"/>
                <a:cs typeface="Tahoma"/>
              </a:rPr>
              <a:t>on</a:t>
            </a:r>
            <a:r>
              <a:rPr sz="1800" spc="-90" dirty="0">
                <a:solidFill>
                  <a:srgbClr val="212121"/>
                </a:solidFill>
                <a:latin typeface="Tahoma"/>
                <a:cs typeface="Tahoma"/>
              </a:rPr>
              <a:t> </a:t>
            </a:r>
            <a:r>
              <a:rPr sz="1800" spc="-10" dirty="0">
                <a:solidFill>
                  <a:srgbClr val="212121"/>
                </a:solidFill>
                <a:latin typeface="Tahoma"/>
                <a:cs typeface="Tahoma"/>
              </a:rPr>
              <a:t>Analytics Vidhya</a:t>
            </a:r>
            <a:endParaRPr sz="1800">
              <a:latin typeface="Tahoma"/>
              <a:cs typeface="Tahoma"/>
            </a:endParaRPr>
          </a:p>
        </p:txBody>
      </p:sp>
      <p:pic>
        <p:nvPicPr>
          <p:cNvPr id="4" name="object 4"/>
          <p:cNvPicPr/>
          <p:nvPr/>
        </p:nvPicPr>
        <p:blipFill>
          <a:blip r:embed="rId2" cstate="print"/>
          <a:stretch>
            <a:fillRect/>
          </a:stretch>
        </p:blipFill>
        <p:spPr>
          <a:xfrm>
            <a:off x="5184647" y="1482852"/>
            <a:ext cx="6367272" cy="42382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482" y="4061586"/>
            <a:ext cx="3636010" cy="1113790"/>
          </a:xfrm>
          <a:prstGeom prst="rect">
            <a:avLst/>
          </a:prstGeom>
        </p:spPr>
        <p:txBody>
          <a:bodyPr vert="horz" wrap="square" lIns="0" tIns="15240" rIns="0" bIns="0" rtlCol="0">
            <a:spAutoFit/>
          </a:bodyPr>
          <a:lstStyle/>
          <a:p>
            <a:pPr marL="12700" marR="5080">
              <a:lnSpc>
                <a:spcPct val="98900"/>
              </a:lnSpc>
              <a:spcBef>
                <a:spcPts val="120"/>
              </a:spcBef>
            </a:pPr>
            <a:r>
              <a:rPr sz="1800" b="1" i="1" spc="-90" dirty="0">
                <a:solidFill>
                  <a:srgbClr val="212121"/>
                </a:solidFill>
                <a:latin typeface="Trebuchet MS"/>
                <a:cs typeface="Trebuchet MS"/>
              </a:rPr>
              <a:t>(GANs),</a:t>
            </a:r>
            <a:r>
              <a:rPr sz="1800" b="1" i="1" spc="-114" dirty="0">
                <a:solidFill>
                  <a:srgbClr val="212121"/>
                </a:solidFill>
                <a:latin typeface="Trebuchet MS"/>
                <a:cs typeface="Trebuchet MS"/>
              </a:rPr>
              <a:t> </a:t>
            </a:r>
            <a:r>
              <a:rPr sz="1800" b="1" i="1" spc="-100" dirty="0">
                <a:solidFill>
                  <a:srgbClr val="212121"/>
                </a:solidFill>
                <a:latin typeface="Trebuchet MS"/>
                <a:cs typeface="Trebuchet MS"/>
              </a:rPr>
              <a:t>and the</a:t>
            </a:r>
            <a:r>
              <a:rPr sz="1800" b="1" i="1" spc="-110" dirty="0">
                <a:solidFill>
                  <a:srgbClr val="212121"/>
                </a:solidFill>
                <a:latin typeface="Trebuchet MS"/>
                <a:cs typeface="Trebuchet MS"/>
              </a:rPr>
              <a:t> </a:t>
            </a:r>
            <a:r>
              <a:rPr sz="1800" b="1" i="1" spc="-125" dirty="0">
                <a:solidFill>
                  <a:srgbClr val="212121"/>
                </a:solidFill>
                <a:latin typeface="Trebuchet MS"/>
                <a:cs typeface="Trebuchet MS"/>
              </a:rPr>
              <a:t>variations </a:t>
            </a:r>
            <a:r>
              <a:rPr sz="1800" b="1" i="1" spc="-114" dirty="0">
                <a:solidFill>
                  <a:srgbClr val="212121"/>
                </a:solidFill>
                <a:latin typeface="Trebuchet MS"/>
                <a:cs typeface="Trebuchet MS"/>
              </a:rPr>
              <a:t>that</a:t>
            </a:r>
            <a:r>
              <a:rPr sz="1800" b="1" i="1" spc="-100" dirty="0">
                <a:solidFill>
                  <a:srgbClr val="212121"/>
                </a:solidFill>
                <a:latin typeface="Trebuchet MS"/>
                <a:cs typeface="Trebuchet MS"/>
              </a:rPr>
              <a:t> </a:t>
            </a:r>
            <a:r>
              <a:rPr sz="1800" b="1" i="1" spc="-25" dirty="0">
                <a:solidFill>
                  <a:srgbClr val="212121"/>
                </a:solidFill>
                <a:latin typeface="Trebuchet MS"/>
                <a:cs typeface="Trebuchet MS"/>
              </a:rPr>
              <a:t>are </a:t>
            </a:r>
            <a:r>
              <a:rPr sz="1800" b="1" i="1" spc="-75" dirty="0">
                <a:solidFill>
                  <a:srgbClr val="212121"/>
                </a:solidFill>
                <a:latin typeface="Trebuchet MS"/>
                <a:cs typeface="Trebuchet MS"/>
              </a:rPr>
              <a:t>now</a:t>
            </a:r>
            <a:r>
              <a:rPr sz="1800" b="1" i="1" spc="-130" dirty="0">
                <a:solidFill>
                  <a:srgbClr val="212121"/>
                </a:solidFill>
                <a:latin typeface="Trebuchet MS"/>
                <a:cs typeface="Trebuchet MS"/>
              </a:rPr>
              <a:t> </a:t>
            </a:r>
            <a:r>
              <a:rPr sz="1800" b="1" i="1" spc="-100" dirty="0">
                <a:solidFill>
                  <a:srgbClr val="212121"/>
                </a:solidFill>
                <a:latin typeface="Trebuchet MS"/>
                <a:cs typeface="Trebuchet MS"/>
              </a:rPr>
              <a:t>being</a:t>
            </a:r>
            <a:r>
              <a:rPr sz="1800" b="1" i="1" spc="-120" dirty="0">
                <a:solidFill>
                  <a:srgbClr val="212121"/>
                </a:solidFill>
                <a:latin typeface="Trebuchet MS"/>
                <a:cs typeface="Trebuchet MS"/>
              </a:rPr>
              <a:t> </a:t>
            </a:r>
            <a:r>
              <a:rPr sz="1800" b="1" i="1" spc="-114" dirty="0">
                <a:solidFill>
                  <a:srgbClr val="212121"/>
                </a:solidFill>
                <a:latin typeface="Trebuchet MS"/>
                <a:cs typeface="Trebuchet MS"/>
              </a:rPr>
              <a:t>proposed</a:t>
            </a:r>
            <a:r>
              <a:rPr sz="1800" b="1" i="1" spc="-130" dirty="0">
                <a:solidFill>
                  <a:srgbClr val="212121"/>
                </a:solidFill>
                <a:latin typeface="Trebuchet MS"/>
                <a:cs typeface="Trebuchet MS"/>
              </a:rPr>
              <a:t> </a:t>
            </a:r>
            <a:r>
              <a:rPr sz="1800" b="1" i="1" spc="-135" dirty="0">
                <a:solidFill>
                  <a:srgbClr val="212121"/>
                </a:solidFill>
                <a:latin typeface="Trebuchet MS"/>
                <a:cs typeface="Trebuchet MS"/>
              </a:rPr>
              <a:t>is</a:t>
            </a:r>
            <a:r>
              <a:rPr sz="1800" b="1" i="1" spc="-125" dirty="0">
                <a:solidFill>
                  <a:srgbClr val="212121"/>
                </a:solidFill>
                <a:latin typeface="Trebuchet MS"/>
                <a:cs typeface="Trebuchet MS"/>
              </a:rPr>
              <a:t> </a:t>
            </a:r>
            <a:r>
              <a:rPr sz="1800" b="1" i="1" spc="-100" dirty="0">
                <a:solidFill>
                  <a:srgbClr val="212121"/>
                </a:solidFill>
                <a:latin typeface="Trebuchet MS"/>
                <a:cs typeface="Trebuchet MS"/>
              </a:rPr>
              <a:t>the</a:t>
            </a:r>
            <a:r>
              <a:rPr sz="1800" b="1" i="1" spc="-110" dirty="0">
                <a:solidFill>
                  <a:srgbClr val="212121"/>
                </a:solidFill>
                <a:latin typeface="Trebuchet MS"/>
                <a:cs typeface="Trebuchet MS"/>
              </a:rPr>
              <a:t> </a:t>
            </a:r>
            <a:r>
              <a:rPr sz="1800" b="1" i="1" spc="-20" dirty="0">
                <a:solidFill>
                  <a:srgbClr val="212121"/>
                </a:solidFill>
                <a:latin typeface="Trebuchet MS"/>
                <a:cs typeface="Trebuchet MS"/>
              </a:rPr>
              <a:t>most </a:t>
            </a:r>
            <a:r>
              <a:rPr sz="1800" b="1" i="1" spc="-114" dirty="0">
                <a:solidFill>
                  <a:srgbClr val="212121"/>
                </a:solidFill>
                <a:latin typeface="Trebuchet MS"/>
                <a:cs typeface="Trebuchet MS"/>
              </a:rPr>
              <a:t>interesting</a:t>
            </a:r>
            <a:r>
              <a:rPr sz="1800" b="1" i="1" spc="-130" dirty="0">
                <a:solidFill>
                  <a:srgbClr val="212121"/>
                </a:solidFill>
                <a:latin typeface="Trebuchet MS"/>
                <a:cs typeface="Trebuchet MS"/>
              </a:rPr>
              <a:t> idea</a:t>
            </a:r>
            <a:r>
              <a:rPr sz="1800" b="1" i="1" spc="-120" dirty="0">
                <a:solidFill>
                  <a:srgbClr val="212121"/>
                </a:solidFill>
                <a:latin typeface="Trebuchet MS"/>
                <a:cs typeface="Trebuchet MS"/>
              </a:rPr>
              <a:t> </a:t>
            </a:r>
            <a:r>
              <a:rPr sz="1800" b="1" i="1" spc="-100" dirty="0">
                <a:solidFill>
                  <a:srgbClr val="212121"/>
                </a:solidFill>
                <a:latin typeface="Trebuchet MS"/>
                <a:cs typeface="Trebuchet MS"/>
              </a:rPr>
              <a:t>in</a:t>
            </a:r>
            <a:r>
              <a:rPr sz="1800" b="1" i="1" spc="-120" dirty="0">
                <a:solidFill>
                  <a:srgbClr val="212121"/>
                </a:solidFill>
                <a:latin typeface="Trebuchet MS"/>
                <a:cs typeface="Trebuchet MS"/>
              </a:rPr>
              <a:t> </a:t>
            </a:r>
            <a:r>
              <a:rPr sz="1800" b="1" i="1" spc="-100" dirty="0">
                <a:solidFill>
                  <a:srgbClr val="212121"/>
                </a:solidFill>
                <a:latin typeface="Trebuchet MS"/>
                <a:cs typeface="Trebuchet MS"/>
              </a:rPr>
              <a:t>the</a:t>
            </a:r>
            <a:r>
              <a:rPr sz="1800" b="1" i="1" spc="-125" dirty="0">
                <a:solidFill>
                  <a:srgbClr val="212121"/>
                </a:solidFill>
                <a:latin typeface="Trebuchet MS"/>
                <a:cs typeface="Trebuchet MS"/>
              </a:rPr>
              <a:t> </a:t>
            </a:r>
            <a:r>
              <a:rPr sz="1800" b="1" i="1" spc="-130" dirty="0">
                <a:solidFill>
                  <a:srgbClr val="212121"/>
                </a:solidFill>
                <a:latin typeface="Trebuchet MS"/>
                <a:cs typeface="Trebuchet MS"/>
              </a:rPr>
              <a:t>last</a:t>
            </a:r>
            <a:r>
              <a:rPr sz="1800" b="1" i="1" spc="-120" dirty="0">
                <a:solidFill>
                  <a:srgbClr val="212121"/>
                </a:solidFill>
                <a:latin typeface="Trebuchet MS"/>
                <a:cs typeface="Trebuchet MS"/>
              </a:rPr>
              <a:t> </a:t>
            </a:r>
            <a:r>
              <a:rPr sz="1800" b="1" i="1" spc="-20" dirty="0">
                <a:solidFill>
                  <a:srgbClr val="212121"/>
                </a:solidFill>
                <a:latin typeface="Trebuchet MS"/>
                <a:cs typeface="Trebuchet MS"/>
              </a:rPr>
              <a:t>10</a:t>
            </a:r>
            <a:r>
              <a:rPr sz="1800" b="1" i="1" spc="-105" dirty="0">
                <a:solidFill>
                  <a:srgbClr val="212121"/>
                </a:solidFill>
                <a:latin typeface="Trebuchet MS"/>
                <a:cs typeface="Trebuchet MS"/>
              </a:rPr>
              <a:t> </a:t>
            </a:r>
            <a:r>
              <a:rPr sz="1800" b="1" i="1" spc="-140" dirty="0">
                <a:solidFill>
                  <a:srgbClr val="212121"/>
                </a:solidFill>
                <a:latin typeface="Trebuchet MS"/>
                <a:cs typeface="Trebuchet MS"/>
              </a:rPr>
              <a:t>years</a:t>
            </a:r>
            <a:r>
              <a:rPr sz="1800" b="1" i="1" spc="-120" dirty="0">
                <a:solidFill>
                  <a:srgbClr val="212121"/>
                </a:solidFill>
                <a:latin typeface="Trebuchet MS"/>
                <a:cs typeface="Trebuchet MS"/>
              </a:rPr>
              <a:t> </a:t>
            </a:r>
            <a:r>
              <a:rPr sz="1800" b="1" i="1" spc="-35" dirty="0">
                <a:solidFill>
                  <a:srgbClr val="212121"/>
                </a:solidFill>
                <a:latin typeface="Trebuchet MS"/>
                <a:cs typeface="Trebuchet MS"/>
              </a:rPr>
              <a:t>in </a:t>
            </a:r>
            <a:r>
              <a:rPr sz="1800" b="1" i="1" spc="-60" dirty="0">
                <a:solidFill>
                  <a:srgbClr val="212121"/>
                </a:solidFill>
                <a:latin typeface="Trebuchet MS"/>
                <a:cs typeface="Trebuchet MS"/>
              </a:rPr>
              <a:t>ML,</a:t>
            </a:r>
            <a:r>
              <a:rPr sz="1800" b="1" i="1" spc="-110" dirty="0">
                <a:solidFill>
                  <a:srgbClr val="212121"/>
                </a:solidFill>
                <a:latin typeface="Trebuchet MS"/>
                <a:cs typeface="Trebuchet MS"/>
              </a:rPr>
              <a:t> </a:t>
            </a:r>
            <a:r>
              <a:rPr sz="1800" b="1" i="1" spc="-105" dirty="0">
                <a:solidFill>
                  <a:srgbClr val="212121"/>
                </a:solidFill>
                <a:latin typeface="Trebuchet MS"/>
                <a:cs typeface="Trebuchet MS"/>
              </a:rPr>
              <a:t>in</a:t>
            </a:r>
            <a:r>
              <a:rPr sz="1800" b="1" i="1" spc="-130" dirty="0">
                <a:solidFill>
                  <a:srgbClr val="212121"/>
                </a:solidFill>
                <a:latin typeface="Trebuchet MS"/>
                <a:cs typeface="Trebuchet MS"/>
              </a:rPr>
              <a:t> </a:t>
            </a:r>
            <a:r>
              <a:rPr sz="1800" b="1" i="1" spc="-110" dirty="0">
                <a:solidFill>
                  <a:srgbClr val="212121"/>
                </a:solidFill>
                <a:latin typeface="Trebuchet MS"/>
                <a:cs typeface="Trebuchet MS"/>
              </a:rPr>
              <a:t>my</a:t>
            </a:r>
            <a:r>
              <a:rPr sz="1800" b="1" i="1" spc="-120" dirty="0">
                <a:solidFill>
                  <a:srgbClr val="212121"/>
                </a:solidFill>
                <a:latin typeface="Trebuchet MS"/>
                <a:cs typeface="Trebuchet MS"/>
              </a:rPr>
              <a:t> </a:t>
            </a:r>
            <a:r>
              <a:rPr sz="1800" b="1" i="1" spc="-155" dirty="0">
                <a:solidFill>
                  <a:srgbClr val="212121"/>
                </a:solidFill>
                <a:latin typeface="Trebuchet MS"/>
                <a:cs typeface="Trebuchet MS"/>
              </a:rPr>
              <a:t>opinion.”</a:t>
            </a:r>
            <a:r>
              <a:rPr sz="1800" b="1" i="1" spc="-145" dirty="0">
                <a:solidFill>
                  <a:srgbClr val="212121"/>
                </a:solidFill>
                <a:latin typeface="Trebuchet MS"/>
                <a:cs typeface="Trebuchet MS"/>
              </a:rPr>
              <a:t> </a:t>
            </a:r>
            <a:r>
              <a:rPr sz="1800" b="1" i="1" spc="375" dirty="0">
                <a:solidFill>
                  <a:srgbClr val="212121"/>
                </a:solidFill>
                <a:latin typeface="Trebuchet MS"/>
                <a:cs typeface="Trebuchet MS"/>
              </a:rPr>
              <a:t>–</a:t>
            </a:r>
            <a:r>
              <a:rPr sz="1800" b="1" i="1" spc="-110" dirty="0">
                <a:solidFill>
                  <a:srgbClr val="212121"/>
                </a:solidFill>
                <a:latin typeface="Trebuchet MS"/>
                <a:cs typeface="Trebuchet MS"/>
              </a:rPr>
              <a:t> </a:t>
            </a:r>
            <a:r>
              <a:rPr sz="1800" b="1" i="1" spc="-90" dirty="0">
                <a:solidFill>
                  <a:srgbClr val="212121"/>
                </a:solidFill>
                <a:latin typeface="Trebuchet MS"/>
                <a:cs typeface="Trebuchet MS"/>
              </a:rPr>
              <a:t>Yann</a:t>
            </a:r>
            <a:r>
              <a:rPr sz="1800" b="1" i="1" spc="-125" dirty="0">
                <a:solidFill>
                  <a:srgbClr val="212121"/>
                </a:solidFill>
                <a:latin typeface="Trebuchet MS"/>
                <a:cs typeface="Trebuchet MS"/>
              </a:rPr>
              <a:t> </a:t>
            </a:r>
            <a:r>
              <a:rPr sz="1800" b="1" i="1" spc="-10" dirty="0">
                <a:solidFill>
                  <a:srgbClr val="212121"/>
                </a:solidFill>
                <a:latin typeface="Trebuchet MS"/>
                <a:cs typeface="Trebuchet MS"/>
              </a:rPr>
              <a:t>Lecun</a:t>
            </a:r>
            <a:endParaRPr sz="1800">
              <a:latin typeface="Trebuchet MS"/>
              <a:cs typeface="Trebuchet MS"/>
            </a:endParaRPr>
          </a:p>
        </p:txBody>
      </p:sp>
      <p:pic>
        <p:nvPicPr>
          <p:cNvPr id="3" name="object 3"/>
          <p:cNvPicPr/>
          <p:nvPr/>
        </p:nvPicPr>
        <p:blipFill>
          <a:blip r:embed="rId2" cstate="print"/>
          <a:stretch>
            <a:fillRect/>
          </a:stretch>
        </p:blipFill>
        <p:spPr>
          <a:xfrm>
            <a:off x="4610074" y="988740"/>
            <a:ext cx="6184787" cy="5178887"/>
          </a:xfrm>
          <a:prstGeom prst="rect">
            <a:avLst/>
          </a:prstGeom>
        </p:spPr>
      </p:pic>
      <p:pic>
        <p:nvPicPr>
          <p:cNvPr id="4" name="object 4"/>
          <p:cNvPicPr/>
          <p:nvPr/>
        </p:nvPicPr>
        <p:blipFill>
          <a:blip r:embed="rId3" cstate="print"/>
          <a:stretch>
            <a:fillRect/>
          </a:stretch>
        </p:blipFill>
        <p:spPr>
          <a:xfrm>
            <a:off x="723900" y="1510283"/>
            <a:ext cx="3150107" cy="17739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98348"/>
            <a:ext cx="12191999" cy="58613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4000372" cy="3904361"/>
          </a:xfrm>
          <a:prstGeom prst="rect">
            <a:avLst/>
          </a:prstGeom>
        </p:spPr>
      </p:pic>
      <p:pic>
        <p:nvPicPr>
          <p:cNvPr id="4" name="object 4"/>
          <p:cNvPicPr/>
          <p:nvPr/>
        </p:nvPicPr>
        <p:blipFill>
          <a:blip r:embed="rId3" cstate="print"/>
          <a:stretch>
            <a:fillRect/>
          </a:stretch>
        </p:blipFill>
        <p:spPr>
          <a:xfrm>
            <a:off x="4191000" y="0"/>
            <a:ext cx="3810000" cy="3904361"/>
          </a:xfrm>
          <a:prstGeom prst="rect">
            <a:avLst/>
          </a:prstGeom>
        </p:spPr>
      </p:pic>
      <p:grpSp>
        <p:nvGrpSpPr>
          <p:cNvPr id="5" name="object 5"/>
          <p:cNvGrpSpPr/>
          <p:nvPr/>
        </p:nvGrpSpPr>
        <p:grpSpPr>
          <a:xfrm>
            <a:off x="0" y="0"/>
            <a:ext cx="12192000" cy="4795520"/>
            <a:chOff x="0" y="0"/>
            <a:chExt cx="12192000" cy="4795520"/>
          </a:xfrm>
        </p:grpSpPr>
        <p:pic>
          <p:nvPicPr>
            <p:cNvPr id="6" name="object 6"/>
            <p:cNvPicPr/>
            <p:nvPr/>
          </p:nvPicPr>
          <p:blipFill>
            <a:blip r:embed="rId4" cstate="print"/>
            <a:stretch>
              <a:fillRect/>
            </a:stretch>
          </p:blipFill>
          <p:spPr>
            <a:xfrm>
              <a:off x="8191500" y="0"/>
              <a:ext cx="4000500" cy="4008120"/>
            </a:xfrm>
            <a:prstGeom prst="rect">
              <a:avLst/>
            </a:prstGeom>
          </p:spPr>
        </p:pic>
        <p:pic>
          <p:nvPicPr>
            <p:cNvPr id="7" name="object 7"/>
            <p:cNvPicPr/>
            <p:nvPr/>
          </p:nvPicPr>
          <p:blipFill>
            <a:blip r:embed="rId5" cstate="print"/>
            <a:stretch>
              <a:fillRect/>
            </a:stretch>
          </p:blipFill>
          <p:spPr>
            <a:xfrm>
              <a:off x="0" y="3299459"/>
              <a:ext cx="12192000" cy="1495552"/>
            </a:xfrm>
            <a:prstGeom prst="rect">
              <a:avLst/>
            </a:prstGeom>
          </p:spPr>
        </p:pic>
        <p:pic>
          <p:nvPicPr>
            <p:cNvPr id="8" name="object 8"/>
            <p:cNvPicPr/>
            <p:nvPr/>
          </p:nvPicPr>
          <p:blipFill>
            <a:blip r:embed="rId6" cstate="print"/>
            <a:stretch>
              <a:fillRect/>
            </a:stretch>
          </p:blipFill>
          <p:spPr>
            <a:xfrm>
              <a:off x="0" y="3529584"/>
              <a:ext cx="12192000" cy="755872"/>
            </a:xfrm>
            <a:prstGeom prst="rect">
              <a:avLst/>
            </a:prstGeom>
          </p:spPr>
        </p:pic>
      </p:grpSp>
      <p:pic>
        <p:nvPicPr>
          <p:cNvPr id="9" name="object 9"/>
          <p:cNvPicPr/>
          <p:nvPr/>
        </p:nvPicPr>
        <p:blipFill>
          <a:blip r:embed="rId7" cstate="print"/>
          <a:stretch>
            <a:fillRect/>
          </a:stretch>
        </p:blipFill>
        <p:spPr>
          <a:xfrm>
            <a:off x="5771896" y="4915915"/>
            <a:ext cx="75437" cy="75437"/>
          </a:xfrm>
          <a:prstGeom prst="rect">
            <a:avLst/>
          </a:prstGeom>
        </p:spPr>
      </p:pic>
      <p:pic>
        <p:nvPicPr>
          <p:cNvPr id="10" name="object 10"/>
          <p:cNvPicPr/>
          <p:nvPr/>
        </p:nvPicPr>
        <p:blipFill>
          <a:blip r:embed="rId8" cstate="print"/>
          <a:stretch>
            <a:fillRect/>
          </a:stretch>
        </p:blipFill>
        <p:spPr>
          <a:xfrm>
            <a:off x="6006972" y="4841621"/>
            <a:ext cx="4533773" cy="2727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37432" y="1016508"/>
            <a:ext cx="8085963" cy="5038346"/>
          </a:xfrm>
          <a:prstGeom prst="rect">
            <a:avLst/>
          </a:prstGeom>
        </p:spPr>
      </p:pic>
      <p:sp>
        <p:nvSpPr>
          <p:cNvPr id="3" name="object 3"/>
          <p:cNvSpPr txBox="1">
            <a:spLocks noGrp="1"/>
          </p:cNvSpPr>
          <p:nvPr>
            <p:ph type="title"/>
          </p:nvPr>
        </p:nvSpPr>
        <p:spPr>
          <a:prstGeom prst="rect">
            <a:avLst/>
          </a:prstGeom>
        </p:spPr>
        <p:txBody>
          <a:bodyPr vert="horz" wrap="square" lIns="0" tIns="107188" rIns="0" bIns="0" rtlCol="0">
            <a:spAutoFit/>
          </a:bodyPr>
          <a:lstStyle/>
          <a:p>
            <a:pPr marL="12700">
              <a:lnSpc>
                <a:spcPct val="100000"/>
              </a:lnSpc>
              <a:spcBef>
                <a:spcPts val="95"/>
              </a:spcBef>
            </a:pPr>
            <a:r>
              <a:rPr sz="2800" b="1" spc="-235" dirty="0">
                <a:solidFill>
                  <a:srgbClr val="C00000"/>
                </a:solidFill>
                <a:latin typeface="Arial"/>
                <a:cs typeface="Arial"/>
              </a:rPr>
              <a:t>Deepfakes?-</a:t>
            </a:r>
            <a:r>
              <a:rPr sz="2800" b="1" spc="-280" dirty="0">
                <a:solidFill>
                  <a:srgbClr val="C00000"/>
                </a:solidFill>
                <a:latin typeface="Arial"/>
                <a:cs typeface="Arial"/>
              </a:rPr>
              <a:t>Face</a:t>
            </a:r>
            <a:r>
              <a:rPr sz="2800" b="1" spc="-30" dirty="0">
                <a:solidFill>
                  <a:srgbClr val="C00000"/>
                </a:solidFill>
                <a:latin typeface="Arial"/>
                <a:cs typeface="Arial"/>
              </a:rPr>
              <a:t> </a:t>
            </a:r>
            <a:r>
              <a:rPr sz="2800" b="1" spc="-245" dirty="0">
                <a:solidFill>
                  <a:srgbClr val="C00000"/>
                </a:solidFill>
                <a:latin typeface="Arial"/>
                <a:cs typeface="Arial"/>
              </a:rPr>
              <a:t>synthesis</a:t>
            </a:r>
            <a:r>
              <a:rPr sz="2800" b="1" spc="-30" dirty="0">
                <a:solidFill>
                  <a:srgbClr val="C00000"/>
                </a:solidFill>
                <a:latin typeface="Arial"/>
                <a:cs typeface="Arial"/>
              </a:rPr>
              <a:t> </a:t>
            </a:r>
            <a:r>
              <a:rPr sz="2800" b="1" spc="-204" dirty="0">
                <a:solidFill>
                  <a:srgbClr val="C00000"/>
                </a:solidFill>
                <a:latin typeface="Arial"/>
                <a:cs typeface="Arial"/>
              </a:rPr>
              <a:t>with</a:t>
            </a:r>
            <a:r>
              <a:rPr sz="2800" b="1" spc="-35" dirty="0">
                <a:solidFill>
                  <a:srgbClr val="C00000"/>
                </a:solidFill>
                <a:latin typeface="Arial"/>
                <a:cs typeface="Arial"/>
              </a:rPr>
              <a:t> </a:t>
            </a:r>
            <a:r>
              <a:rPr sz="2800" b="1" spc="-400" dirty="0">
                <a:solidFill>
                  <a:srgbClr val="C00000"/>
                </a:solidFill>
                <a:latin typeface="Arial"/>
                <a:cs typeface="Arial"/>
              </a:rPr>
              <a:t>GANs</a:t>
            </a:r>
            <a:r>
              <a:rPr sz="2800" b="1" spc="-20" dirty="0">
                <a:solidFill>
                  <a:srgbClr val="C00000"/>
                </a:solidFill>
                <a:latin typeface="Arial"/>
                <a:cs typeface="Arial"/>
              </a:rPr>
              <a:t> </a:t>
            </a:r>
            <a:r>
              <a:rPr sz="2800" b="1" spc="-254" dirty="0">
                <a:solidFill>
                  <a:srgbClr val="C00000"/>
                </a:solidFill>
                <a:latin typeface="Arial"/>
                <a:cs typeface="Arial"/>
              </a:rPr>
              <a:t>and</a:t>
            </a:r>
            <a:r>
              <a:rPr sz="2800" b="1" spc="-30" dirty="0">
                <a:solidFill>
                  <a:srgbClr val="C00000"/>
                </a:solidFill>
                <a:latin typeface="Arial"/>
                <a:cs typeface="Arial"/>
              </a:rPr>
              <a:t> </a:t>
            </a:r>
            <a:r>
              <a:rPr sz="2800" b="1" spc="-285" dirty="0">
                <a:solidFill>
                  <a:srgbClr val="C00000"/>
                </a:solidFill>
                <a:latin typeface="Arial"/>
                <a:cs typeface="Arial"/>
              </a:rPr>
              <a:t>Autoencoders</a:t>
            </a:r>
            <a:endParaRPr sz="2800">
              <a:latin typeface="Arial"/>
              <a:cs typeface="Arial"/>
            </a:endParaRPr>
          </a:p>
        </p:txBody>
      </p:sp>
      <p:sp>
        <p:nvSpPr>
          <p:cNvPr id="4" name="object 4"/>
          <p:cNvSpPr txBox="1"/>
          <p:nvPr/>
        </p:nvSpPr>
        <p:spPr>
          <a:xfrm>
            <a:off x="337210" y="1561846"/>
            <a:ext cx="3778250" cy="1120140"/>
          </a:xfrm>
          <a:prstGeom prst="rect">
            <a:avLst/>
          </a:prstGeom>
        </p:spPr>
        <p:txBody>
          <a:bodyPr vert="horz" wrap="square" lIns="0" tIns="13335" rIns="0" bIns="0" rtlCol="0">
            <a:spAutoFit/>
          </a:bodyPr>
          <a:lstStyle/>
          <a:p>
            <a:pPr marL="12700" marR="5080">
              <a:lnSpc>
                <a:spcPct val="99700"/>
              </a:lnSpc>
              <a:spcBef>
                <a:spcPts val="105"/>
              </a:spcBef>
            </a:pPr>
            <a:r>
              <a:rPr sz="1800" b="1" spc="70" dirty="0">
                <a:latin typeface="Trebuchet MS"/>
                <a:cs typeface="Trebuchet MS"/>
              </a:rPr>
              <a:t>Deepfakes</a:t>
            </a:r>
            <a:r>
              <a:rPr sz="1800" b="1" spc="90" dirty="0">
                <a:latin typeface="Trebuchet MS"/>
                <a:cs typeface="Trebuchet MS"/>
              </a:rPr>
              <a:t> </a:t>
            </a:r>
            <a:r>
              <a:rPr sz="1800" dirty="0">
                <a:latin typeface="Trebuchet MS"/>
                <a:cs typeface="Trebuchet MS"/>
              </a:rPr>
              <a:t>are</a:t>
            </a:r>
            <a:r>
              <a:rPr sz="1800" spc="140" dirty="0">
                <a:latin typeface="Trebuchet MS"/>
                <a:cs typeface="Trebuchet MS"/>
              </a:rPr>
              <a:t> </a:t>
            </a:r>
            <a:r>
              <a:rPr sz="1800" spc="80" dirty="0">
                <a:latin typeface="Trebuchet MS"/>
                <a:cs typeface="Trebuchet MS"/>
              </a:rPr>
              <a:t>synthetic</a:t>
            </a:r>
            <a:r>
              <a:rPr sz="1800" spc="95" dirty="0">
                <a:latin typeface="Trebuchet MS"/>
                <a:cs typeface="Trebuchet MS"/>
              </a:rPr>
              <a:t> </a:t>
            </a:r>
            <a:r>
              <a:rPr sz="1800" spc="80" dirty="0">
                <a:latin typeface="Trebuchet MS"/>
                <a:cs typeface="Trebuchet MS"/>
              </a:rPr>
              <a:t>media</a:t>
            </a:r>
            <a:r>
              <a:rPr sz="1800" spc="-135" dirty="0">
                <a:latin typeface="Trebuchet MS"/>
                <a:cs typeface="Trebuchet MS"/>
              </a:rPr>
              <a:t> </a:t>
            </a:r>
            <a:r>
              <a:rPr sz="1800" spc="-25" dirty="0">
                <a:latin typeface="Trebuchet MS"/>
                <a:cs typeface="Trebuchet MS"/>
              </a:rPr>
              <a:t>in </a:t>
            </a:r>
            <a:r>
              <a:rPr sz="1800" spc="95" dirty="0">
                <a:latin typeface="Trebuchet MS"/>
                <a:cs typeface="Trebuchet MS"/>
              </a:rPr>
              <a:t>which</a:t>
            </a:r>
            <a:r>
              <a:rPr sz="1800" spc="65" dirty="0">
                <a:latin typeface="Trebuchet MS"/>
                <a:cs typeface="Trebuchet MS"/>
              </a:rPr>
              <a:t> </a:t>
            </a:r>
            <a:r>
              <a:rPr sz="1800" b="1" spc="75" dirty="0">
                <a:latin typeface="Trebuchet MS"/>
                <a:cs typeface="Trebuchet MS"/>
              </a:rPr>
              <a:t>a</a:t>
            </a:r>
            <a:r>
              <a:rPr sz="1800" b="1" spc="-15" dirty="0">
                <a:latin typeface="Trebuchet MS"/>
                <a:cs typeface="Trebuchet MS"/>
              </a:rPr>
              <a:t> </a:t>
            </a:r>
            <a:r>
              <a:rPr sz="1800" b="1" spc="55" dirty="0">
                <a:latin typeface="Trebuchet MS"/>
                <a:cs typeface="Trebuchet MS"/>
              </a:rPr>
              <a:t>person</a:t>
            </a:r>
            <a:r>
              <a:rPr sz="1800" b="1" spc="-40" dirty="0">
                <a:latin typeface="Trebuchet MS"/>
                <a:cs typeface="Trebuchet MS"/>
              </a:rPr>
              <a:t> </a:t>
            </a:r>
            <a:r>
              <a:rPr sz="1800" b="1" dirty="0">
                <a:latin typeface="Trebuchet MS"/>
                <a:cs typeface="Trebuchet MS"/>
              </a:rPr>
              <a:t>in</a:t>
            </a:r>
            <a:r>
              <a:rPr sz="1800" b="1" spc="-30" dirty="0">
                <a:latin typeface="Trebuchet MS"/>
                <a:cs typeface="Trebuchet MS"/>
              </a:rPr>
              <a:t> </a:t>
            </a:r>
            <a:r>
              <a:rPr sz="1800" b="1" spc="60" dirty="0">
                <a:latin typeface="Trebuchet MS"/>
                <a:cs typeface="Trebuchet MS"/>
              </a:rPr>
              <a:t>an</a:t>
            </a:r>
            <a:r>
              <a:rPr sz="1800" b="1" spc="-25" dirty="0">
                <a:latin typeface="Trebuchet MS"/>
                <a:cs typeface="Trebuchet MS"/>
              </a:rPr>
              <a:t> </a:t>
            </a:r>
            <a:r>
              <a:rPr sz="1800" b="1" spc="40" dirty="0">
                <a:latin typeface="Trebuchet MS"/>
                <a:cs typeface="Trebuchet MS"/>
              </a:rPr>
              <a:t>existing </a:t>
            </a:r>
            <a:r>
              <a:rPr sz="1800" b="1" spc="55" dirty="0">
                <a:latin typeface="Trebuchet MS"/>
                <a:cs typeface="Trebuchet MS"/>
              </a:rPr>
              <a:t>image</a:t>
            </a:r>
            <a:r>
              <a:rPr sz="1800" b="1" spc="95" dirty="0">
                <a:latin typeface="Trebuchet MS"/>
                <a:cs typeface="Trebuchet MS"/>
              </a:rPr>
              <a:t> </a:t>
            </a:r>
            <a:r>
              <a:rPr sz="1800" b="1" dirty="0">
                <a:latin typeface="Trebuchet MS"/>
                <a:cs typeface="Trebuchet MS"/>
              </a:rPr>
              <a:t>or</a:t>
            </a:r>
            <a:r>
              <a:rPr sz="1800" b="1" spc="95" dirty="0">
                <a:latin typeface="Trebuchet MS"/>
                <a:cs typeface="Trebuchet MS"/>
              </a:rPr>
              <a:t> </a:t>
            </a:r>
            <a:r>
              <a:rPr sz="1800" b="1" dirty="0">
                <a:latin typeface="Trebuchet MS"/>
                <a:cs typeface="Trebuchet MS"/>
              </a:rPr>
              <a:t>video</a:t>
            </a:r>
            <a:r>
              <a:rPr sz="1800" b="1" spc="95" dirty="0">
                <a:latin typeface="Trebuchet MS"/>
                <a:cs typeface="Trebuchet MS"/>
              </a:rPr>
              <a:t> </a:t>
            </a:r>
            <a:r>
              <a:rPr sz="1800" b="1" spc="85" dirty="0">
                <a:latin typeface="Trebuchet MS"/>
                <a:cs typeface="Trebuchet MS"/>
              </a:rPr>
              <a:t>is</a:t>
            </a:r>
            <a:r>
              <a:rPr sz="1800" b="1" spc="110" dirty="0">
                <a:latin typeface="Trebuchet MS"/>
                <a:cs typeface="Trebuchet MS"/>
              </a:rPr>
              <a:t> </a:t>
            </a:r>
            <a:r>
              <a:rPr sz="1800" b="1" dirty="0">
                <a:latin typeface="Trebuchet MS"/>
                <a:cs typeface="Trebuchet MS"/>
              </a:rPr>
              <a:t>replaced</a:t>
            </a:r>
            <a:r>
              <a:rPr sz="1800" b="1" spc="60" dirty="0">
                <a:latin typeface="Trebuchet MS"/>
                <a:cs typeface="Trebuchet MS"/>
              </a:rPr>
              <a:t> with someone</a:t>
            </a:r>
            <a:r>
              <a:rPr sz="1800" b="1" spc="-25" dirty="0">
                <a:latin typeface="Trebuchet MS"/>
                <a:cs typeface="Trebuchet MS"/>
              </a:rPr>
              <a:t> </a:t>
            </a:r>
            <a:r>
              <a:rPr sz="1800" b="1" spc="70" dirty="0">
                <a:latin typeface="Trebuchet MS"/>
                <a:cs typeface="Trebuchet MS"/>
              </a:rPr>
              <a:t>else's</a:t>
            </a:r>
            <a:r>
              <a:rPr sz="1800" b="1" spc="-10" dirty="0">
                <a:latin typeface="Trebuchet MS"/>
                <a:cs typeface="Trebuchet MS"/>
              </a:rPr>
              <a:t> </a:t>
            </a:r>
            <a:r>
              <a:rPr sz="1800" b="1" spc="65" dirty="0">
                <a:latin typeface="Trebuchet MS"/>
                <a:cs typeface="Trebuchet MS"/>
              </a:rPr>
              <a:t>likeness</a:t>
            </a:r>
            <a:endParaRPr sz="1800">
              <a:latin typeface="Trebuchet MS"/>
              <a:cs typeface="Trebuchet MS"/>
            </a:endParaRPr>
          </a:p>
        </p:txBody>
      </p:sp>
      <p:sp>
        <p:nvSpPr>
          <p:cNvPr id="5" name="object 5"/>
          <p:cNvSpPr txBox="1"/>
          <p:nvPr/>
        </p:nvSpPr>
        <p:spPr>
          <a:xfrm>
            <a:off x="337210" y="3614115"/>
            <a:ext cx="3879850" cy="1397635"/>
          </a:xfrm>
          <a:prstGeom prst="rect">
            <a:avLst/>
          </a:prstGeom>
        </p:spPr>
        <p:txBody>
          <a:bodyPr vert="horz" wrap="square" lIns="0" tIns="12700" rIns="0" bIns="0" rtlCol="0">
            <a:spAutoFit/>
          </a:bodyPr>
          <a:lstStyle/>
          <a:p>
            <a:pPr marL="12700">
              <a:lnSpc>
                <a:spcPct val="100000"/>
              </a:lnSpc>
              <a:spcBef>
                <a:spcPts val="100"/>
              </a:spcBef>
            </a:pPr>
            <a:r>
              <a:rPr sz="1800" dirty="0">
                <a:latin typeface="Trebuchet MS"/>
                <a:cs typeface="Trebuchet MS"/>
              </a:rPr>
              <a:t>facial</a:t>
            </a:r>
            <a:r>
              <a:rPr sz="1800" spc="245" dirty="0">
                <a:latin typeface="Trebuchet MS"/>
                <a:cs typeface="Trebuchet MS"/>
              </a:rPr>
              <a:t> </a:t>
            </a:r>
            <a:r>
              <a:rPr sz="1800" spc="75" dirty="0">
                <a:latin typeface="Trebuchet MS"/>
                <a:cs typeface="Trebuchet MS"/>
              </a:rPr>
              <a:t>manipulation</a:t>
            </a:r>
            <a:r>
              <a:rPr sz="1800" spc="200" dirty="0">
                <a:latin typeface="Trebuchet MS"/>
                <a:cs typeface="Trebuchet MS"/>
              </a:rPr>
              <a:t> </a:t>
            </a:r>
            <a:r>
              <a:rPr sz="1800" spc="85" dirty="0">
                <a:latin typeface="Trebuchet MS"/>
                <a:cs typeface="Trebuchet MS"/>
              </a:rPr>
              <a:t>using</a:t>
            </a:r>
            <a:endParaRPr sz="1800">
              <a:latin typeface="Trebuchet MS"/>
              <a:cs typeface="Trebuchet MS"/>
            </a:endParaRPr>
          </a:p>
          <a:p>
            <a:pPr>
              <a:lnSpc>
                <a:spcPct val="100000"/>
              </a:lnSpc>
              <a:spcBef>
                <a:spcPts val="70"/>
              </a:spcBef>
            </a:pPr>
            <a:endParaRPr sz="1800">
              <a:latin typeface="Trebuchet MS"/>
              <a:cs typeface="Trebuchet MS"/>
            </a:endParaRPr>
          </a:p>
          <a:p>
            <a:pPr marL="175895" indent="-175895">
              <a:lnSpc>
                <a:spcPct val="100000"/>
              </a:lnSpc>
              <a:spcBef>
                <a:spcPts val="5"/>
              </a:spcBef>
              <a:buSzPct val="75000"/>
              <a:buAutoNum type="arabicPeriod"/>
              <a:tabLst>
                <a:tab pos="175895" algn="l"/>
              </a:tabLst>
            </a:pPr>
            <a:r>
              <a:rPr sz="1800" b="1" dirty="0">
                <a:latin typeface="Trebuchet MS"/>
                <a:cs typeface="Trebuchet MS"/>
              </a:rPr>
              <a:t>Face</a:t>
            </a:r>
            <a:r>
              <a:rPr sz="1800" b="1" spc="50" dirty="0">
                <a:latin typeface="Trebuchet MS"/>
                <a:cs typeface="Trebuchet MS"/>
              </a:rPr>
              <a:t> </a:t>
            </a:r>
            <a:r>
              <a:rPr sz="1800" b="1" spc="80" dirty="0">
                <a:latin typeface="Trebuchet MS"/>
                <a:cs typeface="Trebuchet MS"/>
              </a:rPr>
              <a:t>synthesis</a:t>
            </a:r>
            <a:r>
              <a:rPr sz="1800" b="1" spc="50" dirty="0">
                <a:latin typeface="Trebuchet MS"/>
                <a:cs typeface="Trebuchet MS"/>
              </a:rPr>
              <a:t> </a:t>
            </a:r>
            <a:r>
              <a:rPr sz="1800" b="1" dirty="0">
                <a:latin typeface="Trebuchet MS"/>
                <a:cs typeface="Trebuchet MS"/>
              </a:rPr>
              <a:t>(</a:t>
            </a:r>
            <a:r>
              <a:rPr sz="1800" b="1" spc="50" dirty="0">
                <a:latin typeface="Trebuchet MS"/>
                <a:cs typeface="Trebuchet MS"/>
              </a:rPr>
              <a:t> </a:t>
            </a:r>
            <a:r>
              <a:rPr sz="1800" b="1" spc="70" dirty="0">
                <a:latin typeface="Trebuchet MS"/>
                <a:cs typeface="Trebuchet MS"/>
              </a:rPr>
              <a:t>StyleGAN)</a:t>
            </a:r>
            <a:endParaRPr sz="1800">
              <a:latin typeface="Trebuchet MS"/>
              <a:cs typeface="Trebuchet MS"/>
            </a:endParaRPr>
          </a:p>
          <a:p>
            <a:pPr marL="214629" indent="-201930">
              <a:lnSpc>
                <a:spcPct val="100000"/>
              </a:lnSpc>
              <a:buSzPct val="75000"/>
              <a:buAutoNum type="arabicPeriod"/>
              <a:tabLst>
                <a:tab pos="214629" algn="l"/>
              </a:tabLst>
            </a:pPr>
            <a:r>
              <a:rPr sz="1800" b="1" dirty="0">
                <a:latin typeface="Trebuchet MS"/>
                <a:cs typeface="Trebuchet MS"/>
              </a:rPr>
              <a:t>Face</a:t>
            </a:r>
            <a:r>
              <a:rPr sz="1800" b="1" spc="160" dirty="0">
                <a:latin typeface="Trebuchet MS"/>
                <a:cs typeface="Trebuchet MS"/>
              </a:rPr>
              <a:t> </a:t>
            </a:r>
            <a:r>
              <a:rPr sz="1800" b="1" spc="114" dirty="0">
                <a:latin typeface="Trebuchet MS"/>
                <a:cs typeface="Trebuchet MS"/>
              </a:rPr>
              <a:t>swap</a:t>
            </a:r>
            <a:endParaRPr sz="1800">
              <a:latin typeface="Trebuchet MS"/>
              <a:cs typeface="Trebuchet MS"/>
            </a:endParaRPr>
          </a:p>
          <a:p>
            <a:pPr marL="212725" indent="-200025">
              <a:lnSpc>
                <a:spcPct val="100000"/>
              </a:lnSpc>
              <a:buSzPct val="75000"/>
              <a:buAutoNum type="arabicPeriod"/>
              <a:tabLst>
                <a:tab pos="212725" algn="l"/>
              </a:tabLst>
            </a:pPr>
            <a:r>
              <a:rPr sz="1800" b="1" spc="55" dirty="0">
                <a:latin typeface="Trebuchet MS"/>
                <a:cs typeface="Trebuchet MS"/>
              </a:rPr>
              <a:t>Facial</a:t>
            </a:r>
            <a:r>
              <a:rPr sz="1800" b="1" spc="-35" dirty="0">
                <a:latin typeface="Trebuchet MS"/>
                <a:cs typeface="Trebuchet MS"/>
              </a:rPr>
              <a:t> </a:t>
            </a:r>
            <a:r>
              <a:rPr sz="1800" b="1" spc="55" dirty="0">
                <a:latin typeface="Trebuchet MS"/>
                <a:cs typeface="Trebuchet MS"/>
              </a:rPr>
              <a:t>attributes</a:t>
            </a:r>
            <a:r>
              <a:rPr sz="1800" b="1" spc="-40" dirty="0">
                <a:latin typeface="Trebuchet MS"/>
                <a:cs typeface="Trebuchet MS"/>
              </a:rPr>
              <a:t> </a:t>
            </a:r>
            <a:r>
              <a:rPr sz="1800" b="1" spc="60" dirty="0">
                <a:latin typeface="Trebuchet MS"/>
                <a:cs typeface="Trebuchet MS"/>
              </a:rPr>
              <a:t>and</a:t>
            </a:r>
            <a:r>
              <a:rPr sz="1800" b="1" spc="-20" dirty="0">
                <a:latin typeface="Trebuchet MS"/>
                <a:cs typeface="Trebuchet MS"/>
              </a:rPr>
              <a:t> </a:t>
            </a:r>
            <a:r>
              <a:rPr sz="1800" b="1" spc="45" dirty="0">
                <a:latin typeface="Trebuchet MS"/>
                <a:cs typeface="Trebuchet MS"/>
              </a:rPr>
              <a:t>expression</a:t>
            </a:r>
            <a:endParaRPr sz="1800">
              <a:latin typeface="Trebuchet MS"/>
              <a:cs typeface="Trebuchet MS"/>
            </a:endParaRPr>
          </a:p>
        </p:txBody>
      </p:sp>
      <p:sp>
        <p:nvSpPr>
          <p:cNvPr id="6" name="object 6"/>
          <p:cNvSpPr txBox="1"/>
          <p:nvPr/>
        </p:nvSpPr>
        <p:spPr>
          <a:xfrm>
            <a:off x="497535" y="5983935"/>
            <a:ext cx="1069149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rebuchet MS"/>
                <a:cs typeface="Trebuchet MS"/>
              </a:rPr>
              <a:t>Generating</a:t>
            </a:r>
            <a:r>
              <a:rPr sz="1800" b="1" spc="35" dirty="0">
                <a:latin typeface="Trebuchet MS"/>
                <a:cs typeface="Trebuchet MS"/>
              </a:rPr>
              <a:t> </a:t>
            </a:r>
            <a:r>
              <a:rPr sz="1800" b="1" spc="70" dirty="0">
                <a:latin typeface="Trebuchet MS"/>
                <a:cs typeface="Trebuchet MS"/>
              </a:rPr>
              <a:t>realistic-</a:t>
            </a:r>
            <a:r>
              <a:rPr sz="1800" b="1" spc="60" dirty="0">
                <a:latin typeface="Trebuchet MS"/>
                <a:cs typeface="Trebuchet MS"/>
              </a:rPr>
              <a:t>looking</a:t>
            </a:r>
            <a:r>
              <a:rPr sz="1800" b="1" spc="45" dirty="0">
                <a:latin typeface="Trebuchet MS"/>
                <a:cs typeface="Trebuchet MS"/>
              </a:rPr>
              <a:t> </a:t>
            </a:r>
            <a:r>
              <a:rPr sz="1800" b="1" spc="75" dirty="0">
                <a:latin typeface="Trebuchet MS"/>
                <a:cs typeface="Trebuchet MS"/>
              </a:rPr>
              <a:t>images </a:t>
            </a:r>
            <a:r>
              <a:rPr sz="1800" b="1" spc="65" dirty="0">
                <a:latin typeface="Trebuchet MS"/>
                <a:cs typeface="Trebuchet MS"/>
              </a:rPr>
              <a:t>that</a:t>
            </a:r>
            <a:r>
              <a:rPr sz="1800" b="1" spc="50" dirty="0">
                <a:latin typeface="Trebuchet MS"/>
                <a:cs typeface="Trebuchet MS"/>
              </a:rPr>
              <a:t> </a:t>
            </a:r>
            <a:r>
              <a:rPr sz="1800" b="1" dirty="0">
                <a:latin typeface="Trebuchet MS"/>
                <a:cs typeface="Trebuchet MS"/>
              </a:rPr>
              <a:t>even</a:t>
            </a:r>
            <a:r>
              <a:rPr sz="1800" b="1" spc="45" dirty="0">
                <a:latin typeface="Trebuchet MS"/>
                <a:cs typeface="Trebuchet MS"/>
              </a:rPr>
              <a:t> </a:t>
            </a:r>
            <a:r>
              <a:rPr sz="1800" b="1" spc="75" dirty="0">
                <a:latin typeface="Trebuchet MS"/>
                <a:cs typeface="Trebuchet MS"/>
              </a:rPr>
              <a:t>a </a:t>
            </a:r>
            <a:r>
              <a:rPr sz="1800" b="1" spc="65" dirty="0">
                <a:latin typeface="Trebuchet MS"/>
                <a:cs typeface="Trebuchet MS"/>
              </a:rPr>
              <a:t>human </a:t>
            </a:r>
            <a:r>
              <a:rPr sz="1800" b="1" dirty="0">
                <a:latin typeface="Trebuchet MS"/>
                <a:cs typeface="Trebuchet MS"/>
              </a:rPr>
              <a:t>can’t</a:t>
            </a:r>
            <a:r>
              <a:rPr sz="1800" b="1" spc="50" dirty="0">
                <a:latin typeface="Trebuchet MS"/>
                <a:cs typeface="Trebuchet MS"/>
              </a:rPr>
              <a:t> </a:t>
            </a:r>
            <a:r>
              <a:rPr sz="1800" b="1" dirty="0">
                <a:latin typeface="Trebuchet MS"/>
                <a:cs typeface="Trebuchet MS"/>
              </a:rPr>
              <a:t>recognize</a:t>
            </a:r>
            <a:r>
              <a:rPr sz="1800" b="1" spc="40" dirty="0">
                <a:latin typeface="Trebuchet MS"/>
                <a:cs typeface="Trebuchet MS"/>
              </a:rPr>
              <a:t> </a:t>
            </a:r>
            <a:r>
              <a:rPr sz="1800" b="1" spc="50" dirty="0">
                <a:latin typeface="Trebuchet MS"/>
                <a:cs typeface="Trebuchet MS"/>
              </a:rPr>
              <a:t>whether </a:t>
            </a:r>
            <a:r>
              <a:rPr sz="1800" b="1" dirty="0">
                <a:latin typeface="Trebuchet MS"/>
                <a:cs typeface="Trebuchet MS"/>
              </a:rPr>
              <a:t>it’s</a:t>
            </a:r>
            <a:r>
              <a:rPr sz="1800" b="1" spc="60" dirty="0">
                <a:latin typeface="Trebuchet MS"/>
                <a:cs typeface="Trebuchet MS"/>
              </a:rPr>
              <a:t> </a:t>
            </a:r>
            <a:r>
              <a:rPr sz="1800" b="1" dirty="0">
                <a:latin typeface="Trebuchet MS"/>
                <a:cs typeface="Trebuchet MS"/>
              </a:rPr>
              <a:t>real</a:t>
            </a:r>
            <a:r>
              <a:rPr sz="1800" b="1" spc="50" dirty="0">
                <a:latin typeface="Trebuchet MS"/>
                <a:cs typeface="Trebuchet MS"/>
              </a:rPr>
              <a:t> </a:t>
            </a:r>
            <a:r>
              <a:rPr sz="1800" b="1" dirty="0">
                <a:latin typeface="Trebuchet MS"/>
                <a:cs typeface="Trebuchet MS"/>
              </a:rPr>
              <a:t>or</a:t>
            </a:r>
            <a:r>
              <a:rPr sz="1800" b="1" spc="65" dirty="0">
                <a:latin typeface="Trebuchet MS"/>
                <a:cs typeface="Trebuchet MS"/>
              </a:rPr>
              <a:t> </a:t>
            </a:r>
            <a:r>
              <a:rPr sz="1800" b="1" spc="30" dirty="0">
                <a:latin typeface="Trebuchet MS"/>
                <a:cs typeface="Trebuchet MS"/>
              </a:rPr>
              <a:t>not</a:t>
            </a:r>
            <a:endParaRPr sz="1800">
              <a:latin typeface="Trebuchet MS"/>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Closest</a:t>
            </a:r>
            <a:r>
              <a:rPr spc="-35" dirty="0"/>
              <a:t> </a:t>
            </a:r>
            <a:r>
              <a:rPr dirty="0"/>
              <a:t>Real</a:t>
            </a:r>
            <a:r>
              <a:rPr spc="-30" dirty="0"/>
              <a:t> </a:t>
            </a:r>
            <a:r>
              <a:rPr spc="-10" dirty="0"/>
              <a:t>Images</a:t>
            </a:r>
          </a:p>
        </p:txBody>
      </p:sp>
      <p:pic>
        <p:nvPicPr>
          <p:cNvPr id="3" name="object 3"/>
          <p:cNvPicPr/>
          <p:nvPr/>
        </p:nvPicPr>
        <p:blipFill>
          <a:blip r:embed="rId2" cstate="print"/>
          <a:stretch>
            <a:fillRect/>
          </a:stretch>
        </p:blipFill>
        <p:spPr>
          <a:xfrm>
            <a:off x="269965" y="1391411"/>
            <a:ext cx="11573691" cy="40475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6678" y="286511"/>
            <a:ext cx="10501965" cy="60380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3400" y="304800"/>
            <a:ext cx="11472998" cy="58399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5182" y="839851"/>
            <a:ext cx="10433685" cy="842644"/>
          </a:xfrm>
          <a:prstGeom prst="rect">
            <a:avLst/>
          </a:prstGeom>
        </p:spPr>
        <p:txBody>
          <a:bodyPr vert="horz" wrap="square" lIns="0" tIns="15240" rIns="0" bIns="0" rtlCol="0">
            <a:spAutoFit/>
          </a:bodyPr>
          <a:lstStyle/>
          <a:p>
            <a:pPr marL="12700" marR="5080" algn="just">
              <a:lnSpc>
                <a:spcPct val="98900"/>
              </a:lnSpc>
              <a:spcBef>
                <a:spcPts val="120"/>
              </a:spcBef>
            </a:pPr>
            <a:r>
              <a:rPr sz="1800" dirty="0">
                <a:solidFill>
                  <a:srgbClr val="1F2023"/>
                </a:solidFill>
                <a:latin typeface="Arial MT"/>
                <a:cs typeface="Arial MT"/>
              </a:rPr>
              <a:t>GANs</a:t>
            </a:r>
            <a:r>
              <a:rPr sz="1800" spc="-25" dirty="0">
                <a:solidFill>
                  <a:srgbClr val="1F2023"/>
                </a:solidFill>
                <a:latin typeface="Arial MT"/>
                <a:cs typeface="Arial MT"/>
              </a:rPr>
              <a:t> </a:t>
            </a:r>
            <a:r>
              <a:rPr sz="1800" dirty="0">
                <a:solidFill>
                  <a:srgbClr val="1F2023"/>
                </a:solidFill>
                <a:latin typeface="Arial MT"/>
                <a:cs typeface="Arial MT"/>
              </a:rPr>
              <a:t>are</a:t>
            </a:r>
            <a:r>
              <a:rPr sz="1800" spc="-25" dirty="0">
                <a:solidFill>
                  <a:srgbClr val="1F2023"/>
                </a:solidFill>
                <a:latin typeface="Arial MT"/>
                <a:cs typeface="Arial MT"/>
              </a:rPr>
              <a:t> </a:t>
            </a:r>
            <a:r>
              <a:rPr sz="1800" dirty="0">
                <a:solidFill>
                  <a:srgbClr val="1F2023"/>
                </a:solidFill>
                <a:latin typeface="Arial MT"/>
                <a:cs typeface="Arial MT"/>
              </a:rPr>
              <a:t>just</a:t>
            </a:r>
            <a:r>
              <a:rPr sz="1800" spc="-20" dirty="0">
                <a:solidFill>
                  <a:srgbClr val="1F2023"/>
                </a:solidFill>
                <a:latin typeface="Arial MT"/>
                <a:cs typeface="Arial MT"/>
              </a:rPr>
              <a:t> </a:t>
            </a:r>
            <a:r>
              <a:rPr sz="1800" dirty="0">
                <a:solidFill>
                  <a:srgbClr val="1F2023"/>
                </a:solidFill>
                <a:latin typeface="Arial MT"/>
                <a:cs typeface="Arial MT"/>
              </a:rPr>
              <a:t>one</a:t>
            </a:r>
            <a:r>
              <a:rPr sz="1800" spc="-20" dirty="0">
                <a:solidFill>
                  <a:srgbClr val="1F2023"/>
                </a:solidFill>
                <a:latin typeface="Arial MT"/>
                <a:cs typeface="Arial MT"/>
              </a:rPr>
              <a:t> </a:t>
            </a:r>
            <a:r>
              <a:rPr sz="1800" dirty="0">
                <a:solidFill>
                  <a:srgbClr val="1F2023"/>
                </a:solidFill>
                <a:latin typeface="Arial MT"/>
                <a:cs typeface="Arial MT"/>
              </a:rPr>
              <a:t>kind</a:t>
            </a:r>
            <a:r>
              <a:rPr sz="1800" spc="-20" dirty="0">
                <a:solidFill>
                  <a:srgbClr val="1F2023"/>
                </a:solidFill>
                <a:latin typeface="Arial MT"/>
                <a:cs typeface="Arial MT"/>
              </a:rPr>
              <a:t> </a:t>
            </a:r>
            <a:r>
              <a:rPr sz="1800" dirty="0">
                <a:solidFill>
                  <a:srgbClr val="1F2023"/>
                </a:solidFill>
                <a:latin typeface="Arial MT"/>
                <a:cs typeface="Arial MT"/>
              </a:rPr>
              <a:t>of</a:t>
            </a:r>
            <a:r>
              <a:rPr sz="1800" spc="-15" dirty="0">
                <a:solidFill>
                  <a:srgbClr val="1F2023"/>
                </a:solidFill>
                <a:latin typeface="Arial MT"/>
                <a:cs typeface="Arial MT"/>
              </a:rPr>
              <a:t> </a:t>
            </a:r>
            <a:r>
              <a:rPr sz="1800" dirty="0">
                <a:solidFill>
                  <a:srgbClr val="1F2023"/>
                </a:solidFill>
                <a:latin typeface="Arial MT"/>
                <a:cs typeface="Arial MT"/>
              </a:rPr>
              <a:t>generative</a:t>
            </a:r>
            <a:r>
              <a:rPr sz="1800" spc="-5" dirty="0">
                <a:solidFill>
                  <a:srgbClr val="1F2023"/>
                </a:solidFill>
                <a:latin typeface="Arial MT"/>
                <a:cs typeface="Arial MT"/>
              </a:rPr>
              <a:t> </a:t>
            </a:r>
            <a:r>
              <a:rPr sz="1800" dirty="0">
                <a:solidFill>
                  <a:srgbClr val="1F2023"/>
                </a:solidFill>
                <a:latin typeface="Arial MT"/>
                <a:cs typeface="Arial MT"/>
              </a:rPr>
              <a:t>model.</a:t>
            </a:r>
            <a:r>
              <a:rPr sz="1800" spc="-15" dirty="0">
                <a:solidFill>
                  <a:srgbClr val="1F2023"/>
                </a:solidFill>
                <a:latin typeface="Arial MT"/>
                <a:cs typeface="Arial MT"/>
              </a:rPr>
              <a:t> </a:t>
            </a:r>
            <a:r>
              <a:rPr sz="1800" dirty="0">
                <a:solidFill>
                  <a:srgbClr val="1F2023"/>
                </a:solidFill>
                <a:latin typeface="Arial MT"/>
                <a:cs typeface="Arial MT"/>
              </a:rPr>
              <a:t>More</a:t>
            </a:r>
            <a:r>
              <a:rPr sz="1800" spc="-15" dirty="0">
                <a:solidFill>
                  <a:srgbClr val="1F2023"/>
                </a:solidFill>
                <a:latin typeface="Arial MT"/>
                <a:cs typeface="Arial MT"/>
              </a:rPr>
              <a:t> </a:t>
            </a:r>
            <a:r>
              <a:rPr sz="1800" spc="-10" dirty="0">
                <a:solidFill>
                  <a:srgbClr val="1F2023"/>
                </a:solidFill>
                <a:latin typeface="Arial MT"/>
                <a:cs typeface="Arial MT"/>
              </a:rPr>
              <a:t>formally,</a:t>
            </a:r>
            <a:r>
              <a:rPr sz="1800" spc="5" dirty="0">
                <a:solidFill>
                  <a:srgbClr val="1F2023"/>
                </a:solidFill>
                <a:latin typeface="Arial MT"/>
                <a:cs typeface="Arial MT"/>
              </a:rPr>
              <a:t> </a:t>
            </a:r>
            <a:r>
              <a:rPr sz="1800" dirty="0">
                <a:solidFill>
                  <a:srgbClr val="1F2023"/>
                </a:solidFill>
                <a:latin typeface="Arial MT"/>
                <a:cs typeface="Arial MT"/>
              </a:rPr>
              <a:t>given</a:t>
            </a:r>
            <a:r>
              <a:rPr sz="1800" spc="-15" dirty="0">
                <a:solidFill>
                  <a:srgbClr val="1F2023"/>
                </a:solidFill>
                <a:latin typeface="Arial MT"/>
                <a:cs typeface="Arial MT"/>
              </a:rPr>
              <a:t> </a:t>
            </a:r>
            <a:r>
              <a:rPr sz="1800" dirty="0">
                <a:solidFill>
                  <a:srgbClr val="1F2023"/>
                </a:solidFill>
                <a:latin typeface="Arial MT"/>
                <a:cs typeface="Arial MT"/>
              </a:rPr>
              <a:t>a</a:t>
            </a:r>
            <a:r>
              <a:rPr sz="1800" spc="-20" dirty="0">
                <a:solidFill>
                  <a:srgbClr val="1F2023"/>
                </a:solidFill>
                <a:latin typeface="Arial MT"/>
                <a:cs typeface="Arial MT"/>
              </a:rPr>
              <a:t> </a:t>
            </a:r>
            <a:r>
              <a:rPr sz="1800" dirty="0">
                <a:solidFill>
                  <a:srgbClr val="1F2023"/>
                </a:solidFill>
                <a:latin typeface="Arial MT"/>
                <a:cs typeface="Arial MT"/>
              </a:rPr>
              <a:t>set</a:t>
            </a:r>
            <a:r>
              <a:rPr sz="1800" spc="-15" dirty="0">
                <a:solidFill>
                  <a:srgbClr val="1F2023"/>
                </a:solidFill>
                <a:latin typeface="Arial MT"/>
                <a:cs typeface="Arial MT"/>
              </a:rPr>
              <a:t> </a:t>
            </a:r>
            <a:r>
              <a:rPr sz="1800" dirty="0">
                <a:solidFill>
                  <a:srgbClr val="1F2023"/>
                </a:solidFill>
                <a:latin typeface="Arial MT"/>
                <a:cs typeface="Arial MT"/>
              </a:rPr>
              <a:t>of</a:t>
            </a:r>
            <a:r>
              <a:rPr sz="1800" spc="-30" dirty="0">
                <a:solidFill>
                  <a:srgbClr val="1F2023"/>
                </a:solidFill>
                <a:latin typeface="Arial MT"/>
                <a:cs typeface="Arial MT"/>
              </a:rPr>
              <a:t> </a:t>
            </a:r>
            <a:r>
              <a:rPr sz="1800" dirty="0">
                <a:solidFill>
                  <a:srgbClr val="1F2023"/>
                </a:solidFill>
                <a:latin typeface="Arial MT"/>
                <a:cs typeface="Arial MT"/>
              </a:rPr>
              <a:t>data</a:t>
            </a:r>
            <a:r>
              <a:rPr sz="1800" spc="-10" dirty="0">
                <a:solidFill>
                  <a:srgbClr val="1F2023"/>
                </a:solidFill>
                <a:latin typeface="Arial MT"/>
                <a:cs typeface="Arial MT"/>
              </a:rPr>
              <a:t> </a:t>
            </a:r>
            <a:r>
              <a:rPr sz="1800" dirty="0">
                <a:solidFill>
                  <a:srgbClr val="1F2023"/>
                </a:solidFill>
                <a:latin typeface="Arial MT"/>
                <a:cs typeface="Arial MT"/>
              </a:rPr>
              <a:t>instances</a:t>
            </a:r>
            <a:r>
              <a:rPr sz="1800" spc="-15" dirty="0">
                <a:solidFill>
                  <a:srgbClr val="1F2023"/>
                </a:solidFill>
                <a:latin typeface="Arial MT"/>
                <a:cs typeface="Arial MT"/>
              </a:rPr>
              <a:t> </a:t>
            </a:r>
            <a:r>
              <a:rPr sz="1800" dirty="0">
                <a:solidFill>
                  <a:srgbClr val="1F2023"/>
                </a:solidFill>
                <a:latin typeface="Arial MT"/>
                <a:cs typeface="Arial MT"/>
              </a:rPr>
              <a:t>X</a:t>
            </a:r>
            <a:r>
              <a:rPr sz="1800" spc="-35" dirty="0">
                <a:solidFill>
                  <a:srgbClr val="1F2023"/>
                </a:solidFill>
                <a:latin typeface="Arial MT"/>
                <a:cs typeface="Arial MT"/>
              </a:rPr>
              <a:t> </a:t>
            </a:r>
            <a:r>
              <a:rPr sz="1800" dirty="0">
                <a:solidFill>
                  <a:srgbClr val="1F2023"/>
                </a:solidFill>
                <a:latin typeface="Arial MT"/>
                <a:cs typeface="Arial MT"/>
              </a:rPr>
              <a:t>and</a:t>
            </a:r>
            <a:r>
              <a:rPr sz="1800" spc="-15" dirty="0">
                <a:solidFill>
                  <a:srgbClr val="1F2023"/>
                </a:solidFill>
                <a:latin typeface="Arial MT"/>
                <a:cs typeface="Arial MT"/>
              </a:rPr>
              <a:t> </a:t>
            </a:r>
            <a:r>
              <a:rPr sz="1800" dirty="0">
                <a:solidFill>
                  <a:srgbClr val="1F2023"/>
                </a:solidFill>
                <a:latin typeface="Arial MT"/>
                <a:cs typeface="Arial MT"/>
              </a:rPr>
              <a:t>a</a:t>
            </a:r>
            <a:r>
              <a:rPr sz="1800" spc="-20" dirty="0">
                <a:solidFill>
                  <a:srgbClr val="1F2023"/>
                </a:solidFill>
                <a:latin typeface="Arial MT"/>
                <a:cs typeface="Arial MT"/>
              </a:rPr>
              <a:t> </a:t>
            </a:r>
            <a:r>
              <a:rPr sz="1800" dirty="0">
                <a:solidFill>
                  <a:srgbClr val="1F2023"/>
                </a:solidFill>
                <a:latin typeface="Arial MT"/>
                <a:cs typeface="Arial MT"/>
              </a:rPr>
              <a:t>set</a:t>
            </a:r>
            <a:r>
              <a:rPr sz="1800" spc="-15" dirty="0">
                <a:solidFill>
                  <a:srgbClr val="1F2023"/>
                </a:solidFill>
                <a:latin typeface="Arial MT"/>
                <a:cs typeface="Arial MT"/>
              </a:rPr>
              <a:t> </a:t>
            </a:r>
            <a:r>
              <a:rPr sz="1800" spc="-25" dirty="0">
                <a:solidFill>
                  <a:srgbClr val="1F2023"/>
                </a:solidFill>
                <a:latin typeface="Arial MT"/>
                <a:cs typeface="Arial MT"/>
              </a:rPr>
              <a:t>of </a:t>
            </a:r>
            <a:r>
              <a:rPr sz="1800" dirty="0">
                <a:solidFill>
                  <a:srgbClr val="1F2023"/>
                </a:solidFill>
                <a:latin typeface="Arial MT"/>
                <a:cs typeface="Arial MT"/>
              </a:rPr>
              <a:t>labels</a:t>
            </a:r>
            <a:r>
              <a:rPr sz="1800" spc="-45" dirty="0">
                <a:solidFill>
                  <a:srgbClr val="1F2023"/>
                </a:solidFill>
                <a:latin typeface="Arial MT"/>
                <a:cs typeface="Arial MT"/>
              </a:rPr>
              <a:t> </a:t>
            </a:r>
            <a:r>
              <a:rPr sz="1800" dirty="0">
                <a:solidFill>
                  <a:srgbClr val="1F2023"/>
                </a:solidFill>
                <a:latin typeface="Arial MT"/>
                <a:cs typeface="Arial MT"/>
              </a:rPr>
              <a:t>Y:</a:t>
            </a:r>
            <a:r>
              <a:rPr sz="1800" spc="-25" dirty="0">
                <a:solidFill>
                  <a:srgbClr val="1F2023"/>
                </a:solidFill>
                <a:latin typeface="Arial MT"/>
                <a:cs typeface="Arial MT"/>
              </a:rPr>
              <a:t> </a:t>
            </a:r>
            <a:r>
              <a:rPr sz="1800" dirty="0">
                <a:solidFill>
                  <a:srgbClr val="1F2023"/>
                </a:solidFill>
                <a:latin typeface="Arial MT"/>
                <a:cs typeface="Arial MT"/>
              </a:rPr>
              <a:t>Generative</a:t>
            </a:r>
            <a:r>
              <a:rPr sz="1800" spc="-20" dirty="0">
                <a:solidFill>
                  <a:srgbClr val="1F2023"/>
                </a:solidFill>
                <a:latin typeface="Arial MT"/>
                <a:cs typeface="Arial MT"/>
              </a:rPr>
              <a:t> </a:t>
            </a:r>
            <a:r>
              <a:rPr sz="1800" dirty="0">
                <a:solidFill>
                  <a:srgbClr val="1F2023"/>
                </a:solidFill>
                <a:latin typeface="Arial MT"/>
                <a:cs typeface="Arial MT"/>
              </a:rPr>
              <a:t>models</a:t>
            </a:r>
            <a:r>
              <a:rPr sz="1800" spc="-5" dirty="0">
                <a:solidFill>
                  <a:srgbClr val="1F2023"/>
                </a:solidFill>
                <a:latin typeface="Arial MT"/>
                <a:cs typeface="Arial MT"/>
              </a:rPr>
              <a:t> </a:t>
            </a:r>
            <a:r>
              <a:rPr sz="1800" b="1" dirty="0">
                <a:solidFill>
                  <a:srgbClr val="1F2023"/>
                </a:solidFill>
                <a:latin typeface="Arial"/>
                <a:cs typeface="Arial"/>
              </a:rPr>
              <a:t>capture</a:t>
            </a:r>
            <a:r>
              <a:rPr sz="1800" b="1" spc="-25" dirty="0">
                <a:solidFill>
                  <a:srgbClr val="1F2023"/>
                </a:solidFill>
                <a:latin typeface="Arial"/>
                <a:cs typeface="Arial"/>
              </a:rPr>
              <a:t> </a:t>
            </a:r>
            <a:r>
              <a:rPr sz="1800" b="1" dirty="0">
                <a:solidFill>
                  <a:srgbClr val="1F2023"/>
                </a:solidFill>
                <a:latin typeface="Arial"/>
                <a:cs typeface="Arial"/>
              </a:rPr>
              <a:t>the</a:t>
            </a:r>
            <a:r>
              <a:rPr sz="1800" b="1" spc="-25" dirty="0">
                <a:solidFill>
                  <a:srgbClr val="1F2023"/>
                </a:solidFill>
                <a:latin typeface="Arial"/>
                <a:cs typeface="Arial"/>
              </a:rPr>
              <a:t> </a:t>
            </a:r>
            <a:r>
              <a:rPr sz="1800" b="1" dirty="0">
                <a:solidFill>
                  <a:srgbClr val="1F2023"/>
                </a:solidFill>
                <a:latin typeface="Arial"/>
                <a:cs typeface="Arial"/>
              </a:rPr>
              <a:t>joint</a:t>
            </a:r>
            <a:r>
              <a:rPr sz="1800" b="1" spc="-40" dirty="0">
                <a:solidFill>
                  <a:srgbClr val="1F2023"/>
                </a:solidFill>
                <a:latin typeface="Arial"/>
                <a:cs typeface="Arial"/>
              </a:rPr>
              <a:t> </a:t>
            </a:r>
            <a:r>
              <a:rPr sz="1800" b="1" dirty="0">
                <a:solidFill>
                  <a:srgbClr val="1F2023"/>
                </a:solidFill>
                <a:latin typeface="Arial"/>
                <a:cs typeface="Arial"/>
              </a:rPr>
              <a:t>probability</a:t>
            </a:r>
            <a:r>
              <a:rPr sz="1800" b="1" spc="-50" dirty="0">
                <a:solidFill>
                  <a:srgbClr val="1F2023"/>
                </a:solidFill>
                <a:latin typeface="Arial"/>
                <a:cs typeface="Arial"/>
              </a:rPr>
              <a:t> </a:t>
            </a:r>
            <a:r>
              <a:rPr sz="1800" b="1" dirty="0">
                <a:solidFill>
                  <a:srgbClr val="1F2023"/>
                </a:solidFill>
                <a:latin typeface="Arial"/>
                <a:cs typeface="Arial"/>
              </a:rPr>
              <a:t>p(X,</a:t>
            </a:r>
            <a:r>
              <a:rPr sz="1800" b="1" spc="-50" dirty="0">
                <a:solidFill>
                  <a:srgbClr val="1F2023"/>
                </a:solidFill>
                <a:latin typeface="Arial"/>
                <a:cs typeface="Arial"/>
              </a:rPr>
              <a:t> </a:t>
            </a:r>
            <a:r>
              <a:rPr sz="1800" b="1" dirty="0">
                <a:solidFill>
                  <a:srgbClr val="1F2023"/>
                </a:solidFill>
                <a:latin typeface="Arial"/>
                <a:cs typeface="Arial"/>
              </a:rPr>
              <a:t>Y),</a:t>
            </a:r>
            <a:r>
              <a:rPr sz="1800" b="1" spc="-35" dirty="0">
                <a:solidFill>
                  <a:srgbClr val="1F2023"/>
                </a:solidFill>
                <a:latin typeface="Arial"/>
                <a:cs typeface="Arial"/>
              </a:rPr>
              <a:t> </a:t>
            </a:r>
            <a:r>
              <a:rPr sz="1800" b="1" dirty="0">
                <a:solidFill>
                  <a:srgbClr val="1F2023"/>
                </a:solidFill>
                <a:latin typeface="Arial"/>
                <a:cs typeface="Arial"/>
              </a:rPr>
              <a:t>or</a:t>
            </a:r>
            <a:r>
              <a:rPr sz="1800" b="1" spc="-25" dirty="0">
                <a:solidFill>
                  <a:srgbClr val="1F2023"/>
                </a:solidFill>
                <a:latin typeface="Arial"/>
                <a:cs typeface="Arial"/>
              </a:rPr>
              <a:t> </a:t>
            </a:r>
            <a:r>
              <a:rPr sz="1800" b="1" dirty="0">
                <a:solidFill>
                  <a:srgbClr val="1F2023"/>
                </a:solidFill>
                <a:latin typeface="Arial"/>
                <a:cs typeface="Arial"/>
              </a:rPr>
              <a:t>just</a:t>
            </a:r>
            <a:r>
              <a:rPr sz="1800" b="1" spc="-40" dirty="0">
                <a:solidFill>
                  <a:srgbClr val="1F2023"/>
                </a:solidFill>
                <a:latin typeface="Arial"/>
                <a:cs typeface="Arial"/>
              </a:rPr>
              <a:t> </a:t>
            </a:r>
            <a:r>
              <a:rPr sz="1800" b="1" dirty="0">
                <a:solidFill>
                  <a:srgbClr val="1F2023"/>
                </a:solidFill>
                <a:latin typeface="Arial"/>
                <a:cs typeface="Arial"/>
              </a:rPr>
              <a:t>p(X)</a:t>
            </a:r>
            <a:r>
              <a:rPr sz="1800" b="1" spc="-20" dirty="0">
                <a:solidFill>
                  <a:srgbClr val="1F2023"/>
                </a:solidFill>
                <a:latin typeface="Arial"/>
                <a:cs typeface="Arial"/>
              </a:rPr>
              <a:t> </a:t>
            </a:r>
            <a:r>
              <a:rPr sz="1800" b="1" dirty="0">
                <a:solidFill>
                  <a:srgbClr val="1F2023"/>
                </a:solidFill>
                <a:latin typeface="Arial"/>
                <a:cs typeface="Arial"/>
              </a:rPr>
              <a:t>if</a:t>
            </a:r>
            <a:r>
              <a:rPr sz="1800" b="1" spc="-25" dirty="0">
                <a:solidFill>
                  <a:srgbClr val="1F2023"/>
                </a:solidFill>
                <a:latin typeface="Arial"/>
                <a:cs typeface="Arial"/>
              </a:rPr>
              <a:t> </a:t>
            </a:r>
            <a:r>
              <a:rPr sz="1800" b="1" dirty="0">
                <a:solidFill>
                  <a:srgbClr val="1F2023"/>
                </a:solidFill>
                <a:latin typeface="Arial"/>
                <a:cs typeface="Arial"/>
              </a:rPr>
              <a:t>there</a:t>
            </a:r>
            <a:r>
              <a:rPr sz="1800" b="1" spc="-35" dirty="0">
                <a:solidFill>
                  <a:srgbClr val="1F2023"/>
                </a:solidFill>
                <a:latin typeface="Arial"/>
                <a:cs typeface="Arial"/>
              </a:rPr>
              <a:t> </a:t>
            </a:r>
            <a:r>
              <a:rPr sz="1800" b="1" dirty="0">
                <a:solidFill>
                  <a:srgbClr val="1F2023"/>
                </a:solidFill>
                <a:latin typeface="Arial"/>
                <a:cs typeface="Arial"/>
              </a:rPr>
              <a:t>are</a:t>
            </a:r>
            <a:r>
              <a:rPr sz="1800" b="1" spc="-15" dirty="0">
                <a:solidFill>
                  <a:srgbClr val="1F2023"/>
                </a:solidFill>
                <a:latin typeface="Arial"/>
                <a:cs typeface="Arial"/>
              </a:rPr>
              <a:t> </a:t>
            </a:r>
            <a:r>
              <a:rPr sz="1800" b="1" dirty="0">
                <a:solidFill>
                  <a:srgbClr val="1F2023"/>
                </a:solidFill>
                <a:latin typeface="Arial"/>
                <a:cs typeface="Arial"/>
              </a:rPr>
              <a:t>no</a:t>
            </a:r>
            <a:r>
              <a:rPr sz="1800" b="1" spc="-30" dirty="0">
                <a:solidFill>
                  <a:srgbClr val="1F2023"/>
                </a:solidFill>
                <a:latin typeface="Arial"/>
                <a:cs typeface="Arial"/>
              </a:rPr>
              <a:t> </a:t>
            </a:r>
            <a:r>
              <a:rPr sz="1800" b="1" spc="-10" dirty="0">
                <a:solidFill>
                  <a:srgbClr val="1F2023"/>
                </a:solidFill>
                <a:latin typeface="Arial"/>
                <a:cs typeface="Arial"/>
              </a:rPr>
              <a:t>labels</a:t>
            </a:r>
            <a:r>
              <a:rPr sz="1800" spc="-10" dirty="0">
                <a:solidFill>
                  <a:srgbClr val="1F2023"/>
                </a:solidFill>
                <a:latin typeface="Arial MT"/>
                <a:cs typeface="Arial MT"/>
              </a:rPr>
              <a:t>. </a:t>
            </a:r>
            <a:r>
              <a:rPr sz="1800" dirty="0">
                <a:solidFill>
                  <a:srgbClr val="1F2023"/>
                </a:solidFill>
                <a:latin typeface="Arial MT"/>
                <a:cs typeface="Arial MT"/>
              </a:rPr>
              <a:t>Discriminative</a:t>
            </a:r>
            <a:r>
              <a:rPr sz="1800" spc="-30" dirty="0">
                <a:solidFill>
                  <a:srgbClr val="1F2023"/>
                </a:solidFill>
                <a:latin typeface="Arial MT"/>
                <a:cs typeface="Arial MT"/>
              </a:rPr>
              <a:t> </a:t>
            </a:r>
            <a:r>
              <a:rPr sz="1800" dirty="0">
                <a:solidFill>
                  <a:srgbClr val="1F2023"/>
                </a:solidFill>
                <a:latin typeface="Arial MT"/>
                <a:cs typeface="Arial MT"/>
              </a:rPr>
              <a:t>models</a:t>
            </a:r>
            <a:r>
              <a:rPr sz="1800" spc="-40" dirty="0">
                <a:solidFill>
                  <a:srgbClr val="1F2023"/>
                </a:solidFill>
                <a:latin typeface="Arial MT"/>
                <a:cs typeface="Arial MT"/>
              </a:rPr>
              <a:t> </a:t>
            </a:r>
            <a:r>
              <a:rPr sz="1800" dirty="0">
                <a:solidFill>
                  <a:srgbClr val="1F2023"/>
                </a:solidFill>
                <a:latin typeface="Arial MT"/>
                <a:cs typeface="Arial MT"/>
              </a:rPr>
              <a:t>capture</a:t>
            </a:r>
            <a:r>
              <a:rPr sz="1800" spc="-40" dirty="0">
                <a:solidFill>
                  <a:srgbClr val="1F2023"/>
                </a:solidFill>
                <a:latin typeface="Arial MT"/>
                <a:cs typeface="Arial MT"/>
              </a:rPr>
              <a:t> </a:t>
            </a:r>
            <a:r>
              <a:rPr sz="1800" dirty="0">
                <a:solidFill>
                  <a:srgbClr val="1F2023"/>
                </a:solidFill>
                <a:latin typeface="Arial MT"/>
                <a:cs typeface="Arial MT"/>
              </a:rPr>
              <a:t>the</a:t>
            </a:r>
            <a:r>
              <a:rPr sz="1800" spc="-50" dirty="0">
                <a:solidFill>
                  <a:srgbClr val="1F2023"/>
                </a:solidFill>
                <a:latin typeface="Arial MT"/>
                <a:cs typeface="Arial MT"/>
              </a:rPr>
              <a:t> </a:t>
            </a:r>
            <a:r>
              <a:rPr sz="1800" dirty="0">
                <a:solidFill>
                  <a:srgbClr val="1F2023"/>
                </a:solidFill>
                <a:latin typeface="Arial MT"/>
                <a:cs typeface="Arial MT"/>
              </a:rPr>
              <a:t>conditional</a:t>
            </a:r>
            <a:r>
              <a:rPr sz="1800" spc="-25" dirty="0">
                <a:solidFill>
                  <a:srgbClr val="1F2023"/>
                </a:solidFill>
                <a:latin typeface="Arial MT"/>
                <a:cs typeface="Arial MT"/>
              </a:rPr>
              <a:t> </a:t>
            </a:r>
            <a:r>
              <a:rPr sz="1800" dirty="0">
                <a:solidFill>
                  <a:srgbClr val="1F2023"/>
                </a:solidFill>
                <a:latin typeface="Arial MT"/>
                <a:cs typeface="Arial MT"/>
              </a:rPr>
              <a:t>probability</a:t>
            </a:r>
            <a:r>
              <a:rPr sz="1800" spc="-25" dirty="0">
                <a:solidFill>
                  <a:srgbClr val="1F2023"/>
                </a:solidFill>
                <a:latin typeface="Arial MT"/>
                <a:cs typeface="Arial MT"/>
              </a:rPr>
              <a:t> </a:t>
            </a:r>
            <a:r>
              <a:rPr sz="1800" dirty="0">
                <a:solidFill>
                  <a:srgbClr val="1F2023"/>
                </a:solidFill>
                <a:latin typeface="Arial MT"/>
                <a:cs typeface="Arial MT"/>
              </a:rPr>
              <a:t>p(Y</a:t>
            </a:r>
            <a:r>
              <a:rPr sz="1800" spc="-75" dirty="0">
                <a:solidFill>
                  <a:srgbClr val="1F2023"/>
                </a:solidFill>
                <a:latin typeface="Arial MT"/>
                <a:cs typeface="Arial MT"/>
              </a:rPr>
              <a:t> </a:t>
            </a:r>
            <a:r>
              <a:rPr sz="1800" dirty="0">
                <a:solidFill>
                  <a:srgbClr val="1F2023"/>
                </a:solidFill>
                <a:latin typeface="Arial MT"/>
                <a:cs typeface="Arial MT"/>
              </a:rPr>
              <a:t>|</a:t>
            </a:r>
            <a:r>
              <a:rPr sz="1800" spc="-45" dirty="0">
                <a:solidFill>
                  <a:srgbClr val="1F2023"/>
                </a:solidFill>
                <a:latin typeface="Arial MT"/>
                <a:cs typeface="Arial MT"/>
              </a:rPr>
              <a:t> </a:t>
            </a:r>
            <a:r>
              <a:rPr sz="1800" spc="-25" dirty="0">
                <a:solidFill>
                  <a:srgbClr val="1F2023"/>
                </a:solidFill>
                <a:latin typeface="Arial MT"/>
                <a:cs typeface="Arial MT"/>
              </a:rPr>
              <a:t>X).</a:t>
            </a:r>
            <a:endParaRPr sz="1800">
              <a:latin typeface="Arial MT"/>
              <a:cs typeface="Arial MT"/>
            </a:endParaRPr>
          </a:p>
        </p:txBody>
      </p:sp>
      <p:pic>
        <p:nvPicPr>
          <p:cNvPr id="3" name="object 3"/>
          <p:cNvPicPr/>
          <p:nvPr/>
        </p:nvPicPr>
        <p:blipFill>
          <a:blip r:embed="rId2" cstate="print"/>
          <a:stretch>
            <a:fillRect/>
          </a:stretch>
        </p:blipFill>
        <p:spPr>
          <a:xfrm>
            <a:off x="2649471" y="2130561"/>
            <a:ext cx="7256529" cy="32097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275589"/>
            <a:ext cx="1433830" cy="513715"/>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292929"/>
                </a:solidFill>
                <a:latin typeface="Calibri"/>
                <a:cs typeface="Calibri"/>
              </a:rPr>
              <a:t>FaceApp</a:t>
            </a:r>
          </a:p>
        </p:txBody>
      </p:sp>
      <p:sp>
        <p:nvSpPr>
          <p:cNvPr id="3" name="object 3"/>
          <p:cNvSpPr txBox="1"/>
          <p:nvPr/>
        </p:nvSpPr>
        <p:spPr>
          <a:xfrm>
            <a:off x="2964560" y="366217"/>
            <a:ext cx="5705475" cy="57467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alibri"/>
                <a:cs typeface="Calibri"/>
              </a:rPr>
              <a:t>FaceApp</a:t>
            </a:r>
            <a:r>
              <a:rPr sz="1800" dirty="0">
                <a:solidFill>
                  <a:srgbClr val="292929"/>
                </a:solidFill>
                <a:latin typeface="Calibri"/>
                <a:cs typeface="Calibri"/>
              </a:rPr>
              <a:t>.</a:t>
            </a:r>
            <a:r>
              <a:rPr sz="1800" spc="-90"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dirty="0">
                <a:solidFill>
                  <a:srgbClr val="292929"/>
                </a:solidFill>
                <a:latin typeface="Calibri"/>
                <a:cs typeface="Calibri"/>
              </a:rPr>
              <a:t>viral</a:t>
            </a:r>
            <a:r>
              <a:rPr sz="1800" spc="-40" dirty="0">
                <a:solidFill>
                  <a:srgbClr val="292929"/>
                </a:solidFill>
                <a:latin typeface="Calibri"/>
                <a:cs typeface="Calibri"/>
              </a:rPr>
              <a:t> </a:t>
            </a:r>
            <a:r>
              <a:rPr sz="1800" dirty="0">
                <a:solidFill>
                  <a:srgbClr val="292929"/>
                </a:solidFill>
                <a:latin typeface="Calibri"/>
                <a:cs typeface="Calibri"/>
              </a:rPr>
              <a:t>Russian</a:t>
            </a:r>
            <a:r>
              <a:rPr sz="1800" spc="-50" dirty="0">
                <a:solidFill>
                  <a:srgbClr val="292929"/>
                </a:solidFill>
                <a:latin typeface="Calibri"/>
                <a:cs typeface="Calibri"/>
              </a:rPr>
              <a:t> </a:t>
            </a:r>
            <a:r>
              <a:rPr sz="1800" dirty="0">
                <a:solidFill>
                  <a:srgbClr val="292929"/>
                </a:solidFill>
                <a:latin typeface="Calibri"/>
                <a:cs typeface="Calibri"/>
              </a:rPr>
              <a:t>app,</a:t>
            </a:r>
            <a:r>
              <a:rPr sz="1800" spc="-45" dirty="0">
                <a:solidFill>
                  <a:srgbClr val="292929"/>
                </a:solidFill>
                <a:latin typeface="Calibri"/>
                <a:cs typeface="Calibri"/>
              </a:rPr>
              <a:t> </a:t>
            </a:r>
            <a:r>
              <a:rPr sz="1800" spc="-10" dirty="0">
                <a:solidFill>
                  <a:srgbClr val="292929"/>
                </a:solidFill>
                <a:latin typeface="Calibri"/>
                <a:cs typeface="Calibri"/>
              </a:rPr>
              <a:t>FaceApp</a:t>
            </a:r>
            <a:r>
              <a:rPr sz="1800" spc="-45" dirty="0">
                <a:solidFill>
                  <a:srgbClr val="292929"/>
                </a:solidFill>
                <a:latin typeface="Calibri"/>
                <a:cs typeface="Calibri"/>
              </a:rPr>
              <a:t> </a:t>
            </a:r>
            <a:r>
              <a:rPr sz="1800" dirty="0">
                <a:solidFill>
                  <a:srgbClr val="292929"/>
                </a:solidFill>
                <a:latin typeface="Calibri"/>
                <a:cs typeface="Calibri"/>
              </a:rPr>
              <a:t>which</a:t>
            </a:r>
            <a:r>
              <a:rPr sz="1800" spc="-25" dirty="0">
                <a:solidFill>
                  <a:srgbClr val="292929"/>
                </a:solidFill>
                <a:latin typeface="Calibri"/>
                <a:cs typeface="Calibri"/>
              </a:rPr>
              <a:t> </a:t>
            </a:r>
            <a:r>
              <a:rPr sz="1800" spc="-10" dirty="0">
                <a:solidFill>
                  <a:srgbClr val="292929"/>
                </a:solidFill>
                <a:latin typeface="Calibri"/>
                <a:cs typeface="Calibri"/>
              </a:rPr>
              <a:t>automatically</a:t>
            </a:r>
            <a:endParaRPr sz="1800">
              <a:latin typeface="Calibri"/>
              <a:cs typeface="Calibri"/>
            </a:endParaRPr>
          </a:p>
          <a:p>
            <a:pPr marL="12700">
              <a:lnSpc>
                <a:spcPct val="100000"/>
              </a:lnSpc>
              <a:spcBef>
                <a:spcPts val="5"/>
              </a:spcBef>
            </a:pPr>
            <a:r>
              <a:rPr sz="1800" spc="-10" dirty="0">
                <a:solidFill>
                  <a:srgbClr val="292929"/>
                </a:solidFill>
                <a:latin typeface="Calibri"/>
                <a:cs typeface="Calibri"/>
              </a:rPr>
              <a:t>generates</a:t>
            </a:r>
            <a:r>
              <a:rPr sz="1800" spc="-65" dirty="0">
                <a:solidFill>
                  <a:srgbClr val="292929"/>
                </a:solidFill>
                <a:latin typeface="Calibri"/>
                <a:cs typeface="Calibri"/>
              </a:rPr>
              <a:t> </a:t>
            </a:r>
            <a:r>
              <a:rPr sz="1800" dirty="0">
                <a:solidFill>
                  <a:srgbClr val="292929"/>
                </a:solidFill>
                <a:latin typeface="Calibri"/>
                <a:cs typeface="Calibri"/>
              </a:rPr>
              <a:t>highly</a:t>
            </a:r>
            <a:r>
              <a:rPr sz="1800" spc="-50" dirty="0">
                <a:solidFill>
                  <a:srgbClr val="292929"/>
                </a:solidFill>
                <a:latin typeface="Calibri"/>
                <a:cs typeface="Calibri"/>
              </a:rPr>
              <a:t> </a:t>
            </a:r>
            <a:r>
              <a:rPr sz="1800" dirty="0">
                <a:solidFill>
                  <a:srgbClr val="292929"/>
                </a:solidFill>
                <a:latin typeface="Calibri"/>
                <a:cs typeface="Calibri"/>
              </a:rPr>
              <a:t>realistic</a:t>
            </a:r>
            <a:r>
              <a:rPr sz="1800" spc="-40" dirty="0">
                <a:solidFill>
                  <a:srgbClr val="292929"/>
                </a:solidFill>
                <a:latin typeface="Calibri"/>
                <a:cs typeface="Calibri"/>
              </a:rPr>
              <a:t> </a:t>
            </a:r>
            <a:r>
              <a:rPr sz="1800" spc="-10" dirty="0">
                <a:solidFill>
                  <a:srgbClr val="292929"/>
                </a:solidFill>
                <a:latin typeface="Calibri"/>
                <a:cs typeface="Calibri"/>
              </a:rPr>
              <a:t>transformations</a:t>
            </a:r>
            <a:r>
              <a:rPr sz="1800" spc="-65" dirty="0">
                <a:solidFill>
                  <a:srgbClr val="292929"/>
                </a:solidFill>
                <a:latin typeface="Calibri"/>
                <a:cs typeface="Calibri"/>
              </a:rPr>
              <a:t> </a:t>
            </a:r>
            <a:r>
              <a:rPr sz="1800" dirty="0">
                <a:solidFill>
                  <a:srgbClr val="292929"/>
                </a:solidFill>
                <a:latin typeface="Calibri"/>
                <a:cs typeface="Calibri"/>
              </a:rPr>
              <a:t>of</a:t>
            </a:r>
            <a:r>
              <a:rPr sz="1800" spc="-60" dirty="0">
                <a:solidFill>
                  <a:srgbClr val="292929"/>
                </a:solidFill>
                <a:latin typeface="Calibri"/>
                <a:cs typeface="Calibri"/>
              </a:rPr>
              <a:t> </a:t>
            </a:r>
            <a:r>
              <a:rPr sz="1800" dirty="0">
                <a:solidFill>
                  <a:srgbClr val="292929"/>
                </a:solidFill>
                <a:latin typeface="Calibri"/>
                <a:cs typeface="Calibri"/>
              </a:rPr>
              <a:t>your</a:t>
            </a:r>
            <a:r>
              <a:rPr sz="1800" spc="-55" dirty="0">
                <a:solidFill>
                  <a:srgbClr val="292929"/>
                </a:solidFill>
                <a:latin typeface="Calibri"/>
                <a:cs typeface="Calibri"/>
              </a:rPr>
              <a:t> </a:t>
            </a:r>
            <a:r>
              <a:rPr sz="1800" spc="-20" dirty="0">
                <a:solidFill>
                  <a:srgbClr val="292929"/>
                </a:solidFill>
                <a:latin typeface="Calibri"/>
                <a:cs typeface="Calibri"/>
              </a:rPr>
              <a:t>face</a:t>
            </a:r>
            <a:endParaRPr sz="1800">
              <a:latin typeface="Calibri"/>
              <a:cs typeface="Calibri"/>
            </a:endParaRPr>
          </a:p>
        </p:txBody>
      </p:sp>
      <p:pic>
        <p:nvPicPr>
          <p:cNvPr id="4" name="object 4"/>
          <p:cNvPicPr/>
          <p:nvPr/>
        </p:nvPicPr>
        <p:blipFill>
          <a:blip r:embed="rId2" cstate="print"/>
          <a:stretch>
            <a:fillRect/>
          </a:stretch>
        </p:blipFill>
        <p:spPr>
          <a:xfrm>
            <a:off x="2586227" y="1216152"/>
            <a:ext cx="7728204" cy="45872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286257"/>
            <a:ext cx="2612390" cy="513715"/>
          </a:xfrm>
          <a:prstGeom prst="rect">
            <a:avLst/>
          </a:prstGeom>
        </p:spPr>
        <p:txBody>
          <a:bodyPr vert="horz" wrap="square" lIns="0" tIns="12700" rIns="0" bIns="0" rtlCol="0">
            <a:spAutoFit/>
          </a:bodyPr>
          <a:lstStyle/>
          <a:p>
            <a:pPr marL="12700">
              <a:lnSpc>
                <a:spcPct val="100000"/>
              </a:lnSpc>
              <a:spcBef>
                <a:spcPts val="100"/>
              </a:spcBef>
              <a:tabLst>
                <a:tab pos="1036319" algn="l"/>
              </a:tabLst>
            </a:pPr>
            <a:r>
              <a:rPr spc="-20" dirty="0"/>
              <a:t>Face</a:t>
            </a:r>
            <a:r>
              <a:rPr dirty="0"/>
              <a:t>	</a:t>
            </a:r>
            <a:r>
              <a:rPr spc="-10" dirty="0"/>
              <a:t>de-aging</a:t>
            </a:r>
          </a:p>
        </p:txBody>
      </p:sp>
      <p:pic>
        <p:nvPicPr>
          <p:cNvPr id="3" name="object 3"/>
          <p:cNvPicPr/>
          <p:nvPr/>
        </p:nvPicPr>
        <p:blipFill>
          <a:blip r:embed="rId2" cstate="print"/>
          <a:stretch>
            <a:fillRect/>
          </a:stretch>
        </p:blipFill>
        <p:spPr>
          <a:xfrm>
            <a:off x="2606039" y="1738883"/>
            <a:ext cx="6213348" cy="42275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6618" rIns="0" bIns="0" rtlCol="0">
            <a:spAutoFit/>
          </a:bodyPr>
          <a:lstStyle/>
          <a:p>
            <a:pPr marL="12700">
              <a:lnSpc>
                <a:spcPct val="100000"/>
              </a:lnSpc>
              <a:spcBef>
                <a:spcPts val="100"/>
              </a:spcBef>
            </a:pPr>
            <a:r>
              <a:rPr b="1" spc="-170" dirty="0">
                <a:solidFill>
                  <a:srgbClr val="212121"/>
                </a:solidFill>
                <a:latin typeface="Tahoma"/>
                <a:cs typeface="Tahoma"/>
              </a:rPr>
              <a:t>Text</a:t>
            </a:r>
            <a:r>
              <a:rPr b="1" spc="-145" dirty="0">
                <a:solidFill>
                  <a:srgbClr val="212121"/>
                </a:solidFill>
                <a:latin typeface="Tahoma"/>
                <a:cs typeface="Tahoma"/>
              </a:rPr>
              <a:t> </a:t>
            </a:r>
            <a:r>
              <a:rPr b="1" spc="-155" dirty="0">
                <a:solidFill>
                  <a:srgbClr val="212121"/>
                </a:solidFill>
                <a:latin typeface="Tahoma"/>
                <a:cs typeface="Tahoma"/>
              </a:rPr>
              <a:t>to </a:t>
            </a:r>
            <a:r>
              <a:rPr b="1" spc="-355" dirty="0">
                <a:solidFill>
                  <a:srgbClr val="212121"/>
                </a:solidFill>
                <a:latin typeface="Tahoma"/>
                <a:cs typeface="Tahoma"/>
              </a:rPr>
              <a:t>Image</a:t>
            </a:r>
            <a:r>
              <a:rPr b="1" spc="-175" dirty="0">
                <a:solidFill>
                  <a:srgbClr val="212121"/>
                </a:solidFill>
                <a:latin typeface="Tahoma"/>
                <a:cs typeface="Tahoma"/>
              </a:rPr>
              <a:t> Generation</a:t>
            </a:r>
          </a:p>
        </p:txBody>
      </p:sp>
      <p:sp>
        <p:nvSpPr>
          <p:cNvPr id="3" name="object 3"/>
          <p:cNvSpPr txBox="1"/>
          <p:nvPr/>
        </p:nvSpPr>
        <p:spPr>
          <a:xfrm>
            <a:off x="931067" y="914400"/>
            <a:ext cx="10297160" cy="565150"/>
          </a:xfrm>
          <a:prstGeom prst="rect">
            <a:avLst/>
          </a:prstGeom>
        </p:spPr>
        <p:txBody>
          <a:bodyPr vert="horz" wrap="square" lIns="0" tIns="12700" rIns="0" bIns="0" rtlCol="0">
            <a:spAutoFit/>
          </a:bodyPr>
          <a:lstStyle/>
          <a:p>
            <a:pPr marL="12700">
              <a:lnSpc>
                <a:spcPts val="2125"/>
              </a:lnSpc>
              <a:spcBef>
                <a:spcPts val="100"/>
              </a:spcBef>
            </a:pPr>
            <a:r>
              <a:rPr sz="1800" b="1" spc="-110" dirty="0">
                <a:solidFill>
                  <a:srgbClr val="212121"/>
                </a:solidFill>
                <a:latin typeface="Tahoma"/>
                <a:cs typeface="Tahoma"/>
              </a:rPr>
              <a:t>Text</a:t>
            </a:r>
            <a:r>
              <a:rPr sz="1800" b="1" spc="-55" dirty="0">
                <a:solidFill>
                  <a:srgbClr val="212121"/>
                </a:solidFill>
                <a:latin typeface="Tahoma"/>
                <a:cs typeface="Tahoma"/>
              </a:rPr>
              <a:t> </a:t>
            </a:r>
            <a:r>
              <a:rPr sz="1800" b="1" spc="-90" dirty="0">
                <a:solidFill>
                  <a:srgbClr val="212121"/>
                </a:solidFill>
                <a:latin typeface="Tahoma"/>
                <a:cs typeface="Tahoma"/>
              </a:rPr>
              <a:t>to</a:t>
            </a:r>
            <a:r>
              <a:rPr sz="1800" b="1" spc="-55" dirty="0">
                <a:solidFill>
                  <a:srgbClr val="212121"/>
                </a:solidFill>
                <a:latin typeface="Tahoma"/>
                <a:cs typeface="Tahoma"/>
              </a:rPr>
              <a:t> </a:t>
            </a:r>
            <a:r>
              <a:rPr sz="1800" b="1" spc="-220" dirty="0">
                <a:solidFill>
                  <a:srgbClr val="212121"/>
                </a:solidFill>
                <a:latin typeface="Tahoma"/>
                <a:cs typeface="Tahoma"/>
              </a:rPr>
              <a:t>Image</a:t>
            </a:r>
            <a:r>
              <a:rPr sz="1800" b="1" spc="-55" dirty="0">
                <a:solidFill>
                  <a:srgbClr val="212121"/>
                </a:solidFill>
                <a:latin typeface="Tahoma"/>
                <a:cs typeface="Tahoma"/>
              </a:rPr>
              <a:t> </a:t>
            </a:r>
            <a:r>
              <a:rPr sz="1800" b="1" spc="-110" dirty="0">
                <a:solidFill>
                  <a:srgbClr val="212121"/>
                </a:solidFill>
                <a:latin typeface="Tahoma"/>
                <a:cs typeface="Tahoma"/>
              </a:rPr>
              <a:t>Generation</a:t>
            </a:r>
            <a:r>
              <a:rPr sz="1800" b="1" spc="-40" dirty="0">
                <a:solidFill>
                  <a:srgbClr val="212121"/>
                </a:solidFill>
                <a:latin typeface="Tahoma"/>
                <a:cs typeface="Tahoma"/>
              </a:rPr>
              <a:t> </a:t>
            </a:r>
            <a:r>
              <a:rPr sz="1800" b="1" spc="-195" dirty="0">
                <a:solidFill>
                  <a:srgbClr val="212121"/>
                </a:solidFill>
                <a:latin typeface="Tahoma"/>
                <a:cs typeface="Tahoma"/>
              </a:rPr>
              <a:t>:</a:t>
            </a:r>
            <a:r>
              <a:rPr sz="1800" b="1" spc="-45" dirty="0">
                <a:solidFill>
                  <a:srgbClr val="212121"/>
                </a:solidFill>
                <a:latin typeface="Tahoma"/>
                <a:cs typeface="Tahoma"/>
              </a:rPr>
              <a:t> </a:t>
            </a:r>
            <a:r>
              <a:rPr sz="1800" dirty="0">
                <a:solidFill>
                  <a:srgbClr val="212121"/>
                </a:solidFill>
                <a:latin typeface="Tahoma"/>
                <a:cs typeface="Tahoma"/>
              </a:rPr>
              <a:t>Just</a:t>
            </a:r>
            <a:r>
              <a:rPr sz="1800" spc="-60" dirty="0">
                <a:solidFill>
                  <a:srgbClr val="212121"/>
                </a:solidFill>
                <a:latin typeface="Tahoma"/>
                <a:cs typeface="Tahoma"/>
              </a:rPr>
              <a:t> </a:t>
            </a:r>
            <a:r>
              <a:rPr sz="1800" spc="-20" dirty="0">
                <a:solidFill>
                  <a:srgbClr val="212121"/>
                </a:solidFill>
                <a:latin typeface="Tahoma"/>
                <a:cs typeface="Tahoma"/>
              </a:rPr>
              <a:t>say</a:t>
            </a:r>
            <a:r>
              <a:rPr sz="1800" spc="-75" dirty="0">
                <a:solidFill>
                  <a:srgbClr val="212121"/>
                </a:solidFill>
                <a:latin typeface="Tahoma"/>
                <a:cs typeface="Tahoma"/>
              </a:rPr>
              <a:t> </a:t>
            </a:r>
            <a:r>
              <a:rPr sz="1800" dirty="0">
                <a:solidFill>
                  <a:srgbClr val="212121"/>
                </a:solidFill>
                <a:latin typeface="Tahoma"/>
                <a:cs typeface="Tahoma"/>
              </a:rPr>
              <a:t>to</a:t>
            </a:r>
            <a:r>
              <a:rPr sz="1800" spc="-45" dirty="0">
                <a:solidFill>
                  <a:srgbClr val="212121"/>
                </a:solidFill>
                <a:latin typeface="Tahoma"/>
                <a:cs typeface="Tahoma"/>
              </a:rPr>
              <a:t> </a:t>
            </a:r>
            <a:r>
              <a:rPr sz="1800" dirty="0">
                <a:solidFill>
                  <a:srgbClr val="212121"/>
                </a:solidFill>
                <a:latin typeface="Tahoma"/>
                <a:cs typeface="Tahoma"/>
              </a:rPr>
              <a:t>your</a:t>
            </a:r>
            <a:r>
              <a:rPr sz="1800" spc="-80" dirty="0">
                <a:solidFill>
                  <a:srgbClr val="212121"/>
                </a:solidFill>
                <a:latin typeface="Tahoma"/>
                <a:cs typeface="Tahoma"/>
              </a:rPr>
              <a:t> </a:t>
            </a:r>
            <a:r>
              <a:rPr sz="1800" spc="140" dirty="0">
                <a:solidFill>
                  <a:srgbClr val="212121"/>
                </a:solidFill>
                <a:latin typeface="Tahoma"/>
                <a:cs typeface="Tahoma"/>
              </a:rPr>
              <a:t>GAN</a:t>
            </a:r>
            <a:r>
              <a:rPr sz="1800" spc="-75" dirty="0">
                <a:solidFill>
                  <a:srgbClr val="212121"/>
                </a:solidFill>
                <a:latin typeface="Tahoma"/>
                <a:cs typeface="Tahoma"/>
              </a:rPr>
              <a:t> </a:t>
            </a:r>
            <a:r>
              <a:rPr sz="1800" dirty="0">
                <a:solidFill>
                  <a:srgbClr val="212121"/>
                </a:solidFill>
                <a:latin typeface="Tahoma"/>
                <a:cs typeface="Tahoma"/>
              </a:rPr>
              <a:t>what</a:t>
            </a:r>
            <a:r>
              <a:rPr sz="1800" spc="-85" dirty="0">
                <a:solidFill>
                  <a:srgbClr val="212121"/>
                </a:solidFill>
                <a:latin typeface="Tahoma"/>
                <a:cs typeface="Tahoma"/>
              </a:rPr>
              <a:t> </a:t>
            </a:r>
            <a:r>
              <a:rPr sz="1800" dirty="0">
                <a:solidFill>
                  <a:srgbClr val="212121"/>
                </a:solidFill>
                <a:latin typeface="Tahoma"/>
                <a:cs typeface="Tahoma"/>
              </a:rPr>
              <a:t>you</a:t>
            </a:r>
            <a:r>
              <a:rPr sz="1800" spc="-55" dirty="0">
                <a:solidFill>
                  <a:srgbClr val="212121"/>
                </a:solidFill>
                <a:latin typeface="Tahoma"/>
                <a:cs typeface="Tahoma"/>
              </a:rPr>
              <a:t> </a:t>
            </a:r>
            <a:r>
              <a:rPr sz="1800" dirty="0">
                <a:solidFill>
                  <a:srgbClr val="212121"/>
                </a:solidFill>
                <a:latin typeface="Tahoma"/>
                <a:cs typeface="Tahoma"/>
              </a:rPr>
              <a:t>want</a:t>
            </a:r>
            <a:r>
              <a:rPr sz="1800" spc="-70"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spc="-10" dirty="0">
                <a:solidFill>
                  <a:srgbClr val="212121"/>
                </a:solidFill>
                <a:latin typeface="Tahoma"/>
                <a:cs typeface="Tahoma"/>
              </a:rPr>
              <a:t>see</a:t>
            </a:r>
            <a:r>
              <a:rPr sz="1800" spc="-80" dirty="0">
                <a:solidFill>
                  <a:srgbClr val="212121"/>
                </a:solidFill>
                <a:latin typeface="Tahoma"/>
                <a:cs typeface="Tahoma"/>
              </a:rPr>
              <a:t> </a:t>
            </a:r>
            <a:r>
              <a:rPr sz="1800" spc="-10" dirty="0">
                <a:solidFill>
                  <a:srgbClr val="212121"/>
                </a:solidFill>
                <a:latin typeface="Tahoma"/>
                <a:cs typeface="Tahoma"/>
              </a:rPr>
              <a:t>and</a:t>
            </a:r>
            <a:r>
              <a:rPr sz="1800" spc="-70" dirty="0">
                <a:solidFill>
                  <a:srgbClr val="212121"/>
                </a:solidFill>
                <a:latin typeface="Tahoma"/>
                <a:cs typeface="Tahoma"/>
              </a:rPr>
              <a:t> </a:t>
            </a:r>
            <a:r>
              <a:rPr sz="1800" spc="-10" dirty="0">
                <a:solidFill>
                  <a:srgbClr val="212121"/>
                </a:solidFill>
                <a:latin typeface="Tahoma"/>
                <a:cs typeface="Tahoma"/>
              </a:rPr>
              <a:t>get</a:t>
            </a:r>
            <a:r>
              <a:rPr sz="1800" spc="-55" dirty="0">
                <a:solidFill>
                  <a:srgbClr val="212121"/>
                </a:solidFill>
                <a:latin typeface="Tahoma"/>
                <a:cs typeface="Tahoma"/>
              </a:rPr>
              <a:t> </a:t>
            </a:r>
            <a:r>
              <a:rPr sz="1800" spc="-60" dirty="0">
                <a:solidFill>
                  <a:srgbClr val="212121"/>
                </a:solidFill>
                <a:latin typeface="Tahoma"/>
                <a:cs typeface="Tahoma"/>
              </a:rPr>
              <a:t>a</a:t>
            </a:r>
            <a:r>
              <a:rPr sz="1800" spc="-55" dirty="0">
                <a:solidFill>
                  <a:srgbClr val="212121"/>
                </a:solidFill>
                <a:latin typeface="Tahoma"/>
                <a:cs typeface="Tahoma"/>
              </a:rPr>
              <a:t> </a:t>
            </a:r>
            <a:r>
              <a:rPr sz="1800" dirty="0">
                <a:solidFill>
                  <a:srgbClr val="212121"/>
                </a:solidFill>
                <a:latin typeface="Tahoma"/>
                <a:cs typeface="Tahoma"/>
              </a:rPr>
              <a:t>realistic</a:t>
            </a:r>
            <a:r>
              <a:rPr sz="1800" spc="-60" dirty="0">
                <a:solidFill>
                  <a:srgbClr val="212121"/>
                </a:solidFill>
                <a:latin typeface="Tahoma"/>
                <a:cs typeface="Tahoma"/>
              </a:rPr>
              <a:t> </a:t>
            </a:r>
            <a:r>
              <a:rPr sz="1800" dirty="0">
                <a:solidFill>
                  <a:srgbClr val="212121"/>
                </a:solidFill>
                <a:latin typeface="Tahoma"/>
                <a:cs typeface="Tahoma"/>
              </a:rPr>
              <a:t>photo</a:t>
            </a:r>
            <a:r>
              <a:rPr sz="1800" spc="-55" dirty="0">
                <a:solidFill>
                  <a:srgbClr val="212121"/>
                </a:solidFill>
                <a:latin typeface="Tahoma"/>
                <a:cs typeface="Tahoma"/>
              </a:rPr>
              <a:t> </a:t>
            </a:r>
            <a:r>
              <a:rPr sz="1800" dirty="0">
                <a:solidFill>
                  <a:srgbClr val="212121"/>
                </a:solidFill>
                <a:latin typeface="Tahoma"/>
                <a:cs typeface="Tahoma"/>
              </a:rPr>
              <a:t>of</a:t>
            </a:r>
            <a:r>
              <a:rPr sz="1800" spc="-70" dirty="0">
                <a:solidFill>
                  <a:srgbClr val="212121"/>
                </a:solidFill>
                <a:latin typeface="Tahoma"/>
                <a:cs typeface="Tahoma"/>
              </a:rPr>
              <a:t> </a:t>
            </a:r>
            <a:r>
              <a:rPr sz="1800" spc="-25" dirty="0">
                <a:solidFill>
                  <a:srgbClr val="212121"/>
                </a:solidFill>
                <a:latin typeface="Tahoma"/>
                <a:cs typeface="Tahoma"/>
              </a:rPr>
              <a:t>the</a:t>
            </a:r>
            <a:endParaRPr sz="1800" dirty="0">
              <a:latin typeface="Tahoma"/>
              <a:cs typeface="Tahoma"/>
            </a:endParaRPr>
          </a:p>
          <a:p>
            <a:pPr marL="12700">
              <a:lnSpc>
                <a:spcPts val="2125"/>
              </a:lnSpc>
            </a:pPr>
            <a:r>
              <a:rPr sz="1800" spc="-10" dirty="0">
                <a:solidFill>
                  <a:srgbClr val="212121"/>
                </a:solidFill>
                <a:latin typeface="Tahoma"/>
                <a:cs typeface="Tahoma"/>
              </a:rPr>
              <a:t>target.</a:t>
            </a:r>
            <a:endParaRPr sz="1800" dirty="0">
              <a:latin typeface="Tahoma"/>
              <a:cs typeface="Tahoma"/>
            </a:endParaRPr>
          </a:p>
        </p:txBody>
      </p:sp>
      <p:pic>
        <p:nvPicPr>
          <p:cNvPr id="4" name="object 4"/>
          <p:cNvPicPr/>
          <p:nvPr/>
        </p:nvPicPr>
        <p:blipFill>
          <a:blip r:embed="rId2" cstate="print"/>
          <a:stretch>
            <a:fillRect/>
          </a:stretch>
        </p:blipFill>
        <p:spPr>
          <a:xfrm>
            <a:off x="795528" y="1752600"/>
            <a:ext cx="10600944" cy="43708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9676" y="169925"/>
            <a:ext cx="2755900" cy="2116455"/>
          </a:xfrm>
          <a:prstGeom prst="rect">
            <a:avLst/>
          </a:prstGeom>
        </p:spPr>
        <p:txBody>
          <a:bodyPr vert="horz" wrap="square" lIns="0" tIns="96520" rIns="0" bIns="0" rtlCol="0">
            <a:spAutoFit/>
          </a:bodyPr>
          <a:lstStyle/>
          <a:p>
            <a:pPr marL="12700" marR="5080">
              <a:lnSpc>
                <a:spcPts val="5290"/>
              </a:lnSpc>
              <a:spcBef>
                <a:spcPts val="760"/>
              </a:spcBef>
            </a:pPr>
            <a:r>
              <a:rPr sz="4900" spc="-95" dirty="0">
                <a:solidFill>
                  <a:srgbClr val="000000"/>
                </a:solidFill>
                <a:latin typeface="Calibri Light"/>
                <a:cs typeface="Calibri Light"/>
              </a:rPr>
              <a:t>Text</a:t>
            </a:r>
            <a:r>
              <a:rPr sz="4900" spc="-185" dirty="0">
                <a:solidFill>
                  <a:srgbClr val="000000"/>
                </a:solidFill>
                <a:latin typeface="Calibri Light"/>
                <a:cs typeface="Calibri Light"/>
              </a:rPr>
              <a:t> </a:t>
            </a:r>
            <a:r>
              <a:rPr sz="4900" spc="-25" dirty="0">
                <a:solidFill>
                  <a:srgbClr val="000000"/>
                </a:solidFill>
                <a:latin typeface="Calibri Light"/>
                <a:cs typeface="Calibri Light"/>
              </a:rPr>
              <a:t>to </a:t>
            </a:r>
            <a:r>
              <a:rPr sz="4900" spc="-10" dirty="0">
                <a:solidFill>
                  <a:srgbClr val="000000"/>
                </a:solidFill>
                <a:latin typeface="Calibri Light"/>
                <a:cs typeface="Calibri Light"/>
              </a:rPr>
              <a:t>Image </a:t>
            </a:r>
            <a:r>
              <a:rPr sz="4900" spc="-60" dirty="0">
                <a:solidFill>
                  <a:srgbClr val="000000"/>
                </a:solidFill>
                <a:latin typeface="Calibri Light"/>
                <a:cs typeface="Calibri Light"/>
              </a:rPr>
              <a:t>Translation</a:t>
            </a:r>
            <a:endParaRPr sz="4900">
              <a:latin typeface="Calibri Light"/>
              <a:cs typeface="Calibri Light"/>
            </a:endParaRPr>
          </a:p>
        </p:txBody>
      </p:sp>
      <p:grpSp>
        <p:nvGrpSpPr>
          <p:cNvPr id="3" name="object 3"/>
          <p:cNvGrpSpPr/>
          <p:nvPr/>
        </p:nvGrpSpPr>
        <p:grpSpPr>
          <a:xfrm>
            <a:off x="624636" y="2540079"/>
            <a:ext cx="3293745" cy="85090"/>
            <a:chOff x="624636" y="2540079"/>
            <a:chExt cx="3293745" cy="85090"/>
          </a:xfrm>
        </p:grpSpPr>
        <p:sp>
          <p:nvSpPr>
            <p:cNvPr id="4" name="object 4"/>
            <p:cNvSpPr/>
            <p:nvPr/>
          </p:nvSpPr>
          <p:spPr>
            <a:xfrm>
              <a:off x="643889" y="2563986"/>
              <a:ext cx="3255645" cy="40005"/>
            </a:xfrm>
            <a:custGeom>
              <a:avLst/>
              <a:gdLst/>
              <a:ahLst/>
              <a:cxnLst/>
              <a:rect l="l" t="t" r="r" b="b"/>
              <a:pathLst>
                <a:path w="3255645" h="40005">
                  <a:moveTo>
                    <a:pt x="951941" y="23"/>
                  </a:moveTo>
                  <a:lnTo>
                    <a:pt x="910692" y="0"/>
                  </a:lnTo>
                  <a:lnTo>
                    <a:pt x="870783" y="747"/>
                  </a:lnTo>
                  <a:lnTo>
                    <a:pt x="830133" y="2115"/>
                  </a:lnTo>
                  <a:lnTo>
                    <a:pt x="682926" y="8452"/>
                  </a:lnTo>
                  <a:lnTo>
                    <a:pt x="558271" y="12970"/>
                  </a:lnTo>
                  <a:lnTo>
                    <a:pt x="409554" y="18911"/>
                  </a:lnTo>
                  <a:lnTo>
                    <a:pt x="365953" y="20334"/>
                  </a:lnTo>
                  <a:lnTo>
                    <a:pt x="322995" y="21289"/>
                  </a:lnTo>
                  <a:lnTo>
                    <a:pt x="279274" y="21661"/>
                  </a:lnTo>
                  <a:lnTo>
                    <a:pt x="233383" y="21338"/>
                  </a:lnTo>
                  <a:lnTo>
                    <a:pt x="183916" y="20205"/>
                  </a:lnTo>
                  <a:lnTo>
                    <a:pt x="129467" y="18149"/>
                  </a:lnTo>
                  <a:lnTo>
                    <a:pt x="68630" y="15056"/>
                  </a:lnTo>
                  <a:lnTo>
                    <a:pt x="0" y="10811"/>
                  </a:lnTo>
                  <a:lnTo>
                    <a:pt x="368" y="17669"/>
                  </a:lnTo>
                  <a:lnTo>
                    <a:pt x="838" y="20336"/>
                  </a:lnTo>
                  <a:lnTo>
                    <a:pt x="0" y="29099"/>
                  </a:lnTo>
                  <a:lnTo>
                    <a:pt x="45461" y="28816"/>
                  </a:lnTo>
                  <a:lnTo>
                    <a:pt x="90446" y="28905"/>
                  </a:lnTo>
                  <a:lnTo>
                    <a:pt x="135407" y="29276"/>
                  </a:lnTo>
                  <a:lnTo>
                    <a:pt x="375756" y="32283"/>
                  </a:lnTo>
                  <a:lnTo>
                    <a:pt x="430114" y="32495"/>
                  </a:lnTo>
                  <a:lnTo>
                    <a:pt x="487627" y="32372"/>
                  </a:lnTo>
                  <a:lnTo>
                    <a:pt x="548750" y="31823"/>
                  </a:lnTo>
                  <a:lnTo>
                    <a:pt x="613936" y="30762"/>
                  </a:lnTo>
                  <a:lnTo>
                    <a:pt x="752525" y="27588"/>
                  </a:lnTo>
                  <a:lnTo>
                    <a:pt x="815491" y="26932"/>
                  </a:lnTo>
                  <a:lnTo>
                    <a:pt x="873298" y="26966"/>
                  </a:lnTo>
                  <a:lnTo>
                    <a:pt x="926705" y="27526"/>
                  </a:lnTo>
                  <a:lnTo>
                    <a:pt x="976472" y="28447"/>
                  </a:lnTo>
                  <a:lnTo>
                    <a:pt x="1111518" y="31735"/>
                  </a:lnTo>
                  <a:lnTo>
                    <a:pt x="1154314" y="32458"/>
                  </a:lnTo>
                  <a:lnTo>
                    <a:pt x="1197265" y="32720"/>
                  </a:lnTo>
                  <a:lnTo>
                    <a:pt x="1241131" y="32357"/>
                  </a:lnTo>
                  <a:lnTo>
                    <a:pt x="1286670" y="31205"/>
                  </a:lnTo>
                  <a:lnTo>
                    <a:pt x="1389143" y="26494"/>
                  </a:lnTo>
                  <a:lnTo>
                    <a:pt x="1437057" y="24823"/>
                  </a:lnTo>
                  <a:lnTo>
                    <a:pt x="1480302" y="23947"/>
                  </a:lnTo>
                  <a:lnTo>
                    <a:pt x="1520795" y="23729"/>
                  </a:lnTo>
                  <a:lnTo>
                    <a:pt x="1560450" y="24033"/>
                  </a:lnTo>
                  <a:lnTo>
                    <a:pt x="1749023" y="27708"/>
                  </a:lnTo>
                  <a:lnTo>
                    <a:pt x="1813236" y="28555"/>
                  </a:lnTo>
                  <a:lnTo>
                    <a:pt x="1888109" y="29099"/>
                  </a:lnTo>
                  <a:lnTo>
                    <a:pt x="1951082" y="28991"/>
                  </a:lnTo>
                  <a:lnTo>
                    <a:pt x="2012907" y="28233"/>
                  </a:lnTo>
                  <a:lnTo>
                    <a:pt x="2073418" y="26991"/>
                  </a:lnTo>
                  <a:lnTo>
                    <a:pt x="2132445" y="25434"/>
                  </a:lnTo>
                  <a:lnTo>
                    <a:pt x="2298954" y="20527"/>
                  </a:lnTo>
                  <a:lnTo>
                    <a:pt x="2350372" y="19369"/>
                  </a:lnTo>
                  <a:lnTo>
                    <a:pt x="2399469" y="18727"/>
                  </a:lnTo>
                  <a:lnTo>
                    <a:pt x="2446077" y="18769"/>
                  </a:lnTo>
                  <a:lnTo>
                    <a:pt x="2490028" y="19660"/>
                  </a:lnTo>
                  <a:lnTo>
                    <a:pt x="2531154" y="21568"/>
                  </a:lnTo>
                  <a:lnTo>
                    <a:pt x="2569288" y="24659"/>
                  </a:lnTo>
                  <a:lnTo>
                    <a:pt x="2604262" y="29099"/>
                  </a:lnTo>
                  <a:lnTo>
                    <a:pt x="2643589" y="33817"/>
                  </a:lnTo>
                  <a:lnTo>
                    <a:pt x="2689040" y="36974"/>
                  </a:lnTo>
                  <a:lnTo>
                    <a:pt x="2739433" y="38781"/>
                  </a:lnTo>
                  <a:lnTo>
                    <a:pt x="2793586" y="39450"/>
                  </a:lnTo>
                  <a:lnTo>
                    <a:pt x="2850318" y="39192"/>
                  </a:lnTo>
                  <a:lnTo>
                    <a:pt x="2908448" y="38218"/>
                  </a:lnTo>
                  <a:lnTo>
                    <a:pt x="2966795" y="36740"/>
                  </a:lnTo>
                  <a:lnTo>
                    <a:pt x="3178718" y="30003"/>
                  </a:lnTo>
                  <a:lnTo>
                    <a:pt x="3220426" y="29170"/>
                  </a:lnTo>
                  <a:lnTo>
                    <a:pt x="3255264" y="29099"/>
                  </a:lnTo>
                  <a:lnTo>
                    <a:pt x="3255645" y="20336"/>
                  </a:lnTo>
                  <a:lnTo>
                    <a:pt x="3255010" y="15256"/>
                  </a:lnTo>
                  <a:lnTo>
                    <a:pt x="3255264" y="10811"/>
                  </a:lnTo>
                  <a:lnTo>
                    <a:pt x="3201583" y="15835"/>
                  </a:lnTo>
                  <a:lnTo>
                    <a:pt x="3146724" y="18950"/>
                  </a:lnTo>
                  <a:lnTo>
                    <a:pt x="3091083" y="20431"/>
                  </a:lnTo>
                  <a:lnTo>
                    <a:pt x="3035056" y="20552"/>
                  </a:lnTo>
                  <a:lnTo>
                    <a:pt x="2979039" y="19588"/>
                  </a:lnTo>
                  <a:lnTo>
                    <a:pt x="2923428" y="17816"/>
                  </a:lnTo>
                  <a:lnTo>
                    <a:pt x="2868620" y="15508"/>
                  </a:lnTo>
                  <a:lnTo>
                    <a:pt x="2712974" y="8130"/>
                  </a:lnTo>
                  <a:lnTo>
                    <a:pt x="2665338" y="6435"/>
                  </a:lnTo>
                  <a:lnTo>
                    <a:pt x="2620487" y="5581"/>
                  </a:lnTo>
                  <a:lnTo>
                    <a:pt x="2578816" y="5842"/>
                  </a:lnTo>
                  <a:lnTo>
                    <a:pt x="2540721" y="7494"/>
                  </a:lnTo>
                  <a:lnTo>
                    <a:pt x="2463528" y="15080"/>
                  </a:lnTo>
                  <a:lnTo>
                    <a:pt x="2415144" y="17496"/>
                  </a:lnTo>
                  <a:lnTo>
                    <a:pt x="2362579" y="18384"/>
                  </a:lnTo>
                  <a:lnTo>
                    <a:pt x="2306964" y="18064"/>
                  </a:lnTo>
                  <a:lnTo>
                    <a:pt x="2249432" y="16861"/>
                  </a:lnTo>
                  <a:lnTo>
                    <a:pt x="2191115" y="15097"/>
                  </a:lnTo>
                  <a:lnTo>
                    <a:pt x="2076652" y="11178"/>
                  </a:lnTo>
                  <a:lnTo>
                    <a:pt x="2022770" y="9668"/>
                  </a:lnTo>
                  <a:lnTo>
                    <a:pt x="1972631" y="8889"/>
                  </a:lnTo>
                  <a:lnTo>
                    <a:pt x="1927367" y="9162"/>
                  </a:lnTo>
                  <a:lnTo>
                    <a:pt x="1888109" y="10811"/>
                  </a:lnTo>
                  <a:lnTo>
                    <a:pt x="1854929" y="12896"/>
                  </a:lnTo>
                  <a:lnTo>
                    <a:pt x="1817241" y="14917"/>
                  </a:lnTo>
                  <a:lnTo>
                    <a:pt x="1775479" y="16809"/>
                  </a:lnTo>
                  <a:lnTo>
                    <a:pt x="1730080" y="18509"/>
                  </a:lnTo>
                  <a:lnTo>
                    <a:pt x="1681479" y="19952"/>
                  </a:lnTo>
                  <a:lnTo>
                    <a:pt x="1630114" y="21075"/>
                  </a:lnTo>
                  <a:lnTo>
                    <a:pt x="1576419" y="21813"/>
                  </a:lnTo>
                  <a:lnTo>
                    <a:pt x="1520830" y="22101"/>
                  </a:lnTo>
                  <a:lnTo>
                    <a:pt x="1463785" y="21877"/>
                  </a:lnTo>
                  <a:lnTo>
                    <a:pt x="1405718" y="21075"/>
                  </a:lnTo>
                  <a:lnTo>
                    <a:pt x="1347065" y="19632"/>
                  </a:lnTo>
                  <a:lnTo>
                    <a:pt x="1288263" y="17483"/>
                  </a:lnTo>
                  <a:lnTo>
                    <a:pt x="1229748" y="14564"/>
                  </a:lnTo>
                  <a:lnTo>
                    <a:pt x="1104537" y="6211"/>
                  </a:lnTo>
                  <a:lnTo>
                    <a:pt x="1046782" y="2979"/>
                  </a:lnTo>
                  <a:lnTo>
                    <a:pt x="996610" y="966"/>
                  </a:lnTo>
                  <a:lnTo>
                    <a:pt x="951941" y="23"/>
                  </a:lnTo>
                  <a:close/>
                </a:path>
              </a:pathLst>
            </a:custGeom>
            <a:solidFill>
              <a:srgbClr val="EC7C30"/>
            </a:solidFill>
          </p:spPr>
          <p:txBody>
            <a:bodyPr wrap="square" lIns="0" tIns="0" rIns="0" bIns="0" rtlCol="0"/>
            <a:lstStyle/>
            <a:p>
              <a:endParaRPr/>
            </a:p>
          </p:txBody>
        </p:sp>
        <p:sp>
          <p:nvSpPr>
            <p:cNvPr id="5" name="object 5"/>
            <p:cNvSpPr/>
            <p:nvPr/>
          </p:nvSpPr>
          <p:spPr>
            <a:xfrm>
              <a:off x="643686" y="2559129"/>
              <a:ext cx="3255645" cy="46990"/>
            </a:xfrm>
            <a:custGeom>
              <a:avLst/>
              <a:gdLst/>
              <a:ahLst/>
              <a:cxnLst/>
              <a:rect l="l" t="t" r="r" b="b"/>
              <a:pathLst>
                <a:path w="3255645" h="46989">
                  <a:moveTo>
                    <a:pt x="203" y="15668"/>
                  </a:moveTo>
                  <a:lnTo>
                    <a:pt x="59845" y="10650"/>
                  </a:lnTo>
                  <a:lnTo>
                    <a:pt x="118558" y="6628"/>
                  </a:lnTo>
                  <a:lnTo>
                    <a:pt x="176179" y="3577"/>
                  </a:lnTo>
                  <a:lnTo>
                    <a:pt x="232544" y="1472"/>
                  </a:lnTo>
                  <a:lnTo>
                    <a:pt x="287492" y="288"/>
                  </a:lnTo>
                  <a:lnTo>
                    <a:pt x="340858" y="0"/>
                  </a:lnTo>
                  <a:lnTo>
                    <a:pt x="392479" y="581"/>
                  </a:lnTo>
                  <a:lnTo>
                    <a:pt x="442193" y="2009"/>
                  </a:lnTo>
                  <a:lnTo>
                    <a:pt x="489835" y="4256"/>
                  </a:lnTo>
                  <a:lnTo>
                    <a:pt x="535244" y="7298"/>
                  </a:lnTo>
                  <a:lnTo>
                    <a:pt x="578255" y="11111"/>
                  </a:lnTo>
                  <a:lnTo>
                    <a:pt x="618705" y="15668"/>
                  </a:lnTo>
                  <a:lnTo>
                    <a:pt x="655602" y="19572"/>
                  </a:lnTo>
                  <a:lnTo>
                    <a:pt x="694178" y="22295"/>
                  </a:lnTo>
                  <a:lnTo>
                    <a:pt x="734574" y="23982"/>
                  </a:lnTo>
                  <a:lnTo>
                    <a:pt x="776931" y="24777"/>
                  </a:lnTo>
                  <a:lnTo>
                    <a:pt x="821391" y="24825"/>
                  </a:lnTo>
                  <a:lnTo>
                    <a:pt x="868094" y="24270"/>
                  </a:lnTo>
                  <a:lnTo>
                    <a:pt x="917183" y="23258"/>
                  </a:lnTo>
                  <a:lnTo>
                    <a:pt x="968797" y="21932"/>
                  </a:lnTo>
                  <a:lnTo>
                    <a:pt x="1023078" y="20438"/>
                  </a:lnTo>
                  <a:lnTo>
                    <a:pt x="1080167" y="18920"/>
                  </a:lnTo>
                  <a:lnTo>
                    <a:pt x="1140206" y="17522"/>
                  </a:lnTo>
                  <a:lnTo>
                    <a:pt x="1203334" y="16390"/>
                  </a:lnTo>
                  <a:lnTo>
                    <a:pt x="1269695" y="15668"/>
                  </a:lnTo>
                  <a:lnTo>
                    <a:pt x="1335573" y="15443"/>
                  </a:lnTo>
                  <a:lnTo>
                    <a:pt x="1397479" y="15638"/>
                  </a:lnTo>
                  <a:lnTo>
                    <a:pt x="1455893" y="16147"/>
                  </a:lnTo>
                  <a:lnTo>
                    <a:pt x="1511294" y="16867"/>
                  </a:lnTo>
                  <a:lnTo>
                    <a:pt x="1564161" y="17694"/>
                  </a:lnTo>
                  <a:lnTo>
                    <a:pt x="1614972" y="18523"/>
                  </a:lnTo>
                  <a:lnTo>
                    <a:pt x="1664207" y="19252"/>
                  </a:lnTo>
                  <a:lnTo>
                    <a:pt x="1712345" y="19775"/>
                  </a:lnTo>
                  <a:lnTo>
                    <a:pt x="1759864" y="19988"/>
                  </a:lnTo>
                  <a:lnTo>
                    <a:pt x="1807243" y="19789"/>
                  </a:lnTo>
                  <a:lnTo>
                    <a:pt x="1854963" y="19071"/>
                  </a:lnTo>
                  <a:lnTo>
                    <a:pt x="1903500" y="17732"/>
                  </a:lnTo>
                  <a:lnTo>
                    <a:pt x="1953336" y="15668"/>
                  </a:lnTo>
                  <a:lnTo>
                    <a:pt x="2005009" y="13799"/>
                  </a:lnTo>
                  <a:lnTo>
                    <a:pt x="2058446" y="12982"/>
                  </a:lnTo>
                  <a:lnTo>
                    <a:pt x="2113210" y="13015"/>
                  </a:lnTo>
                  <a:lnTo>
                    <a:pt x="2168858" y="13695"/>
                  </a:lnTo>
                  <a:lnTo>
                    <a:pt x="2224952" y="14822"/>
                  </a:lnTo>
                  <a:lnTo>
                    <a:pt x="2281053" y="16193"/>
                  </a:lnTo>
                  <a:lnTo>
                    <a:pt x="2336719" y="17606"/>
                  </a:lnTo>
                  <a:lnTo>
                    <a:pt x="2391511" y="18859"/>
                  </a:lnTo>
                  <a:lnTo>
                    <a:pt x="2444991" y="19751"/>
                  </a:lnTo>
                  <a:lnTo>
                    <a:pt x="2496717" y="20080"/>
                  </a:lnTo>
                  <a:lnTo>
                    <a:pt x="2546249" y="19644"/>
                  </a:lnTo>
                  <a:lnTo>
                    <a:pt x="2593149" y="18240"/>
                  </a:lnTo>
                  <a:lnTo>
                    <a:pt x="2636977" y="15668"/>
                  </a:lnTo>
                  <a:lnTo>
                    <a:pt x="2684956" y="12838"/>
                  </a:lnTo>
                  <a:lnTo>
                    <a:pt x="2736916" y="11197"/>
                  </a:lnTo>
                  <a:lnTo>
                    <a:pt x="2791855" y="10542"/>
                  </a:lnTo>
                  <a:lnTo>
                    <a:pt x="2848775" y="10673"/>
                  </a:lnTo>
                  <a:lnTo>
                    <a:pt x="2906676" y="11385"/>
                  </a:lnTo>
                  <a:lnTo>
                    <a:pt x="2964557" y="12477"/>
                  </a:lnTo>
                  <a:lnTo>
                    <a:pt x="3021420" y="13747"/>
                  </a:lnTo>
                  <a:lnTo>
                    <a:pt x="3076265" y="14991"/>
                  </a:lnTo>
                  <a:lnTo>
                    <a:pt x="3128092" y="16007"/>
                  </a:lnTo>
                  <a:lnTo>
                    <a:pt x="3175901" y="16594"/>
                  </a:lnTo>
                  <a:lnTo>
                    <a:pt x="3218692" y="16549"/>
                  </a:lnTo>
                  <a:lnTo>
                    <a:pt x="3255467" y="15668"/>
                  </a:lnTo>
                  <a:lnTo>
                    <a:pt x="3254705" y="23796"/>
                  </a:lnTo>
                  <a:lnTo>
                    <a:pt x="3255086" y="27733"/>
                  </a:lnTo>
                  <a:lnTo>
                    <a:pt x="3255467" y="33956"/>
                  </a:lnTo>
                  <a:lnTo>
                    <a:pt x="3216374" y="34716"/>
                  </a:lnTo>
                  <a:lnTo>
                    <a:pt x="3171163" y="34943"/>
                  </a:lnTo>
                  <a:lnTo>
                    <a:pt x="3120898" y="34740"/>
                  </a:lnTo>
                  <a:lnTo>
                    <a:pt x="3066647" y="34212"/>
                  </a:lnTo>
                  <a:lnTo>
                    <a:pt x="3009474" y="33463"/>
                  </a:lnTo>
                  <a:lnTo>
                    <a:pt x="2950446" y="32597"/>
                  </a:lnTo>
                  <a:lnTo>
                    <a:pt x="2890627" y="31718"/>
                  </a:lnTo>
                  <a:lnTo>
                    <a:pt x="2831085" y="30930"/>
                  </a:lnTo>
                  <a:lnTo>
                    <a:pt x="2772885" y="30338"/>
                  </a:lnTo>
                  <a:lnTo>
                    <a:pt x="2717092" y="30046"/>
                  </a:lnTo>
                  <a:lnTo>
                    <a:pt x="2664773" y="30158"/>
                  </a:lnTo>
                  <a:lnTo>
                    <a:pt x="2616993" y="30777"/>
                  </a:lnTo>
                  <a:lnTo>
                    <a:pt x="2574818" y="32008"/>
                  </a:lnTo>
                  <a:lnTo>
                    <a:pt x="2539314" y="33956"/>
                  </a:lnTo>
                  <a:lnTo>
                    <a:pt x="2505914" y="35586"/>
                  </a:lnTo>
                  <a:lnTo>
                    <a:pt x="2429882" y="35335"/>
                  </a:lnTo>
                  <a:lnTo>
                    <a:pt x="2387439" y="33956"/>
                  </a:lnTo>
                  <a:lnTo>
                    <a:pt x="2342169" y="32075"/>
                  </a:lnTo>
                  <a:lnTo>
                    <a:pt x="2294169" y="29944"/>
                  </a:lnTo>
                  <a:lnTo>
                    <a:pt x="2243531" y="27812"/>
                  </a:lnTo>
                  <a:lnTo>
                    <a:pt x="2190350" y="25932"/>
                  </a:lnTo>
                  <a:lnTo>
                    <a:pt x="2134722" y="24553"/>
                  </a:lnTo>
                  <a:lnTo>
                    <a:pt x="2076739" y="23926"/>
                  </a:lnTo>
                  <a:lnTo>
                    <a:pt x="2016498" y="24302"/>
                  </a:lnTo>
                  <a:lnTo>
                    <a:pt x="1954091" y="25932"/>
                  </a:lnTo>
                  <a:lnTo>
                    <a:pt x="1889614" y="29066"/>
                  </a:lnTo>
                  <a:lnTo>
                    <a:pt x="1823161" y="33956"/>
                  </a:lnTo>
                  <a:lnTo>
                    <a:pt x="1755167" y="39361"/>
                  </a:lnTo>
                  <a:lnTo>
                    <a:pt x="1695419" y="43109"/>
                  </a:lnTo>
                  <a:lnTo>
                    <a:pt x="1642482" y="45407"/>
                  </a:lnTo>
                  <a:lnTo>
                    <a:pt x="1594923" y="46461"/>
                  </a:lnTo>
                  <a:lnTo>
                    <a:pt x="1551306" y="46477"/>
                  </a:lnTo>
                  <a:lnTo>
                    <a:pt x="1510197" y="45661"/>
                  </a:lnTo>
                  <a:lnTo>
                    <a:pt x="1470162" y="44219"/>
                  </a:lnTo>
                  <a:lnTo>
                    <a:pt x="1429765" y="42357"/>
                  </a:lnTo>
                  <a:lnTo>
                    <a:pt x="1387573" y="40280"/>
                  </a:lnTo>
                  <a:lnTo>
                    <a:pt x="1342151" y="38196"/>
                  </a:lnTo>
                  <a:lnTo>
                    <a:pt x="1292064" y="36310"/>
                  </a:lnTo>
                  <a:lnTo>
                    <a:pt x="1235878" y="34828"/>
                  </a:lnTo>
                  <a:lnTo>
                    <a:pt x="1172159" y="33956"/>
                  </a:lnTo>
                  <a:lnTo>
                    <a:pt x="1133587" y="33803"/>
                  </a:lnTo>
                  <a:lnTo>
                    <a:pt x="1094660" y="33886"/>
                  </a:lnTo>
                  <a:lnTo>
                    <a:pt x="1055269" y="34174"/>
                  </a:lnTo>
                  <a:lnTo>
                    <a:pt x="1015303" y="34634"/>
                  </a:lnTo>
                  <a:lnTo>
                    <a:pt x="974652" y="35236"/>
                  </a:lnTo>
                  <a:lnTo>
                    <a:pt x="933205" y="35946"/>
                  </a:lnTo>
                  <a:lnTo>
                    <a:pt x="890853" y="36734"/>
                  </a:lnTo>
                  <a:lnTo>
                    <a:pt x="847486" y="37567"/>
                  </a:lnTo>
                  <a:lnTo>
                    <a:pt x="802993" y="38415"/>
                  </a:lnTo>
                  <a:lnTo>
                    <a:pt x="757264" y="39244"/>
                  </a:lnTo>
                  <a:lnTo>
                    <a:pt x="710189" y="40024"/>
                  </a:lnTo>
                  <a:lnTo>
                    <a:pt x="661658" y="40723"/>
                  </a:lnTo>
                  <a:lnTo>
                    <a:pt x="611560" y="41308"/>
                  </a:lnTo>
                  <a:lnTo>
                    <a:pt x="559786" y="41749"/>
                  </a:lnTo>
                  <a:lnTo>
                    <a:pt x="506226" y="42013"/>
                  </a:lnTo>
                  <a:lnTo>
                    <a:pt x="450768" y="42068"/>
                  </a:lnTo>
                  <a:lnTo>
                    <a:pt x="393304" y="41884"/>
                  </a:lnTo>
                  <a:lnTo>
                    <a:pt x="333722" y="41427"/>
                  </a:lnTo>
                  <a:lnTo>
                    <a:pt x="271914" y="40667"/>
                  </a:lnTo>
                  <a:lnTo>
                    <a:pt x="207767" y="39572"/>
                  </a:lnTo>
                  <a:lnTo>
                    <a:pt x="141174" y="38110"/>
                  </a:lnTo>
                  <a:lnTo>
                    <a:pt x="72022" y="36248"/>
                  </a:lnTo>
                  <a:lnTo>
                    <a:pt x="203" y="33956"/>
                  </a:lnTo>
                  <a:lnTo>
                    <a:pt x="152" y="28114"/>
                  </a:lnTo>
                  <a:lnTo>
                    <a:pt x="0" y="22145"/>
                  </a:lnTo>
                  <a:lnTo>
                    <a:pt x="203" y="15668"/>
                  </a:lnTo>
                  <a:close/>
                </a:path>
              </a:pathLst>
            </a:custGeom>
            <a:ln w="38100">
              <a:solidFill>
                <a:srgbClr val="EC7C30"/>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5029200" y="381000"/>
            <a:ext cx="6178295" cy="5577840"/>
          </a:xfrm>
          <a:prstGeom prst="rect">
            <a:avLst/>
          </a:prstGeom>
        </p:spPr>
      </p:pic>
      <p:sp>
        <p:nvSpPr>
          <p:cNvPr id="7" name="object 7"/>
          <p:cNvSpPr txBox="1"/>
          <p:nvPr/>
        </p:nvSpPr>
        <p:spPr>
          <a:xfrm>
            <a:off x="1710054" y="3447669"/>
            <a:ext cx="1429385" cy="112331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a:cs typeface="Calibri"/>
              </a:rPr>
              <a:t>StackGAN:</a:t>
            </a:r>
            <a:r>
              <a:rPr sz="1800" spc="-65" dirty="0">
                <a:latin typeface="Calibri"/>
                <a:cs typeface="Calibri"/>
              </a:rPr>
              <a:t> </a:t>
            </a:r>
            <a:r>
              <a:rPr sz="1800" spc="-50" dirty="0">
                <a:latin typeface="Calibri"/>
                <a:cs typeface="Calibri"/>
              </a:rPr>
              <a:t>Text </a:t>
            </a:r>
            <a:r>
              <a:rPr sz="1800" dirty="0">
                <a:latin typeface="Calibri"/>
                <a:cs typeface="Calibri"/>
              </a:rPr>
              <a:t>to</a:t>
            </a:r>
            <a:r>
              <a:rPr sz="1800" spc="-30" dirty="0">
                <a:latin typeface="Calibri"/>
                <a:cs typeface="Calibri"/>
              </a:rPr>
              <a:t> </a:t>
            </a:r>
            <a:r>
              <a:rPr sz="1800" spc="-10" dirty="0">
                <a:latin typeface="Calibri"/>
                <a:cs typeface="Calibri"/>
              </a:rPr>
              <a:t>Photo- </a:t>
            </a:r>
            <a:r>
              <a:rPr sz="1800" dirty="0">
                <a:latin typeface="Calibri"/>
                <a:cs typeface="Calibri"/>
              </a:rPr>
              <a:t>realistic</a:t>
            </a:r>
            <a:r>
              <a:rPr sz="1800" spc="-90" dirty="0">
                <a:latin typeface="Calibri"/>
                <a:cs typeface="Calibri"/>
              </a:rPr>
              <a:t> </a:t>
            </a:r>
            <a:r>
              <a:rPr sz="1800" spc="-20" dirty="0">
                <a:latin typeface="Calibri"/>
                <a:cs typeface="Calibri"/>
              </a:rPr>
              <a:t>Image </a:t>
            </a:r>
            <a:r>
              <a:rPr sz="1800" spc="-10" dirty="0">
                <a:latin typeface="Calibri"/>
                <a:cs typeface="Calibri"/>
              </a:rPr>
              <a:t>Synthesis</a:t>
            </a:r>
            <a:endParaRPr sz="1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Photos</a:t>
            </a:r>
            <a:r>
              <a:rPr spc="-25" dirty="0"/>
              <a:t> </a:t>
            </a:r>
            <a:r>
              <a:rPr dirty="0"/>
              <a:t>to</a:t>
            </a:r>
            <a:r>
              <a:rPr spc="-15" dirty="0"/>
              <a:t> </a:t>
            </a:r>
            <a:r>
              <a:rPr spc="-10" dirty="0"/>
              <a:t>Emojis</a:t>
            </a:r>
          </a:p>
        </p:txBody>
      </p:sp>
      <p:pic>
        <p:nvPicPr>
          <p:cNvPr id="3" name="object 3"/>
          <p:cNvPicPr/>
          <p:nvPr/>
        </p:nvPicPr>
        <p:blipFill>
          <a:blip r:embed="rId2" cstate="print"/>
          <a:stretch>
            <a:fillRect/>
          </a:stretch>
        </p:blipFill>
        <p:spPr>
          <a:xfrm>
            <a:off x="3272028" y="1781555"/>
            <a:ext cx="5068823" cy="4098036"/>
          </a:xfrm>
          <a:prstGeom prst="rect">
            <a:avLst/>
          </a:prstGeom>
        </p:spPr>
      </p:pic>
      <p:sp>
        <p:nvSpPr>
          <p:cNvPr id="4" name="object 4"/>
          <p:cNvSpPr txBox="1"/>
          <p:nvPr/>
        </p:nvSpPr>
        <p:spPr>
          <a:xfrm>
            <a:off x="811783" y="1079753"/>
            <a:ext cx="1046670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XGAN</a:t>
            </a:r>
            <a:r>
              <a:rPr sz="2400" spc="-80" dirty="0">
                <a:latin typeface="Calibri"/>
                <a:cs typeface="Calibri"/>
              </a:rPr>
              <a:t> </a:t>
            </a:r>
            <a:r>
              <a:rPr sz="2400" spc="-10" dirty="0">
                <a:latin typeface="Calibri"/>
                <a:cs typeface="Calibri"/>
              </a:rPr>
              <a:t>tremendously</a:t>
            </a:r>
            <a:r>
              <a:rPr sz="2400" spc="-65" dirty="0">
                <a:latin typeface="Calibri"/>
                <a:cs typeface="Calibri"/>
              </a:rPr>
              <a:t> </a:t>
            </a:r>
            <a:r>
              <a:rPr sz="2400" dirty="0">
                <a:latin typeface="Calibri"/>
                <a:cs typeface="Calibri"/>
              </a:rPr>
              <a:t>successful</a:t>
            </a:r>
            <a:r>
              <a:rPr sz="2400" spc="-60" dirty="0">
                <a:latin typeface="Calibri"/>
                <a:cs typeface="Calibri"/>
              </a:rPr>
              <a:t> </a:t>
            </a:r>
            <a:r>
              <a:rPr sz="2400" dirty="0">
                <a:latin typeface="Calibri"/>
                <a:cs typeface="Calibri"/>
              </a:rPr>
              <a:t>in</a:t>
            </a:r>
            <a:r>
              <a:rPr sz="2400" spc="-80" dirty="0">
                <a:latin typeface="Calibri"/>
                <a:cs typeface="Calibri"/>
              </a:rPr>
              <a:t> </a:t>
            </a:r>
            <a:r>
              <a:rPr sz="2400" spc="-10" dirty="0">
                <a:latin typeface="Calibri"/>
                <a:cs typeface="Calibri"/>
              </a:rPr>
              <a:t>generating</a:t>
            </a:r>
            <a:r>
              <a:rPr sz="2400" spc="-60" dirty="0">
                <a:latin typeface="Calibri"/>
                <a:cs typeface="Calibri"/>
              </a:rPr>
              <a:t> </a:t>
            </a:r>
            <a:r>
              <a:rPr sz="2400" dirty="0">
                <a:latin typeface="Calibri"/>
                <a:cs typeface="Calibri"/>
              </a:rPr>
              <a:t>fun</a:t>
            </a:r>
            <a:r>
              <a:rPr sz="2400" spc="-70" dirty="0">
                <a:latin typeface="Calibri"/>
                <a:cs typeface="Calibri"/>
              </a:rPr>
              <a:t> </a:t>
            </a:r>
            <a:r>
              <a:rPr sz="2400" dirty="0">
                <a:latin typeface="Calibri"/>
                <a:cs typeface="Calibri"/>
              </a:rPr>
              <a:t>cartoon</a:t>
            </a:r>
            <a:r>
              <a:rPr sz="2400" spc="-70" dirty="0">
                <a:latin typeface="Calibri"/>
                <a:cs typeface="Calibri"/>
              </a:rPr>
              <a:t> </a:t>
            </a:r>
            <a:r>
              <a:rPr sz="2400" spc="-20" dirty="0">
                <a:latin typeface="Calibri"/>
                <a:cs typeface="Calibri"/>
              </a:rPr>
              <a:t>avatar</a:t>
            </a:r>
            <a:r>
              <a:rPr sz="2400" spc="-70" dirty="0">
                <a:latin typeface="Calibri"/>
                <a:cs typeface="Calibri"/>
              </a:rPr>
              <a:t> </a:t>
            </a:r>
            <a:r>
              <a:rPr sz="2400" dirty="0">
                <a:latin typeface="Calibri"/>
                <a:cs typeface="Calibri"/>
              </a:rPr>
              <a:t>directly</a:t>
            </a:r>
            <a:r>
              <a:rPr sz="2400" spc="-80" dirty="0">
                <a:latin typeface="Calibri"/>
                <a:cs typeface="Calibri"/>
              </a:rPr>
              <a:t> </a:t>
            </a:r>
            <a:r>
              <a:rPr sz="2400" dirty="0">
                <a:latin typeface="Calibri"/>
                <a:cs typeface="Calibri"/>
              </a:rPr>
              <a:t>from</a:t>
            </a:r>
            <a:r>
              <a:rPr sz="2400" spc="-65" dirty="0">
                <a:latin typeface="Calibri"/>
                <a:cs typeface="Calibri"/>
              </a:rPr>
              <a:t> </a:t>
            </a:r>
            <a:r>
              <a:rPr sz="2400" spc="-10" dirty="0">
                <a:latin typeface="Calibri"/>
                <a:cs typeface="Calibri"/>
              </a:rPr>
              <a:t>photos</a:t>
            </a:r>
            <a:endParaRPr sz="24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Image</a:t>
            </a:r>
            <a:r>
              <a:rPr spc="-25" dirty="0"/>
              <a:t> </a:t>
            </a:r>
            <a:r>
              <a:rPr spc="-10" dirty="0"/>
              <a:t>Editing</a:t>
            </a:r>
          </a:p>
        </p:txBody>
      </p:sp>
      <p:pic>
        <p:nvPicPr>
          <p:cNvPr id="3" name="object 3"/>
          <p:cNvPicPr/>
          <p:nvPr/>
        </p:nvPicPr>
        <p:blipFill>
          <a:blip r:embed="rId2" cstate="print"/>
          <a:stretch>
            <a:fillRect/>
          </a:stretch>
        </p:blipFill>
        <p:spPr>
          <a:xfrm>
            <a:off x="2028444" y="2566416"/>
            <a:ext cx="7631290" cy="1979097"/>
          </a:xfrm>
          <a:prstGeom prst="rect">
            <a:avLst/>
          </a:prstGeom>
        </p:spPr>
      </p:pic>
      <p:sp>
        <p:nvSpPr>
          <p:cNvPr id="4" name="object 4"/>
          <p:cNvSpPr txBox="1"/>
          <p:nvPr/>
        </p:nvSpPr>
        <p:spPr>
          <a:xfrm>
            <a:off x="1902967" y="1282446"/>
            <a:ext cx="7143750" cy="574040"/>
          </a:xfrm>
          <a:prstGeom prst="rect">
            <a:avLst/>
          </a:prstGeom>
        </p:spPr>
        <p:txBody>
          <a:bodyPr vert="horz" wrap="square" lIns="0" tIns="12700" rIns="0" bIns="0" rtlCol="0">
            <a:spAutoFit/>
          </a:bodyPr>
          <a:lstStyle/>
          <a:p>
            <a:pPr marL="12700">
              <a:lnSpc>
                <a:spcPct val="100000"/>
              </a:lnSpc>
              <a:spcBef>
                <a:spcPts val="100"/>
              </a:spcBef>
            </a:pPr>
            <a:r>
              <a:rPr sz="1800" b="1" dirty="0">
                <a:latin typeface="Segoe UI"/>
                <a:cs typeface="Segoe UI"/>
              </a:rPr>
              <a:t>invertible</a:t>
            </a:r>
            <a:r>
              <a:rPr sz="1800" b="1" spc="-15" dirty="0">
                <a:latin typeface="Segoe UI"/>
                <a:cs typeface="Segoe UI"/>
              </a:rPr>
              <a:t> </a:t>
            </a:r>
            <a:r>
              <a:rPr sz="1800" b="1" dirty="0">
                <a:latin typeface="Segoe UI"/>
                <a:cs typeface="Segoe UI"/>
              </a:rPr>
              <a:t>Conditional</a:t>
            </a:r>
            <a:r>
              <a:rPr sz="1800" b="1" spc="-25" dirty="0">
                <a:latin typeface="Segoe UI"/>
                <a:cs typeface="Segoe UI"/>
              </a:rPr>
              <a:t> </a:t>
            </a:r>
            <a:r>
              <a:rPr sz="1800" b="1" dirty="0">
                <a:latin typeface="Segoe UI"/>
                <a:cs typeface="Segoe UI"/>
              </a:rPr>
              <a:t>GANs</a:t>
            </a:r>
            <a:r>
              <a:rPr sz="1800" b="1" spc="-15" dirty="0">
                <a:latin typeface="Segoe UI"/>
                <a:cs typeface="Segoe UI"/>
              </a:rPr>
              <a:t> </a:t>
            </a:r>
            <a:r>
              <a:rPr sz="1800" b="1" dirty="0">
                <a:latin typeface="Segoe UI"/>
                <a:cs typeface="Segoe UI"/>
              </a:rPr>
              <a:t>for image </a:t>
            </a:r>
            <a:r>
              <a:rPr sz="1800" b="1" spc="-10" dirty="0">
                <a:latin typeface="Segoe UI"/>
                <a:cs typeface="Segoe UI"/>
              </a:rPr>
              <a:t>editing</a:t>
            </a:r>
            <a:endParaRPr sz="1800">
              <a:latin typeface="Segoe UI"/>
              <a:cs typeface="Segoe UI"/>
            </a:endParaRPr>
          </a:p>
          <a:p>
            <a:pPr marL="12700">
              <a:lnSpc>
                <a:spcPct val="100000"/>
              </a:lnSpc>
            </a:pPr>
            <a:r>
              <a:rPr sz="1800" u="sng" dirty="0">
                <a:solidFill>
                  <a:srgbClr val="0462C1"/>
                </a:solidFill>
                <a:uFill>
                  <a:solidFill>
                    <a:srgbClr val="0462C1"/>
                  </a:solidFill>
                </a:uFill>
                <a:latin typeface="Segoe UI"/>
                <a:cs typeface="Segoe UI"/>
                <a:hlinkClick r:id="rId3"/>
              </a:rPr>
              <a:t>Guim</a:t>
            </a:r>
            <a:r>
              <a:rPr sz="1800" u="sng" spc="-35" dirty="0">
                <a:solidFill>
                  <a:srgbClr val="0462C1"/>
                </a:solidFill>
                <a:uFill>
                  <a:solidFill>
                    <a:srgbClr val="0462C1"/>
                  </a:solidFill>
                </a:uFill>
                <a:latin typeface="Segoe UI"/>
                <a:cs typeface="Segoe UI"/>
                <a:hlinkClick r:id="rId3"/>
              </a:rPr>
              <a:t> </a:t>
            </a:r>
            <a:r>
              <a:rPr sz="1800" u="sng" spc="-10" dirty="0">
                <a:solidFill>
                  <a:srgbClr val="0462C1"/>
                </a:solidFill>
                <a:uFill>
                  <a:solidFill>
                    <a:srgbClr val="0462C1"/>
                  </a:solidFill>
                </a:uFill>
                <a:latin typeface="Segoe UI"/>
                <a:cs typeface="Segoe UI"/>
                <a:hlinkClick r:id="rId3"/>
              </a:rPr>
              <a:t>Perarnau</a:t>
            </a:r>
            <a:r>
              <a:rPr sz="1800" spc="-10" dirty="0">
                <a:latin typeface="Segoe UI"/>
                <a:cs typeface="Segoe UI"/>
              </a:rPr>
              <a:t>,</a:t>
            </a:r>
            <a:r>
              <a:rPr sz="1800" spc="-45" dirty="0">
                <a:latin typeface="Segoe UI"/>
                <a:cs typeface="Segoe UI"/>
              </a:rPr>
              <a:t> </a:t>
            </a:r>
            <a:r>
              <a:rPr sz="1800" u="sng" dirty="0">
                <a:solidFill>
                  <a:srgbClr val="0462C1"/>
                </a:solidFill>
                <a:uFill>
                  <a:solidFill>
                    <a:srgbClr val="0462C1"/>
                  </a:solidFill>
                </a:uFill>
                <a:latin typeface="Segoe UI"/>
                <a:cs typeface="Segoe UI"/>
                <a:hlinkClick r:id="rId4"/>
              </a:rPr>
              <a:t>Joost</a:t>
            </a:r>
            <a:r>
              <a:rPr sz="1800" u="sng" spc="-50" dirty="0">
                <a:solidFill>
                  <a:srgbClr val="0462C1"/>
                </a:solidFill>
                <a:uFill>
                  <a:solidFill>
                    <a:srgbClr val="0462C1"/>
                  </a:solidFill>
                </a:uFill>
                <a:latin typeface="Segoe UI"/>
                <a:cs typeface="Segoe UI"/>
                <a:hlinkClick r:id="rId4"/>
              </a:rPr>
              <a:t> </a:t>
            </a:r>
            <a:r>
              <a:rPr sz="1800" u="sng" dirty="0">
                <a:solidFill>
                  <a:srgbClr val="0462C1"/>
                </a:solidFill>
                <a:uFill>
                  <a:solidFill>
                    <a:srgbClr val="0462C1"/>
                  </a:solidFill>
                </a:uFill>
                <a:latin typeface="Segoe UI"/>
                <a:cs typeface="Segoe UI"/>
                <a:hlinkClick r:id="rId4"/>
              </a:rPr>
              <a:t>van</a:t>
            </a:r>
            <a:r>
              <a:rPr sz="1800" u="sng" spc="-45" dirty="0">
                <a:solidFill>
                  <a:srgbClr val="0462C1"/>
                </a:solidFill>
                <a:uFill>
                  <a:solidFill>
                    <a:srgbClr val="0462C1"/>
                  </a:solidFill>
                </a:uFill>
                <a:latin typeface="Segoe UI"/>
                <a:cs typeface="Segoe UI"/>
                <a:hlinkClick r:id="rId4"/>
              </a:rPr>
              <a:t> </a:t>
            </a:r>
            <a:r>
              <a:rPr sz="1800" u="sng" dirty="0">
                <a:solidFill>
                  <a:srgbClr val="0462C1"/>
                </a:solidFill>
                <a:uFill>
                  <a:solidFill>
                    <a:srgbClr val="0462C1"/>
                  </a:solidFill>
                </a:uFill>
                <a:latin typeface="Segoe UI"/>
                <a:cs typeface="Segoe UI"/>
                <a:hlinkClick r:id="rId4"/>
              </a:rPr>
              <a:t>de</a:t>
            </a:r>
            <a:r>
              <a:rPr sz="1800" u="sng" spc="-30" dirty="0">
                <a:solidFill>
                  <a:srgbClr val="0462C1"/>
                </a:solidFill>
                <a:uFill>
                  <a:solidFill>
                    <a:srgbClr val="0462C1"/>
                  </a:solidFill>
                </a:uFill>
                <a:latin typeface="Segoe UI"/>
                <a:cs typeface="Segoe UI"/>
                <a:hlinkClick r:id="rId4"/>
              </a:rPr>
              <a:t> </a:t>
            </a:r>
            <a:r>
              <a:rPr sz="1800" u="sng" spc="-25" dirty="0">
                <a:solidFill>
                  <a:srgbClr val="0462C1"/>
                </a:solidFill>
                <a:uFill>
                  <a:solidFill>
                    <a:srgbClr val="0462C1"/>
                  </a:solidFill>
                </a:uFill>
                <a:latin typeface="Segoe UI"/>
                <a:cs typeface="Segoe UI"/>
                <a:hlinkClick r:id="rId4"/>
              </a:rPr>
              <a:t>Weijer</a:t>
            </a:r>
            <a:r>
              <a:rPr sz="1800" spc="-25" dirty="0">
                <a:latin typeface="Segoe UI"/>
                <a:cs typeface="Segoe UI"/>
              </a:rPr>
              <a:t>,</a:t>
            </a:r>
            <a:r>
              <a:rPr sz="1800" spc="-5" dirty="0">
                <a:latin typeface="Segoe UI"/>
                <a:cs typeface="Segoe UI"/>
              </a:rPr>
              <a:t> </a:t>
            </a:r>
            <a:r>
              <a:rPr sz="1800" u="sng" dirty="0">
                <a:solidFill>
                  <a:srgbClr val="0462C1"/>
                </a:solidFill>
                <a:uFill>
                  <a:solidFill>
                    <a:srgbClr val="0462C1"/>
                  </a:solidFill>
                </a:uFill>
                <a:latin typeface="Segoe UI"/>
                <a:cs typeface="Segoe UI"/>
                <a:hlinkClick r:id="rId5"/>
              </a:rPr>
              <a:t>Bogdan</a:t>
            </a:r>
            <a:r>
              <a:rPr sz="1800" u="sng" spc="-30" dirty="0">
                <a:solidFill>
                  <a:srgbClr val="0462C1"/>
                </a:solidFill>
                <a:uFill>
                  <a:solidFill>
                    <a:srgbClr val="0462C1"/>
                  </a:solidFill>
                </a:uFill>
                <a:latin typeface="Segoe UI"/>
                <a:cs typeface="Segoe UI"/>
                <a:hlinkClick r:id="rId5"/>
              </a:rPr>
              <a:t> </a:t>
            </a:r>
            <a:r>
              <a:rPr sz="1800" u="sng" dirty="0">
                <a:solidFill>
                  <a:srgbClr val="0462C1"/>
                </a:solidFill>
                <a:uFill>
                  <a:solidFill>
                    <a:srgbClr val="0462C1"/>
                  </a:solidFill>
                </a:uFill>
                <a:latin typeface="Segoe UI"/>
                <a:cs typeface="Segoe UI"/>
                <a:hlinkClick r:id="rId5"/>
              </a:rPr>
              <a:t>Raducanu</a:t>
            </a:r>
            <a:r>
              <a:rPr sz="1800" dirty="0">
                <a:latin typeface="Segoe UI"/>
                <a:cs typeface="Segoe UI"/>
              </a:rPr>
              <a:t>,</a:t>
            </a:r>
            <a:r>
              <a:rPr sz="1800" spc="-45" dirty="0">
                <a:latin typeface="Segoe UI"/>
                <a:cs typeface="Segoe UI"/>
              </a:rPr>
              <a:t> </a:t>
            </a:r>
            <a:r>
              <a:rPr sz="1800" u="sng" dirty="0">
                <a:solidFill>
                  <a:srgbClr val="0462C1"/>
                </a:solidFill>
                <a:uFill>
                  <a:solidFill>
                    <a:srgbClr val="0462C1"/>
                  </a:solidFill>
                </a:uFill>
                <a:latin typeface="Segoe UI"/>
                <a:cs typeface="Segoe UI"/>
                <a:hlinkClick r:id="rId6"/>
              </a:rPr>
              <a:t>Jose</a:t>
            </a:r>
            <a:r>
              <a:rPr sz="1800" u="sng" spc="-60" dirty="0">
                <a:solidFill>
                  <a:srgbClr val="0462C1"/>
                </a:solidFill>
                <a:uFill>
                  <a:solidFill>
                    <a:srgbClr val="0462C1"/>
                  </a:solidFill>
                </a:uFill>
                <a:latin typeface="Segoe UI"/>
                <a:cs typeface="Segoe UI"/>
                <a:hlinkClick r:id="rId6"/>
              </a:rPr>
              <a:t> </a:t>
            </a:r>
            <a:r>
              <a:rPr sz="1800" u="sng" dirty="0">
                <a:solidFill>
                  <a:srgbClr val="0462C1"/>
                </a:solidFill>
                <a:uFill>
                  <a:solidFill>
                    <a:srgbClr val="0462C1"/>
                  </a:solidFill>
                </a:uFill>
                <a:latin typeface="Segoe UI"/>
                <a:cs typeface="Segoe UI"/>
                <a:hlinkClick r:id="rId6"/>
              </a:rPr>
              <a:t>M.</a:t>
            </a:r>
            <a:r>
              <a:rPr sz="1800" u="sng" spc="-45" dirty="0">
                <a:solidFill>
                  <a:srgbClr val="0462C1"/>
                </a:solidFill>
                <a:uFill>
                  <a:solidFill>
                    <a:srgbClr val="0462C1"/>
                  </a:solidFill>
                </a:uFill>
                <a:latin typeface="Segoe UI"/>
                <a:cs typeface="Segoe UI"/>
                <a:hlinkClick r:id="rId6"/>
              </a:rPr>
              <a:t> </a:t>
            </a:r>
            <a:r>
              <a:rPr sz="1800" u="sng" spc="-10" dirty="0">
                <a:solidFill>
                  <a:srgbClr val="0462C1"/>
                </a:solidFill>
                <a:uFill>
                  <a:solidFill>
                    <a:srgbClr val="0462C1"/>
                  </a:solidFill>
                </a:uFill>
                <a:latin typeface="Segoe UI"/>
                <a:cs typeface="Segoe UI"/>
                <a:hlinkClick r:id="rId6"/>
              </a:rPr>
              <a:t>Álvarez</a:t>
            </a:r>
            <a:endParaRPr sz="1800">
              <a:latin typeface="Segoe UI"/>
              <a:cs typeface="Segoe U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74594" y="5428894"/>
            <a:ext cx="5796280" cy="565150"/>
          </a:xfrm>
          <a:prstGeom prst="rect">
            <a:avLst/>
          </a:prstGeom>
        </p:spPr>
        <p:txBody>
          <a:bodyPr vert="horz" wrap="square" lIns="0" tIns="28575" rIns="0" bIns="0" rtlCol="0">
            <a:spAutoFit/>
          </a:bodyPr>
          <a:lstStyle/>
          <a:p>
            <a:pPr marL="12700" marR="5080">
              <a:lnSpc>
                <a:spcPts val="2090"/>
              </a:lnSpc>
              <a:spcBef>
                <a:spcPts val="225"/>
              </a:spcBef>
            </a:pPr>
            <a:r>
              <a:rPr sz="1800" b="1" spc="-114" dirty="0">
                <a:solidFill>
                  <a:srgbClr val="212121"/>
                </a:solidFill>
                <a:latin typeface="Tahoma"/>
                <a:cs typeface="Tahoma"/>
              </a:rPr>
              <a:t>Predicting</a:t>
            </a:r>
            <a:r>
              <a:rPr sz="1800" b="1" spc="-60" dirty="0">
                <a:solidFill>
                  <a:srgbClr val="212121"/>
                </a:solidFill>
                <a:latin typeface="Tahoma"/>
                <a:cs typeface="Tahoma"/>
              </a:rPr>
              <a:t> </a:t>
            </a:r>
            <a:r>
              <a:rPr sz="1800" b="1" spc="-120" dirty="0">
                <a:solidFill>
                  <a:srgbClr val="212121"/>
                </a:solidFill>
                <a:latin typeface="Tahoma"/>
                <a:cs typeface="Tahoma"/>
              </a:rPr>
              <a:t>the</a:t>
            </a:r>
            <a:r>
              <a:rPr sz="1800" b="1" spc="-80" dirty="0">
                <a:solidFill>
                  <a:srgbClr val="212121"/>
                </a:solidFill>
                <a:latin typeface="Tahoma"/>
                <a:cs typeface="Tahoma"/>
              </a:rPr>
              <a:t> </a:t>
            </a:r>
            <a:r>
              <a:rPr sz="1800" b="1" spc="-130" dirty="0">
                <a:solidFill>
                  <a:srgbClr val="212121"/>
                </a:solidFill>
                <a:latin typeface="Tahoma"/>
                <a:cs typeface="Tahoma"/>
              </a:rPr>
              <a:t>next</a:t>
            </a:r>
            <a:r>
              <a:rPr sz="1800" b="1" spc="-65" dirty="0">
                <a:solidFill>
                  <a:srgbClr val="212121"/>
                </a:solidFill>
                <a:latin typeface="Tahoma"/>
                <a:cs typeface="Tahoma"/>
              </a:rPr>
              <a:t> </a:t>
            </a:r>
            <a:r>
              <a:rPr sz="1800" b="1" spc="-135" dirty="0">
                <a:solidFill>
                  <a:srgbClr val="212121"/>
                </a:solidFill>
                <a:latin typeface="Tahoma"/>
                <a:cs typeface="Tahoma"/>
              </a:rPr>
              <a:t>frame</a:t>
            </a:r>
            <a:r>
              <a:rPr sz="1800" b="1" spc="-65" dirty="0">
                <a:solidFill>
                  <a:srgbClr val="212121"/>
                </a:solidFill>
                <a:latin typeface="Tahoma"/>
                <a:cs typeface="Tahoma"/>
              </a:rPr>
              <a:t> </a:t>
            </a:r>
            <a:r>
              <a:rPr sz="1800" b="1" spc="-114" dirty="0">
                <a:solidFill>
                  <a:srgbClr val="212121"/>
                </a:solidFill>
                <a:latin typeface="Tahoma"/>
                <a:cs typeface="Tahoma"/>
              </a:rPr>
              <a:t>in</a:t>
            </a:r>
            <a:r>
              <a:rPr sz="1800" b="1" spc="-65" dirty="0">
                <a:solidFill>
                  <a:srgbClr val="212121"/>
                </a:solidFill>
                <a:latin typeface="Tahoma"/>
                <a:cs typeface="Tahoma"/>
              </a:rPr>
              <a:t> </a:t>
            </a:r>
            <a:r>
              <a:rPr sz="1800" b="1" spc="-180" dirty="0">
                <a:solidFill>
                  <a:srgbClr val="212121"/>
                </a:solidFill>
                <a:latin typeface="Tahoma"/>
                <a:cs typeface="Tahoma"/>
              </a:rPr>
              <a:t>a</a:t>
            </a:r>
            <a:r>
              <a:rPr sz="1800" b="1" spc="-70" dirty="0">
                <a:solidFill>
                  <a:srgbClr val="212121"/>
                </a:solidFill>
                <a:latin typeface="Tahoma"/>
                <a:cs typeface="Tahoma"/>
              </a:rPr>
              <a:t> </a:t>
            </a:r>
            <a:r>
              <a:rPr sz="1800" b="1" spc="-100" dirty="0">
                <a:solidFill>
                  <a:srgbClr val="212121"/>
                </a:solidFill>
                <a:latin typeface="Tahoma"/>
                <a:cs typeface="Tahoma"/>
              </a:rPr>
              <a:t>video</a:t>
            </a:r>
            <a:r>
              <a:rPr sz="1800" b="1" spc="-15" dirty="0">
                <a:solidFill>
                  <a:srgbClr val="212121"/>
                </a:solidFill>
                <a:latin typeface="Tahoma"/>
                <a:cs typeface="Tahoma"/>
              </a:rPr>
              <a:t> </a:t>
            </a:r>
            <a:r>
              <a:rPr sz="1800" spc="-200" dirty="0">
                <a:solidFill>
                  <a:srgbClr val="212121"/>
                </a:solidFill>
                <a:latin typeface="Tahoma"/>
                <a:cs typeface="Tahoma"/>
              </a:rPr>
              <a:t>:</a:t>
            </a:r>
            <a:r>
              <a:rPr sz="1800" spc="-80" dirty="0">
                <a:solidFill>
                  <a:srgbClr val="212121"/>
                </a:solidFill>
                <a:latin typeface="Tahoma"/>
                <a:cs typeface="Tahoma"/>
              </a:rPr>
              <a:t> </a:t>
            </a:r>
            <a:r>
              <a:rPr sz="1800" dirty="0">
                <a:solidFill>
                  <a:srgbClr val="212121"/>
                </a:solidFill>
                <a:latin typeface="Tahoma"/>
                <a:cs typeface="Tahoma"/>
              </a:rPr>
              <a:t>You</a:t>
            </a:r>
            <a:r>
              <a:rPr sz="1800" spc="-85" dirty="0">
                <a:solidFill>
                  <a:srgbClr val="212121"/>
                </a:solidFill>
                <a:latin typeface="Tahoma"/>
                <a:cs typeface="Tahoma"/>
              </a:rPr>
              <a:t> </a:t>
            </a:r>
            <a:r>
              <a:rPr sz="1800" dirty="0">
                <a:solidFill>
                  <a:srgbClr val="212121"/>
                </a:solidFill>
                <a:latin typeface="Tahoma"/>
                <a:cs typeface="Tahoma"/>
              </a:rPr>
              <a:t>train</a:t>
            </a:r>
            <a:r>
              <a:rPr sz="1800" spc="-80" dirty="0">
                <a:solidFill>
                  <a:srgbClr val="212121"/>
                </a:solidFill>
                <a:latin typeface="Tahoma"/>
                <a:cs typeface="Tahoma"/>
              </a:rPr>
              <a:t> </a:t>
            </a:r>
            <a:r>
              <a:rPr sz="1800" spc="-65" dirty="0">
                <a:solidFill>
                  <a:srgbClr val="212121"/>
                </a:solidFill>
                <a:latin typeface="Tahoma"/>
                <a:cs typeface="Tahoma"/>
              </a:rPr>
              <a:t>a</a:t>
            </a:r>
            <a:r>
              <a:rPr sz="1800" spc="-85" dirty="0">
                <a:solidFill>
                  <a:srgbClr val="212121"/>
                </a:solidFill>
                <a:latin typeface="Tahoma"/>
                <a:cs typeface="Tahoma"/>
              </a:rPr>
              <a:t> </a:t>
            </a:r>
            <a:r>
              <a:rPr sz="1800" spc="140" dirty="0">
                <a:solidFill>
                  <a:srgbClr val="212121"/>
                </a:solidFill>
                <a:latin typeface="Tahoma"/>
                <a:cs typeface="Tahoma"/>
              </a:rPr>
              <a:t>GAN</a:t>
            </a:r>
            <a:r>
              <a:rPr sz="1800" spc="-90" dirty="0">
                <a:solidFill>
                  <a:srgbClr val="212121"/>
                </a:solidFill>
                <a:latin typeface="Tahoma"/>
                <a:cs typeface="Tahoma"/>
              </a:rPr>
              <a:t> </a:t>
            </a:r>
            <a:r>
              <a:rPr sz="1800" spc="-25" dirty="0">
                <a:solidFill>
                  <a:srgbClr val="212121"/>
                </a:solidFill>
                <a:latin typeface="Tahoma"/>
                <a:cs typeface="Tahoma"/>
              </a:rPr>
              <a:t>on </a:t>
            </a:r>
            <a:r>
              <a:rPr sz="1800" dirty="0">
                <a:solidFill>
                  <a:srgbClr val="212121"/>
                </a:solidFill>
                <a:latin typeface="Tahoma"/>
                <a:cs typeface="Tahoma"/>
              </a:rPr>
              <a:t>video</a:t>
            </a:r>
            <a:r>
              <a:rPr sz="1800" spc="-25" dirty="0">
                <a:solidFill>
                  <a:srgbClr val="212121"/>
                </a:solidFill>
                <a:latin typeface="Tahoma"/>
                <a:cs typeface="Tahoma"/>
              </a:rPr>
              <a:t> </a:t>
            </a:r>
            <a:r>
              <a:rPr sz="1800" spc="-10" dirty="0">
                <a:solidFill>
                  <a:srgbClr val="212121"/>
                </a:solidFill>
                <a:latin typeface="Tahoma"/>
                <a:cs typeface="Tahoma"/>
              </a:rPr>
              <a:t>sequences</a:t>
            </a:r>
            <a:r>
              <a:rPr sz="1800" spc="-55" dirty="0">
                <a:solidFill>
                  <a:srgbClr val="212121"/>
                </a:solidFill>
                <a:latin typeface="Tahoma"/>
                <a:cs typeface="Tahoma"/>
              </a:rPr>
              <a:t> </a:t>
            </a:r>
            <a:r>
              <a:rPr sz="1800" spc="-10" dirty="0">
                <a:solidFill>
                  <a:srgbClr val="212121"/>
                </a:solidFill>
                <a:latin typeface="Tahoma"/>
                <a:cs typeface="Tahoma"/>
              </a:rPr>
              <a:t>and</a:t>
            </a:r>
            <a:r>
              <a:rPr sz="1800" spc="-40" dirty="0">
                <a:solidFill>
                  <a:srgbClr val="212121"/>
                </a:solidFill>
                <a:latin typeface="Tahoma"/>
                <a:cs typeface="Tahoma"/>
              </a:rPr>
              <a:t> </a:t>
            </a:r>
            <a:r>
              <a:rPr sz="1800" dirty="0">
                <a:solidFill>
                  <a:srgbClr val="212121"/>
                </a:solidFill>
                <a:latin typeface="Tahoma"/>
                <a:cs typeface="Tahoma"/>
              </a:rPr>
              <a:t>let</a:t>
            </a:r>
            <a:r>
              <a:rPr sz="1800" spc="-15" dirty="0">
                <a:solidFill>
                  <a:srgbClr val="212121"/>
                </a:solidFill>
                <a:latin typeface="Tahoma"/>
                <a:cs typeface="Tahoma"/>
              </a:rPr>
              <a:t> </a:t>
            </a:r>
            <a:r>
              <a:rPr sz="1800" dirty="0">
                <a:solidFill>
                  <a:srgbClr val="212121"/>
                </a:solidFill>
                <a:latin typeface="Tahoma"/>
                <a:cs typeface="Tahoma"/>
              </a:rPr>
              <a:t>it</a:t>
            </a:r>
            <a:r>
              <a:rPr sz="1800" spc="-25" dirty="0">
                <a:solidFill>
                  <a:srgbClr val="212121"/>
                </a:solidFill>
                <a:latin typeface="Tahoma"/>
                <a:cs typeface="Tahoma"/>
              </a:rPr>
              <a:t> </a:t>
            </a:r>
            <a:r>
              <a:rPr sz="1800" dirty="0">
                <a:solidFill>
                  <a:srgbClr val="212121"/>
                </a:solidFill>
                <a:latin typeface="Tahoma"/>
                <a:cs typeface="Tahoma"/>
              </a:rPr>
              <a:t>predict</a:t>
            </a:r>
            <a:r>
              <a:rPr sz="1800" spc="-25" dirty="0">
                <a:solidFill>
                  <a:srgbClr val="212121"/>
                </a:solidFill>
                <a:latin typeface="Tahoma"/>
                <a:cs typeface="Tahoma"/>
              </a:rPr>
              <a:t> </a:t>
            </a:r>
            <a:r>
              <a:rPr sz="1800" dirty="0">
                <a:solidFill>
                  <a:srgbClr val="212121"/>
                </a:solidFill>
                <a:latin typeface="Tahoma"/>
                <a:cs typeface="Tahoma"/>
              </a:rPr>
              <a:t>what</a:t>
            </a:r>
            <a:r>
              <a:rPr sz="1800" spc="-40" dirty="0">
                <a:solidFill>
                  <a:srgbClr val="212121"/>
                </a:solidFill>
                <a:latin typeface="Tahoma"/>
                <a:cs typeface="Tahoma"/>
              </a:rPr>
              <a:t> </a:t>
            </a:r>
            <a:r>
              <a:rPr sz="1800" dirty="0">
                <a:solidFill>
                  <a:srgbClr val="212121"/>
                </a:solidFill>
                <a:latin typeface="Tahoma"/>
                <a:cs typeface="Tahoma"/>
              </a:rPr>
              <a:t>would</a:t>
            </a:r>
            <a:r>
              <a:rPr sz="1800" spc="-40" dirty="0">
                <a:solidFill>
                  <a:srgbClr val="212121"/>
                </a:solidFill>
                <a:latin typeface="Tahoma"/>
                <a:cs typeface="Tahoma"/>
              </a:rPr>
              <a:t> </a:t>
            </a:r>
            <a:r>
              <a:rPr sz="1800" dirty="0">
                <a:solidFill>
                  <a:srgbClr val="212121"/>
                </a:solidFill>
                <a:latin typeface="Tahoma"/>
                <a:cs typeface="Tahoma"/>
              </a:rPr>
              <a:t>occur</a:t>
            </a:r>
            <a:r>
              <a:rPr sz="1800" spc="-50" dirty="0">
                <a:solidFill>
                  <a:srgbClr val="212121"/>
                </a:solidFill>
                <a:latin typeface="Tahoma"/>
                <a:cs typeface="Tahoma"/>
              </a:rPr>
              <a:t> </a:t>
            </a:r>
            <a:r>
              <a:rPr sz="1800" spc="-20" dirty="0">
                <a:solidFill>
                  <a:srgbClr val="212121"/>
                </a:solidFill>
                <a:latin typeface="Tahoma"/>
                <a:cs typeface="Tahoma"/>
              </a:rPr>
              <a:t>next</a:t>
            </a:r>
            <a:endParaRPr sz="1800">
              <a:latin typeface="Tahoma"/>
              <a:cs typeface="Tahoma"/>
            </a:endParaRPr>
          </a:p>
        </p:txBody>
      </p:sp>
      <p:pic>
        <p:nvPicPr>
          <p:cNvPr id="3" name="object 3"/>
          <p:cNvPicPr/>
          <p:nvPr/>
        </p:nvPicPr>
        <p:blipFill>
          <a:blip r:embed="rId2" cstate="print"/>
          <a:stretch>
            <a:fillRect/>
          </a:stretch>
        </p:blipFill>
        <p:spPr>
          <a:xfrm>
            <a:off x="3783343" y="1031204"/>
            <a:ext cx="3137941" cy="412171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025" rIns="0" bIns="0" rtlCol="0">
            <a:spAutoFit/>
          </a:bodyPr>
          <a:lstStyle/>
          <a:p>
            <a:pPr marL="12700" marR="5080">
              <a:lnSpc>
                <a:spcPts val="3410"/>
              </a:lnSpc>
              <a:spcBef>
                <a:spcPts val="575"/>
              </a:spcBef>
            </a:pPr>
            <a:r>
              <a:rPr b="1" spc="-275" dirty="0">
                <a:solidFill>
                  <a:srgbClr val="212121"/>
                </a:solidFill>
                <a:latin typeface="Tahoma"/>
                <a:cs typeface="Tahoma"/>
              </a:rPr>
              <a:t>Increasing</a:t>
            </a:r>
            <a:r>
              <a:rPr b="1" spc="-190" dirty="0">
                <a:solidFill>
                  <a:srgbClr val="212121"/>
                </a:solidFill>
                <a:latin typeface="Tahoma"/>
                <a:cs typeface="Tahoma"/>
              </a:rPr>
              <a:t> </a:t>
            </a:r>
            <a:r>
              <a:rPr b="1" spc="-200" dirty="0">
                <a:solidFill>
                  <a:srgbClr val="212121"/>
                </a:solidFill>
                <a:latin typeface="Tahoma"/>
                <a:cs typeface="Tahoma"/>
              </a:rPr>
              <a:t>Resolution</a:t>
            </a:r>
            <a:r>
              <a:rPr b="1" spc="-165" dirty="0">
                <a:solidFill>
                  <a:srgbClr val="212121"/>
                </a:solidFill>
                <a:latin typeface="Tahoma"/>
                <a:cs typeface="Tahoma"/>
              </a:rPr>
              <a:t> </a:t>
            </a:r>
            <a:r>
              <a:rPr b="1" spc="-114" dirty="0">
                <a:solidFill>
                  <a:srgbClr val="212121"/>
                </a:solidFill>
                <a:latin typeface="Tahoma"/>
                <a:cs typeface="Tahoma"/>
              </a:rPr>
              <a:t>of</a:t>
            </a:r>
            <a:r>
              <a:rPr b="1" spc="-135" dirty="0">
                <a:solidFill>
                  <a:srgbClr val="212121"/>
                </a:solidFill>
                <a:latin typeface="Tahoma"/>
                <a:cs typeface="Tahoma"/>
              </a:rPr>
              <a:t> </a:t>
            </a:r>
            <a:r>
              <a:rPr b="1" spc="-280" dirty="0">
                <a:solidFill>
                  <a:srgbClr val="212121"/>
                </a:solidFill>
                <a:latin typeface="Tahoma"/>
                <a:cs typeface="Tahoma"/>
              </a:rPr>
              <a:t>an</a:t>
            </a:r>
            <a:r>
              <a:rPr b="1" spc="-165" dirty="0">
                <a:solidFill>
                  <a:srgbClr val="212121"/>
                </a:solidFill>
                <a:latin typeface="Tahoma"/>
                <a:cs typeface="Tahoma"/>
              </a:rPr>
              <a:t> </a:t>
            </a:r>
            <a:r>
              <a:rPr b="1" spc="-280" dirty="0">
                <a:solidFill>
                  <a:srgbClr val="212121"/>
                </a:solidFill>
                <a:latin typeface="Tahoma"/>
                <a:cs typeface="Tahoma"/>
              </a:rPr>
              <a:t>image</a:t>
            </a:r>
            <a:r>
              <a:rPr b="1" spc="-100" dirty="0">
                <a:solidFill>
                  <a:srgbClr val="212121"/>
                </a:solidFill>
                <a:latin typeface="Tahoma"/>
                <a:cs typeface="Tahoma"/>
              </a:rPr>
              <a:t> </a:t>
            </a:r>
            <a:r>
              <a:rPr spc="-345" dirty="0">
                <a:solidFill>
                  <a:srgbClr val="212121"/>
                </a:solidFill>
                <a:latin typeface="Tahoma"/>
                <a:cs typeface="Tahoma"/>
              </a:rPr>
              <a:t>:</a:t>
            </a:r>
            <a:r>
              <a:rPr spc="-155" dirty="0">
                <a:solidFill>
                  <a:srgbClr val="212121"/>
                </a:solidFill>
                <a:latin typeface="Tahoma"/>
                <a:cs typeface="Tahoma"/>
              </a:rPr>
              <a:t> </a:t>
            </a:r>
            <a:r>
              <a:rPr dirty="0">
                <a:solidFill>
                  <a:srgbClr val="212121"/>
                </a:solidFill>
                <a:latin typeface="Tahoma"/>
                <a:cs typeface="Tahoma"/>
              </a:rPr>
              <a:t>Generate</a:t>
            </a:r>
            <a:r>
              <a:rPr spc="-180" dirty="0">
                <a:solidFill>
                  <a:srgbClr val="212121"/>
                </a:solidFill>
                <a:latin typeface="Tahoma"/>
                <a:cs typeface="Tahoma"/>
              </a:rPr>
              <a:t> </a:t>
            </a:r>
            <a:r>
              <a:rPr spc="-90" dirty="0">
                <a:solidFill>
                  <a:srgbClr val="212121"/>
                </a:solidFill>
                <a:latin typeface="Tahoma"/>
                <a:cs typeface="Tahoma"/>
              </a:rPr>
              <a:t>a</a:t>
            </a:r>
            <a:r>
              <a:rPr spc="-160" dirty="0">
                <a:solidFill>
                  <a:srgbClr val="212121"/>
                </a:solidFill>
                <a:latin typeface="Tahoma"/>
                <a:cs typeface="Tahoma"/>
              </a:rPr>
              <a:t> </a:t>
            </a:r>
            <a:r>
              <a:rPr spc="-20" dirty="0">
                <a:solidFill>
                  <a:srgbClr val="212121"/>
                </a:solidFill>
                <a:latin typeface="Tahoma"/>
                <a:cs typeface="Tahoma"/>
              </a:rPr>
              <a:t>high </a:t>
            </a:r>
            <a:r>
              <a:rPr dirty="0">
                <a:solidFill>
                  <a:srgbClr val="212121"/>
                </a:solidFill>
                <a:latin typeface="Tahoma"/>
                <a:cs typeface="Tahoma"/>
              </a:rPr>
              <a:t>resolution</a:t>
            </a:r>
            <a:r>
              <a:rPr spc="-105" dirty="0">
                <a:solidFill>
                  <a:srgbClr val="212121"/>
                </a:solidFill>
                <a:latin typeface="Tahoma"/>
                <a:cs typeface="Tahoma"/>
              </a:rPr>
              <a:t> </a:t>
            </a:r>
            <a:r>
              <a:rPr dirty="0">
                <a:solidFill>
                  <a:srgbClr val="212121"/>
                </a:solidFill>
                <a:latin typeface="Tahoma"/>
                <a:cs typeface="Tahoma"/>
              </a:rPr>
              <a:t>photo</a:t>
            </a:r>
            <a:r>
              <a:rPr spc="-100" dirty="0">
                <a:solidFill>
                  <a:srgbClr val="212121"/>
                </a:solidFill>
                <a:latin typeface="Tahoma"/>
                <a:cs typeface="Tahoma"/>
              </a:rPr>
              <a:t> </a:t>
            </a:r>
            <a:r>
              <a:rPr dirty="0">
                <a:solidFill>
                  <a:srgbClr val="212121"/>
                </a:solidFill>
                <a:latin typeface="Tahoma"/>
                <a:cs typeface="Tahoma"/>
              </a:rPr>
              <a:t>from</a:t>
            </a:r>
            <a:r>
              <a:rPr spc="-75" dirty="0">
                <a:solidFill>
                  <a:srgbClr val="212121"/>
                </a:solidFill>
                <a:latin typeface="Tahoma"/>
                <a:cs typeface="Tahoma"/>
              </a:rPr>
              <a:t> </a:t>
            </a:r>
            <a:r>
              <a:rPr spc="-90" dirty="0">
                <a:solidFill>
                  <a:srgbClr val="212121"/>
                </a:solidFill>
                <a:latin typeface="Tahoma"/>
                <a:cs typeface="Tahoma"/>
              </a:rPr>
              <a:t>a</a:t>
            </a:r>
            <a:r>
              <a:rPr spc="-65" dirty="0">
                <a:solidFill>
                  <a:srgbClr val="212121"/>
                </a:solidFill>
                <a:latin typeface="Tahoma"/>
                <a:cs typeface="Tahoma"/>
              </a:rPr>
              <a:t> </a:t>
            </a:r>
            <a:r>
              <a:rPr dirty="0">
                <a:solidFill>
                  <a:srgbClr val="212121"/>
                </a:solidFill>
                <a:latin typeface="Tahoma"/>
                <a:cs typeface="Tahoma"/>
              </a:rPr>
              <a:t>comparatively</a:t>
            </a:r>
            <a:r>
              <a:rPr spc="-100" dirty="0">
                <a:solidFill>
                  <a:srgbClr val="212121"/>
                </a:solidFill>
                <a:latin typeface="Tahoma"/>
                <a:cs typeface="Tahoma"/>
              </a:rPr>
              <a:t> </a:t>
            </a:r>
            <a:r>
              <a:rPr spc="60" dirty="0">
                <a:solidFill>
                  <a:srgbClr val="212121"/>
                </a:solidFill>
                <a:latin typeface="Tahoma"/>
                <a:cs typeface="Tahoma"/>
              </a:rPr>
              <a:t>low</a:t>
            </a:r>
            <a:r>
              <a:rPr spc="-110" dirty="0">
                <a:solidFill>
                  <a:srgbClr val="212121"/>
                </a:solidFill>
                <a:latin typeface="Tahoma"/>
                <a:cs typeface="Tahoma"/>
              </a:rPr>
              <a:t> </a:t>
            </a:r>
            <a:r>
              <a:rPr spc="-10" dirty="0">
                <a:solidFill>
                  <a:srgbClr val="212121"/>
                </a:solidFill>
                <a:latin typeface="Tahoma"/>
                <a:cs typeface="Tahoma"/>
              </a:rPr>
              <a:t>resolution.</a:t>
            </a:r>
          </a:p>
        </p:txBody>
      </p:sp>
      <p:pic>
        <p:nvPicPr>
          <p:cNvPr id="3" name="object 3"/>
          <p:cNvPicPr/>
          <p:nvPr/>
        </p:nvPicPr>
        <p:blipFill>
          <a:blip r:embed="rId2" cstate="print"/>
          <a:stretch>
            <a:fillRect/>
          </a:stretch>
        </p:blipFill>
        <p:spPr>
          <a:xfrm>
            <a:off x="2004467" y="1590990"/>
            <a:ext cx="8040170" cy="38093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025" rIns="0" bIns="0" rtlCol="0">
            <a:spAutoFit/>
          </a:bodyPr>
          <a:lstStyle/>
          <a:p>
            <a:pPr marL="12700" marR="5080">
              <a:lnSpc>
                <a:spcPts val="3410"/>
              </a:lnSpc>
              <a:spcBef>
                <a:spcPts val="575"/>
              </a:spcBef>
            </a:pPr>
            <a:r>
              <a:rPr b="1" spc="-235" dirty="0">
                <a:solidFill>
                  <a:srgbClr val="212121"/>
                </a:solidFill>
                <a:latin typeface="Tahoma"/>
                <a:cs typeface="Tahoma"/>
              </a:rPr>
              <a:t>Interactive</a:t>
            </a:r>
            <a:r>
              <a:rPr b="1" spc="-200" dirty="0">
                <a:solidFill>
                  <a:srgbClr val="212121"/>
                </a:solidFill>
                <a:latin typeface="Tahoma"/>
                <a:cs typeface="Tahoma"/>
              </a:rPr>
              <a:t> </a:t>
            </a:r>
            <a:r>
              <a:rPr b="1" spc="-355" dirty="0">
                <a:solidFill>
                  <a:srgbClr val="212121"/>
                </a:solidFill>
                <a:latin typeface="Tahoma"/>
                <a:cs typeface="Tahoma"/>
              </a:rPr>
              <a:t>Image</a:t>
            </a:r>
            <a:r>
              <a:rPr b="1" spc="-185" dirty="0">
                <a:solidFill>
                  <a:srgbClr val="212121"/>
                </a:solidFill>
                <a:latin typeface="Tahoma"/>
                <a:cs typeface="Tahoma"/>
              </a:rPr>
              <a:t> </a:t>
            </a:r>
            <a:r>
              <a:rPr b="1" spc="-190" dirty="0">
                <a:solidFill>
                  <a:srgbClr val="212121"/>
                </a:solidFill>
                <a:latin typeface="Tahoma"/>
                <a:cs typeface="Tahoma"/>
              </a:rPr>
              <a:t>Generation</a:t>
            </a:r>
            <a:r>
              <a:rPr b="1" spc="-140" dirty="0">
                <a:solidFill>
                  <a:srgbClr val="212121"/>
                </a:solidFill>
                <a:latin typeface="Tahoma"/>
                <a:cs typeface="Tahoma"/>
              </a:rPr>
              <a:t> </a:t>
            </a:r>
            <a:r>
              <a:rPr spc="-345" dirty="0">
                <a:solidFill>
                  <a:srgbClr val="212121"/>
                </a:solidFill>
                <a:latin typeface="Tahoma"/>
                <a:cs typeface="Tahoma"/>
              </a:rPr>
              <a:t>:</a:t>
            </a:r>
            <a:r>
              <a:rPr spc="-155" dirty="0">
                <a:solidFill>
                  <a:srgbClr val="212121"/>
                </a:solidFill>
                <a:latin typeface="Tahoma"/>
                <a:cs typeface="Tahoma"/>
              </a:rPr>
              <a:t> </a:t>
            </a:r>
            <a:r>
              <a:rPr spc="70" dirty="0">
                <a:solidFill>
                  <a:srgbClr val="212121"/>
                </a:solidFill>
                <a:latin typeface="Tahoma"/>
                <a:cs typeface="Tahoma"/>
              </a:rPr>
              <a:t>Draw</a:t>
            </a:r>
            <a:r>
              <a:rPr spc="-180" dirty="0">
                <a:solidFill>
                  <a:srgbClr val="212121"/>
                </a:solidFill>
                <a:latin typeface="Tahoma"/>
                <a:cs typeface="Tahoma"/>
              </a:rPr>
              <a:t> </a:t>
            </a:r>
            <a:r>
              <a:rPr dirty="0">
                <a:solidFill>
                  <a:srgbClr val="212121"/>
                </a:solidFill>
                <a:latin typeface="Tahoma"/>
                <a:cs typeface="Tahoma"/>
              </a:rPr>
              <a:t>simple</a:t>
            </a:r>
            <a:r>
              <a:rPr spc="-185" dirty="0">
                <a:solidFill>
                  <a:srgbClr val="212121"/>
                </a:solidFill>
                <a:latin typeface="Tahoma"/>
                <a:cs typeface="Tahoma"/>
              </a:rPr>
              <a:t> </a:t>
            </a:r>
            <a:r>
              <a:rPr dirty="0">
                <a:solidFill>
                  <a:srgbClr val="212121"/>
                </a:solidFill>
                <a:latin typeface="Tahoma"/>
                <a:cs typeface="Tahoma"/>
              </a:rPr>
              <a:t>strokes</a:t>
            </a:r>
            <a:r>
              <a:rPr spc="-165" dirty="0">
                <a:solidFill>
                  <a:srgbClr val="212121"/>
                </a:solidFill>
                <a:latin typeface="Tahoma"/>
                <a:cs typeface="Tahoma"/>
              </a:rPr>
              <a:t> </a:t>
            </a:r>
            <a:r>
              <a:rPr spc="-20" dirty="0">
                <a:solidFill>
                  <a:srgbClr val="212121"/>
                </a:solidFill>
                <a:latin typeface="Tahoma"/>
                <a:cs typeface="Tahoma"/>
              </a:rPr>
              <a:t>and</a:t>
            </a:r>
            <a:r>
              <a:rPr spc="-165" dirty="0">
                <a:solidFill>
                  <a:srgbClr val="212121"/>
                </a:solidFill>
                <a:latin typeface="Tahoma"/>
                <a:cs typeface="Tahoma"/>
              </a:rPr>
              <a:t> </a:t>
            </a:r>
            <a:r>
              <a:rPr spc="-25" dirty="0">
                <a:solidFill>
                  <a:srgbClr val="212121"/>
                </a:solidFill>
                <a:latin typeface="Tahoma"/>
                <a:cs typeface="Tahoma"/>
              </a:rPr>
              <a:t>let </a:t>
            </a:r>
            <a:r>
              <a:rPr dirty="0">
                <a:solidFill>
                  <a:srgbClr val="212121"/>
                </a:solidFill>
                <a:latin typeface="Tahoma"/>
                <a:cs typeface="Tahoma"/>
              </a:rPr>
              <a:t>the</a:t>
            </a:r>
            <a:r>
              <a:rPr spc="-130" dirty="0">
                <a:solidFill>
                  <a:srgbClr val="212121"/>
                </a:solidFill>
                <a:latin typeface="Tahoma"/>
                <a:cs typeface="Tahoma"/>
              </a:rPr>
              <a:t> </a:t>
            </a:r>
            <a:r>
              <a:rPr spc="245" dirty="0">
                <a:solidFill>
                  <a:srgbClr val="212121"/>
                </a:solidFill>
                <a:latin typeface="Tahoma"/>
                <a:cs typeface="Tahoma"/>
              </a:rPr>
              <a:t>GAN</a:t>
            </a:r>
            <a:r>
              <a:rPr spc="-150" dirty="0">
                <a:solidFill>
                  <a:srgbClr val="212121"/>
                </a:solidFill>
                <a:latin typeface="Tahoma"/>
                <a:cs typeface="Tahoma"/>
              </a:rPr>
              <a:t> </a:t>
            </a:r>
            <a:r>
              <a:rPr dirty="0">
                <a:solidFill>
                  <a:srgbClr val="212121"/>
                </a:solidFill>
                <a:latin typeface="Tahoma"/>
                <a:cs typeface="Tahoma"/>
              </a:rPr>
              <a:t>draw</a:t>
            </a:r>
            <a:r>
              <a:rPr spc="-150" dirty="0">
                <a:solidFill>
                  <a:srgbClr val="212121"/>
                </a:solidFill>
                <a:latin typeface="Tahoma"/>
                <a:cs typeface="Tahoma"/>
              </a:rPr>
              <a:t> </a:t>
            </a:r>
            <a:r>
              <a:rPr spc="-35" dirty="0">
                <a:solidFill>
                  <a:srgbClr val="212121"/>
                </a:solidFill>
                <a:latin typeface="Tahoma"/>
                <a:cs typeface="Tahoma"/>
              </a:rPr>
              <a:t>an</a:t>
            </a:r>
            <a:r>
              <a:rPr spc="-130" dirty="0">
                <a:solidFill>
                  <a:srgbClr val="212121"/>
                </a:solidFill>
                <a:latin typeface="Tahoma"/>
                <a:cs typeface="Tahoma"/>
              </a:rPr>
              <a:t> </a:t>
            </a:r>
            <a:r>
              <a:rPr spc="-10" dirty="0">
                <a:solidFill>
                  <a:srgbClr val="212121"/>
                </a:solidFill>
                <a:latin typeface="Tahoma"/>
                <a:cs typeface="Tahoma"/>
              </a:rPr>
              <a:t>impressive</a:t>
            </a:r>
            <a:r>
              <a:rPr spc="-160" dirty="0">
                <a:solidFill>
                  <a:srgbClr val="212121"/>
                </a:solidFill>
                <a:latin typeface="Tahoma"/>
                <a:cs typeface="Tahoma"/>
              </a:rPr>
              <a:t> </a:t>
            </a:r>
            <a:r>
              <a:rPr dirty="0">
                <a:solidFill>
                  <a:srgbClr val="212121"/>
                </a:solidFill>
                <a:latin typeface="Tahoma"/>
                <a:cs typeface="Tahoma"/>
              </a:rPr>
              <a:t>picture</a:t>
            </a:r>
            <a:r>
              <a:rPr spc="-165" dirty="0">
                <a:solidFill>
                  <a:srgbClr val="212121"/>
                </a:solidFill>
                <a:latin typeface="Tahoma"/>
                <a:cs typeface="Tahoma"/>
              </a:rPr>
              <a:t> </a:t>
            </a:r>
            <a:r>
              <a:rPr spc="50" dirty="0">
                <a:solidFill>
                  <a:srgbClr val="212121"/>
                </a:solidFill>
                <a:latin typeface="Tahoma"/>
                <a:cs typeface="Tahoma"/>
              </a:rPr>
              <a:t>for</a:t>
            </a:r>
            <a:r>
              <a:rPr spc="-130" dirty="0">
                <a:solidFill>
                  <a:srgbClr val="212121"/>
                </a:solidFill>
                <a:latin typeface="Tahoma"/>
                <a:cs typeface="Tahoma"/>
              </a:rPr>
              <a:t> </a:t>
            </a:r>
            <a:r>
              <a:rPr spc="-20" dirty="0">
                <a:solidFill>
                  <a:srgbClr val="212121"/>
                </a:solidFill>
                <a:latin typeface="Tahoma"/>
                <a:cs typeface="Tahoma"/>
              </a:rPr>
              <a:t>you!</a:t>
            </a:r>
          </a:p>
        </p:txBody>
      </p:sp>
      <p:pic>
        <p:nvPicPr>
          <p:cNvPr id="3" name="object 3"/>
          <p:cNvPicPr/>
          <p:nvPr/>
        </p:nvPicPr>
        <p:blipFill>
          <a:blip r:embed="rId2" cstate="print"/>
          <a:stretch>
            <a:fillRect/>
          </a:stretch>
        </p:blipFill>
        <p:spPr>
          <a:xfrm>
            <a:off x="3432047" y="1467611"/>
            <a:ext cx="5632704" cy="45780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287782"/>
            <a:ext cx="4937760" cy="513715"/>
          </a:xfrm>
          <a:prstGeom prst="rect">
            <a:avLst/>
          </a:prstGeom>
        </p:spPr>
        <p:txBody>
          <a:bodyPr vert="horz" wrap="square" lIns="0" tIns="12700" rIns="0" bIns="0" rtlCol="0">
            <a:spAutoFit/>
          </a:bodyPr>
          <a:lstStyle/>
          <a:p>
            <a:pPr marL="12700">
              <a:lnSpc>
                <a:spcPct val="100000"/>
              </a:lnSpc>
              <a:spcBef>
                <a:spcPts val="100"/>
              </a:spcBef>
            </a:pPr>
            <a:r>
              <a:rPr b="1" spc="-355" dirty="0">
                <a:solidFill>
                  <a:srgbClr val="212121"/>
                </a:solidFill>
                <a:latin typeface="Tahoma"/>
                <a:cs typeface="Tahoma"/>
              </a:rPr>
              <a:t>Image</a:t>
            </a:r>
            <a:r>
              <a:rPr b="1" spc="-180" dirty="0">
                <a:solidFill>
                  <a:srgbClr val="212121"/>
                </a:solidFill>
                <a:latin typeface="Tahoma"/>
                <a:cs typeface="Tahoma"/>
              </a:rPr>
              <a:t> </a:t>
            </a:r>
            <a:r>
              <a:rPr b="1" spc="-155" dirty="0">
                <a:solidFill>
                  <a:srgbClr val="212121"/>
                </a:solidFill>
                <a:latin typeface="Tahoma"/>
                <a:cs typeface="Tahoma"/>
              </a:rPr>
              <a:t>to</a:t>
            </a:r>
            <a:r>
              <a:rPr b="1" spc="-165" dirty="0">
                <a:solidFill>
                  <a:srgbClr val="212121"/>
                </a:solidFill>
                <a:latin typeface="Tahoma"/>
                <a:cs typeface="Tahoma"/>
              </a:rPr>
              <a:t> </a:t>
            </a:r>
            <a:r>
              <a:rPr b="1" spc="-355" dirty="0">
                <a:solidFill>
                  <a:srgbClr val="212121"/>
                </a:solidFill>
                <a:latin typeface="Tahoma"/>
                <a:cs typeface="Tahoma"/>
              </a:rPr>
              <a:t>Image</a:t>
            </a:r>
            <a:r>
              <a:rPr b="1" spc="-170" dirty="0">
                <a:solidFill>
                  <a:srgbClr val="212121"/>
                </a:solidFill>
                <a:latin typeface="Tahoma"/>
                <a:cs typeface="Tahoma"/>
              </a:rPr>
              <a:t> </a:t>
            </a:r>
            <a:r>
              <a:rPr b="1" spc="-190" dirty="0">
                <a:solidFill>
                  <a:srgbClr val="212121"/>
                </a:solidFill>
                <a:latin typeface="Tahoma"/>
                <a:cs typeface="Tahoma"/>
              </a:rPr>
              <a:t>Translation</a:t>
            </a:r>
          </a:p>
        </p:txBody>
      </p:sp>
      <p:sp>
        <p:nvSpPr>
          <p:cNvPr id="3" name="object 3"/>
          <p:cNvSpPr txBox="1"/>
          <p:nvPr/>
        </p:nvSpPr>
        <p:spPr>
          <a:xfrm>
            <a:off x="746335" y="914400"/>
            <a:ext cx="8585835" cy="1114425"/>
          </a:xfrm>
          <a:prstGeom prst="rect">
            <a:avLst/>
          </a:prstGeom>
        </p:spPr>
        <p:txBody>
          <a:bodyPr vert="horz" wrap="square" lIns="0" tIns="15875" rIns="0" bIns="0" rtlCol="0">
            <a:spAutoFit/>
          </a:bodyPr>
          <a:lstStyle/>
          <a:p>
            <a:pPr marL="12700" marR="5080">
              <a:lnSpc>
                <a:spcPct val="98900"/>
              </a:lnSpc>
              <a:spcBef>
                <a:spcPts val="125"/>
              </a:spcBef>
            </a:pPr>
            <a:r>
              <a:rPr sz="1800" spc="-200" dirty="0">
                <a:solidFill>
                  <a:srgbClr val="212121"/>
                </a:solidFill>
                <a:latin typeface="Tahoma"/>
                <a:cs typeface="Tahoma"/>
              </a:rPr>
              <a:t>:</a:t>
            </a:r>
            <a:r>
              <a:rPr sz="1800" spc="-70" dirty="0">
                <a:solidFill>
                  <a:srgbClr val="212121"/>
                </a:solidFill>
                <a:latin typeface="Tahoma"/>
                <a:cs typeface="Tahoma"/>
              </a:rPr>
              <a:t> </a:t>
            </a:r>
            <a:r>
              <a:rPr sz="1800" dirty="0">
                <a:solidFill>
                  <a:srgbClr val="212121"/>
                </a:solidFill>
                <a:latin typeface="Tahoma"/>
                <a:cs typeface="Tahoma"/>
              </a:rPr>
              <a:t>Generate</a:t>
            </a:r>
            <a:r>
              <a:rPr sz="1800" spc="-85" dirty="0">
                <a:solidFill>
                  <a:srgbClr val="212121"/>
                </a:solidFill>
                <a:latin typeface="Tahoma"/>
                <a:cs typeface="Tahoma"/>
              </a:rPr>
              <a:t> </a:t>
            </a:r>
            <a:r>
              <a:rPr sz="1800" spc="-30" dirty="0">
                <a:solidFill>
                  <a:srgbClr val="212121"/>
                </a:solidFill>
                <a:latin typeface="Tahoma"/>
                <a:cs typeface="Tahoma"/>
              </a:rPr>
              <a:t>an</a:t>
            </a:r>
            <a:r>
              <a:rPr sz="1800" spc="-65" dirty="0">
                <a:solidFill>
                  <a:srgbClr val="212121"/>
                </a:solidFill>
                <a:latin typeface="Tahoma"/>
                <a:cs typeface="Tahoma"/>
              </a:rPr>
              <a:t> </a:t>
            </a:r>
            <a:r>
              <a:rPr sz="1800" spc="-30" dirty="0">
                <a:solidFill>
                  <a:srgbClr val="212121"/>
                </a:solidFill>
                <a:latin typeface="Tahoma"/>
                <a:cs typeface="Tahoma"/>
              </a:rPr>
              <a:t>image</a:t>
            </a:r>
            <a:r>
              <a:rPr sz="1800" spc="-65" dirty="0">
                <a:solidFill>
                  <a:srgbClr val="212121"/>
                </a:solidFill>
                <a:latin typeface="Tahoma"/>
                <a:cs typeface="Tahoma"/>
              </a:rPr>
              <a:t> </a:t>
            </a:r>
            <a:r>
              <a:rPr sz="1800" dirty="0">
                <a:solidFill>
                  <a:srgbClr val="212121"/>
                </a:solidFill>
                <a:latin typeface="Tahoma"/>
                <a:cs typeface="Tahoma"/>
              </a:rPr>
              <a:t>from</a:t>
            </a:r>
            <a:r>
              <a:rPr sz="1800" spc="-90" dirty="0">
                <a:solidFill>
                  <a:srgbClr val="212121"/>
                </a:solidFill>
                <a:latin typeface="Tahoma"/>
                <a:cs typeface="Tahoma"/>
              </a:rPr>
              <a:t> </a:t>
            </a:r>
            <a:r>
              <a:rPr sz="1800" dirty="0">
                <a:solidFill>
                  <a:srgbClr val="212121"/>
                </a:solidFill>
                <a:latin typeface="Tahoma"/>
                <a:cs typeface="Tahoma"/>
              </a:rPr>
              <a:t>another</a:t>
            </a:r>
            <a:r>
              <a:rPr sz="1800" spc="-85" dirty="0">
                <a:solidFill>
                  <a:srgbClr val="212121"/>
                </a:solidFill>
                <a:latin typeface="Tahoma"/>
                <a:cs typeface="Tahoma"/>
              </a:rPr>
              <a:t> </a:t>
            </a:r>
            <a:r>
              <a:rPr sz="1800" spc="-55" dirty="0">
                <a:solidFill>
                  <a:srgbClr val="212121"/>
                </a:solidFill>
                <a:latin typeface="Tahoma"/>
                <a:cs typeface="Tahoma"/>
              </a:rPr>
              <a:t>image. </a:t>
            </a:r>
            <a:r>
              <a:rPr sz="1800" dirty="0">
                <a:solidFill>
                  <a:srgbClr val="212121"/>
                </a:solidFill>
                <a:latin typeface="Tahoma"/>
                <a:cs typeface="Tahoma"/>
              </a:rPr>
              <a:t>For</a:t>
            </a:r>
            <a:r>
              <a:rPr sz="1800" spc="-65" dirty="0">
                <a:solidFill>
                  <a:srgbClr val="212121"/>
                </a:solidFill>
                <a:latin typeface="Tahoma"/>
                <a:cs typeface="Tahoma"/>
              </a:rPr>
              <a:t> </a:t>
            </a:r>
            <a:r>
              <a:rPr sz="1800" spc="-30" dirty="0">
                <a:solidFill>
                  <a:srgbClr val="212121"/>
                </a:solidFill>
                <a:latin typeface="Tahoma"/>
                <a:cs typeface="Tahoma"/>
              </a:rPr>
              <a:t>example,</a:t>
            </a:r>
            <a:r>
              <a:rPr sz="1800" spc="-50" dirty="0">
                <a:solidFill>
                  <a:srgbClr val="212121"/>
                </a:solidFill>
                <a:latin typeface="Tahoma"/>
                <a:cs typeface="Tahoma"/>
              </a:rPr>
              <a:t> </a:t>
            </a:r>
            <a:r>
              <a:rPr sz="1800" spc="-10" dirty="0">
                <a:solidFill>
                  <a:srgbClr val="212121"/>
                </a:solidFill>
                <a:latin typeface="Tahoma"/>
                <a:cs typeface="Tahoma"/>
              </a:rPr>
              <a:t>given</a:t>
            </a:r>
            <a:r>
              <a:rPr sz="1800" spc="-70" dirty="0">
                <a:solidFill>
                  <a:srgbClr val="212121"/>
                </a:solidFill>
                <a:latin typeface="Tahoma"/>
                <a:cs typeface="Tahoma"/>
              </a:rPr>
              <a:t> </a:t>
            </a:r>
            <a:r>
              <a:rPr sz="1800" dirty="0">
                <a:solidFill>
                  <a:srgbClr val="212121"/>
                </a:solidFill>
                <a:latin typeface="Tahoma"/>
                <a:cs typeface="Tahoma"/>
              </a:rPr>
              <a:t>on</a:t>
            </a:r>
            <a:r>
              <a:rPr sz="1800" spc="-60" dirty="0">
                <a:solidFill>
                  <a:srgbClr val="212121"/>
                </a:solidFill>
                <a:latin typeface="Tahoma"/>
                <a:cs typeface="Tahoma"/>
              </a:rPr>
              <a:t> </a:t>
            </a:r>
            <a:r>
              <a:rPr sz="1800" dirty="0">
                <a:solidFill>
                  <a:srgbClr val="212121"/>
                </a:solidFill>
                <a:latin typeface="Tahoma"/>
                <a:cs typeface="Tahoma"/>
              </a:rPr>
              <a:t>the</a:t>
            </a:r>
            <a:r>
              <a:rPr sz="1800" spc="-70" dirty="0">
                <a:solidFill>
                  <a:srgbClr val="212121"/>
                </a:solidFill>
                <a:latin typeface="Tahoma"/>
                <a:cs typeface="Tahoma"/>
              </a:rPr>
              <a:t> </a:t>
            </a:r>
            <a:r>
              <a:rPr sz="1800" spc="-10" dirty="0">
                <a:solidFill>
                  <a:srgbClr val="212121"/>
                </a:solidFill>
                <a:latin typeface="Tahoma"/>
                <a:cs typeface="Tahoma"/>
              </a:rPr>
              <a:t>left,</a:t>
            </a:r>
            <a:r>
              <a:rPr sz="1800" spc="-55" dirty="0">
                <a:solidFill>
                  <a:srgbClr val="212121"/>
                </a:solidFill>
                <a:latin typeface="Tahoma"/>
                <a:cs typeface="Tahoma"/>
              </a:rPr>
              <a:t> </a:t>
            </a:r>
            <a:r>
              <a:rPr sz="1800" spc="-25" dirty="0">
                <a:solidFill>
                  <a:srgbClr val="212121"/>
                </a:solidFill>
                <a:latin typeface="Tahoma"/>
                <a:cs typeface="Tahoma"/>
              </a:rPr>
              <a:t>you </a:t>
            </a:r>
            <a:r>
              <a:rPr sz="1800" spc="-10" dirty="0">
                <a:solidFill>
                  <a:srgbClr val="212121"/>
                </a:solidFill>
                <a:latin typeface="Tahoma"/>
                <a:cs typeface="Tahoma"/>
              </a:rPr>
              <a:t>have</a:t>
            </a:r>
            <a:r>
              <a:rPr sz="1800" spc="-90" dirty="0">
                <a:solidFill>
                  <a:srgbClr val="212121"/>
                </a:solidFill>
                <a:latin typeface="Tahoma"/>
                <a:cs typeface="Tahoma"/>
              </a:rPr>
              <a:t> </a:t>
            </a:r>
            <a:r>
              <a:rPr sz="1800" spc="-10" dirty="0">
                <a:solidFill>
                  <a:srgbClr val="212121"/>
                </a:solidFill>
                <a:latin typeface="Tahoma"/>
                <a:cs typeface="Tahoma"/>
              </a:rPr>
              <a:t>labels</a:t>
            </a:r>
            <a:r>
              <a:rPr sz="1800" spc="-65" dirty="0">
                <a:solidFill>
                  <a:srgbClr val="212121"/>
                </a:solidFill>
                <a:latin typeface="Tahoma"/>
                <a:cs typeface="Tahoma"/>
              </a:rPr>
              <a:t> </a:t>
            </a:r>
            <a:r>
              <a:rPr sz="1800" dirty="0">
                <a:solidFill>
                  <a:srgbClr val="212121"/>
                </a:solidFill>
                <a:latin typeface="Tahoma"/>
                <a:cs typeface="Tahoma"/>
              </a:rPr>
              <a:t>of</a:t>
            </a:r>
            <a:r>
              <a:rPr sz="1800" spc="-80" dirty="0">
                <a:solidFill>
                  <a:srgbClr val="212121"/>
                </a:solidFill>
                <a:latin typeface="Tahoma"/>
                <a:cs typeface="Tahoma"/>
              </a:rPr>
              <a:t> </a:t>
            </a:r>
            <a:r>
              <a:rPr sz="1800" spc="-65" dirty="0">
                <a:solidFill>
                  <a:srgbClr val="212121"/>
                </a:solidFill>
                <a:latin typeface="Tahoma"/>
                <a:cs typeface="Tahoma"/>
              </a:rPr>
              <a:t>a</a:t>
            </a:r>
            <a:r>
              <a:rPr sz="1800" spc="-85" dirty="0">
                <a:solidFill>
                  <a:srgbClr val="212121"/>
                </a:solidFill>
                <a:latin typeface="Tahoma"/>
                <a:cs typeface="Tahoma"/>
              </a:rPr>
              <a:t> </a:t>
            </a:r>
            <a:r>
              <a:rPr sz="1800" dirty="0">
                <a:solidFill>
                  <a:srgbClr val="212121"/>
                </a:solidFill>
                <a:latin typeface="Tahoma"/>
                <a:cs typeface="Tahoma"/>
              </a:rPr>
              <a:t>street</a:t>
            </a:r>
            <a:r>
              <a:rPr sz="1800" spc="-85" dirty="0">
                <a:solidFill>
                  <a:srgbClr val="212121"/>
                </a:solidFill>
                <a:latin typeface="Tahoma"/>
                <a:cs typeface="Tahoma"/>
              </a:rPr>
              <a:t> </a:t>
            </a:r>
            <a:r>
              <a:rPr sz="1800" dirty="0">
                <a:solidFill>
                  <a:srgbClr val="212121"/>
                </a:solidFill>
                <a:latin typeface="Tahoma"/>
                <a:cs typeface="Tahoma"/>
              </a:rPr>
              <a:t>scene</a:t>
            </a:r>
            <a:r>
              <a:rPr sz="1800" spc="-85" dirty="0">
                <a:solidFill>
                  <a:srgbClr val="212121"/>
                </a:solidFill>
                <a:latin typeface="Tahoma"/>
                <a:cs typeface="Tahoma"/>
              </a:rPr>
              <a:t> </a:t>
            </a:r>
            <a:r>
              <a:rPr sz="1800" spc="-10" dirty="0">
                <a:solidFill>
                  <a:srgbClr val="212121"/>
                </a:solidFill>
                <a:latin typeface="Tahoma"/>
                <a:cs typeface="Tahoma"/>
              </a:rPr>
              <a:t>and</a:t>
            </a:r>
            <a:r>
              <a:rPr sz="1800" spc="-85" dirty="0">
                <a:solidFill>
                  <a:srgbClr val="212121"/>
                </a:solidFill>
                <a:latin typeface="Tahoma"/>
                <a:cs typeface="Tahoma"/>
              </a:rPr>
              <a:t> </a:t>
            </a:r>
            <a:r>
              <a:rPr sz="1800" dirty="0">
                <a:solidFill>
                  <a:srgbClr val="212121"/>
                </a:solidFill>
                <a:latin typeface="Tahoma"/>
                <a:cs typeface="Tahoma"/>
              </a:rPr>
              <a:t>you</a:t>
            </a:r>
            <a:r>
              <a:rPr sz="1800" spc="-80" dirty="0">
                <a:solidFill>
                  <a:srgbClr val="212121"/>
                </a:solidFill>
                <a:latin typeface="Tahoma"/>
                <a:cs typeface="Tahoma"/>
              </a:rPr>
              <a:t> </a:t>
            </a:r>
            <a:r>
              <a:rPr sz="1800" dirty="0">
                <a:solidFill>
                  <a:srgbClr val="212121"/>
                </a:solidFill>
                <a:latin typeface="Tahoma"/>
                <a:cs typeface="Tahoma"/>
              </a:rPr>
              <a:t>can</a:t>
            </a:r>
            <a:r>
              <a:rPr sz="1800" spc="-80" dirty="0">
                <a:solidFill>
                  <a:srgbClr val="212121"/>
                </a:solidFill>
                <a:latin typeface="Tahoma"/>
                <a:cs typeface="Tahoma"/>
              </a:rPr>
              <a:t> </a:t>
            </a:r>
            <a:r>
              <a:rPr sz="1800" spc="-10" dirty="0">
                <a:solidFill>
                  <a:srgbClr val="212121"/>
                </a:solidFill>
                <a:latin typeface="Tahoma"/>
                <a:cs typeface="Tahoma"/>
              </a:rPr>
              <a:t>generate</a:t>
            </a:r>
            <a:r>
              <a:rPr sz="1800" spc="-90" dirty="0">
                <a:solidFill>
                  <a:srgbClr val="212121"/>
                </a:solidFill>
                <a:latin typeface="Tahoma"/>
                <a:cs typeface="Tahoma"/>
              </a:rPr>
              <a:t> </a:t>
            </a:r>
            <a:r>
              <a:rPr sz="1800" spc="-60" dirty="0">
                <a:solidFill>
                  <a:srgbClr val="212121"/>
                </a:solidFill>
                <a:latin typeface="Tahoma"/>
                <a:cs typeface="Tahoma"/>
              </a:rPr>
              <a:t>a</a:t>
            </a:r>
            <a:r>
              <a:rPr sz="1800" spc="-70" dirty="0">
                <a:solidFill>
                  <a:srgbClr val="212121"/>
                </a:solidFill>
                <a:latin typeface="Tahoma"/>
                <a:cs typeface="Tahoma"/>
              </a:rPr>
              <a:t> </a:t>
            </a:r>
            <a:r>
              <a:rPr sz="1800" spc="-10" dirty="0">
                <a:solidFill>
                  <a:srgbClr val="212121"/>
                </a:solidFill>
                <a:latin typeface="Tahoma"/>
                <a:cs typeface="Tahoma"/>
              </a:rPr>
              <a:t>real</a:t>
            </a:r>
            <a:r>
              <a:rPr sz="1800" spc="-90" dirty="0">
                <a:solidFill>
                  <a:srgbClr val="212121"/>
                </a:solidFill>
                <a:latin typeface="Tahoma"/>
                <a:cs typeface="Tahoma"/>
              </a:rPr>
              <a:t> </a:t>
            </a:r>
            <a:r>
              <a:rPr sz="1800" dirty="0">
                <a:solidFill>
                  <a:srgbClr val="212121"/>
                </a:solidFill>
                <a:latin typeface="Tahoma"/>
                <a:cs typeface="Tahoma"/>
              </a:rPr>
              <a:t>looking</a:t>
            </a:r>
            <a:r>
              <a:rPr sz="1800" spc="-65" dirty="0">
                <a:solidFill>
                  <a:srgbClr val="212121"/>
                </a:solidFill>
                <a:latin typeface="Tahoma"/>
                <a:cs typeface="Tahoma"/>
              </a:rPr>
              <a:t> </a:t>
            </a:r>
            <a:r>
              <a:rPr sz="1800" dirty="0">
                <a:solidFill>
                  <a:srgbClr val="212121"/>
                </a:solidFill>
                <a:latin typeface="Tahoma"/>
                <a:cs typeface="Tahoma"/>
              </a:rPr>
              <a:t>photo</a:t>
            </a:r>
            <a:r>
              <a:rPr sz="1800" spc="-70" dirty="0">
                <a:solidFill>
                  <a:srgbClr val="212121"/>
                </a:solidFill>
                <a:latin typeface="Tahoma"/>
                <a:cs typeface="Tahoma"/>
              </a:rPr>
              <a:t> </a:t>
            </a:r>
            <a:r>
              <a:rPr sz="1800" spc="-20" dirty="0">
                <a:solidFill>
                  <a:srgbClr val="212121"/>
                </a:solidFill>
                <a:latin typeface="Tahoma"/>
                <a:cs typeface="Tahoma"/>
              </a:rPr>
              <a:t>with </a:t>
            </a:r>
            <a:r>
              <a:rPr sz="1800" spc="70" dirty="0">
                <a:solidFill>
                  <a:srgbClr val="212121"/>
                </a:solidFill>
                <a:latin typeface="Tahoma"/>
                <a:cs typeface="Tahoma"/>
              </a:rPr>
              <a:t>GAN.</a:t>
            </a:r>
            <a:r>
              <a:rPr sz="1800" spc="-110" dirty="0">
                <a:solidFill>
                  <a:srgbClr val="212121"/>
                </a:solidFill>
                <a:latin typeface="Tahoma"/>
                <a:cs typeface="Tahoma"/>
              </a:rPr>
              <a:t> </a:t>
            </a:r>
            <a:r>
              <a:rPr sz="1800" spc="75" dirty="0">
                <a:solidFill>
                  <a:srgbClr val="212121"/>
                </a:solidFill>
                <a:latin typeface="Tahoma"/>
                <a:cs typeface="Tahoma"/>
              </a:rPr>
              <a:t>On</a:t>
            </a:r>
            <a:r>
              <a:rPr sz="1800" spc="-90" dirty="0">
                <a:solidFill>
                  <a:srgbClr val="212121"/>
                </a:solidFill>
                <a:latin typeface="Tahoma"/>
                <a:cs typeface="Tahoma"/>
              </a:rPr>
              <a:t> </a:t>
            </a:r>
            <a:r>
              <a:rPr sz="1800" dirty="0">
                <a:solidFill>
                  <a:srgbClr val="212121"/>
                </a:solidFill>
                <a:latin typeface="Tahoma"/>
                <a:cs typeface="Tahoma"/>
              </a:rPr>
              <a:t>the</a:t>
            </a:r>
            <a:r>
              <a:rPr sz="1800" spc="-90" dirty="0">
                <a:solidFill>
                  <a:srgbClr val="212121"/>
                </a:solidFill>
                <a:latin typeface="Tahoma"/>
                <a:cs typeface="Tahoma"/>
              </a:rPr>
              <a:t> </a:t>
            </a:r>
            <a:r>
              <a:rPr sz="1800" spc="-30" dirty="0">
                <a:solidFill>
                  <a:srgbClr val="212121"/>
                </a:solidFill>
                <a:latin typeface="Tahoma"/>
                <a:cs typeface="Tahoma"/>
              </a:rPr>
              <a:t>right,</a:t>
            </a:r>
            <a:r>
              <a:rPr sz="1800" spc="-95" dirty="0">
                <a:solidFill>
                  <a:srgbClr val="212121"/>
                </a:solidFill>
                <a:latin typeface="Tahoma"/>
                <a:cs typeface="Tahoma"/>
              </a:rPr>
              <a:t> </a:t>
            </a:r>
            <a:r>
              <a:rPr sz="1800" dirty="0">
                <a:solidFill>
                  <a:srgbClr val="212121"/>
                </a:solidFill>
                <a:latin typeface="Tahoma"/>
                <a:cs typeface="Tahoma"/>
              </a:rPr>
              <a:t>you</a:t>
            </a:r>
            <a:r>
              <a:rPr sz="1800" spc="-90" dirty="0">
                <a:solidFill>
                  <a:srgbClr val="212121"/>
                </a:solidFill>
                <a:latin typeface="Tahoma"/>
                <a:cs typeface="Tahoma"/>
              </a:rPr>
              <a:t> </a:t>
            </a:r>
            <a:r>
              <a:rPr sz="1800" dirty="0">
                <a:solidFill>
                  <a:srgbClr val="212121"/>
                </a:solidFill>
                <a:latin typeface="Tahoma"/>
                <a:cs typeface="Tahoma"/>
              </a:rPr>
              <a:t>give</a:t>
            </a:r>
            <a:r>
              <a:rPr sz="1800" spc="-75" dirty="0">
                <a:solidFill>
                  <a:srgbClr val="212121"/>
                </a:solidFill>
                <a:latin typeface="Tahoma"/>
                <a:cs typeface="Tahoma"/>
              </a:rPr>
              <a:t> </a:t>
            </a:r>
            <a:r>
              <a:rPr sz="1800" spc="-65" dirty="0">
                <a:solidFill>
                  <a:srgbClr val="212121"/>
                </a:solidFill>
                <a:latin typeface="Tahoma"/>
                <a:cs typeface="Tahoma"/>
              </a:rPr>
              <a:t>a</a:t>
            </a:r>
            <a:r>
              <a:rPr sz="1800" spc="-90" dirty="0">
                <a:solidFill>
                  <a:srgbClr val="212121"/>
                </a:solidFill>
                <a:latin typeface="Tahoma"/>
                <a:cs typeface="Tahoma"/>
              </a:rPr>
              <a:t> </a:t>
            </a:r>
            <a:r>
              <a:rPr sz="1800" dirty="0">
                <a:solidFill>
                  <a:srgbClr val="212121"/>
                </a:solidFill>
                <a:latin typeface="Tahoma"/>
                <a:cs typeface="Tahoma"/>
              </a:rPr>
              <a:t>simple</a:t>
            </a:r>
            <a:r>
              <a:rPr sz="1800" spc="-80" dirty="0">
                <a:solidFill>
                  <a:srgbClr val="212121"/>
                </a:solidFill>
                <a:latin typeface="Tahoma"/>
                <a:cs typeface="Tahoma"/>
              </a:rPr>
              <a:t> </a:t>
            </a:r>
            <a:r>
              <a:rPr sz="1800" spc="-10" dirty="0">
                <a:solidFill>
                  <a:srgbClr val="212121"/>
                </a:solidFill>
                <a:latin typeface="Tahoma"/>
                <a:cs typeface="Tahoma"/>
              </a:rPr>
              <a:t>drawing</a:t>
            </a:r>
            <a:r>
              <a:rPr sz="1800" spc="-105" dirty="0">
                <a:solidFill>
                  <a:srgbClr val="212121"/>
                </a:solidFill>
                <a:latin typeface="Tahoma"/>
                <a:cs typeface="Tahoma"/>
              </a:rPr>
              <a:t> </a:t>
            </a:r>
            <a:r>
              <a:rPr sz="1800" dirty="0">
                <a:solidFill>
                  <a:srgbClr val="212121"/>
                </a:solidFill>
                <a:latin typeface="Tahoma"/>
                <a:cs typeface="Tahoma"/>
              </a:rPr>
              <a:t>of</a:t>
            </a:r>
            <a:r>
              <a:rPr sz="1800" spc="-80" dirty="0">
                <a:solidFill>
                  <a:srgbClr val="212121"/>
                </a:solidFill>
                <a:latin typeface="Tahoma"/>
                <a:cs typeface="Tahoma"/>
              </a:rPr>
              <a:t> </a:t>
            </a:r>
            <a:r>
              <a:rPr sz="1800" spc="-65" dirty="0">
                <a:solidFill>
                  <a:srgbClr val="212121"/>
                </a:solidFill>
                <a:latin typeface="Tahoma"/>
                <a:cs typeface="Tahoma"/>
              </a:rPr>
              <a:t>a</a:t>
            </a:r>
            <a:r>
              <a:rPr sz="1800" spc="-90" dirty="0">
                <a:solidFill>
                  <a:srgbClr val="212121"/>
                </a:solidFill>
                <a:latin typeface="Tahoma"/>
                <a:cs typeface="Tahoma"/>
              </a:rPr>
              <a:t> </a:t>
            </a:r>
            <a:r>
              <a:rPr sz="1800" spc="-25" dirty="0">
                <a:solidFill>
                  <a:srgbClr val="212121"/>
                </a:solidFill>
                <a:latin typeface="Tahoma"/>
                <a:cs typeface="Tahoma"/>
              </a:rPr>
              <a:t>handbag</a:t>
            </a:r>
            <a:r>
              <a:rPr sz="1800" spc="-90" dirty="0">
                <a:solidFill>
                  <a:srgbClr val="212121"/>
                </a:solidFill>
                <a:latin typeface="Tahoma"/>
                <a:cs typeface="Tahoma"/>
              </a:rPr>
              <a:t> </a:t>
            </a:r>
            <a:r>
              <a:rPr sz="1800" spc="-20" dirty="0">
                <a:solidFill>
                  <a:srgbClr val="212121"/>
                </a:solidFill>
                <a:latin typeface="Tahoma"/>
                <a:cs typeface="Tahoma"/>
              </a:rPr>
              <a:t>and</a:t>
            </a:r>
            <a:r>
              <a:rPr sz="1800" spc="-95" dirty="0">
                <a:solidFill>
                  <a:srgbClr val="212121"/>
                </a:solidFill>
                <a:latin typeface="Tahoma"/>
                <a:cs typeface="Tahoma"/>
              </a:rPr>
              <a:t> </a:t>
            </a:r>
            <a:r>
              <a:rPr sz="1800" dirty="0">
                <a:solidFill>
                  <a:srgbClr val="212121"/>
                </a:solidFill>
                <a:latin typeface="Tahoma"/>
                <a:cs typeface="Tahoma"/>
              </a:rPr>
              <a:t>you</a:t>
            </a:r>
            <a:r>
              <a:rPr sz="1800" spc="-80" dirty="0">
                <a:solidFill>
                  <a:srgbClr val="212121"/>
                </a:solidFill>
                <a:latin typeface="Tahoma"/>
                <a:cs typeface="Tahoma"/>
              </a:rPr>
              <a:t> </a:t>
            </a:r>
            <a:r>
              <a:rPr sz="1800" dirty="0">
                <a:solidFill>
                  <a:srgbClr val="212121"/>
                </a:solidFill>
                <a:latin typeface="Tahoma"/>
                <a:cs typeface="Tahoma"/>
              </a:rPr>
              <a:t>get</a:t>
            </a:r>
            <a:r>
              <a:rPr sz="1800" spc="-85" dirty="0">
                <a:solidFill>
                  <a:srgbClr val="212121"/>
                </a:solidFill>
                <a:latin typeface="Tahoma"/>
                <a:cs typeface="Tahoma"/>
              </a:rPr>
              <a:t> </a:t>
            </a:r>
            <a:r>
              <a:rPr sz="1800" spc="-65" dirty="0">
                <a:solidFill>
                  <a:srgbClr val="212121"/>
                </a:solidFill>
                <a:latin typeface="Tahoma"/>
                <a:cs typeface="Tahoma"/>
              </a:rPr>
              <a:t>a</a:t>
            </a:r>
            <a:r>
              <a:rPr sz="1800" spc="-90" dirty="0">
                <a:solidFill>
                  <a:srgbClr val="212121"/>
                </a:solidFill>
                <a:latin typeface="Tahoma"/>
                <a:cs typeface="Tahoma"/>
              </a:rPr>
              <a:t> </a:t>
            </a:r>
            <a:r>
              <a:rPr sz="1800" spc="-20" dirty="0">
                <a:solidFill>
                  <a:srgbClr val="212121"/>
                </a:solidFill>
                <a:latin typeface="Tahoma"/>
                <a:cs typeface="Tahoma"/>
              </a:rPr>
              <a:t>real </a:t>
            </a:r>
            <a:r>
              <a:rPr sz="1800" dirty="0">
                <a:solidFill>
                  <a:srgbClr val="212121"/>
                </a:solidFill>
                <a:latin typeface="Tahoma"/>
                <a:cs typeface="Tahoma"/>
              </a:rPr>
              <a:t>looking</a:t>
            </a:r>
            <a:r>
              <a:rPr sz="1800" spc="-45" dirty="0">
                <a:solidFill>
                  <a:srgbClr val="212121"/>
                </a:solidFill>
                <a:latin typeface="Tahoma"/>
                <a:cs typeface="Tahoma"/>
              </a:rPr>
              <a:t> </a:t>
            </a:r>
            <a:r>
              <a:rPr sz="1800" spc="-10" dirty="0">
                <a:solidFill>
                  <a:srgbClr val="212121"/>
                </a:solidFill>
                <a:latin typeface="Tahoma"/>
                <a:cs typeface="Tahoma"/>
              </a:rPr>
              <a:t>drawing</a:t>
            </a:r>
            <a:r>
              <a:rPr sz="1800" spc="-75" dirty="0">
                <a:solidFill>
                  <a:srgbClr val="212121"/>
                </a:solidFill>
                <a:latin typeface="Tahoma"/>
                <a:cs typeface="Tahoma"/>
              </a:rPr>
              <a:t> </a:t>
            </a:r>
            <a:r>
              <a:rPr sz="1800" dirty="0">
                <a:solidFill>
                  <a:srgbClr val="212121"/>
                </a:solidFill>
                <a:latin typeface="Tahoma"/>
                <a:cs typeface="Tahoma"/>
              </a:rPr>
              <a:t>of</a:t>
            </a:r>
            <a:r>
              <a:rPr sz="1800" spc="-50" dirty="0">
                <a:solidFill>
                  <a:srgbClr val="212121"/>
                </a:solidFill>
                <a:latin typeface="Tahoma"/>
                <a:cs typeface="Tahoma"/>
              </a:rPr>
              <a:t> </a:t>
            </a:r>
            <a:r>
              <a:rPr sz="1800" spc="-65" dirty="0">
                <a:solidFill>
                  <a:srgbClr val="212121"/>
                </a:solidFill>
                <a:latin typeface="Tahoma"/>
                <a:cs typeface="Tahoma"/>
              </a:rPr>
              <a:t>a </a:t>
            </a:r>
            <a:r>
              <a:rPr sz="1800" spc="-10" dirty="0">
                <a:solidFill>
                  <a:srgbClr val="212121"/>
                </a:solidFill>
                <a:latin typeface="Tahoma"/>
                <a:cs typeface="Tahoma"/>
              </a:rPr>
              <a:t>handbag.</a:t>
            </a:r>
            <a:endParaRPr sz="1800" dirty="0">
              <a:latin typeface="Tahoma"/>
              <a:cs typeface="Tahoma"/>
            </a:endParaRPr>
          </a:p>
        </p:txBody>
      </p:sp>
      <p:pic>
        <p:nvPicPr>
          <p:cNvPr id="4" name="object 4"/>
          <p:cNvPicPr/>
          <p:nvPr/>
        </p:nvPicPr>
        <p:blipFill>
          <a:blip r:embed="rId2" cstate="print"/>
          <a:stretch>
            <a:fillRect/>
          </a:stretch>
        </p:blipFill>
        <p:spPr>
          <a:xfrm>
            <a:off x="1854727" y="2384718"/>
            <a:ext cx="7477443" cy="36674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2865" rIns="0" bIns="0" rtlCol="0">
            <a:spAutoFit/>
          </a:bodyPr>
          <a:lstStyle/>
          <a:p>
            <a:pPr marL="12700" marR="5080" indent="101600">
              <a:lnSpc>
                <a:spcPts val="3510"/>
              </a:lnSpc>
              <a:spcBef>
                <a:spcPts val="495"/>
              </a:spcBef>
            </a:pPr>
            <a:r>
              <a:rPr spc="-10" dirty="0">
                <a:solidFill>
                  <a:srgbClr val="1F2023"/>
                </a:solidFill>
                <a:latin typeface="Roboto"/>
                <a:cs typeface="Roboto"/>
                <a:hlinkClick r:id="rId2"/>
              </a:rPr>
              <a:t>Pix2Pix</a:t>
            </a:r>
            <a:r>
              <a:rPr spc="-35" dirty="0">
                <a:solidFill>
                  <a:srgbClr val="1F2023"/>
                </a:solidFill>
                <a:latin typeface="Roboto"/>
                <a:cs typeface="Roboto"/>
                <a:hlinkClick r:id="rId2"/>
              </a:rPr>
              <a:t> </a:t>
            </a:r>
            <a:r>
              <a:rPr dirty="0">
                <a:solidFill>
                  <a:srgbClr val="1F2023"/>
                </a:solidFill>
                <a:latin typeface="Roboto"/>
                <a:cs typeface="Roboto"/>
                <a:hlinkClick r:id="rId2"/>
              </a:rPr>
              <a:t>GAN</a:t>
            </a:r>
            <a:r>
              <a:rPr spc="-35" dirty="0">
                <a:solidFill>
                  <a:srgbClr val="1F2023"/>
                </a:solidFill>
                <a:latin typeface="Roboto"/>
                <a:cs typeface="Roboto"/>
                <a:hlinkClick r:id="rId2"/>
              </a:rPr>
              <a:t> </a:t>
            </a:r>
            <a:r>
              <a:rPr u="sng" dirty="0">
                <a:solidFill>
                  <a:srgbClr val="0462C1"/>
                </a:solidFill>
                <a:uFill>
                  <a:solidFill>
                    <a:srgbClr val="0462C1"/>
                  </a:solidFill>
                </a:uFill>
                <a:latin typeface="Times New Roman"/>
                <a:cs typeface="Times New Roman"/>
                <a:hlinkClick r:id="rId2"/>
              </a:rPr>
              <a:t>Image-</a:t>
            </a:r>
            <a:r>
              <a:rPr u="sng" spc="-10" dirty="0">
                <a:solidFill>
                  <a:srgbClr val="0462C1"/>
                </a:solidFill>
                <a:uFill>
                  <a:solidFill>
                    <a:srgbClr val="0462C1"/>
                  </a:solidFill>
                </a:uFill>
                <a:latin typeface="Times New Roman"/>
                <a:cs typeface="Times New Roman"/>
                <a:hlinkClick r:id="rId2"/>
              </a:rPr>
              <a:t>to-</a:t>
            </a:r>
            <a:r>
              <a:rPr u="sng" dirty="0">
                <a:solidFill>
                  <a:srgbClr val="0462C1"/>
                </a:solidFill>
                <a:uFill>
                  <a:solidFill>
                    <a:srgbClr val="0462C1"/>
                  </a:solidFill>
                </a:uFill>
                <a:latin typeface="Times New Roman"/>
                <a:cs typeface="Times New Roman"/>
                <a:hlinkClick r:id="rId2"/>
              </a:rPr>
              <a:t>image</a:t>
            </a:r>
            <a:r>
              <a:rPr u="sng" spc="-65" dirty="0">
                <a:solidFill>
                  <a:srgbClr val="0462C1"/>
                </a:solidFill>
                <a:uFill>
                  <a:solidFill>
                    <a:srgbClr val="0462C1"/>
                  </a:solidFill>
                </a:uFill>
                <a:latin typeface="Times New Roman"/>
                <a:cs typeface="Times New Roman"/>
                <a:hlinkClick r:id="rId2"/>
              </a:rPr>
              <a:t> </a:t>
            </a:r>
            <a:r>
              <a:rPr u="sng" dirty="0">
                <a:solidFill>
                  <a:srgbClr val="0462C1"/>
                </a:solidFill>
                <a:uFill>
                  <a:solidFill>
                    <a:srgbClr val="0462C1"/>
                  </a:solidFill>
                </a:uFill>
                <a:latin typeface="Times New Roman"/>
                <a:cs typeface="Times New Roman"/>
                <a:hlinkClick r:id="rId2"/>
              </a:rPr>
              <a:t>translation</a:t>
            </a:r>
            <a:r>
              <a:rPr u="sng" spc="-55" dirty="0">
                <a:solidFill>
                  <a:srgbClr val="0462C1"/>
                </a:solidFill>
                <a:uFill>
                  <a:solidFill>
                    <a:srgbClr val="0462C1"/>
                  </a:solidFill>
                </a:uFill>
                <a:latin typeface="Times New Roman"/>
                <a:cs typeface="Times New Roman"/>
                <a:hlinkClick r:id="rId2"/>
              </a:rPr>
              <a:t> </a:t>
            </a:r>
            <a:r>
              <a:rPr u="sng" dirty="0">
                <a:solidFill>
                  <a:srgbClr val="0462C1"/>
                </a:solidFill>
                <a:uFill>
                  <a:solidFill>
                    <a:srgbClr val="0462C1"/>
                  </a:solidFill>
                </a:uFill>
                <a:latin typeface="Times New Roman"/>
                <a:cs typeface="Times New Roman"/>
                <a:hlinkClick r:id="rId2"/>
              </a:rPr>
              <a:t>with</a:t>
            </a:r>
            <a:r>
              <a:rPr u="sng" spc="-50" dirty="0">
                <a:solidFill>
                  <a:srgbClr val="0462C1"/>
                </a:solidFill>
                <a:uFill>
                  <a:solidFill>
                    <a:srgbClr val="0462C1"/>
                  </a:solidFill>
                </a:uFill>
                <a:latin typeface="Times New Roman"/>
                <a:cs typeface="Times New Roman"/>
                <a:hlinkClick r:id="rId2"/>
              </a:rPr>
              <a:t> </a:t>
            </a:r>
            <a:r>
              <a:rPr u="sng" spc="-10" dirty="0">
                <a:solidFill>
                  <a:srgbClr val="0462C1"/>
                </a:solidFill>
                <a:uFill>
                  <a:solidFill>
                    <a:srgbClr val="0462C1"/>
                  </a:solidFill>
                </a:uFill>
                <a:latin typeface="Times New Roman"/>
                <a:cs typeface="Times New Roman"/>
                <a:hlinkClick r:id="rId2"/>
              </a:rPr>
              <a:t>conditional</a:t>
            </a:r>
            <a:r>
              <a:rPr spc="-10" dirty="0">
                <a:solidFill>
                  <a:srgbClr val="0462C1"/>
                </a:solidFill>
                <a:latin typeface="Times New Roman"/>
                <a:cs typeface="Times New Roman"/>
                <a:hlinkClick r:id="rId2"/>
              </a:rPr>
              <a:t> </a:t>
            </a:r>
            <a:r>
              <a:rPr u="sng" dirty="0">
                <a:solidFill>
                  <a:srgbClr val="0462C1"/>
                </a:solidFill>
                <a:uFill>
                  <a:solidFill>
                    <a:srgbClr val="0462C1"/>
                  </a:solidFill>
                </a:uFill>
                <a:latin typeface="Times New Roman"/>
                <a:cs typeface="Times New Roman"/>
                <a:hlinkClick r:id="rId2"/>
              </a:rPr>
              <a:t>adversarial</a:t>
            </a:r>
            <a:r>
              <a:rPr u="sng" spc="-85" dirty="0">
                <a:solidFill>
                  <a:srgbClr val="0462C1"/>
                </a:solidFill>
                <a:uFill>
                  <a:solidFill>
                    <a:srgbClr val="0462C1"/>
                  </a:solidFill>
                </a:uFill>
                <a:latin typeface="Times New Roman"/>
                <a:cs typeface="Times New Roman"/>
                <a:hlinkClick r:id="rId2"/>
              </a:rPr>
              <a:t> </a:t>
            </a:r>
            <a:r>
              <a:rPr u="sng" spc="-10" dirty="0">
                <a:solidFill>
                  <a:srgbClr val="0462C1"/>
                </a:solidFill>
                <a:uFill>
                  <a:solidFill>
                    <a:srgbClr val="0462C1"/>
                  </a:solidFill>
                </a:uFill>
                <a:latin typeface="Times New Roman"/>
                <a:cs typeface="Times New Roman"/>
                <a:hlinkClick r:id="rId2"/>
              </a:rPr>
              <a:t>networks</a:t>
            </a:r>
          </a:p>
        </p:txBody>
      </p:sp>
      <p:pic>
        <p:nvPicPr>
          <p:cNvPr id="3" name="object 3"/>
          <p:cNvPicPr/>
          <p:nvPr/>
        </p:nvPicPr>
        <p:blipFill>
          <a:blip r:embed="rId3" cstate="print"/>
          <a:stretch>
            <a:fillRect/>
          </a:stretch>
        </p:blipFill>
        <p:spPr>
          <a:xfrm>
            <a:off x="0" y="1182624"/>
            <a:ext cx="12191999" cy="449122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Image</a:t>
            </a:r>
            <a:r>
              <a:rPr spc="-30" dirty="0"/>
              <a:t> </a:t>
            </a:r>
            <a:r>
              <a:rPr dirty="0"/>
              <a:t>to</a:t>
            </a:r>
            <a:r>
              <a:rPr spc="-25" dirty="0"/>
              <a:t> </a:t>
            </a:r>
            <a:r>
              <a:rPr dirty="0"/>
              <a:t>image</a:t>
            </a:r>
            <a:r>
              <a:rPr spc="-30" dirty="0"/>
              <a:t> </a:t>
            </a:r>
            <a:r>
              <a:rPr dirty="0"/>
              <a:t>Translation</a:t>
            </a:r>
            <a:r>
              <a:rPr spc="-60" dirty="0"/>
              <a:t> </a:t>
            </a:r>
            <a:r>
              <a:rPr dirty="0"/>
              <a:t>(Cycle</a:t>
            </a:r>
            <a:r>
              <a:rPr spc="-30" dirty="0"/>
              <a:t> </a:t>
            </a:r>
            <a:r>
              <a:rPr spc="-20" dirty="0"/>
              <a:t>GAN)</a:t>
            </a:r>
          </a:p>
        </p:txBody>
      </p:sp>
      <p:pic>
        <p:nvPicPr>
          <p:cNvPr id="3" name="object 3"/>
          <p:cNvPicPr/>
          <p:nvPr/>
        </p:nvPicPr>
        <p:blipFill>
          <a:blip r:embed="rId2" cstate="print"/>
          <a:stretch>
            <a:fillRect/>
          </a:stretch>
        </p:blipFill>
        <p:spPr>
          <a:xfrm>
            <a:off x="1510283" y="1304544"/>
            <a:ext cx="9152384" cy="42489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9915" y="66243"/>
            <a:ext cx="10619105" cy="1137920"/>
          </a:xfrm>
          <a:prstGeom prst="rect">
            <a:avLst/>
          </a:prstGeom>
        </p:spPr>
        <p:txBody>
          <a:bodyPr vert="horz" wrap="square" lIns="0" tIns="67945" rIns="0" bIns="0" rtlCol="0">
            <a:spAutoFit/>
          </a:bodyPr>
          <a:lstStyle/>
          <a:p>
            <a:pPr marL="172720" marR="5080">
              <a:lnSpc>
                <a:spcPts val="3460"/>
              </a:lnSpc>
              <a:spcBef>
                <a:spcPts val="535"/>
              </a:spcBef>
            </a:pPr>
            <a:r>
              <a:rPr dirty="0"/>
              <a:t>Creative</a:t>
            </a:r>
            <a:r>
              <a:rPr spc="-35" dirty="0"/>
              <a:t> </a:t>
            </a:r>
            <a:r>
              <a:rPr dirty="0"/>
              <a:t>GANs</a:t>
            </a:r>
            <a:r>
              <a:rPr spc="-25" dirty="0"/>
              <a:t> </a:t>
            </a:r>
            <a:r>
              <a:rPr dirty="0"/>
              <a:t>for</a:t>
            </a:r>
            <a:r>
              <a:rPr spc="-25" dirty="0"/>
              <a:t> </a:t>
            </a:r>
            <a:r>
              <a:rPr dirty="0"/>
              <a:t>generation,</a:t>
            </a:r>
            <a:r>
              <a:rPr spc="-45" dirty="0"/>
              <a:t> </a:t>
            </a:r>
            <a:r>
              <a:rPr dirty="0"/>
              <a:t>of</a:t>
            </a:r>
            <a:r>
              <a:rPr spc="-20" dirty="0"/>
              <a:t> </a:t>
            </a:r>
            <a:r>
              <a:rPr dirty="0"/>
              <a:t>text,</a:t>
            </a:r>
            <a:r>
              <a:rPr spc="-40" dirty="0"/>
              <a:t> </a:t>
            </a:r>
            <a:r>
              <a:rPr dirty="0"/>
              <a:t>music</a:t>
            </a:r>
            <a:r>
              <a:rPr spc="-30" dirty="0"/>
              <a:t> </a:t>
            </a:r>
            <a:r>
              <a:rPr dirty="0"/>
              <a:t>poerty,</a:t>
            </a:r>
            <a:r>
              <a:rPr spc="-15" dirty="0"/>
              <a:t> </a:t>
            </a:r>
            <a:r>
              <a:rPr spc="-10" dirty="0"/>
              <a:t>lyrics, metaphors</a:t>
            </a:r>
          </a:p>
          <a:p>
            <a:pPr marL="12700">
              <a:lnSpc>
                <a:spcPts val="1400"/>
              </a:lnSpc>
            </a:pPr>
            <a:r>
              <a:rPr sz="1800" b="1" dirty="0">
                <a:solidFill>
                  <a:srgbClr val="292929"/>
                </a:solidFill>
                <a:latin typeface="Calibri"/>
                <a:cs typeface="Calibri"/>
              </a:rPr>
              <a:t>MuseGAN:</a:t>
            </a:r>
            <a:r>
              <a:rPr sz="1800" b="1" spc="-40" dirty="0">
                <a:solidFill>
                  <a:srgbClr val="292929"/>
                </a:solidFill>
                <a:latin typeface="Calibri"/>
                <a:cs typeface="Calibri"/>
              </a:rPr>
              <a:t> </a:t>
            </a:r>
            <a:r>
              <a:rPr sz="1800" b="1" dirty="0">
                <a:solidFill>
                  <a:srgbClr val="292929"/>
                </a:solidFill>
                <a:latin typeface="Calibri"/>
                <a:cs typeface="Calibri"/>
              </a:rPr>
              <a:t>Using</a:t>
            </a:r>
            <a:r>
              <a:rPr sz="1800" b="1" spc="-30" dirty="0">
                <a:solidFill>
                  <a:srgbClr val="292929"/>
                </a:solidFill>
                <a:latin typeface="Calibri"/>
                <a:cs typeface="Calibri"/>
              </a:rPr>
              <a:t> </a:t>
            </a:r>
            <a:r>
              <a:rPr sz="1800" b="1" dirty="0">
                <a:solidFill>
                  <a:srgbClr val="292929"/>
                </a:solidFill>
                <a:latin typeface="Calibri"/>
                <a:cs typeface="Calibri"/>
              </a:rPr>
              <a:t>GANs</a:t>
            </a:r>
            <a:r>
              <a:rPr sz="1800" b="1" spc="-5" dirty="0">
                <a:solidFill>
                  <a:srgbClr val="292929"/>
                </a:solidFill>
                <a:latin typeface="Calibri"/>
                <a:cs typeface="Calibri"/>
              </a:rPr>
              <a:t> </a:t>
            </a:r>
            <a:r>
              <a:rPr sz="1800" b="1" dirty="0">
                <a:solidFill>
                  <a:srgbClr val="292929"/>
                </a:solidFill>
                <a:latin typeface="Calibri"/>
                <a:cs typeface="Calibri"/>
              </a:rPr>
              <a:t>to</a:t>
            </a:r>
            <a:r>
              <a:rPr sz="1800" b="1" spc="-15" dirty="0">
                <a:solidFill>
                  <a:srgbClr val="292929"/>
                </a:solidFill>
                <a:latin typeface="Calibri"/>
                <a:cs typeface="Calibri"/>
              </a:rPr>
              <a:t> </a:t>
            </a:r>
            <a:r>
              <a:rPr sz="1800" b="1" spc="-10" dirty="0">
                <a:solidFill>
                  <a:srgbClr val="292929"/>
                </a:solidFill>
                <a:latin typeface="Calibri"/>
                <a:cs typeface="Calibri"/>
              </a:rPr>
              <a:t>generate</a:t>
            </a:r>
            <a:r>
              <a:rPr sz="1800" b="1" spc="-50" dirty="0">
                <a:solidFill>
                  <a:srgbClr val="292929"/>
                </a:solidFill>
                <a:latin typeface="Calibri"/>
                <a:cs typeface="Calibri"/>
              </a:rPr>
              <a:t> </a:t>
            </a:r>
            <a:r>
              <a:rPr sz="1800" b="1" dirty="0">
                <a:solidFill>
                  <a:srgbClr val="292929"/>
                </a:solidFill>
                <a:latin typeface="Calibri"/>
                <a:cs typeface="Calibri"/>
              </a:rPr>
              <a:t>original</a:t>
            </a:r>
            <a:r>
              <a:rPr sz="1800" b="1" spc="-40" dirty="0">
                <a:solidFill>
                  <a:srgbClr val="292929"/>
                </a:solidFill>
                <a:latin typeface="Calibri"/>
                <a:cs typeface="Calibri"/>
              </a:rPr>
              <a:t> </a:t>
            </a:r>
            <a:r>
              <a:rPr sz="1800" b="1" spc="-10" dirty="0">
                <a:solidFill>
                  <a:srgbClr val="292929"/>
                </a:solidFill>
                <a:latin typeface="Calibri"/>
                <a:cs typeface="Calibri"/>
              </a:rPr>
              <a:t>Music</a:t>
            </a:r>
            <a:endParaRPr sz="1800">
              <a:latin typeface="Calibri"/>
              <a:cs typeface="Calibri"/>
            </a:endParaRPr>
          </a:p>
        </p:txBody>
      </p:sp>
      <p:pic>
        <p:nvPicPr>
          <p:cNvPr id="3" name="object 3"/>
          <p:cNvPicPr/>
          <p:nvPr/>
        </p:nvPicPr>
        <p:blipFill>
          <a:blip r:embed="rId2" cstate="print"/>
          <a:stretch>
            <a:fillRect/>
          </a:stretch>
        </p:blipFill>
        <p:spPr>
          <a:xfrm>
            <a:off x="5917691" y="1524000"/>
            <a:ext cx="5481827" cy="4360164"/>
          </a:xfrm>
          <a:prstGeom prst="rect">
            <a:avLst/>
          </a:prstGeom>
        </p:spPr>
      </p:pic>
      <p:pic>
        <p:nvPicPr>
          <p:cNvPr id="4" name="object 4"/>
          <p:cNvPicPr/>
          <p:nvPr/>
        </p:nvPicPr>
        <p:blipFill>
          <a:blip r:embed="rId3" cstate="print"/>
          <a:stretch>
            <a:fillRect/>
          </a:stretch>
        </p:blipFill>
        <p:spPr>
          <a:xfrm>
            <a:off x="395323" y="1554200"/>
            <a:ext cx="4898608" cy="1173116"/>
          </a:xfrm>
          <a:prstGeom prst="rect">
            <a:avLst/>
          </a:prstGeom>
        </p:spPr>
      </p:pic>
      <p:pic>
        <p:nvPicPr>
          <p:cNvPr id="5" name="object 5"/>
          <p:cNvPicPr/>
          <p:nvPr/>
        </p:nvPicPr>
        <p:blipFill>
          <a:blip r:embed="rId4" cstate="print"/>
          <a:stretch>
            <a:fillRect/>
          </a:stretch>
        </p:blipFill>
        <p:spPr>
          <a:xfrm>
            <a:off x="440326" y="3082806"/>
            <a:ext cx="4684676" cy="321436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33016" y="348995"/>
            <a:ext cx="8474964" cy="5967983"/>
          </a:xfrm>
          <a:prstGeom prst="rect">
            <a:avLst/>
          </a:prstGeom>
        </p:spPr>
      </p:pic>
      <p:sp>
        <p:nvSpPr>
          <p:cNvPr id="3" name="object 3"/>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How</a:t>
            </a:r>
            <a:r>
              <a:rPr spc="-15" dirty="0"/>
              <a:t> </a:t>
            </a:r>
            <a:r>
              <a:rPr dirty="0"/>
              <a:t>GAN</a:t>
            </a:r>
            <a:r>
              <a:rPr spc="-5" dirty="0"/>
              <a:t> </a:t>
            </a:r>
            <a:r>
              <a:rPr spc="-10" dirty="0"/>
              <a:t>works?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8224" y="5199379"/>
            <a:ext cx="8503285" cy="565150"/>
          </a:xfrm>
          <a:prstGeom prst="rect">
            <a:avLst/>
          </a:prstGeom>
        </p:spPr>
        <p:txBody>
          <a:bodyPr vert="horz" wrap="square" lIns="0" tIns="28575" rIns="0" bIns="0" rtlCol="0">
            <a:spAutoFit/>
          </a:bodyPr>
          <a:lstStyle/>
          <a:p>
            <a:pPr marL="12700" marR="5080">
              <a:lnSpc>
                <a:spcPts val="2090"/>
              </a:lnSpc>
              <a:spcBef>
                <a:spcPts val="225"/>
              </a:spcBef>
            </a:pPr>
            <a:r>
              <a:rPr sz="1800" b="1" spc="-140" dirty="0">
                <a:solidFill>
                  <a:srgbClr val="212121"/>
                </a:solidFill>
                <a:latin typeface="Tahoma"/>
                <a:cs typeface="Tahoma"/>
              </a:rPr>
              <a:t>Simply,</a:t>
            </a:r>
            <a:r>
              <a:rPr sz="1800" b="1" spc="-30" dirty="0">
                <a:solidFill>
                  <a:srgbClr val="212121"/>
                </a:solidFill>
                <a:latin typeface="Tahoma"/>
                <a:cs typeface="Tahoma"/>
              </a:rPr>
              <a:t> </a:t>
            </a:r>
            <a:r>
              <a:rPr sz="1800" b="1" spc="-85" dirty="0">
                <a:solidFill>
                  <a:srgbClr val="212121"/>
                </a:solidFill>
                <a:latin typeface="Tahoma"/>
                <a:cs typeface="Tahoma"/>
              </a:rPr>
              <a:t>for</a:t>
            </a:r>
            <a:r>
              <a:rPr sz="1800" b="1" spc="-55" dirty="0">
                <a:solidFill>
                  <a:srgbClr val="212121"/>
                </a:solidFill>
                <a:latin typeface="Tahoma"/>
                <a:cs typeface="Tahoma"/>
              </a:rPr>
              <a:t> </a:t>
            </a:r>
            <a:r>
              <a:rPr sz="1800" b="1" spc="-140" dirty="0">
                <a:solidFill>
                  <a:srgbClr val="212121"/>
                </a:solidFill>
                <a:latin typeface="Tahoma"/>
                <a:cs typeface="Tahoma"/>
              </a:rPr>
              <a:t>getting</a:t>
            </a:r>
            <a:r>
              <a:rPr sz="1800" b="1" spc="-40" dirty="0">
                <a:solidFill>
                  <a:srgbClr val="212121"/>
                </a:solidFill>
                <a:latin typeface="Tahoma"/>
                <a:cs typeface="Tahoma"/>
              </a:rPr>
              <a:t> </a:t>
            </a:r>
            <a:r>
              <a:rPr sz="1800" b="1" spc="-180" dirty="0">
                <a:solidFill>
                  <a:srgbClr val="212121"/>
                </a:solidFill>
                <a:latin typeface="Tahoma"/>
                <a:cs typeface="Tahoma"/>
              </a:rPr>
              <a:t>a</a:t>
            </a:r>
            <a:r>
              <a:rPr sz="1800" b="1" spc="-65" dirty="0">
                <a:solidFill>
                  <a:srgbClr val="212121"/>
                </a:solidFill>
                <a:latin typeface="Tahoma"/>
                <a:cs typeface="Tahoma"/>
              </a:rPr>
              <a:t> </a:t>
            </a:r>
            <a:r>
              <a:rPr sz="1800" b="1" spc="-120" dirty="0">
                <a:solidFill>
                  <a:srgbClr val="212121"/>
                </a:solidFill>
                <a:latin typeface="Tahoma"/>
                <a:cs typeface="Tahoma"/>
              </a:rPr>
              <a:t>powerful</a:t>
            </a:r>
            <a:r>
              <a:rPr sz="1800" b="1" spc="-30" dirty="0">
                <a:solidFill>
                  <a:srgbClr val="212121"/>
                </a:solidFill>
                <a:latin typeface="Tahoma"/>
                <a:cs typeface="Tahoma"/>
              </a:rPr>
              <a:t> </a:t>
            </a:r>
            <a:r>
              <a:rPr sz="1800" b="1" spc="-120" dirty="0">
                <a:solidFill>
                  <a:srgbClr val="212121"/>
                </a:solidFill>
                <a:latin typeface="Tahoma"/>
                <a:cs typeface="Tahoma"/>
              </a:rPr>
              <a:t>hero</a:t>
            </a:r>
            <a:r>
              <a:rPr sz="1800" b="1" spc="-50" dirty="0">
                <a:solidFill>
                  <a:srgbClr val="212121"/>
                </a:solidFill>
                <a:latin typeface="Tahoma"/>
                <a:cs typeface="Tahoma"/>
              </a:rPr>
              <a:t> </a:t>
            </a:r>
            <a:r>
              <a:rPr sz="1800" b="1" spc="-160" dirty="0">
                <a:solidFill>
                  <a:srgbClr val="212121"/>
                </a:solidFill>
                <a:latin typeface="Tahoma"/>
                <a:cs typeface="Tahoma"/>
              </a:rPr>
              <a:t>(generator),</a:t>
            </a:r>
            <a:r>
              <a:rPr sz="1800" b="1" spc="-25" dirty="0">
                <a:solidFill>
                  <a:srgbClr val="212121"/>
                </a:solidFill>
                <a:latin typeface="Tahoma"/>
                <a:cs typeface="Tahoma"/>
              </a:rPr>
              <a:t> </a:t>
            </a:r>
            <a:r>
              <a:rPr sz="1800" b="1" spc="-155" dirty="0">
                <a:solidFill>
                  <a:srgbClr val="212121"/>
                </a:solidFill>
                <a:latin typeface="Tahoma"/>
                <a:cs typeface="Tahoma"/>
              </a:rPr>
              <a:t>we</a:t>
            </a:r>
            <a:r>
              <a:rPr sz="1800" b="1" spc="-60" dirty="0">
                <a:solidFill>
                  <a:srgbClr val="212121"/>
                </a:solidFill>
                <a:latin typeface="Tahoma"/>
                <a:cs typeface="Tahoma"/>
              </a:rPr>
              <a:t> </a:t>
            </a:r>
            <a:r>
              <a:rPr sz="1800" b="1" spc="-130" dirty="0">
                <a:solidFill>
                  <a:srgbClr val="212121"/>
                </a:solidFill>
                <a:latin typeface="Tahoma"/>
                <a:cs typeface="Tahoma"/>
              </a:rPr>
              <a:t>need</a:t>
            </a:r>
            <a:r>
              <a:rPr sz="1800" b="1" spc="-50" dirty="0">
                <a:solidFill>
                  <a:srgbClr val="212121"/>
                </a:solidFill>
                <a:latin typeface="Tahoma"/>
                <a:cs typeface="Tahoma"/>
              </a:rPr>
              <a:t> </a:t>
            </a:r>
            <a:r>
              <a:rPr sz="1800" b="1" spc="-180" dirty="0">
                <a:solidFill>
                  <a:srgbClr val="212121"/>
                </a:solidFill>
                <a:latin typeface="Tahoma"/>
                <a:cs typeface="Tahoma"/>
              </a:rPr>
              <a:t>a</a:t>
            </a:r>
            <a:r>
              <a:rPr sz="1800" b="1" spc="-55" dirty="0">
                <a:solidFill>
                  <a:srgbClr val="212121"/>
                </a:solidFill>
                <a:latin typeface="Tahoma"/>
                <a:cs typeface="Tahoma"/>
              </a:rPr>
              <a:t> </a:t>
            </a:r>
            <a:r>
              <a:rPr sz="1800" b="1" spc="-130" dirty="0">
                <a:solidFill>
                  <a:srgbClr val="212121"/>
                </a:solidFill>
                <a:latin typeface="Tahoma"/>
                <a:cs typeface="Tahoma"/>
              </a:rPr>
              <a:t>more</a:t>
            </a:r>
            <a:r>
              <a:rPr sz="1800" b="1" spc="-55" dirty="0">
                <a:solidFill>
                  <a:srgbClr val="212121"/>
                </a:solidFill>
                <a:latin typeface="Tahoma"/>
                <a:cs typeface="Tahoma"/>
              </a:rPr>
              <a:t> </a:t>
            </a:r>
            <a:r>
              <a:rPr sz="1800" b="1" spc="-120" dirty="0">
                <a:solidFill>
                  <a:srgbClr val="212121"/>
                </a:solidFill>
                <a:latin typeface="Tahoma"/>
                <a:cs typeface="Tahoma"/>
              </a:rPr>
              <a:t>powerful</a:t>
            </a:r>
            <a:r>
              <a:rPr sz="1800" b="1" spc="-30" dirty="0">
                <a:solidFill>
                  <a:srgbClr val="212121"/>
                </a:solidFill>
                <a:latin typeface="Tahoma"/>
                <a:cs typeface="Tahoma"/>
              </a:rPr>
              <a:t> </a:t>
            </a:r>
            <a:r>
              <a:rPr sz="1800" b="1" spc="-70" dirty="0">
                <a:solidFill>
                  <a:srgbClr val="212121"/>
                </a:solidFill>
                <a:latin typeface="Tahoma"/>
                <a:cs typeface="Tahoma"/>
              </a:rPr>
              <a:t>opponent </a:t>
            </a:r>
            <a:r>
              <a:rPr sz="1800" b="1" spc="-85" dirty="0">
                <a:solidFill>
                  <a:srgbClr val="212121"/>
                </a:solidFill>
                <a:latin typeface="Tahoma"/>
                <a:cs typeface="Tahoma"/>
              </a:rPr>
              <a:t>(discriminator)!</a:t>
            </a:r>
            <a:endParaRPr sz="1800">
              <a:latin typeface="Tahoma"/>
              <a:cs typeface="Tahoma"/>
            </a:endParaRPr>
          </a:p>
        </p:txBody>
      </p:sp>
      <p:sp>
        <p:nvSpPr>
          <p:cNvPr id="3" name="object 3"/>
          <p:cNvSpPr txBox="1">
            <a:spLocks noGrp="1"/>
          </p:cNvSpPr>
          <p:nvPr>
            <p:ph type="title"/>
          </p:nvPr>
        </p:nvSpPr>
        <p:spPr>
          <a:xfrm>
            <a:off x="1203960" y="1136903"/>
            <a:ext cx="10073640" cy="923925"/>
          </a:xfrm>
          <a:prstGeom prst="rect">
            <a:avLst/>
          </a:prstGeom>
          <a:solidFill>
            <a:srgbClr val="E1EFD9"/>
          </a:solidFill>
        </p:spPr>
        <p:txBody>
          <a:bodyPr vert="horz" wrap="square" lIns="0" tIns="47625" rIns="0" bIns="0" rtlCol="0">
            <a:spAutoFit/>
          </a:bodyPr>
          <a:lstStyle/>
          <a:p>
            <a:pPr marL="92075" marR="330200">
              <a:lnSpc>
                <a:spcPct val="98300"/>
              </a:lnSpc>
              <a:spcBef>
                <a:spcPts val="375"/>
              </a:spcBef>
            </a:pPr>
            <a:r>
              <a:rPr sz="1800" dirty="0">
                <a:solidFill>
                  <a:srgbClr val="212121"/>
                </a:solidFill>
                <a:latin typeface="Tahoma"/>
                <a:cs typeface="Tahoma"/>
              </a:rPr>
              <a:t>Generative</a:t>
            </a:r>
            <a:r>
              <a:rPr sz="1800" spc="-35" dirty="0">
                <a:solidFill>
                  <a:srgbClr val="212121"/>
                </a:solidFill>
                <a:latin typeface="Tahoma"/>
                <a:cs typeface="Tahoma"/>
              </a:rPr>
              <a:t> </a:t>
            </a:r>
            <a:r>
              <a:rPr sz="1800" dirty="0">
                <a:solidFill>
                  <a:srgbClr val="212121"/>
                </a:solidFill>
                <a:latin typeface="Tahoma"/>
                <a:cs typeface="Tahoma"/>
              </a:rPr>
              <a:t>Adversarial</a:t>
            </a:r>
            <a:r>
              <a:rPr sz="1800" spc="-50" dirty="0">
                <a:solidFill>
                  <a:srgbClr val="212121"/>
                </a:solidFill>
                <a:latin typeface="Tahoma"/>
                <a:cs typeface="Tahoma"/>
              </a:rPr>
              <a:t> </a:t>
            </a:r>
            <a:r>
              <a:rPr sz="1800" dirty="0">
                <a:solidFill>
                  <a:srgbClr val="212121"/>
                </a:solidFill>
                <a:latin typeface="Tahoma"/>
                <a:cs typeface="Tahoma"/>
              </a:rPr>
              <a:t>Networks(GAN</a:t>
            </a:r>
            <a:r>
              <a:rPr sz="1800" spc="-50" dirty="0">
                <a:solidFill>
                  <a:srgbClr val="212121"/>
                </a:solidFill>
                <a:latin typeface="Tahoma"/>
                <a:cs typeface="Tahoma"/>
              </a:rPr>
              <a:t> </a:t>
            </a:r>
            <a:r>
              <a:rPr sz="1800" dirty="0">
                <a:solidFill>
                  <a:srgbClr val="212121"/>
                </a:solidFill>
                <a:latin typeface="Tahoma"/>
                <a:cs typeface="Tahoma"/>
              </a:rPr>
              <a:t>in</a:t>
            </a:r>
            <a:r>
              <a:rPr sz="1800" spc="-25" dirty="0">
                <a:solidFill>
                  <a:srgbClr val="212121"/>
                </a:solidFill>
                <a:latin typeface="Tahoma"/>
                <a:cs typeface="Tahoma"/>
              </a:rPr>
              <a:t> short)</a:t>
            </a:r>
            <a:r>
              <a:rPr sz="1800" spc="-40" dirty="0">
                <a:solidFill>
                  <a:srgbClr val="212121"/>
                </a:solidFill>
                <a:latin typeface="Tahoma"/>
                <a:cs typeface="Tahoma"/>
              </a:rPr>
              <a:t> </a:t>
            </a:r>
            <a:r>
              <a:rPr sz="1800" dirty="0">
                <a:solidFill>
                  <a:srgbClr val="212121"/>
                </a:solidFill>
                <a:latin typeface="Tahoma"/>
                <a:cs typeface="Tahoma"/>
              </a:rPr>
              <a:t>is</a:t>
            </a:r>
            <a:r>
              <a:rPr sz="1800" spc="-25" dirty="0">
                <a:solidFill>
                  <a:srgbClr val="212121"/>
                </a:solidFill>
                <a:latin typeface="Tahoma"/>
                <a:cs typeface="Tahoma"/>
              </a:rPr>
              <a:t> </a:t>
            </a:r>
            <a:r>
              <a:rPr sz="1800" spc="-30" dirty="0">
                <a:solidFill>
                  <a:srgbClr val="212121"/>
                </a:solidFill>
                <a:latin typeface="Tahoma"/>
                <a:cs typeface="Tahoma"/>
              </a:rPr>
              <a:t>an </a:t>
            </a:r>
            <a:r>
              <a:rPr sz="1800" spc="-10" dirty="0">
                <a:solidFill>
                  <a:srgbClr val="212121"/>
                </a:solidFill>
                <a:latin typeface="Tahoma"/>
                <a:cs typeface="Tahoma"/>
              </a:rPr>
              <a:t>advancement</a:t>
            </a:r>
            <a:r>
              <a:rPr sz="1800" spc="-25" dirty="0">
                <a:solidFill>
                  <a:srgbClr val="212121"/>
                </a:solidFill>
                <a:latin typeface="Tahoma"/>
                <a:cs typeface="Tahoma"/>
              </a:rPr>
              <a:t> </a:t>
            </a:r>
            <a:r>
              <a:rPr sz="1800" dirty="0">
                <a:solidFill>
                  <a:srgbClr val="212121"/>
                </a:solidFill>
                <a:latin typeface="Tahoma"/>
                <a:cs typeface="Tahoma"/>
              </a:rPr>
              <a:t>in</a:t>
            </a:r>
            <a:r>
              <a:rPr sz="1800" spc="-25" dirty="0">
                <a:solidFill>
                  <a:srgbClr val="212121"/>
                </a:solidFill>
                <a:latin typeface="Tahoma"/>
                <a:cs typeface="Tahoma"/>
              </a:rPr>
              <a:t> </a:t>
            </a:r>
            <a:r>
              <a:rPr sz="1800" dirty="0">
                <a:solidFill>
                  <a:srgbClr val="212121"/>
                </a:solidFill>
                <a:latin typeface="Tahoma"/>
                <a:cs typeface="Tahoma"/>
              </a:rPr>
              <a:t>the</a:t>
            </a:r>
            <a:r>
              <a:rPr sz="1800" spc="-20" dirty="0">
                <a:solidFill>
                  <a:srgbClr val="212121"/>
                </a:solidFill>
                <a:latin typeface="Tahoma"/>
                <a:cs typeface="Tahoma"/>
              </a:rPr>
              <a:t> </a:t>
            </a:r>
            <a:r>
              <a:rPr sz="1800" dirty="0">
                <a:solidFill>
                  <a:srgbClr val="212121"/>
                </a:solidFill>
                <a:latin typeface="Tahoma"/>
                <a:cs typeface="Tahoma"/>
              </a:rPr>
              <a:t>field</a:t>
            </a:r>
            <a:r>
              <a:rPr sz="1800" spc="-25" dirty="0">
                <a:solidFill>
                  <a:srgbClr val="212121"/>
                </a:solidFill>
                <a:latin typeface="Tahoma"/>
                <a:cs typeface="Tahoma"/>
              </a:rPr>
              <a:t> </a:t>
            </a:r>
            <a:r>
              <a:rPr sz="1800" dirty="0">
                <a:solidFill>
                  <a:srgbClr val="212121"/>
                </a:solidFill>
                <a:latin typeface="Tahoma"/>
                <a:cs typeface="Tahoma"/>
              </a:rPr>
              <a:t>of</a:t>
            </a:r>
            <a:r>
              <a:rPr sz="1800" spc="-20" dirty="0">
                <a:solidFill>
                  <a:srgbClr val="212121"/>
                </a:solidFill>
                <a:latin typeface="Tahoma"/>
                <a:cs typeface="Tahoma"/>
              </a:rPr>
              <a:t> </a:t>
            </a:r>
            <a:r>
              <a:rPr sz="1800" spc="-10" dirty="0">
                <a:solidFill>
                  <a:srgbClr val="212121"/>
                </a:solidFill>
                <a:latin typeface="Tahoma"/>
                <a:cs typeface="Tahoma"/>
              </a:rPr>
              <a:t>Machine Learning</a:t>
            </a:r>
            <a:r>
              <a:rPr sz="1800" spc="-95" dirty="0">
                <a:solidFill>
                  <a:srgbClr val="212121"/>
                </a:solidFill>
                <a:latin typeface="Tahoma"/>
                <a:cs typeface="Tahoma"/>
              </a:rPr>
              <a:t> </a:t>
            </a:r>
            <a:r>
              <a:rPr sz="1800" dirty="0">
                <a:solidFill>
                  <a:srgbClr val="212121"/>
                </a:solidFill>
                <a:latin typeface="Tahoma"/>
                <a:cs typeface="Tahoma"/>
              </a:rPr>
              <a:t>which</a:t>
            </a:r>
            <a:r>
              <a:rPr sz="1800" spc="-85" dirty="0">
                <a:solidFill>
                  <a:srgbClr val="212121"/>
                </a:solidFill>
                <a:latin typeface="Tahoma"/>
                <a:cs typeface="Tahoma"/>
              </a:rPr>
              <a:t> </a:t>
            </a:r>
            <a:r>
              <a:rPr sz="1800" dirty="0">
                <a:solidFill>
                  <a:srgbClr val="212121"/>
                </a:solidFill>
                <a:latin typeface="Tahoma"/>
                <a:cs typeface="Tahoma"/>
              </a:rPr>
              <a:t>is</a:t>
            </a:r>
            <a:r>
              <a:rPr sz="1800" spc="-75" dirty="0">
                <a:solidFill>
                  <a:srgbClr val="212121"/>
                </a:solidFill>
                <a:latin typeface="Tahoma"/>
                <a:cs typeface="Tahoma"/>
              </a:rPr>
              <a:t> </a:t>
            </a:r>
            <a:r>
              <a:rPr sz="1800" spc="-10" dirty="0">
                <a:solidFill>
                  <a:srgbClr val="212121"/>
                </a:solidFill>
                <a:latin typeface="Tahoma"/>
                <a:cs typeface="Tahoma"/>
              </a:rPr>
              <a:t>capable</a:t>
            </a:r>
            <a:r>
              <a:rPr sz="1800" spc="-60" dirty="0">
                <a:solidFill>
                  <a:srgbClr val="212121"/>
                </a:solidFill>
                <a:latin typeface="Tahoma"/>
                <a:cs typeface="Tahoma"/>
              </a:rPr>
              <a:t> </a:t>
            </a:r>
            <a:r>
              <a:rPr sz="1800" dirty="0">
                <a:solidFill>
                  <a:srgbClr val="212121"/>
                </a:solidFill>
                <a:latin typeface="Tahoma"/>
                <a:cs typeface="Tahoma"/>
              </a:rPr>
              <a:t>of</a:t>
            </a:r>
            <a:r>
              <a:rPr sz="1800" spc="-75" dirty="0">
                <a:solidFill>
                  <a:srgbClr val="212121"/>
                </a:solidFill>
                <a:latin typeface="Tahoma"/>
                <a:cs typeface="Tahoma"/>
              </a:rPr>
              <a:t> </a:t>
            </a:r>
            <a:r>
              <a:rPr sz="1800" spc="-20" dirty="0">
                <a:solidFill>
                  <a:srgbClr val="212121"/>
                </a:solidFill>
                <a:latin typeface="Tahoma"/>
                <a:cs typeface="Tahoma"/>
              </a:rPr>
              <a:t>generating</a:t>
            </a:r>
            <a:r>
              <a:rPr sz="1800" spc="-95" dirty="0">
                <a:solidFill>
                  <a:srgbClr val="212121"/>
                </a:solidFill>
                <a:latin typeface="Tahoma"/>
                <a:cs typeface="Tahoma"/>
              </a:rPr>
              <a:t> </a:t>
            </a:r>
            <a:r>
              <a:rPr sz="1800" dirty="0">
                <a:solidFill>
                  <a:srgbClr val="212121"/>
                </a:solidFill>
                <a:latin typeface="Tahoma"/>
                <a:cs typeface="Tahoma"/>
              </a:rPr>
              <a:t>new</a:t>
            </a:r>
            <a:r>
              <a:rPr sz="1800" spc="-75" dirty="0">
                <a:solidFill>
                  <a:srgbClr val="212121"/>
                </a:solidFill>
                <a:latin typeface="Tahoma"/>
                <a:cs typeface="Tahoma"/>
              </a:rPr>
              <a:t> </a:t>
            </a:r>
            <a:r>
              <a:rPr sz="1800" spc="-10" dirty="0">
                <a:solidFill>
                  <a:srgbClr val="212121"/>
                </a:solidFill>
                <a:latin typeface="Tahoma"/>
                <a:cs typeface="Tahoma"/>
              </a:rPr>
              <a:t>data</a:t>
            </a:r>
            <a:r>
              <a:rPr sz="1800" spc="-60" dirty="0">
                <a:solidFill>
                  <a:srgbClr val="212121"/>
                </a:solidFill>
                <a:latin typeface="Tahoma"/>
                <a:cs typeface="Tahoma"/>
              </a:rPr>
              <a:t> </a:t>
            </a:r>
            <a:r>
              <a:rPr sz="1800" spc="-25" dirty="0">
                <a:solidFill>
                  <a:srgbClr val="212121"/>
                </a:solidFill>
                <a:latin typeface="Tahoma"/>
                <a:cs typeface="Tahoma"/>
              </a:rPr>
              <a:t>samples</a:t>
            </a:r>
            <a:r>
              <a:rPr sz="1800" spc="-70" dirty="0">
                <a:solidFill>
                  <a:srgbClr val="212121"/>
                </a:solidFill>
                <a:latin typeface="Tahoma"/>
                <a:cs typeface="Tahoma"/>
              </a:rPr>
              <a:t> </a:t>
            </a:r>
            <a:r>
              <a:rPr sz="1800" dirty="0">
                <a:solidFill>
                  <a:srgbClr val="212121"/>
                </a:solidFill>
                <a:latin typeface="Tahoma"/>
                <a:cs typeface="Tahoma"/>
              </a:rPr>
              <a:t>including</a:t>
            </a:r>
            <a:r>
              <a:rPr sz="1800" spc="-80" dirty="0">
                <a:solidFill>
                  <a:srgbClr val="212121"/>
                </a:solidFill>
                <a:latin typeface="Tahoma"/>
                <a:cs typeface="Tahoma"/>
              </a:rPr>
              <a:t> </a:t>
            </a:r>
            <a:r>
              <a:rPr sz="1800" spc="-10" dirty="0">
                <a:solidFill>
                  <a:srgbClr val="212121"/>
                </a:solidFill>
                <a:latin typeface="Tahoma"/>
                <a:cs typeface="Tahoma"/>
              </a:rPr>
              <a:t>Text,</a:t>
            </a:r>
            <a:r>
              <a:rPr sz="1800" spc="-65" dirty="0">
                <a:solidFill>
                  <a:srgbClr val="212121"/>
                </a:solidFill>
                <a:latin typeface="Tahoma"/>
                <a:cs typeface="Tahoma"/>
              </a:rPr>
              <a:t> </a:t>
            </a:r>
            <a:r>
              <a:rPr sz="1800" dirty="0">
                <a:solidFill>
                  <a:srgbClr val="212121"/>
                </a:solidFill>
                <a:latin typeface="Tahoma"/>
                <a:cs typeface="Tahoma"/>
              </a:rPr>
              <a:t>Audio,</a:t>
            </a:r>
            <a:r>
              <a:rPr sz="1800" spc="-75" dirty="0">
                <a:solidFill>
                  <a:srgbClr val="212121"/>
                </a:solidFill>
                <a:latin typeface="Tahoma"/>
                <a:cs typeface="Tahoma"/>
              </a:rPr>
              <a:t> </a:t>
            </a:r>
            <a:r>
              <a:rPr sz="1800" spc="-80" dirty="0">
                <a:solidFill>
                  <a:srgbClr val="212121"/>
                </a:solidFill>
                <a:latin typeface="Tahoma"/>
                <a:cs typeface="Tahoma"/>
              </a:rPr>
              <a:t>Images, </a:t>
            </a:r>
            <a:r>
              <a:rPr sz="1800" spc="-10" dirty="0">
                <a:solidFill>
                  <a:srgbClr val="212121"/>
                </a:solidFill>
                <a:latin typeface="Tahoma"/>
                <a:cs typeface="Tahoma"/>
              </a:rPr>
              <a:t>Videos, etc.</a:t>
            </a:r>
            <a:r>
              <a:rPr sz="1800" spc="-105" dirty="0">
                <a:solidFill>
                  <a:srgbClr val="212121"/>
                </a:solidFill>
                <a:latin typeface="Tahoma"/>
                <a:cs typeface="Tahoma"/>
              </a:rPr>
              <a:t> </a:t>
            </a:r>
            <a:r>
              <a:rPr sz="1800" spc="-10" dirty="0">
                <a:solidFill>
                  <a:srgbClr val="212121"/>
                </a:solidFill>
                <a:latin typeface="Tahoma"/>
                <a:cs typeface="Tahoma"/>
              </a:rPr>
              <a:t>using</a:t>
            </a:r>
            <a:r>
              <a:rPr sz="1800" spc="-100" dirty="0">
                <a:solidFill>
                  <a:srgbClr val="212121"/>
                </a:solidFill>
                <a:latin typeface="Tahoma"/>
                <a:cs typeface="Tahoma"/>
              </a:rPr>
              <a:t> </a:t>
            </a:r>
            <a:r>
              <a:rPr sz="1800" dirty="0">
                <a:solidFill>
                  <a:srgbClr val="212121"/>
                </a:solidFill>
                <a:latin typeface="Tahoma"/>
                <a:cs typeface="Tahoma"/>
              </a:rPr>
              <a:t>previously</a:t>
            </a:r>
            <a:r>
              <a:rPr sz="1800" spc="-110" dirty="0">
                <a:solidFill>
                  <a:srgbClr val="212121"/>
                </a:solidFill>
                <a:latin typeface="Tahoma"/>
                <a:cs typeface="Tahoma"/>
              </a:rPr>
              <a:t> </a:t>
            </a:r>
            <a:r>
              <a:rPr sz="1800" spc="-10" dirty="0">
                <a:solidFill>
                  <a:srgbClr val="212121"/>
                </a:solidFill>
                <a:latin typeface="Tahoma"/>
                <a:cs typeface="Tahoma"/>
              </a:rPr>
              <a:t>available</a:t>
            </a:r>
            <a:r>
              <a:rPr sz="1800" spc="-75" dirty="0">
                <a:solidFill>
                  <a:srgbClr val="212121"/>
                </a:solidFill>
                <a:latin typeface="Tahoma"/>
                <a:cs typeface="Tahoma"/>
              </a:rPr>
              <a:t> </a:t>
            </a:r>
            <a:r>
              <a:rPr sz="1800" spc="-10" dirty="0">
                <a:solidFill>
                  <a:srgbClr val="212121"/>
                </a:solidFill>
                <a:latin typeface="Tahoma"/>
                <a:cs typeface="Tahoma"/>
              </a:rPr>
              <a:t>data.</a:t>
            </a:r>
            <a:endParaRPr sz="1800">
              <a:latin typeface="Tahoma"/>
              <a:cs typeface="Tahoma"/>
            </a:endParaRPr>
          </a:p>
        </p:txBody>
      </p:sp>
      <p:sp>
        <p:nvSpPr>
          <p:cNvPr id="4" name="object 4"/>
          <p:cNvSpPr txBox="1"/>
          <p:nvPr/>
        </p:nvSpPr>
        <p:spPr>
          <a:xfrm>
            <a:off x="2630423" y="2695955"/>
            <a:ext cx="6105525" cy="1754505"/>
          </a:xfrm>
          <a:prstGeom prst="rect">
            <a:avLst/>
          </a:prstGeom>
          <a:solidFill>
            <a:srgbClr val="DEEBF7"/>
          </a:solidFill>
        </p:spPr>
        <p:txBody>
          <a:bodyPr vert="horz" wrap="square" lIns="0" tIns="43180" rIns="0" bIns="0" rtlCol="0">
            <a:spAutoFit/>
          </a:bodyPr>
          <a:lstStyle/>
          <a:p>
            <a:pPr marL="90805">
              <a:lnSpc>
                <a:spcPct val="100000"/>
              </a:lnSpc>
              <a:spcBef>
                <a:spcPts val="340"/>
              </a:spcBef>
            </a:pPr>
            <a:r>
              <a:rPr sz="1800" spc="90" dirty="0">
                <a:solidFill>
                  <a:srgbClr val="212121"/>
                </a:solidFill>
                <a:latin typeface="Tahoma"/>
                <a:cs typeface="Tahoma"/>
              </a:rPr>
              <a:t>How</a:t>
            </a:r>
            <a:r>
              <a:rPr sz="1800" spc="-100" dirty="0">
                <a:solidFill>
                  <a:srgbClr val="212121"/>
                </a:solidFill>
                <a:latin typeface="Tahoma"/>
                <a:cs typeface="Tahoma"/>
              </a:rPr>
              <a:t> </a:t>
            </a:r>
            <a:r>
              <a:rPr sz="1800" dirty="0">
                <a:solidFill>
                  <a:srgbClr val="212121"/>
                </a:solidFill>
                <a:latin typeface="Tahoma"/>
                <a:cs typeface="Tahoma"/>
              </a:rPr>
              <a:t>does</a:t>
            </a:r>
            <a:r>
              <a:rPr sz="1800" spc="-95" dirty="0">
                <a:solidFill>
                  <a:srgbClr val="212121"/>
                </a:solidFill>
                <a:latin typeface="Tahoma"/>
                <a:cs typeface="Tahoma"/>
              </a:rPr>
              <a:t> </a:t>
            </a:r>
            <a:r>
              <a:rPr sz="1800" spc="140" dirty="0">
                <a:solidFill>
                  <a:srgbClr val="212121"/>
                </a:solidFill>
                <a:latin typeface="Tahoma"/>
                <a:cs typeface="Tahoma"/>
              </a:rPr>
              <a:t>GAN</a:t>
            </a:r>
            <a:r>
              <a:rPr sz="1800" spc="-110" dirty="0">
                <a:solidFill>
                  <a:srgbClr val="212121"/>
                </a:solidFill>
                <a:latin typeface="Tahoma"/>
                <a:cs typeface="Tahoma"/>
              </a:rPr>
              <a:t> </a:t>
            </a:r>
            <a:r>
              <a:rPr sz="1800" spc="-10" dirty="0">
                <a:solidFill>
                  <a:srgbClr val="212121"/>
                </a:solidFill>
                <a:latin typeface="Tahoma"/>
                <a:cs typeface="Tahoma"/>
              </a:rPr>
              <a:t>Work?</a:t>
            </a:r>
            <a:endParaRPr sz="1800">
              <a:latin typeface="Tahoma"/>
              <a:cs typeface="Tahoma"/>
            </a:endParaRPr>
          </a:p>
          <a:p>
            <a:pPr marL="90805">
              <a:lnSpc>
                <a:spcPct val="100000"/>
              </a:lnSpc>
            </a:pPr>
            <a:r>
              <a:rPr sz="1800" spc="95" dirty="0">
                <a:solidFill>
                  <a:srgbClr val="212121"/>
                </a:solidFill>
                <a:latin typeface="Tahoma"/>
                <a:cs typeface="Tahoma"/>
              </a:rPr>
              <a:t>GANs</a:t>
            </a:r>
            <a:r>
              <a:rPr sz="1800" spc="-75" dirty="0">
                <a:solidFill>
                  <a:srgbClr val="212121"/>
                </a:solidFill>
                <a:latin typeface="Tahoma"/>
                <a:cs typeface="Tahoma"/>
              </a:rPr>
              <a:t> </a:t>
            </a:r>
            <a:r>
              <a:rPr sz="1800" dirty="0">
                <a:solidFill>
                  <a:srgbClr val="212121"/>
                </a:solidFill>
                <a:latin typeface="Tahoma"/>
                <a:cs typeface="Tahoma"/>
              </a:rPr>
              <a:t>consists</a:t>
            </a:r>
            <a:r>
              <a:rPr sz="1800" spc="-50" dirty="0">
                <a:solidFill>
                  <a:srgbClr val="212121"/>
                </a:solidFill>
                <a:latin typeface="Tahoma"/>
                <a:cs typeface="Tahoma"/>
              </a:rPr>
              <a:t> </a:t>
            </a:r>
            <a:r>
              <a:rPr sz="1800" dirty="0">
                <a:solidFill>
                  <a:srgbClr val="212121"/>
                </a:solidFill>
                <a:latin typeface="Tahoma"/>
                <a:cs typeface="Tahoma"/>
              </a:rPr>
              <a:t>of</a:t>
            </a:r>
            <a:r>
              <a:rPr sz="1800" spc="-45" dirty="0">
                <a:solidFill>
                  <a:srgbClr val="212121"/>
                </a:solidFill>
                <a:latin typeface="Tahoma"/>
                <a:cs typeface="Tahoma"/>
              </a:rPr>
              <a:t> </a:t>
            </a:r>
            <a:r>
              <a:rPr sz="1800" dirty="0">
                <a:solidFill>
                  <a:srgbClr val="212121"/>
                </a:solidFill>
                <a:latin typeface="Tahoma"/>
                <a:cs typeface="Tahoma"/>
              </a:rPr>
              <a:t>two</a:t>
            </a:r>
            <a:r>
              <a:rPr sz="1800" spc="-40" dirty="0">
                <a:solidFill>
                  <a:srgbClr val="212121"/>
                </a:solidFill>
                <a:latin typeface="Tahoma"/>
                <a:cs typeface="Tahoma"/>
              </a:rPr>
              <a:t> </a:t>
            </a:r>
            <a:r>
              <a:rPr sz="1800" spc="155" dirty="0">
                <a:solidFill>
                  <a:srgbClr val="212121"/>
                </a:solidFill>
                <a:latin typeface="Tahoma"/>
                <a:cs typeface="Tahoma"/>
              </a:rPr>
              <a:t>ANN</a:t>
            </a:r>
            <a:r>
              <a:rPr sz="1800" spc="-70" dirty="0">
                <a:solidFill>
                  <a:srgbClr val="212121"/>
                </a:solidFill>
                <a:latin typeface="Tahoma"/>
                <a:cs typeface="Tahoma"/>
              </a:rPr>
              <a:t> </a:t>
            </a:r>
            <a:r>
              <a:rPr sz="1800" dirty="0">
                <a:solidFill>
                  <a:srgbClr val="212121"/>
                </a:solidFill>
                <a:latin typeface="Tahoma"/>
                <a:cs typeface="Tahoma"/>
              </a:rPr>
              <a:t>or</a:t>
            </a:r>
            <a:r>
              <a:rPr sz="1800" spc="-45" dirty="0">
                <a:solidFill>
                  <a:srgbClr val="212121"/>
                </a:solidFill>
                <a:latin typeface="Tahoma"/>
                <a:cs typeface="Tahoma"/>
              </a:rPr>
              <a:t> </a:t>
            </a:r>
            <a:r>
              <a:rPr sz="1800" spc="150" dirty="0">
                <a:solidFill>
                  <a:srgbClr val="212121"/>
                </a:solidFill>
                <a:latin typeface="Tahoma"/>
                <a:cs typeface="Tahoma"/>
              </a:rPr>
              <a:t>CNN</a:t>
            </a:r>
            <a:r>
              <a:rPr sz="1800" spc="-45" dirty="0">
                <a:solidFill>
                  <a:srgbClr val="212121"/>
                </a:solidFill>
                <a:latin typeface="Tahoma"/>
                <a:cs typeface="Tahoma"/>
              </a:rPr>
              <a:t> </a:t>
            </a:r>
            <a:r>
              <a:rPr sz="1800" spc="-10" dirty="0">
                <a:solidFill>
                  <a:srgbClr val="212121"/>
                </a:solidFill>
                <a:latin typeface="Tahoma"/>
                <a:cs typeface="Tahoma"/>
              </a:rPr>
              <a:t>models:</a:t>
            </a:r>
            <a:endParaRPr sz="1800">
              <a:latin typeface="Tahoma"/>
              <a:cs typeface="Tahoma"/>
            </a:endParaRPr>
          </a:p>
          <a:p>
            <a:pPr marL="90805" marR="340360" indent="-8255">
              <a:lnSpc>
                <a:spcPct val="100000"/>
              </a:lnSpc>
              <a:buSzPct val="94444"/>
              <a:buAutoNum type="arabicPeriod"/>
              <a:tabLst>
                <a:tab pos="277495" algn="l"/>
              </a:tabLst>
            </a:pPr>
            <a:r>
              <a:rPr sz="1800" dirty="0">
                <a:solidFill>
                  <a:srgbClr val="212121"/>
                </a:solidFill>
                <a:latin typeface="Tahoma"/>
                <a:cs typeface="Tahoma"/>
              </a:rPr>
              <a:t>	Generator</a:t>
            </a:r>
            <a:r>
              <a:rPr sz="1800" spc="-60" dirty="0">
                <a:solidFill>
                  <a:srgbClr val="212121"/>
                </a:solidFill>
                <a:latin typeface="Tahoma"/>
                <a:cs typeface="Tahoma"/>
              </a:rPr>
              <a:t> </a:t>
            </a:r>
            <a:r>
              <a:rPr sz="1800" dirty="0">
                <a:solidFill>
                  <a:srgbClr val="212121"/>
                </a:solidFill>
                <a:latin typeface="Tahoma"/>
                <a:cs typeface="Tahoma"/>
              </a:rPr>
              <a:t>Model:</a:t>
            </a:r>
            <a:r>
              <a:rPr sz="1800" spc="5" dirty="0">
                <a:solidFill>
                  <a:srgbClr val="212121"/>
                </a:solidFill>
                <a:latin typeface="Tahoma"/>
                <a:cs typeface="Tahoma"/>
              </a:rPr>
              <a:t> </a:t>
            </a:r>
            <a:r>
              <a:rPr sz="1800" dirty="0">
                <a:solidFill>
                  <a:srgbClr val="212121"/>
                </a:solidFill>
                <a:latin typeface="Tahoma"/>
                <a:cs typeface="Tahoma"/>
              </a:rPr>
              <a:t>Used</a:t>
            </a:r>
            <a:r>
              <a:rPr sz="1800" spc="-25" dirty="0">
                <a:solidFill>
                  <a:srgbClr val="212121"/>
                </a:solidFill>
                <a:latin typeface="Tahoma"/>
                <a:cs typeface="Tahoma"/>
              </a:rPr>
              <a:t> </a:t>
            </a:r>
            <a:r>
              <a:rPr sz="1800" dirty="0">
                <a:solidFill>
                  <a:srgbClr val="212121"/>
                </a:solidFill>
                <a:latin typeface="Tahoma"/>
                <a:cs typeface="Tahoma"/>
              </a:rPr>
              <a:t>to</a:t>
            </a:r>
            <a:r>
              <a:rPr sz="1800" spc="-20" dirty="0">
                <a:solidFill>
                  <a:srgbClr val="212121"/>
                </a:solidFill>
                <a:latin typeface="Tahoma"/>
                <a:cs typeface="Tahoma"/>
              </a:rPr>
              <a:t> </a:t>
            </a:r>
            <a:r>
              <a:rPr sz="1800" spc="-10" dirty="0">
                <a:solidFill>
                  <a:srgbClr val="212121"/>
                </a:solidFill>
                <a:latin typeface="Tahoma"/>
                <a:cs typeface="Tahoma"/>
              </a:rPr>
              <a:t>generate</a:t>
            </a:r>
            <a:r>
              <a:rPr sz="1800" spc="-35" dirty="0">
                <a:solidFill>
                  <a:srgbClr val="212121"/>
                </a:solidFill>
                <a:latin typeface="Tahoma"/>
                <a:cs typeface="Tahoma"/>
              </a:rPr>
              <a:t> </a:t>
            </a:r>
            <a:r>
              <a:rPr sz="1800" dirty="0">
                <a:solidFill>
                  <a:srgbClr val="212121"/>
                </a:solidFill>
                <a:latin typeface="Tahoma"/>
                <a:cs typeface="Tahoma"/>
              </a:rPr>
              <a:t>new</a:t>
            </a:r>
            <a:r>
              <a:rPr sz="1800" spc="-50" dirty="0">
                <a:solidFill>
                  <a:srgbClr val="212121"/>
                </a:solidFill>
                <a:latin typeface="Tahoma"/>
                <a:cs typeface="Tahoma"/>
              </a:rPr>
              <a:t> </a:t>
            </a:r>
            <a:r>
              <a:rPr sz="1800" spc="-35" dirty="0">
                <a:solidFill>
                  <a:srgbClr val="212121"/>
                </a:solidFill>
                <a:latin typeface="Tahoma"/>
                <a:cs typeface="Tahoma"/>
              </a:rPr>
              <a:t>images</a:t>
            </a:r>
            <a:r>
              <a:rPr sz="1800" spc="-25" dirty="0">
                <a:solidFill>
                  <a:srgbClr val="212121"/>
                </a:solidFill>
                <a:latin typeface="Tahoma"/>
                <a:cs typeface="Tahoma"/>
              </a:rPr>
              <a:t> </a:t>
            </a:r>
            <a:r>
              <a:rPr sz="1800" spc="-10" dirty="0">
                <a:solidFill>
                  <a:srgbClr val="212121"/>
                </a:solidFill>
                <a:latin typeface="Tahoma"/>
                <a:cs typeface="Tahoma"/>
              </a:rPr>
              <a:t>which </a:t>
            </a:r>
            <a:r>
              <a:rPr sz="1800" dirty="0">
                <a:solidFill>
                  <a:srgbClr val="212121"/>
                </a:solidFill>
                <a:latin typeface="Tahoma"/>
                <a:cs typeface="Tahoma"/>
              </a:rPr>
              <a:t>look</a:t>
            </a:r>
            <a:r>
              <a:rPr sz="1800" spc="-50" dirty="0">
                <a:solidFill>
                  <a:srgbClr val="212121"/>
                </a:solidFill>
                <a:latin typeface="Tahoma"/>
                <a:cs typeface="Tahoma"/>
              </a:rPr>
              <a:t> </a:t>
            </a:r>
            <a:r>
              <a:rPr sz="1800" dirty="0">
                <a:solidFill>
                  <a:srgbClr val="212121"/>
                </a:solidFill>
                <a:latin typeface="Tahoma"/>
                <a:cs typeface="Tahoma"/>
              </a:rPr>
              <a:t>like</a:t>
            </a:r>
            <a:r>
              <a:rPr sz="1800" spc="-65" dirty="0">
                <a:solidFill>
                  <a:srgbClr val="212121"/>
                </a:solidFill>
                <a:latin typeface="Tahoma"/>
                <a:cs typeface="Tahoma"/>
              </a:rPr>
              <a:t> </a:t>
            </a:r>
            <a:r>
              <a:rPr sz="1800" spc="-10" dirty="0">
                <a:solidFill>
                  <a:srgbClr val="212121"/>
                </a:solidFill>
                <a:latin typeface="Tahoma"/>
                <a:cs typeface="Tahoma"/>
              </a:rPr>
              <a:t>real</a:t>
            </a:r>
            <a:r>
              <a:rPr sz="1800" spc="-55" dirty="0">
                <a:solidFill>
                  <a:srgbClr val="212121"/>
                </a:solidFill>
                <a:latin typeface="Tahoma"/>
                <a:cs typeface="Tahoma"/>
              </a:rPr>
              <a:t> </a:t>
            </a:r>
            <a:r>
              <a:rPr sz="1800" spc="-10" dirty="0">
                <a:solidFill>
                  <a:srgbClr val="212121"/>
                </a:solidFill>
                <a:latin typeface="Tahoma"/>
                <a:cs typeface="Tahoma"/>
              </a:rPr>
              <a:t>images.</a:t>
            </a:r>
            <a:endParaRPr sz="1800">
              <a:latin typeface="Tahoma"/>
              <a:cs typeface="Tahoma"/>
            </a:endParaRPr>
          </a:p>
          <a:p>
            <a:pPr marL="277495" indent="-194945">
              <a:lnSpc>
                <a:spcPct val="100000"/>
              </a:lnSpc>
              <a:buSzPct val="94444"/>
              <a:buAutoNum type="arabicPeriod"/>
              <a:tabLst>
                <a:tab pos="277495" algn="l"/>
              </a:tabLst>
            </a:pPr>
            <a:r>
              <a:rPr sz="1800" dirty="0">
                <a:solidFill>
                  <a:srgbClr val="212121"/>
                </a:solidFill>
                <a:latin typeface="Tahoma"/>
                <a:cs typeface="Tahoma"/>
              </a:rPr>
              <a:t>Discriminator</a:t>
            </a:r>
            <a:r>
              <a:rPr sz="1800" spc="-40" dirty="0">
                <a:solidFill>
                  <a:srgbClr val="212121"/>
                </a:solidFill>
                <a:latin typeface="Tahoma"/>
                <a:cs typeface="Tahoma"/>
              </a:rPr>
              <a:t> </a:t>
            </a:r>
            <a:r>
              <a:rPr sz="1800" dirty="0">
                <a:solidFill>
                  <a:srgbClr val="212121"/>
                </a:solidFill>
                <a:latin typeface="Tahoma"/>
                <a:cs typeface="Tahoma"/>
              </a:rPr>
              <a:t>Model:</a:t>
            </a:r>
            <a:r>
              <a:rPr sz="1800" spc="-20" dirty="0">
                <a:solidFill>
                  <a:srgbClr val="212121"/>
                </a:solidFill>
                <a:latin typeface="Tahoma"/>
                <a:cs typeface="Tahoma"/>
              </a:rPr>
              <a:t> </a:t>
            </a:r>
            <a:r>
              <a:rPr sz="1800" dirty="0">
                <a:solidFill>
                  <a:srgbClr val="212121"/>
                </a:solidFill>
                <a:latin typeface="Tahoma"/>
                <a:cs typeface="Tahoma"/>
              </a:rPr>
              <a:t>Used</a:t>
            </a:r>
            <a:r>
              <a:rPr sz="1800" spc="-40" dirty="0">
                <a:solidFill>
                  <a:srgbClr val="212121"/>
                </a:solidFill>
                <a:latin typeface="Tahoma"/>
                <a:cs typeface="Tahoma"/>
              </a:rPr>
              <a:t> </a:t>
            </a:r>
            <a:r>
              <a:rPr sz="1800" dirty="0">
                <a:solidFill>
                  <a:srgbClr val="212121"/>
                </a:solidFill>
                <a:latin typeface="Tahoma"/>
                <a:cs typeface="Tahoma"/>
              </a:rPr>
              <a:t>to</a:t>
            </a:r>
            <a:r>
              <a:rPr sz="1800" spc="-30" dirty="0">
                <a:solidFill>
                  <a:srgbClr val="212121"/>
                </a:solidFill>
                <a:latin typeface="Tahoma"/>
                <a:cs typeface="Tahoma"/>
              </a:rPr>
              <a:t> </a:t>
            </a:r>
            <a:r>
              <a:rPr sz="1800" dirty="0">
                <a:solidFill>
                  <a:srgbClr val="212121"/>
                </a:solidFill>
                <a:latin typeface="Tahoma"/>
                <a:cs typeface="Tahoma"/>
              </a:rPr>
              <a:t>classify</a:t>
            </a:r>
            <a:r>
              <a:rPr sz="1800" spc="-50" dirty="0">
                <a:solidFill>
                  <a:srgbClr val="212121"/>
                </a:solidFill>
                <a:latin typeface="Tahoma"/>
                <a:cs typeface="Tahoma"/>
              </a:rPr>
              <a:t> </a:t>
            </a:r>
            <a:r>
              <a:rPr sz="1800" spc="-35" dirty="0">
                <a:solidFill>
                  <a:srgbClr val="212121"/>
                </a:solidFill>
                <a:latin typeface="Tahoma"/>
                <a:cs typeface="Tahoma"/>
              </a:rPr>
              <a:t>images</a:t>
            </a:r>
            <a:r>
              <a:rPr sz="1800" spc="-40" dirty="0">
                <a:solidFill>
                  <a:srgbClr val="212121"/>
                </a:solidFill>
                <a:latin typeface="Tahoma"/>
                <a:cs typeface="Tahoma"/>
              </a:rPr>
              <a:t> </a:t>
            </a:r>
            <a:r>
              <a:rPr sz="1800" spc="-50" dirty="0">
                <a:solidFill>
                  <a:srgbClr val="212121"/>
                </a:solidFill>
                <a:latin typeface="Tahoma"/>
                <a:cs typeface="Tahoma"/>
              </a:rPr>
              <a:t>as</a:t>
            </a:r>
            <a:r>
              <a:rPr sz="1800" spc="-40" dirty="0">
                <a:solidFill>
                  <a:srgbClr val="212121"/>
                </a:solidFill>
                <a:latin typeface="Tahoma"/>
                <a:cs typeface="Tahoma"/>
              </a:rPr>
              <a:t> </a:t>
            </a:r>
            <a:r>
              <a:rPr sz="1800" spc="-10" dirty="0">
                <a:solidFill>
                  <a:srgbClr val="212121"/>
                </a:solidFill>
                <a:latin typeface="Tahoma"/>
                <a:cs typeface="Tahoma"/>
              </a:rPr>
              <a:t>real</a:t>
            </a:r>
            <a:r>
              <a:rPr sz="1800" spc="-45" dirty="0">
                <a:solidFill>
                  <a:srgbClr val="212121"/>
                </a:solidFill>
                <a:latin typeface="Tahoma"/>
                <a:cs typeface="Tahoma"/>
              </a:rPr>
              <a:t> </a:t>
            </a:r>
            <a:r>
              <a:rPr sz="1800" spc="-25" dirty="0">
                <a:solidFill>
                  <a:srgbClr val="212121"/>
                </a:solidFill>
                <a:latin typeface="Tahoma"/>
                <a:cs typeface="Tahoma"/>
              </a:rPr>
              <a:t>or</a:t>
            </a:r>
            <a:endParaRPr sz="1800">
              <a:latin typeface="Tahoma"/>
              <a:cs typeface="Tahoma"/>
            </a:endParaRPr>
          </a:p>
          <a:p>
            <a:pPr marL="90805">
              <a:lnSpc>
                <a:spcPct val="100000"/>
              </a:lnSpc>
            </a:pPr>
            <a:r>
              <a:rPr sz="1800" spc="-10" dirty="0">
                <a:solidFill>
                  <a:srgbClr val="212121"/>
                </a:solidFill>
                <a:latin typeface="Tahoma"/>
                <a:cs typeface="Tahoma"/>
              </a:rPr>
              <a:t>fake.</a:t>
            </a:r>
            <a:endParaRPr sz="1800">
              <a:latin typeface="Tahoma"/>
              <a:cs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97991" y="1365503"/>
            <a:ext cx="11296015" cy="1477010"/>
          </a:xfrm>
          <a:prstGeom prst="rect">
            <a:avLst/>
          </a:prstGeom>
          <a:solidFill>
            <a:srgbClr val="DEEBF7"/>
          </a:solidFill>
        </p:spPr>
        <p:txBody>
          <a:bodyPr vert="horz" wrap="square" lIns="0" tIns="42545" rIns="0" bIns="0" rtlCol="0">
            <a:spAutoFit/>
          </a:bodyPr>
          <a:lstStyle/>
          <a:p>
            <a:pPr marL="91440">
              <a:lnSpc>
                <a:spcPct val="100000"/>
              </a:lnSpc>
              <a:spcBef>
                <a:spcPts val="335"/>
              </a:spcBef>
            </a:pPr>
            <a:r>
              <a:rPr sz="1800" b="1" spc="-95" dirty="0">
                <a:solidFill>
                  <a:srgbClr val="C00000"/>
                </a:solidFill>
                <a:latin typeface="Tahoma"/>
                <a:cs typeface="Tahoma"/>
              </a:rPr>
              <a:t>The</a:t>
            </a:r>
            <a:r>
              <a:rPr sz="1800" b="1" spc="-90" dirty="0">
                <a:solidFill>
                  <a:srgbClr val="C00000"/>
                </a:solidFill>
                <a:latin typeface="Tahoma"/>
                <a:cs typeface="Tahoma"/>
              </a:rPr>
              <a:t> </a:t>
            </a:r>
            <a:r>
              <a:rPr sz="1800" b="1" spc="-110" dirty="0">
                <a:solidFill>
                  <a:srgbClr val="C00000"/>
                </a:solidFill>
                <a:latin typeface="Tahoma"/>
                <a:cs typeface="Tahoma"/>
              </a:rPr>
              <a:t>Generator</a:t>
            </a:r>
            <a:r>
              <a:rPr sz="1800" b="1" spc="-75" dirty="0">
                <a:solidFill>
                  <a:srgbClr val="C00000"/>
                </a:solidFill>
                <a:latin typeface="Tahoma"/>
                <a:cs typeface="Tahoma"/>
              </a:rPr>
              <a:t> </a:t>
            </a:r>
            <a:r>
              <a:rPr sz="1800" b="1" spc="-20" dirty="0">
                <a:solidFill>
                  <a:srgbClr val="C00000"/>
                </a:solidFill>
                <a:latin typeface="Tahoma"/>
                <a:cs typeface="Tahoma"/>
              </a:rPr>
              <a:t>Model</a:t>
            </a:r>
            <a:endParaRPr sz="1800">
              <a:latin typeface="Tahoma"/>
              <a:cs typeface="Tahoma"/>
            </a:endParaRPr>
          </a:p>
          <a:p>
            <a:pPr marL="91440" marR="97790">
              <a:lnSpc>
                <a:spcPct val="100000"/>
              </a:lnSpc>
            </a:pPr>
            <a:r>
              <a:rPr sz="1800" dirty="0">
                <a:solidFill>
                  <a:srgbClr val="212121"/>
                </a:solidFill>
                <a:latin typeface="Tahoma"/>
                <a:cs typeface="Tahoma"/>
              </a:rPr>
              <a:t>The</a:t>
            </a:r>
            <a:r>
              <a:rPr sz="1800" spc="-95" dirty="0">
                <a:solidFill>
                  <a:srgbClr val="212121"/>
                </a:solidFill>
                <a:latin typeface="Tahoma"/>
                <a:cs typeface="Tahoma"/>
              </a:rPr>
              <a:t> </a:t>
            </a:r>
            <a:r>
              <a:rPr sz="1800" dirty="0">
                <a:solidFill>
                  <a:srgbClr val="212121"/>
                </a:solidFill>
                <a:latin typeface="Tahoma"/>
                <a:cs typeface="Tahoma"/>
              </a:rPr>
              <a:t>Generator</a:t>
            </a:r>
            <a:r>
              <a:rPr sz="1800" spc="-100" dirty="0">
                <a:solidFill>
                  <a:srgbClr val="212121"/>
                </a:solidFill>
                <a:latin typeface="Tahoma"/>
                <a:cs typeface="Tahoma"/>
              </a:rPr>
              <a:t> </a:t>
            </a:r>
            <a:r>
              <a:rPr sz="1800" spc="60" dirty="0">
                <a:solidFill>
                  <a:srgbClr val="212121"/>
                </a:solidFill>
                <a:latin typeface="Tahoma"/>
                <a:cs typeface="Tahoma"/>
              </a:rPr>
              <a:t>Model</a:t>
            </a:r>
            <a:r>
              <a:rPr sz="1800" spc="-50" dirty="0">
                <a:solidFill>
                  <a:srgbClr val="212121"/>
                </a:solidFill>
                <a:latin typeface="Tahoma"/>
                <a:cs typeface="Tahoma"/>
              </a:rPr>
              <a:t> </a:t>
            </a:r>
            <a:r>
              <a:rPr sz="1800" spc="-10" dirty="0">
                <a:solidFill>
                  <a:srgbClr val="212121"/>
                </a:solidFill>
                <a:latin typeface="Tahoma"/>
                <a:cs typeface="Tahoma"/>
              </a:rPr>
              <a:t>generates</a:t>
            </a:r>
            <a:r>
              <a:rPr sz="1800" spc="-90" dirty="0">
                <a:solidFill>
                  <a:srgbClr val="212121"/>
                </a:solidFill>
                <a:latin typeface="Tahoma"/>
                <a:cs typeface="Tahoma"/>
              </a:rPr>
              <a:t> </a:t>
            </a:r>
            <a:r>
              <a:rPr sz="1800" dirty="0">
                <a:solidFill>
                  <a:srgbClr val="212121"/>
                </a:solidFill>
                <a:latin typeface="Tahoma"/>
                <a:cs typeface="Tahoma"/>
              </a:rPr>
              <a:t>new</a:t>
            </a:r>
            <a:r>
              <a:rPr sz="1800" spc="-75" dirty="0">
                <a:solidFill>
                  <a:srgbClr val="212121"/>
                </a:solidFill>
                <a:latin typeface="Tahoma"/>
                <a:cs typeface="Tahoma"/>
              </a:rPr>
              <a:t> </a:t>
            </a:r>
            <a:r>
              <a:rPr sz="1800" spc="-35" dirty="0">
                <a:solidFill>
                  <a:srgbClr val="212121"/>
                </a:solidFill>
                <a:latin typeface="Tahoma"/>
                <a:cs typeface="Tahoma"/>
              </a:rPr>
              <a:t>images</a:t>
            </a:r>
            <a:r>
              <a:rPr sz="1800" spc="-70" dirty="0">
                <a:solidFill>
                  <a:srgbClr val="212121"/>
                </a:solidFill>
                <a:latin typeface="Tahoma"/>
                <a:cs typeface="Tahoma"/>
              </a:rPr>
              <a:t> </a:t>
            </a:r>
            <a:r>
              <a:rPr sz="1800" dirty="0">
                <a:solidFill>
                  <a:srgbClr val="212121"/>
                </a:solidFill>
                <a:latin typeface="Tahoma"/>
                <a:cs typeface="Tahoma"/>
              </a:rPr>
              <a:t>by</a:t>
            </a:r>
            <a:r>
              <a:rPr sz="1800" spc="-75" dirty="0">
                <a:solidFill>
                  <a:srgbClr val="212121"/>
                </a:solidFill>
                <a:latin typeface="Tahoma"/>
                <a:cs typeface="Tahoma"/>
              </a:rPr>
              <a:t> </a:t>
            </a:r>
            <a:r>
              <a:rPr sz="1800" spc="-10" dirty="0">
                <a:solidFill>
                  <a:srgbClr val="212121"/>
                </a:solidFill>
                <a:latin typeface="Tahoma"/>
                <a:cs typeface="Tahoma"/>
              </a:rPr>
              <a:t>taking</a:t>
            </a:r>
            <a:r>
              <a:rPr sz="1800" spc="-75" dirty="0">
                <a:solidFill>
                  <a:srgbClr val="212121"/>
                </a:solidFill>
                <a:latin typeface="Tahoma"/>
                <a:cs typeface="Tahoma"/>
              </a:rPr>
              <a:t> </a:t>
            </a:r>
            <a:r>
              <a:rPr sz="1800" spc="-60" dirty="0">
                <a:solidFill>
                  <a:srgbClr val="212121"/>
                </a:solidFill>
                <a:latin typeface="Tahoma"/>
                <a:cs typeface="Tahoma"/>
              </a:rPr>
              <a:t>a </a:t>
            </a:r>
            <a:r>
              <a:rPr sz="1800" dirty="0">
                <a:solidFill>
                  <a:srgbClr val="212121"/>
                </a:solidFill>
                <a:latin typeface="Tahoma"/>
                <a:cs typeface="Tahoma"/>
              </a:rPr>
              <a:t>fixed</a:t>
            </a:r>
            <a:r>
              <a:rPr sz="1800" spc="-80" dirty="0">
                <a:solidFill>
                  <a:srgbClr val="212121"/>
                </a:solidFill>
                <a:latin typeface="Tahoma"/>
                <a:cs typeface="Tahoma"/>
              </a:rPr>
              <a:t> </a:t>
            </a:r>
            <a:r>
              <a:rPr sz="1800" dirty="0">
                <a:solidFill>
                  <a:srgbClr val="212121"/>
                </a:solidFill>
                <a:latin typeface="Tahoma"/>
                <a:cs typeface="Tahoma"/>
              </a:rPr>
              <a:t>size</a:t>
            </a:r>
            <a:r>
              <a:rPr sz="1800" spc="-70" dirty="0">
                <a:solidFill>
                  <a:srgbClr val="212121"/>
                </a:solidFill>
                <a:latin typeface="Tahoma"/>
                <a:cs typeface="Tahoma"/>
              </a:rPr>
              <a:t> </a:t>
            </a:r>
            <a:r>
              <a:rPr sz="1800" spc="-10" dirty="0">
                <a:solidFill>
                  <a:srgbClr val="212121"/>
                </a:solidFill>
                <a:latin typeface="Tahoma"/>
                <a:cs typeface="Tahoma"/>
              </a:rPr>
              <a:t>random</a:t>
            </a:r>
            <a:r>
              <a:rPr sz="1800" spc="-80" dirty="0">
                <a:solidFill>
                  <a:srgbClr val="212121"/>
                </a:solidFill>
                <a:latin typeface="Tahoma"/>
                <a:cs typeface="Tahoma"/>
              </a:rPr>
              <a:t> </a:t>
            </a:r>
            <a:r>
              <a:rPr sz="1800" dirty="0">
                <a:solidFill>
                  <a:srgbClr val="212121"/>
                </a:solidFill>
                <a:latin typeface="Tahoma"/>
                <a:cs typeface="Tahoma"/>
              </a:rPr>
              <a:t>noise</a:t>
            </a:r>
            <a:r>
              <a:rPr sz="1800" spc="-75" dirty="0">
                <a:solidFill>
                  <a:srgbClr val="212121"/>
                </a:solidFill>
                <a:latin typeface="Tahoma"/>
                <a:cs typeface="Tahoma"/>
              </a:rPr>
              <a:t> </a:t>
            </a:r>
            <a:r>
              <a:rPr sz="1800" spc="-45" dirty="0">
                <a:solidFill>
                  <a:srgbClr val="212121"/>
                </a:solidFill>
                <a:latin typeface="Tahoma"/>
                <a:cs typeface="Tahoma"/>
              </a:rPr>
              <a:t>as</a:t>
            </a:r>
            <a:r>
              <a:rPr sz="1800" spc="-75" dirty="0">
                <a:solidFill>
                  <a:srgbClr val="212121"/>
                </a:solidFill>
                <a:latin typeface="Tahoma"/>
                <a:cs typeface="Tahoma"/>
              </a:rPr>
              <a:t> </a:t>
            </a:r>
            <a:r>
              <a:rPr sz="1800" spc="-20" dirty="0">
                <a:solidFill>
                  <a:srgbClr val="212121"/>
                </a:solidFill>
                <a:latin typeface="Tahoma"/>
                <a:cs typeface="Tahoma"/>
              </a:rPr>
              <a:t>an</a:t>
            </a:r>
            <a:r>
              <a:rPr sz="1800" spc="-70" dirty="0">
                <a:solidFill>
                  <a:srgbClr val="212121"/>
                </a:solidFill>
                <a:latin typeface="Tahoma"/>
                <a:cs typeface="Tahoma"/>
              </a:rPr>
              <a:t> </a:t>
            </a:r>
            <a:r>
              <a:rPr sz="1800" spc="-10" dirty="0">
                <a:solidFill>
                  <a:srgbClr val="212121"/>
                </a:solidFill>
                <a:latin typeface="Tahoma"/>
                <a:cs typeface="Tahoma"/>
              </a:rPr>
              <a:t>input.</a:t>
            </a:r>
            <a:r>
              <a:rPr sz="1800" spc="-75" dirty="0">
                <a:solidFill>
                  <a:srgbClr val="212121"/>
                </a:solidFill>
                <a:latin typeface="Tahoma"/>
                <a:cs typeface="Tahoma"/>
              </a:rPr>
              <a:t> </a:t>
            </a:r>
            <a:r>
              <a:rPr sz="1800" dirty="0">
                <a:solidFill>
                  <a:srgbClr val="212121"/>
                </a:solidFill>
                <a:latin typeface="Tahoma"/>
                <a:cs typeface="Tahoma"/>
              </a:rPr>
              <a:t>Generated</a:t>
            </a:r>
            <a:r>
              <a:rPr sz="1800" spc="-90" dirty="0">
                <a:solidFill>
                  <a:srgbClr val="212121"/>
                </a:solidFill>
                <a:latin typeface="Tahoma"/>
                <a:cs typeface="Tahoma"/>
              </a:rPr>
              <a:t> </a:t>
            </a:r>
            <a:r>
              <a:rPr sz="1800" spc="-10" dirty="0">
                <a:solidFill>
                  <a:srgbClr val="212121"/>
                </a:solidFill>
                <a:latin typeface="Tahoma"/>
                <a:cs typeface="Tahoma"/>
              </a:rPr>
              <a:t>images </a:t>
            </a:r>
            <a:r>
              <a:rPr sz="1800" spc="-20" dirty="0">
                <a:solidFill>
                  <a:srgbClr val="212121"/>
                </a:solidFill>
                <a:latin typeface="Tahoma"/>
                <a:cs typeface="Tahoma"/>
              </a:rPr>
              <a:t>are</a:t>
            </a:r>
            <a:r>
              <a:rPr sz="1800" spc="-50" dirty="0">
                <a:solidFill>
                  <a:srgbClr val="212121"/>
                </a:solidFill>
                <a:latin typeface="Tahoma"/>
                <a:cs typeface="Tahoma"/>
              </a:rPr>
              <a:t> </a:t>
            </a:r>
            <a:r>
              <a:rPr sz="1800" dirty="0">
                <a:solidFill>
                  <a:srgbClr val="212121"/>
                </a:solidFill>
                <a:latin typeface="Tahoma"/>
                <a:cs typeface="Tahoma"/>
              </a:rPr>
              <a:t>then</a:t>
            </a:r>
            <a:r>
              <a:rPr sz="1800" spc="-55" dirty="0">
                <a:solidFill>
                  <a:srgbClr val="212121"/>
                </a:solidFill>
                <a:latin typeface="Tahoma"/>
                <a:cs typeface="Tahoma"/>
              </a:rPr>
              <a:t> </a:t>
            </a:r>
            <a:r>
              <a:rPr sz="1800" dirty="0">
                <a:solidFill>
                  <a:srgbClr val="212121"/>
                </a:solidFill>
                <a:latin typeface="Tahoma"/>
                <a:cs typeface="Tahoma"/>
              </a:rPr>
              <a:t>fed</a:t>
            </a:r>
            <a:r>
              <a:rPr sz="1800" spc="-35" dirty="0">
                <a:solidFill>
                  <a:srgbClr val="212121"/>
                </a:solidFill>
                <a:latin typeface="Tahoma"/>
                <a:cs typeface="Tahoma"/>
              </a:rPr>
              <a:t> </a:t>
            </a:r>
            <a:r>
              <a:rPr sz="1800" dirty="0">
                <a:solidFill>
                  <a:srgbClr val="212121"/>
                </a:solidFill>
                <a:latin typeface="Tahoma"/>
                <a:cs typeface="Tahoma"/>
              </a:rPr>
              <a:t>to</a:t>
            </a:r>
            <a:r>
              <a:rPr sz="1800" spc="-35" dirty="0">
                <a:solidFill>
                  <a:srgbClr val="212121"/>
                </a:solidFill>
                <a:latin typeface="Tahoma"/>
                <a:cs typeface="Tahoma"/>
              </a:rPr>
              <a:t> </a:t>
            </a:r>
            <a:r>
              <a:rPr sz="1800" dirty="0">
                <a:solidFill>
                  <a:srgbClr val="212121"/>
                </a:solidFill>
                <a:latin typeface="Tahoma"/>
                <a:cs typeface="Tahoma"/>
              </a:rPr>
              <a:t>the</a:t>
            </a:r>
            <a:r>
              <a:rPr sz="1800" spc="-40" dirty="0">
                <a:solidFill>
                  <a:srgbClr val="212121"/>
                </a:solidFill>
                <a:latin typeface="Tahoma"/>
                <a:cs typeface="Tahoma"/>
              </a:rPr>
              <a:t> </a:t>
            </a:r>
            <a:r>
              <a:rPr sz="1800" dirty="0">
                <a:solidFill>
                  <a:srgbClr val="212121"/>
                </a:solidFill>
                <a:latin typeface="Tahoma"/>
                <a:cs typeface="Tahoma"/>
              </a:rPr>
              <a:t>Discriminator</a:t>
            </a:r>
            <a:r>
              <a:rPr sz="1800" spc="-40" dirty="0">
                <a:solidFill>
                  <a:srgbClr val="212121"/>
                </a:solidFill>
                <a:latin typeface="Tahoma"/>
                <a:cs typeface="Tahoma"/>
              </a:rPr>
              <a:t> </a:t>
            </a:r>
            <a:r>
              <a:rPr sz="1800" spc="-10" dirty="0">
                <a:solidFill>
                  <a:srgbClr val="212121"/>
                </a:solidFill>
                <a:latin typeface="Tahoma"/>
                <a:cs typeface="Tahoma"/>
              </a:rPr>
              <a:t>Model.</a:t>
            </a:r>
            <a:endParaRPr sz="1800">
              <a:latin typeface="Tahoma"/>
              <a:cs typeface="Tahoma"/>
            </a:endParaRPr>
          </a:p>
          <a:p>
            <a:pPr marL="91440" marR="159385">
              <a:lnSpc>
                <a:spcPct val="100000"/>
              </a:lnSpc>
            </a:pPr>
            <a:r>
              <a:rPr sz="1800" dirty="0">
                <a:solidFill>
                  <a:srgbClr val="212121"/>
                </a:solidFill>
                <a:latin typeface="Tahoma"/>
                <a:cs typeface="Tahoma"/>
              </a:rPr>
              <a:t>The</a:t>
            </a:r>
            <a:r>
              <a:rPr sz="1800" spc="-70" dirty="0">
                <a:solidFill>
                  <a:srgbClr val="212121"/>
                </a:solidFill>
                <a:latin typeface="Tahoma"/>
                <a:cs typeface="Tahoma"/>
              </a:rPr>
              <a:t> </a:t>
            </a:r>
            <a:r>
              <a:rPr sz="1800" spc="-20" dirty="0">
                <a:solidFill>
                  <a:srgbClr val="212121"/>
                </a:solidFill>
                <a:latin typeface="Tahoma"/>
                <a:cs typeface="Tahoma"/>
              </a:rPr>
              <a:t>main</a:t>
            </a:r>
            <a:r>
              <a:rPr sz="1800" spc="-60" dirty="0">
                <a:solidFill>
                  <a:srgbClr val="212121"/>
                </a:solidFill>
                <a:latin typeface="Tahoma"/>
                <a:cs typeface="Tahoma"/>
              </a:rPr>
              <a:t> </a:t>
            </a:r>
            <a:r>
              <a:rPr sz="1800" spc="-10" dirty="0">
                <a:solidFill>
                  <a:srgbClr val="212121"/>
                </a:solidFill>
                <a:latin typeface="Tahoma"/>
                <a:cs typeface="Tahoma"/>
              </a:rPr>
              <a:t>goal</a:t>
            </a:r>
            <a:r>
              <a:rPr sz="1800" spc="-60" dirty="0">
                <a:solidFill>
                  <a:srgbClr val="212121"/>
                </a:solidFill>
                <a:latin typeface="Tahoma"/>
                <a:cs typeface="Tahoma"/>
              </a:rPr>
              <a:t> </a:t>
            </a:r>
            <a:r>
              <a:rPr sz="1800" dirty="0">
                <a:solidFill>
                  <a:srgbClr val="212121"/>
                </a:solidFill>
                <a:latin typeface="Tahoma"/>
                <a:cs typeface="Tahoma"/>
              </a:rPr>
              <a:t>of</a:t>
            </a:r>
            <a:r>
              <a:rPr sz="1800" spc="-60" dirty="0">
                <a:solidFill>
                  <a:srgbClr val="212121"/>
                </a:solidFill>
                <a:latin typeface="Tahoma"/>
                <a:cs typeface="Tahoma"/>
              </a:rPr>
              <a:t> </a:t>
            </a:r>
            <a:r>
              <a:rPr sz="1800" dirty="0">
                <a:solidFill>
                  <a:srgbClr val="212121"/>
                </a:solidFill>
                <a:latin typeface="Tahoma"/>
                <a:cs typeface="Tahoma"/>
              </a:rPr>
              <a:t>the</a:t>
            </a:r>
            <a:r>
              <a:rPr sz="1800" spc="-50" dirty="0">
                <a:solidFill>
                  <a:srgbClr val="212121"/>
                </a:solidFill>
                <a:latin typeface="Tahoma"/>
                <a:cs typeface="Tahoma"/>
              </a:rPr>
              <a:t> </a:t>
            </a:r>
            <a:r>
              <a:rPr sz="1800" dirty="0">
                <a:solidFill>
                  <a:srgbClr val="212121"/>
                </a:solidFill>
                <a:latin typeface="Tahoma"/>
                <a:cs typeface="Tahoma"/>
              </a:rPr>
              <a:t>Generator</a:t>
            </a:r>
            <a:r>
              <a:rPr sz="1800" spc="-90" dirty="0">
                <a:solidFill>
                  <a:srgbClr val="212121"/>
                </a:solidFill>
                <a:latin typeface="Tahoma"/>
                <a:cs typeface="Tahoma"/>
              </a:rPr>
              <a:t> </a:t>
            </a:r>
            <a:r>
              <a:rPr sz="1800" dirty="0">
                <a:solidFill>
                  <a:srgbClr val="212121"/>
                </a:solidFill>
                <a:latin typeface="Tahoma"/>
                <a:cs typeface="Tahoma"/>
              </a:rPr>
              <a:t>is</a:t>
            </a:r>
            <a:r>
              <a:rPr sz="1800" spc="-60" dirty="0">
                <a:solidFill>
                  <a:srgbClr val="212121"/>
                </a:solidFill>
                <a:latin typeface="Tahoma"/>
                <a:cs typeface="Tahoma"/>
              </a:rPr>
              <a:t> </a:t>
            </a:r>
            <a:r>
              <a:rPr sz="1800" dirty="0">
                <a:solidFill>
                  <a:srgbClr val="212121"/>
                </a:solidFill>
                <a:latin typeface="Tahoma"/>
                <a:cs typeface="Tahoma"/>
              </a:rPr>
              <a:t>to</a:t>
            </a:r>
            <a:r>
              <a:rPr sz="1800" spc="-50" dirty="0">
                <a:solidFill>
                  <a:srgbClr val="212121"/>
                </a:solidFill>
                <a:latin typeface="Tahoma"/>
                <a:cs typeface="Tahoma"/>
              </a:rPr>
              <a:t> </a:t>
            </a:r>
            <a:r>
              <a:rPr sz="1800" dirty="0">
                <a:solidFill>
                  <a:srgbClr val="212121"/>
                </a:solidFill>
                <a:latin typeface="Tahoma"/>
                <a:cs typeface="Tahoma"/>
              </a:rPr>
              <a:t>fool</a:t>
            </a:r>
            <a:r>
              <a:rPr sz="1800" spc="-55" dirty="0">
                <a:solidFill>
                  <a:srgbClr val="212121"/>
                </a:solidFill>
                <a:latin typeface="Tahoma"/>
                <a:cs typeface="Tahoma"/>
              </a:rPr>
              <a:t> </a:t>
            </a:r>
            <a:r>
              <a:rPr sz="1800" dirty="0">
                <a:solidFill>
                  <a:srgbClr val="212121"/>
                </a:solidFill>
                <a:latin typeface="Tahoma"/>
                <a:cs typeface="Tahoma"/>
              </a:rPr>
              <a:t>the</a:t>
            </a:r>
            <a:r>
              <a:rPr sz="1800" spc="-60" dirty="0">
                <a:solidFill>
                  <a:srgbClr val="212121"/>
                </a:solidFill>
                <a:latin typeface="Tahoma"/>
                <a:cs typeface="Tahoma"/>
              </a:rPr>
              <a:t> </a:t>
            </a:r>
            <a:r>
              <a:rPr sz="1800" dirty="0">
                <a:solidFill>
                  <a:srgbClr val="212121"/>
                </a:solidFill>
                <a:latin typeface="Tahoma"/>
                <a:cs typeface="Tahoma"/>
              </a:rPr>
              <a:t>Discriminator</a:t>
            </a:r>
            <a:r>
              <a:rPr sz="1800" spc="-60" dirty="0">
                <a:solidFill>
                  <a:srgbClr val="212121"/>
                </a:solidFill>
                <a:latin typeface="Tahoma"/>
                <a:cs typeface="Tahoma"/>
              </a:rPr>
              <a:t> </a:t>
            </a:r>
            <a:r>
              <a:rPr sz="1800" dirty="0">
                <a:solidFill>
                  <a:srgbClr val="212121"/>
                </a:solidFill>
                <a:latin typeface="Tahoma"/>
                <a:cs typeface="Tahoma"/>
              </a:rPr>
              <a:t>by</a:t>
            </a:r>
            <a:r>
              <a:rPr sz="1800" spc="-60" dirty="0">
                <a:solidFill>
                  <a:srgbClr val="212121"/>
                </a:solidFill>
                <a:latin typeface="Tahoma"/>
                <a:cs typeface="Tahoma"/>
              </a:rPr>
              <a:t> </a:t>
            </a:r>
            <a:r>
              <a:rPr sz="1800" spc="-10" dirty="0">
                <a:solidFill>
                  <a:srgbClr val="212121"/>
                </a:solidFill>
                <a:latin typeface="Tahoma"/>
                <a:cs typeface="Tahoma"/>
              </a:rPr>
              <a:t>generating</a:t>
            </a:r>
            <a:r>
              <a:rPr sz="1800" spc="-65" dirty="0">
                <a:solidFill>
                  <a:srgbClr val="212121"/>
                </a:solidFill>
                <a:latin typeface="Tahoma"/>
                <a:cs typeface="Tahoma"/>
              </a:rPr>
              <a:t> </a:t>
            </a:r>
            <a:r>
              <a:rPr sz="1800" spc="-35" dirty="0">
                <a:solidFill>
                  <a:srgbClr val="212121"/>
                </a:solidFill>
                <a:latin typeface="Tahoma"/>
                <a:cs typeface="Tahoma"/>
              </a:rPr>
              <a:t>images</a:t>
            </a:r>
            <a:r>
              <a:rPr sz="1800" spc="-65" dirty="0">
                <a:solidFill>
                  <a:srgbClr val="212121"/>
                </a:solidFill>
                <a:latin typeface="Tahoma"/>
                <a:cs typeface="Tahoma"/>
              </a:rPr>
              <a:t> </a:t>
            </a:r>
            <a:r>
              <a:rPr sz="1800" dirty="0">
                <a:solidFill>
                  <a:srgbClr val="212121"/>
                </a:solidFill>
                <a:latin typeface="Tahoma"/>
                <a:cs typeface="Tahoma"/>
              </a:rPr>
              <a:t>that</a:t>
            </a:r>
            <a:r>
              <a:rPr sz="1800" spc="-50" dirty="0">
                <a:solidFill>
                  <a:srgbClr val="212121"/>
                </a:solidFill>
                <a:latin typeface="Tahoma"/>
                <a:cs typeface="Tahoma"/>
              </a:rPr>
              <a:t> </a:t>
            </a:r>
            <a:r>
              <a:rPr sz="1800" dirty="0">
                <a:solidFill>
                  <a:srgbClr val="212121"/>
                </a:solidFill>
                <a:latin typeface="Tahoma"/>
                <a:cs typeface="Tahoma"/>
              </a:rPr>
              <a:t>look</a:t>
            </a:r>
            <a:r>
              <a:rPr sz="1800" spc="-65" dirty="0">
                <a:solidFill>
                  <a:srgbClr val="212121"/>
                </a:solidFill>
                <a:latin typeface="Tahoma"/>
                <a:cs typeface="Tahoma"/>
              </a:rPr>
              <a:t> </a:t>
            </a:r>
            <a:r>
              <a:rPr sz="1800" dirty="0">
                <a:solidFill>
                  <a:srgbClr val="212121"/>
                </a:solidFill>
                <a:latin typeface="Tahoma"/>
                <a:cs typeface="Tahoma"/>
              </a:rPr>
              <a:t>like</a:t>
            </a:r>
            <a:r>
              <a:rPr sz="1800" spc="-45" dirty="0">
                <a:solidFill>
                  <a:srgbClr val="212121"/>
                </a:solidFill>
                <a:latin typeface="Tahoma"/>
                <a:cs typeface="Tahoma"/>
              </a:rPr>
              <a:t> </a:t>
            </a:r>
            <a:r>
              <a:rPr sz="1800" spc="-10" dirty="0">
                <a:solidFill>
                  <a:srgbClr val="212121"/>
                </a:solidFill>
                <a:latin typeface="Tahoma"/>
                <a:cs typeface="Tahoma"/>
              </a:rPr>
              <a:t>real</a:t>
            </a:r>
            <a:r>
              <a:rPr sz="1800" spc="-70" dirty="0">
                <a:solidFill>
                  <a:srgbClr val="212121"/>
                </a:solidFill>
                <a:latin typeface="Tahoma"/>
                <a:cs typeface="Tahoma"/>
              </a:rPr>
              <a:t> </a:t>
            </a:r>
            <a:r>
              <a:rPr sz="1800" spc="-35" dirty="0">
                <a:solidFill>
                  <a:srgbClr val="212121"/>
                </a:solidFill>
                <a:latin typeface="Tahoma"/>
                <a:cs typeface="Tahoma"/>
              </a:rPr>
              <a:t>images</a:t>
            </a:r>
            <a:r>
              <a:rPr sz="1800" spc="-60" dirty="0">
                <a:solidFill>
                  <a:srgbClr val="212121"/>
                </a:solidFill>
                <a:latin typeface="Tahoma"/>
                <a:cs typeface="Tahoma"/>
              </a:rPr>
              <a:t> </a:t>
            </a:r>
            <a:r>
              <a:rPr sz="1800" spc="-25" dirty="0">
                <a:solidFill>
                  <a:srgbClr val="212121"/>
                </a:solidFill>
                <a:latin typeface="Tahoma"/>
                <a:cs typeface="Tahoma"/>
              </a:rPr>
              <a:t>and </a:t>
            </a:r>
            <a:r>
              <a:rPr sz="1800" dirty="0">
                <a:solidFill>
                  <a:srgbClr val="212121"/>
                </a:solidFill>
                <a:latin typeface="Tahoma"/>
                <a:cs typeface="Tahoma"/>
              </a:rPr>
              <a:t>thus</a:t>
            </a:r>
            <a:r>
              <a:rPr sz="1800" spc="-80" dirty="0">
                <a:solidFill>
                  <a:srgbClr val="212121"/>
                </a:solidFill>
                <a:latin typeface="Tahoma"/>
                <a:cs typeface="Tahoma"/>
              </a:rPr>
              <a:t> </a:t>
            </a:r>
            <a:r>
              <a:rPr sz="1800" spc="-25" dirty="0">
                <a:solidFill>
                  <a:srgbClr val="212121"/>
                </a:solidFill>
                <a:latin typeface="Tahoma"/>
                <a:cs typeface="Tahoma"/>
              </a:rPr>
              <a:t>makes</a:t>
            </a:r>
            <a:r>
              <a:rPr sz="1800" spc="-60" dirty="0">
                <a:solidFill>
                  <a:srgbClr val="212121"/>
                </a:solidFill>
                <a:latin typeface="Tahoma"/>
                <a:cs typeface="Tahoma"/>
              </a:rPr>
              <a:t> </a:t>
            </a:r>
            <a:r>
              <a:rPr sz="1800" dirty="0">
                <a:solidFill>
                  <a:srgbClr val="212121"/>
                </a:solidFill>
                <a:latin typeface="Tahoma"/>
                <a:cs typeface="Tahoma"/>
              </a:rPr>
              <a:t>it</a:t>
            </a:r>
            <a:r>
              <a:rPr sz="1800" spc="-60" dirty="0">
                <a:solidFill>
                  <a:srgbClr val="212121"/>
                </a:solidFill>
                <a:latin typeface="Tahoma"/>
                <a:cs typeface="Tahoma"/>
              </a:rPr>
              <a:t> </a:t>
            </a:r>
            <a:r>
              <a:rPr sz="1800" spc="-10" dirty="0">
                <a:solidFill>
                  <a:srgbClr val="212121"/>
                </a:solidFill>
                <a:latin typeface="Tahoma"/>
                <a:cs typeface="Tahoma"/>
              </a:rPr>
              <a:t>harder</a:t>
            </a:r>
            <a:r>
              <a:rPr sz="1800" spc="-70" dirty="0">
                <a:solidFill>
                  <a:srgbClr val="212121"/>
                </a:solidFill>
                <a:latin typeface="Tahoma"/>
                <a:cs typeface="Tahoma"/>
              </a:rPr>
              <a:t> </a:t>
            </a:r>
            <a:r>
              <a:rPr sz="1800" dirty="0">
                <a:solidFill>
                  <a:srgbClr val="212121"/>
                </a:solidFill>
                <a:latin typeface="Tahoma"/>
                <a:cs typeface="Tahoma"/>
              </a:rPr>
              <a:t>for</a:t>
            </a:r>
            <a:r>
              <a:rPr sz="1800" spc="-75" dirty="0">
                <a:solidFill>
                  <a:srgbClr val="212121"/>
                </a:solidFill>
                <a:latin typeface="Tahoma"/>
                <a:cs typeface="Tahoma"/>
              </a:rPr>
              <a:t> </a:t>
            </a:r>
            <a:r>
              <a:rPr sz="1800" dirty="0">
                <a:solidFill>
                  <a:srgbClr val="212121"/>
                </a:solidFill>
                <a:latin typeface="Tahoma"/>
                <a:cs typeface="Tahoma"/>
              </a:rPr>
              <a:t>the</a:t>
            </a:r>
            <a:r>
              <a:rPr sz="1800" spc="-50" dirty="0">
                <a:solidFill>
                  <a:srgbClr val="212121"/>
                </a:solidFill>
                <a:latin typeface="Tahoma"/>
                <a:cs typeface="Tahoma"/>
              </a:rPr>
              <a:t> </a:t>
            </a:r>
            <a:r>
              <a:rPr sz="1800" dirty="0">
                <a:solidFill>
                  <a:srgbClr val="212121"/>
                </a:solidFill>
                <a:latin typeface="Tahoma"/>
                <a:cs typeface="Tahoma"/>
              </a:rPr>
              <a:t>Discriminator</a:t>
            </a:r>
            <a:r>
              <a:rPr sz="1800" spc="-55" dirty="0">
                <a:solidFill>
                  <a:srgbClr val="212121"/>
                </a:solidFill>
                <a:latin typeface="Tahoma"/>
                <a:cs typeface="Tahoma"/>
              </a:rPr>
              <a:t> </a:t>
            </a:r>
            <a:r>
              <a:rPr sz="1800" dirty="0">
                <a:solidFill>
                  <a:srgbClr val="212121"/>
                </a:solidFill>
                <a:latin typeface="Tahoma"/>
                <a:cs typeface="Tahoma"/>
              </a:rPr>
              <a:t>to</a:t>
            </a:r>
            <a:r>
              <a:rPr sz="1800" spc="-65" dirty="0">
                <a:solidFill>
                  <a:srgbClr val="212121"/>
                </a:solidFill>
                <a:latin typeface="Tahoma"/>
                <a:cs typeface="Tahoma"/>
              </a:rPr>
              <a:t> </a:t>
            </a:r>
            <a:r>
              <a:rPr sz="1800" dirty="0">
                <a:solidFill>
                  <a:srgbClr val="212121"/>
                </a:solidFill>
                <a:latin typeface="Tahoma"/>
                <a:cs typeface="Tahoma"/>
              </a:rPr>
              <a:t>classify</a:t>
            </a:r>
            <a:r>
              <a:rPr sz="1800" spc="-80" dirty="0">
                <a:solidFill>
                  <a:srgbClr val="212121"/>
                </a:solidFill>
                <a:latin typeface="Tahoma"/>
                <a:cs typeface="Tahoma"/>
              </a:rPr>
              <a:t> </a:t>
            </a:r>
            <a:r>
              <a:rPr sz="1800" spc="-35" dirty="0">
                <a:solidFill>
                  <a:srgbClr val="212121"/>
                </a:solidFill>
                <a:latin typeface="Tahoma"/>
                <a:cs typeface="Tahoma"/>
              </a:rPr>
              <a:t>images</a:t>
            </a:r>
            <a:r>
              <a:rPr sz="1800" spc="-60" dirty="0">
                <a:solidFill>
                  <a:srgbClr val="212121"/>
                </a:solidFill>
                <a:latin typeface="Tahoma"/>
                <a:cs typeface="Tahoma"/>
              </a:rPr>
              <a:t> </a:t>
            </a:r>
            <a:r>
              <a:rPr sz="1800" spc="-50" dirty="0">
                <a:solidFill>
                  <a:srgbClr val="212121"/>
                </a:solidFill>
                <a:latin typeface="Tahoma"/>
                <a:cs typeface="Tahoma"/>
              </a:rPr>
              <a:t>as</a:t>
            </a:r>
            <a:r>
              <a:rPr sz="1800" spc="-55" dirty="0">
                <a:solidFill>
                  <a:srgbClr val="212121"/>
                </a:solidFill>
                <a:latin typeface="Tahoma"/>
                <a:cs typeface="Tahoma"/>
              </a:rPr>
              <a:t> </a:t>
            </a:r>
            <a:r>
              <a:rPr sz="1800" spc="-10" dirty="0">
                <a:solidFill>
                  <a:srgbClr val="212121"/>
                </a:solidFill>
                <a:latin typeface="Tahoma"/>
                <a:cs typeface="Tahoma"/>
              </a:rPr>
              <a:t>real</a:t>
            </a:r>
            <a:r>
              <a:rPr sz="1800" spc="-60" dirty="0">
                <a:solidFill>
                  <a:srgbClr val="212121"/>
                </a:solidFill>
                <a:latin typeface="Tahoma"/>
                <a:cs typeface="Tahoma"/>
              </a:rPr>
              <a:t> </a:t>
            </a:r>
            <a:r>
              <a:rPr sz="1800" dirty="0">
                <a:solidFill>
                  <a:srgbClr val="212121"/>
                </a:solidFill>
                <a:latin typeface="Tahoma"/>
                <a:cs typeface="Tahoma"/>
              </a:rPr>
              <a:t>or</a:t>
            </a:r>
            <a:r>
              <a:rPr sz="1800" spc="-50" dirty="0">
                <a:solidFill>
                  <a:srgbClr val="212121"/>
                </a:solidFill>
                <a:latin typeface="Tahoma"/>
                <a:cs typeface="Tahoma"/>
              </a:rPr>
              <a:t> </a:t>
            </a:r>
            <a:r>
              <a:rPr sz="1800" spc="-10" dirty="0">
                <a:solidFill>
                  <a:srgbClr val="212121"/>
                </a:solidFill>
                <a:latin typeface="Tahoma"/>
                <a:cs typeface="Tahoma"/>
              </a:rPr>
              <a:t>fake.</a:t>
            </a:r>
            <a:endParaRPr sz="1800">
              <a:latin typeface="Tahoma"/>
              <a:cs typeface="Tahoma"/>
            </a:endParaRPr>
          </a:p>
        </p:txBody>
      </p:sp>
      <p:sp>
        <p:nvSpPr>
          <p:cNvPr id="3" name="object 3"/>
          <p:cNvSpPr txBox="1"/>
          <p:nvPr/>
        </p:nvSpPr>
        <p:spPr>
          <a:xfrm>
            <a:off x="697991" y="4241291"/>
            <a:ext cx="11296015" cy="1201420"/>
          </a:xfrm>
          <a:prstGeom prst="rect">
            <a:avLst/>
          </a:prstGeom>
          <a:solidFill>
            <a:srgbClr val="E1EFD9"/>
          </a:solidFill>
        </p:spPr>
        <p:txBody>
          <a:bodyPr vert="horz" wrap="square" lIns="0" tIns="44450" rIns="0" bIns="0" rtlCol="0">
            <a:spAutoFit/>
          </a:bodyPr>
          <a:lstStyle/>
          <a:p>
            <a:pPr marL="91440">
              <a:lnSpc>
                <a:spcPct val="100000"/>
              </a:lnSpc>
              <a:spcBef>
                <a:spcPts val="350"/>
              </a:spcBef>
            </a:pPr>
            <a:r>
              <a:rPr sz="1800" b="1" spc="-105" dirty="0">
                <a:solidFill>
                  <a:srgbClr val="C00000"/>
                </a:solidFill>
                <a:latin typeface="Tahoma"/>
                <a:cs typeface="Tahoma"/>
              </a:rPr>
              <a:t>The</a:t>
            </a:r>
            <a:r>
              <a:rPr sz="1800" b="1" spc="-55" dirty="0">
                <a:solidFill>
                  <a:srgbClr val="C00000"/>
                </a:solidFill>
                <a:latin typeface="Tahoma"/>
                <a:cs typeface="Tahoma"/>
              </a:rPr>
              <a:t> </a:t>
            </a:r>
            <a:r>
              <a:rPr sz="1800" b="1" spc="-110" dirty="0">
                <a:solidFill>
                  <a:srgbClr val="C00000"/>
                </a:solidFill>
                <a:latin typeface="Tahoma"/>
                <a:cs typeface="Tahoma"/>
              </a:rPr>
              <a:t>Discriminator</a:t>
            </a:r>
            <a:r>
              <a:rPr sz="1800" b="1" spc="-35" dirty="0">
                <a:solidFill>
                  <a:srgbClr val="C00000"/>
                </a:solidFill>
                <a:latin typeface="Tahoma"/>
                <a:cs typeface="Tahoma"/>
              </a:rPr>
              <a:t> </a:t>
            </a:r>
            <a:r>
              <a:rPr sz="1800" b="1" spc="-10" dirty="0">
                <a:solidFill>
                  <a:srgbClr val="C00000"/>
                </a:solidFill>
                <a:latin typeface="Tahoma"/>
                <a:cs typeface="Tahoma"/>
              </a:rPr>
              <a:t>Model</a:t>
            </a:r>
            <a:endParaRPr sz="1800">
              <a:latin typeface="Tahoma"/>
              <a:cs typeface="Tahoma"/>
            </a:endParaRPr>
          </a:p>
          <a:p>
            <a:pPr marL="91440" marR="861060">
              <a:lnSpc>
                <a:spcPct val="100000"/>
              </a:lnSpc>
            </a:pPr>
            <a:r>
              <a:rPr sz="1800" dirty="0">
                <a:solidFill>
                  <a:srgbClr val="212121"/>
                </a:solidFill>
                <a:latin typeface="Tahoma"/>
                <a:cs typeface="Tahoma"/>
              </a:rPr>
              <a:t>The</a:t>
            </a:r>
            <a:r>
              <a:rPr sz="1800" spc="-95" dirty="0">
                <a:solidFill>
                  <a:srgbClr val="212121"/>
                </a:solidFill>
                <a:latin typeface="Tahoma"/>
                <a:cs typeface="Tahoma"/>
              </a:rPr>
              <a:t> </a:t>
            </a:r>
            <a:r>
              <a:rPr sz="1800" dirty="0">
                <a:solidFill>
                  <a:srgbClr val="212121"/>
                </a:solidFill>
                <a:latin typeface="Tahoma"/>
                <a:cs typeface="Tahoma"/>
              </a:rPr>
              <a:t>Discriminator</a:t>
            </a:r>
            <a:r>
              <a:rPr sz="1800" spc="-75" dirty="0">
                <a:solidFill>
                  <a:srgbClr val="212121"/>
                </a:solidFill>
                <a:latin typeface="Tahoma"/>
                <a:cs typeface="Tahoma"/>
              </a:rPr>
              <a:t> </a:t>
            </a:r>
            <a:r>
              <a:rPr sz="1800" spc="60" dirty="0">
                <a:solidFill>
                  <a:srgbClr val="212121"/>
                </a:solidFill>
                <a:latin typeface="Tahoma"/>
                <a:cs typeface="Tahoma"/>
              </a:rPr>
              <a:t>Model</a:t>
            </a:r>
            <a:r>
              <a:rPr sz="1800" spc="-75" dirty="0">
                <a:solidFill>
                  <a:srgbClr val="212121"/>
                </a:solidFill>
                <a:latin typeface="Tahoma"/>
                <a:cs typeface="Tahoma"/>
              </a:rPr>
              <a:t> </a:t>
            </a:r>
            <a:r>
              <a:rPr sz="1800" spc="-10" dirty="0">
                <a:solidFill>
                  <a:srgbClr val="212121"/>
                </a:solidFill>
                <a:latin typeface="Tahoma"/>
                <a:cs typeface="Tahoma"/>
              </a:rPr>
              <a:t>takes</a:t>
            </a:r>
            <a:r>
              <a:rPr sz="1800" spc="-85" dirty="0">
                <a:solidFill>
                  <a:srgbClr val="212121"/>
                </a:solidFill>
                <a:latin typeface="Tahoma"/>
                <a:cs typeface="Tahoma"/>
              </a:rPr>
              <a:t> </a:t>
            </a:r>
            <a:r>
              <a:rPr sz="1800" spc="-20" dirty="0">
                <a:solidFill>
                  <a:srgbClr val="212121"/>
                </a:solidFill>
                <a:latin typeface="Tahoma"/>
                <a:cs typeface="Tahoma"/>
              </a:rPr>
              <a:t>an</a:t>
            </a:r>
            <a:r>
              <a:rPr sz="1800" spc="-85" dirty="0">
                <a:solidFill>
                  <a:srgbClr val="212121"/>
                </a:solidFill>
                <a:latin typeface="Tahoma"/>
                <a:cs typeface="Tahoma"/>
              </a:rPr>
              <a:t> </a:t>
            </a:r>
            <a:r>
              <a:rPr sz="1800" spc="-35" dirty="0">
                <a:solidFill>
                  <a:srgbClr val="212121"/>
                </a:solidFill>
                <a:latin typeface="Tahoma"/>
                <a:cs typeface="Tahoma"/>
              </a:rPr>
              <a:t>image</a:t>
            </a:r>
            <a:r>
              <a:rPr sz="1800" spc="-85" dirty="0">
                <a:solidFill>
                  <a:srgbClr val="212121"/>
                </a:solidFill>
                <a:latin typeface="Tahoma"/>
                <a:cs typeface="Tahoma"/>
              </a:rPr>
              <a:t> </a:t>
            </a:r>
            <a:r>
              <a:rPr sz="1800" spc="-40" dirty="0">
                <a:solidFill>
                  <a:srgbClr val="212121"/>
                </a:solidFill>
                <a:latin typeface="Tahoma"/>
                <a:cs typeface="Tahoma"/>
              </a:rPr>
              <a:t>as</a:t>
            </a:r>
            <a:r>
              <a:rPr sz="1800" spc="-85" dirty="0">
                <a:solidFill>
                  <a:srgbClr val="212121"/>
                </a:solidFill>
                <a:latin typeface="Tahoma"/>
                <a:cs typeface="Tahoma"/>
              </a:rPr>
              <a:t> </a:t>
            </a:r>
            <a:r>
              <a:rPr sz="1800" spc="-30" dirty="0">
                <a:solidFill>
                  <a:srgbClr val="212121"/>
                </a:solidFill>
                <a:latin typeface="Tahoma"/>
                <a:cs typeface="Tahoma"/>
              </a:rPr>
              <a:t>an</a:t>
            </a:r>
            <a:r>
              <a:rPr sz="1800" spc="-85" dirty="0">
                <a:solidFill>
                  <a:srgbClr val="212121"/>
                </a:solidFill>
                <a:latin typeface="Tahoma"/>
                <a:cs typeface="Tahoma"/>
              </a:rPr>
              <a:t> </a:t>
            </a:r>
            <a:r>
              <a:rPr sz="1800" dirty="0">
                <a:solidFill>
                  <a:srgbClr val="212121"/>
                </a:solidFill>
                <a:latin typeface="Tahoma"/>
                <a:cs typeface="Tahoma"/>
              </a:rPr>
              <a:t>input</a:t>
            </a:r>
            <a:r>
              <a:rPr sz="1800" spc="-80" dirty="0">
                <a:solidFill>
                  <a:srgbClr val="212121"/>
                </a:solidFill>
                <a:latin typeface="Tahoma"/>
                <a:cs typeface="Tahoma"/>
              </a:rPr>
              <a:t> </a:t>
            </a:r>
            <a:r>
              <a:rPr sz="1800" spc="-30" dirty="0">
                <a:solidFill>
                  <a:srgbClr val="212121"/>
                </a:solidFill>
                <a:latin typeface="Tahoma"/>
                <a:cs typeface="Tahoma"/>
              </a:rPr>
              <a:t>(generated</a:t>
            </a:r>
            <a:r>
              <a:rPr sz="1800" spc="-90" dirty="0">
                <a:solidFill>
                  <a:srgbClr val="212121"/>
                </a:solidFill>
                <a:latin typeface="Tahoma"/>
                <a:cs typeface="Tahoma"/>
              </a:rPr>
              <a:t> </a:t>
            </a:r>
            <a:r>
              <a:rPr sz="1800" spc="-10" dirty="0">
                <a:solidFill>
                  <a:srgbClr val="212121"/>
                </a:solidFill>
                <a:latin typeface="Tahoma"/>
                <a:cs typeface="Tahoma"/>
              </a:rPr>
              <a:t>and</a:t>
            </a:r>
            <a:r>
              <a:rPr sz="1800" spc="-85" dirty="0">
                <a:solidFill>
                  <a:srgbClr val="212121"/>
                </a:solidFill>
                <a:latin typeface="Tahoma"/>
                <a:cs typeface="Tahoma"/>
              </a:rPr>
              <a:t> </a:t>
            </a:r>
            <a:r>
              <a:rPr sz="1800" spc="-55" dirty="0">
                <a:solidFill>
                  <a:srgbClr val="212121"/>
                </a:solidFill>
                <a:latin typeface="Tahoma"/>
                <a:cs typeface="Tahoma"/>
              </a:rPr>
              <a:t>real)</a:t>
            </a:r>
            <a:r>
              <a:rPr sz="1800" spc="-90" dirty="0">
                <a:solidFill>
                  <a:srgbClr val="212121"/>
                </a:solidFill>
                <a:latin typeface="Tahoma"/>
                <a:cs typeface="Tahoma"/>
              </a:rPr>
              <a:t> </a:t>
            </a:r>
            <a:r>
              <a:rPr sz="1800" spc="-10" dirty="0">
                <a:solidFill>
                  <a:srgbClr val="212121"/>
                </a:solidFill>
                <a:latin typeface="Tahoma"/>
                <a:cs typeface="Tahoma"/>
              </a:rPr>
              <a:t>and</a:t>
            </a:r>
            <a:r>
              <a:rPr sz="1800" spc="-85" dirty="0">
                <a:solidFill>
                  <a:srgbClr val="212121"/>
                </a:solidFill>
                <a:latin typeface="Tahoma"/>
                <a:cs typeface="Tahoma"/>
              </a:rPr>
              <a:t> </a:t>
            </a:r>
            <a:r>
              <a:rPr sz="1800" dirty="0">
                <a:solidFill>
                  <a:srgbClr val="212121"/>
                </a:solidFill>
                <a:latin typeface="Tahoma"/>
                <a:cs typeface="Tahoma"/>
              </a:rPr>
              <a:t>classifies</a:t>
            </a:r>
            <a:r>
              <a:rPr sz="1800" spc="-85" dirty="0">
                <a:solidFill>
                  <a:srgbClr val="212121"/>
                </a:solidFill>
                <a:latin typeface="Tahoma"/>
                <a:cs typeface="Tahoma"/>
              </a:rPr>
              <a:t> </a:t>
            </a:r>
            <a:r>
              <a:rPr sz="1800" dirty="0">
                <a:solidFill>
                  <a:srgbClr val="212121"/>
                </a:solidFill>
                <a:latin typeface="Tahoma"/>
                <a:cs typeface="Tahoma"/>
              </a:rPr>
              <a:t>it</a:t>
            </a:r>
            <a:r>
              <a:rPr sz="1800" spc="-80" dirty="0">
                <a:solidFill>
                  <a:srgbClr val="212121"/>
                </a:solidFill>
                <a:latin typeface="Tahoma"/>
                <a:cs typeface="Tahoma"/>
              </a:rPr>
              <a:t> </a:t>
            </a:r>
            <a:r>
              <a:rPr sz="1800" spc="-50" dirty="0">
                <a:solidFill>
                  <a:srgbClr val="212121"/>
                </a:solidFill>
                <a:latin typeface="Tahoma"/>
                <a:cs typeface="Tahoma"/>
              </a:rPr>
              <a:t>as</a:t>
            </a:r>
            <a:r>
              <a:rPr sz="1800" spc="-80" dirty="0">
                <a:solidFill>
                  <a:srgbClr val="212121"/>
                </a:solidFill>
                <a:latin typeface="Tahoma"/>
                <a:cs typeface="Tahoma"/>
              </a:rPr>
              <a:t> </a:t>
            </a:r>
            <a:r>
              <a:rPr sz="1800" spc="-10" dirty="0">
                <a:solidFill>
                  <a:srgbClr val="212121"/>
                </a:solidFill>
                <a:latin typeface="Tahoma"/>
                <a:cs typeface="Tahoma"/>
              </a:rPr>
              <a:t>real</a:t>
            </a:r>
            <a:r>
              <a:rPr sz="1800" spc="-85" dirty="0">
                <a:solidFill>
                  <a:srgbClr val="212121"/>
                </a:solidFill>
                <a:latin typeface="Tahoma"/>
                <a:cs typeface="Tahoma"/>
              </a:rPr>
              <a:t> </a:t>
            </a:r>
            <a:r>
              <a:rPr sz="1800" dirty="0">
                <a:solidFill>
                  <a:srgbClr val="212121"/>
                </a:solidFill>
                <a:latin typeface="Tahoma"/>
                <a:cs typeface="Tahoma"/>
              </a:rPr>
              <a:t>or</a:t>
            </a:r>
            <a:r>
              <a:rPr sz="1800" spc="-75" dirty="0">
                <a:solidFill>
                  <a:srgbClr val="212121"/>
                </a:solidFill>
                <a:latin typeface="Tahoma"/>
                <a:cs typeface="Tahoma"/>
              </a:rPr>
              <a:t> </a:t>
            </a:r>
            <a:r>
              <a:rPr sz="1800" spc="-10" dirty="0">
                <a:solidFill>
                  <a:srgbClr val="212121"/>
                </a:solidFill>
                <a:latin typeface="Tahoma"/>
                <a:cs typeface="Tahoma"/>
              </a:rPr>
              <a:t>fake. </a:t>
            </a:r>
            <a:r>
              <a:rPr sz="1800" dirty="0">
                <a:solidFill>
                  <a:srgbClr val="212121"/>
                </a:solidFill>
                <a:latin typeface="Tahoma"/>
                <a:cs typeface="Tahoma"/>
              </a:rPr>
              <a:t>Generated</a:t>
            </a:r>
            <a:r>
              <a:rPr sz="1800" spc="-90" dirty="0">
                <a:solidFill>
                  <a:srgbClr val="212121"/>
                </a:solidFill>
                <a:latin typeface="Tahoma"/>
                <a:cs typeface="Tahoma"/>
              </a:rPr>
              <a:t> </a:t>
            </a:r>
            <a:r>
              <a:rPr sz="1800" spc="-35" dirty="0">
                <a:solidFill>
                  <a:srgbClr val="212121"/>
                </a:solidFill>
                <a:latin typeface="Tahoma"/>
                <a:cs typeface="Tahoma"/>
              </a:rPr>
              <a:t>images</a:t>
            </a:r>
            <a:r>
              <a:rPr sz="1800" spc="-60" dirty="0">
                <a:solidFill>
                  <a:srgbClr val="212121"/>
                </a:solidFill>
                <a:latin typeface="Tahoma"/>
                <a:cs typeface="Tahoma"/>
              </a:rPr>
              <a:t> </a:t>
            </a:r>
            <a:r>
              <a:rPr sz="1800" dirty="0">
                <a:solidFill>
                  <a:srgbClr val="212121"/>
                </a:solidFill>
                <a:latin typeface="Tahoma"/>
                <a:cs typeface="Tahoma"/>
              </a:rPr>
              <a:t>come</a:t>
            </a:r>
            <a:r>
              <a:rPr sz="1800" spc="-65" dirty="0">
                <a:solidFill>
                  <a:srgbClr val="212121"/>
                </a:solidFill>
                <a:latin typeface="Tahoma"/>
                <a:cs typeface="Tahoma"/>
              </a:rPr>
              <a:t> </a:t>
            </a:r>
            <a:r>
              <a:rPr sz="1800" dirty="0">
                <a:solidFill>
                  <a:srgbClr val="212121"/>
                </a:solidFill>
                <a:latin typeface="Tahoma"/>
                <a:cs typeface="Tahoma"/>
              </a:rPr>
              <a:t>from</a:t>
            </a:r>
            <a:r>
              <a:rPr sz="1800" spc="-80" dirty="0">
                <a:solidFill>
                  <a:srgbClr val="212121"/>
                </a:solidFill>
                <a:latin typeface="Tahoma"/>
                <a:cs typeface="Tahoma"/>
              </a:rPr>
              <a:t> </a:t>
            </a:r>
            <a:r>
              <a:rPr sz="1800" dirty="0">
                <a:solidFill>
                  <a:srgbClr val="212121"/>
                </a:solidFill>
                <a:latin typeface="Tahoma"/>
                <a:cs typeface="Tahoma"/>
              </a:rPr>
              <a:t>the</a:t>
            </a:r>
            <a:r>
              <a:rPr sz="1800" spc="-50" dirty="0">
                <a:solidFill>
                  <a:srgbClr val="212121"/>
                </a:solidFill>
                <a:latin typeface="Tahoma"/>
                <a:cs typeface="Tahoma"/>
              </a:rPr>
              <a:t> </a:t>
            </a:r>
            <a:r>
              <a:rPr sz="1800" dirty="0">
                <a:solidFill>
                  <a:srgbClr val="212121"/>
                </a:solidFill>
                <a:latin typeface="Tahoma"/>
                <a:cs typeface="Tahoma"/>
              </a:rPr>
              <a:t>Generator</a:t>
            </a:r>
            <a:r>
              <a:rPr sz="1800" spc="-95" dirty="0">
                <a:solidFill>
                  <a:srgbClr val="212121"/>
                </a:solidFill>
                <a:latin typeface="Tahoma"/>
                <a:cs typeface="Tahoma"/>
              </a:rPr>
              <a:t> </a:t>
            </a:r>
            <a:r>
              <a:rPr sz="1800" spc="-10" dirty="0">
                <a:solidFill>
                  <a:srgbClr val="212121"/>
                </a:solidFill>
                <a:latin typeface="Tahoma"/>
                <a:cs typeface="Tahoma"/>
              </a:rPr>
              <a:t>and</a:t>
            </a:r>
            <a:r>
              <a:rPr sz="1800" spc="-65" dirty="0">
                <a:solidFill>
                  <a:srgbClr val="212121"/>
                </a:solidFill>
                <a:latin typeface="Tahoma"/>
                <a:cs typeface="Tahoma"/>
              </a:rPr>
              <a:t> </a:t>
            </a:r>
            <a:r>
              <a:rPr sz="1800" dirty="0">
                <a:solidFill>
                  <a:srgbClr val="212121"/>
                </a:solidFill>
                <a:latin typeface="Tahoma"/>
                <a:cs typeface="Tahoma"/>
              </a:rPr>
              <a:t>the</a:t>
            </a:r>
            <a:r>
              <a:rPr sz="1800" spc="-70" dirty="0">
                <a:solidFill>
                  <a:srgbClr val="212121"/>
                </a:solidFill>
                <a:latin typeface="Tahoma"/>
                <a:cs typeface="Tahoma"/>
              </a:rPr>
              <a:t> </a:t>
            </a:r>
            <a:r>
              <a:rPr sz="1800" spc="-10" dirty="0">
                <a:solidFill>
                  <a:srgbClr val="212121"/>
                </a:solidFill>
                <a:latin typeface="Tahoma"/>
                <a:cs typeface="Tahoma"/>
              </a:rPr>
              <a:t>real</a:t>
            </a:r>
            <a:r>
              <a:rPr sz="1800" spc="-65" dirty="0">
                <a:solidFill>
                  <a:srgbClr val="212121"/>
                </a:solidFill>
                <a:latin typeface="Tahoma"/>
                <a:cs typeface="Tahoma"/>
              </a:rPr>
              <a:t> </a:t>
            </a:r>
            <a:r>
              <a:rPr sz="1800" spc="-30" dirty="0">
                <a:solidFill>
                  <a:srgbClr val="212121"/>
                </a:solidFill>
                <a:latin typeface="Tahoma"/>
                <a:cs typeface="Tahoma"/>
              </a:rPr>
              <a:t>images</a:t>
            </a:r>
            <a:r>
              <a:rPr sz="1800" spc="-60" dirty="0">
                <a:solidFill>
                  <a:srgbClr val="212121"/>
                </a:solidFill>
                <a:latin typeface="Tahoma"/>
                <a:cs typeface="Tahoma"/>
              </a:rPr>
              <a:t> </a:t>
            </a:r>
            <a:r>
              <a:rPr sz="1800" dirty="0">
                <a:solidFill>
                  <a:srgbClr val="212121"/>
                </a:solidFill>
                <a:latin typeface="Tahoma"/>
                <a:cs typeface="Tahoma"/>
              </a:rPr>
              <a:t>come</a:t>
            </a:r>
            <a:r>
              <a:rPr sz="1800" spc="-75" dirty="0">
                <a:solidFill>
                  <a:srgbClr val="212121"/>
                </a:solidFill>
                <a:latin typeface="Tahoma"/>
                <a:cs typeface="Tahoma"/>
              </a:rPr>
              <a:t> </a:t>
            </a:r>
            <a:r>
              <a:rPr sz="1800" dirty="0">
                <a:solidFill>
                  <a:srgbClr val="212121"/>
                </a:solidFill>
                <a:latin typeface="Tahoma"/>
                <a:cs typeface="Tahoma"/>
              </a:rPr>
              <a:t>from</a:t>
            </a:r>
            <a:r>
              <a:rPr sz="1800" spc="-70" dirty="0">
                <a:solidFill>
                  <a:srgbClr val="212121"/>
                </a:solidFill>
                <a:latin typeface="Tahoma"/>
                <a:cs typeface="Tahoma"/>
              </a:rPr>
              <a:t> </a:t>
            </a:r>
            <a:r>
              <a:rPr sz="1800" dirty="0">
                <a:solidFill>
                  <a:srgbClr val="212121"/>
                </a:solidFill>
                <a:latin typeface="Tahoma"/>
                <a:cs typeface="Tahoma"/>
              </a:rPr>
              <a:t>the</a:t>
            </a:r>
            <a:r>
              <a:rPr sz="1800" spc="-70" dirty="0">
                <a:solidFill>
                  <a:srgbClr val="212121"/>
                </a:solidFill>
                <a:latin typeface="Tahoma"/>
                <a:cs typeface="Tahoma"/>
              </a:rPr>
              <a:t> </a:t>
            </a:r>
            <a:r>
              <a:rPr sz="1800" spc="-10" dirty="0">
                <a:solidFill>
                  <a:srgbClr val="212121"/>
                </a:solidFill>
                <a:latin typeface="Tahoma"/>
                <a:cs typeface="Tahoma"/>
              </a:rPr>
              <a:t>training</a:t>
            </a:r>
            <a:r>
              <a:rPr sz="1800" spc="-80" dirty="0">
                <a:solidFill>
                  <a:srgbClr val="212121"/>
                </a:solidFill>
                <a:latin typeface="Tahoma"/>
                <a:cs typeface="Tahoma"/>
              </a:rPr>
              <a:t> </a:t>
            </a:r>
            <a:r>
              <a:rPr sz="1800" spc="-10" dirty="0">
                <a:solidFill>
                  <a:srgbClr val="212121"/>
                </a:solidFill>
                <a:latin typeface="Tahoma"/>
                <a:cs typeface="Tahoma"/>
              </a:rPr>
              <a:t>data.</a:t>
            </a:r>
            <a:endParaRPr sz="1800">
              <a:latin typeface="Tahoma"/>
              <a:cs typeface="Tahoma"/>
            </a:endParaRPr>
          </a:p>
          <a:p>
            <a:pPr marL="91440">
              <a:lnSpc>
                <a:spcPct val="100000"/>
              </a:lnSpc>
            </a:pPr>
            <a:r>
              <a:rPr sz="1800" dirty="0">
                <a:solidFill>
                  <a:srgbClr val="212121"/>
                </a:solidFill>
                <a:latin typeface="Tahoma"/>
                <a:cs typeface="Tahoma"/>
              </a:rPr>
              <a:t>The</a:t>
            </a:r>
            <a:r>
              <a:rPr sz="1800" spc="-95" dirty="0">
                <a:solidFill>
                  <a:srgbClr val="212121"/>
                </a:solidFill>
                <a:latin typeface="Tahoma"/>
                <a:cs typeface="Tahoma"/>
              </a:rPr>
              <a:t> </a:t>
            </a:r>
            <a:r>
              <a:rPr sz="1800" dirty="0">
                <a:solidFill>
                  <a:srgbClr val="212121"/>
                </a:solidFill>
                <a:latin typeface="Tahoma"/>
                <a:cs typeface="Tahoma"/>
              </a:rPr>
              <a:t>discriminator</a:t>
            </a:r>
            <a:r>
              <a:rPr sz="1800" spc="-85" dirty="0">
                <a:solidFill>
                  <a:srgbClr val="212121"/>
                </a:solidFill>
                <a:latin typeface="Tahoma"/>
                <a:cs typeface="Tahoma"/>
              </a:rPr>
              <a:t> </a:t>
            </a:r>
            <a:r>
              <a:rPr sz="1800" dirty="0">
                <a:solidFill>
                  <a:srgbClr val="212121"/>
                </a:solidFill>
                <a:latin typeface="Tahoma"/>
                <a:cs typeface="Tahoma"/>
              </a:rPr>
              <a:t>model</a:t>
            </a:r>
            <a:r>
              <a:rPr sz="1800" spc="-85" dirty="0">
                <a:solidFill>
                  <a:srgbClr val="212121"/>
                </a:solidFill>
                <a:latin typeface="Tahoma"/>
                <a:cs typeface="Tahoma"/>
              </a:rPr>
              <a:t> </a:t>
            </a:r>
            <a:r>
              <a:rPr sz="1800" dirty="0">
                <a:solidFill>
                  <a:srgbClr val="212121"/>
                </a:solidFill>
                <a:latin typeface="Tahoma"/>
                <a:cs typeface="Tahoma"/>
              </a:rPr>
              <a:t>is</a:t>
            </a:r>
            <a:r>
              <a:rPr sz="1800" spc="-85" dirty="0">
                <a:solidFill>
                  <a:srgbClr val="212121"/>
                </a:solidFill>
                <a:latin typeface="Tahoma"/>
                <a:cs typeface="Tahoma"/>
              </a:rPr>
              <a:t> </a:t>
            </a:r>
            <a:r>
              <a:rPr sz="1800" dirty="0">
                <a:solidFill>
                  <a:srgbClr val="212121"/>
                </a:solidFill>
                <a:latin typeface="Tahoma"/>
                <a:cs typeface="Tahoma"/>
              </a:rPr>
              <a:t>the</a:t>
            </a:r>
            <a:r>
              <a:rPr sz="1800" spc="-90" dirty="0">
                <a:solidFill>
                  <a:srgbClr val="212121"/>
                </a:solidFill>
                <a:latin typeface="Tahoma"/>
                <a:cs typeface="Tahoma"/>
              </a:rPr>
              <a:t> </a:t>
            </a:r>
            <a:r>
              <a:rPr sz="1800" spc="-10" dirty="0">
                <a:solidFill>
                  <a:srgbClr val="212121"/>
                </a:solidFill>
                <a:latin typeface="Tahoma"/>
                <a:cs typeface="Tahoma"/>
              </a:rPr>
              <a:t>simple</a:t>
            </a:r>
            <a:r>
              <a:rPr sz="1800" spc="-70" dirty="0">
                <a:solidFill>
                  <a:srgbClr val="212121"/>
                </a:solidFill>
                <a:latin typeface="Tahoma"/>
                <a:cs typeface="Tahoma"/>
              </a:rPr>
              <a:t> </a:t>
            </a:r>
            <a:r>
              <a:rPr sz="1800" dirty="0">
                <a:solidFill>
                  <a:srgbClr val="212121"/>
                </a:solidFill>
                <a:latin typeface="Tahoma"/>
                <a:cs typeface="Tahoma"/>
              </a:rPr>
              <a:t>binary</a:t>
            </a:r>
            <a:r>
              <a:rPr sz="1800" spc="-90" dirty="0">
                <a:solidFill>
                  <a:srgbClr val="212121"/>
                </a:solidFill>
                <a:latin typeface="Tahoma"/>
                <a:cs typeface="Tahoma"/>
              </a:rPr>
              <a:t> </a:t>
            </a:r>
            <a:r>
              <a:rPr sz="1800" dirty="0">
                <a:solidFill>
                  <a:srgbClr val="212121"/>
                </a:solidFill>
                <a:latin typeface="Tahoma"/>
                <a:cs typeface="Tahoma"/>
              </a:rPr>
              <a:t>classification</a:t>
            </a:r>
            <a:r>
              <a:rPr sz="1800" spc="-85" dirty="0">
                <a:solidFill>
                  <a:srgbClr val="212121"/>
                </a:solidFill>
                <a:latin typeface="Tahoma"/>
                <a:cs typeface="Tahoma"/>
              </a:rPr>
              <a:t> </a:t>
            </a:r>
            <a:r>
              <a:rPr sz="1800" spc="-10" dirty="0">
                <a:solidFill>
                  <a:srgbClr val="212121"/>
                </a:solidFill>
                <a:latin typeface="Tahoma"/>
                <a:cs typeface="Tahoma"/>
              </a:rPr>
              <a:t>model.</a:t>
            </a:r>
            <a:endParaRPr sz="1800">
              <a:latin typeface="Tahoma"/>
              <a:cs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06605" y="1558345"/>
            <a:ext cx="8696259" cy="385209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14727" y="1603247"/>
            <a:ext cx="8322945" cy="2863850"/>
          </a:xfrm>
          <a:custGeom>
            <a:avLst/>
            <a:gdLst/>
            <a:ahLst/>
            <a:cxnLst/>
            <a:rect l="l" t="t" r="r" b="b"/>
            <a:pathLst>
              <a:path w="8322945" h="2863850">
                <a:moveTo>
                  <a:pt x="8322564" y="0"/>
                </a:moveTo>
                <a:lnTo>
                  <a:pt x="0" y="0"/>
                </a:lnTo>
                <a:lnTo>
                  <a:pt x="0" y="2863596"/>
                </a:lnTo>
                <a:lnTo>
                  <a:pt x="8322564" y="2863596"/>
                </a:lnTo>
                <a:lnTo>
                  <a:pt x="8322564" y="0"/>
                </a:lnTo>
                <a:close/>
              </a:path>
            </a:pathLst>
          </a:custGeom>
          <a:solidFill>
            <a:srgbClr val="DEEBF7"/>
          </a:solidFill>
        </p:spPr>
        <p:txBody>
          <a:bodyPr wrap="square" lIns="0" tIns="0" rIns="0" bIns="0" rtlCol="0"/>
          <a:lstStyle/>
          <a:p>
            <a:endParaRPr/>
          </a:p>
        </p:txBody>
      </p:sp>
      <p:sp>
        <p:nvSpPr>
          <p:cNvPr id="3" name="object 3"/>
          <p:cNvSpPr txBox="1"/>
          <p:nvPr/>
        </p:nvSpPr>
        <p:spPr>
          <a:xfrm>
            <a:off x="2093722" y="1634109"/>
            <a:ext cx="8068309" cy="276034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12121"/>
                </a:solidFill>
                <a:latin typeface="Tahoma"/>
                <a:cs typeface="Tahoma"/>
              </a:rPr>
              <a:t>The</a:t>
            </a:r>
            <a:r>
              <a:rPr sz="1800" spc="-80" dirty="0">
                <a:solidFill>
                  <a:srgbClr val="212121"/>
                </a:solidFill>
                <a:latin typeface="Tahoma"/>
                <a:cs typeface="Tahoma"/>
              </a:rPr>
              <a:t> </a:t>
            </a:r>
            <a:r>
              <a:rPr sz="1800" dirty="0">
                <a:solidFill>
                  <a:srgbClr val="212121"/>
                </a:solidFill>
                <a:latin typeface="Tahoma"/>
                <a:cs typeface="Tahoma"/>
              </a:rPr>
              <a:t>Generator</a:t>
            </a:r>
            <a:r>
              <a:rPr sz="1800" spc="-95" dirty="0">
                <a:solidFill>
                  <a:srgbClr val="212121"/>
                </a:solidFill>
                <a:latin typeface="Tahoma"/>
                <a:cs typeface="Tahoma"/>
              </a:rPr>
              <a:t> </a:t>
            </a:r>
            <a:r>
              <a:rPr sz="1800" spc="60" dirty="0">
                <a:solidFill>
                  <a:srgbClr val="212121"/>
                </a:solidFill>
                <a:latin typeface="Tahoma"/>
                <a:cs typeface="Tahoma"/>
              </a:rPr>
              <a:t>Model</a:t>
            </a:r>
            <a:r>
              <a:rPr sz="1800" spc="-30" dirty="0">
                <a:solidFill>
                  <a:srgbClr val="212121"/>
                </a:solidFill>
                <a:latin typeface="Tahoma"/>
                <a:cs typeface="Tahoma"/>
              </a:rPr>
              <a:t> </a:t>
            </a:r>
            <a:r>
              <a:rPr sz="1800" i="1" dirty="0">
                <a:solidFill>
                  <a:srgbClr val="212121"/>
                </a:solidFill>
                <a:latin typeface="Trebuchet MS"/>
                <a:cs typeface="Trebuchet MS"/>
              </a:rPr>
              <a:t>G</a:t>
            </a:r>
            <a:r>
              <a:rPr sz="1800" i="1" spc="-55" dirty="0">
                <a:solidFill>
                  <a:srgbClr val="212121"/>
                </a:solidFill>
                <a:latin typeface="Trebuchet MS"/>
                <a:cs typeface="Trebuchet MS"/>
              </a:rPr>
              <a:t> </a:t>
            </a:r>
            <a:r>
              <a:rPr sz="1800" spc="-10" dirty="0">
                <a:solidFill>
                  <a:srgbClr val="212121"/>
                </a:solidFill>
                <a:latin typeface="Tahoma"/>
                <a:cs typeface="Tahoma"/>
              </a:rPr>
              <a:t>takes</a:t>
            </a:r>
            <a:r>
              <a:rPr sz="1800" spc="-70" dirty="0">
                <a:solidFill>
                  <a:srgbClr val="212121"/>
                </a:solidFill>
                <a:latin typeface="Tahoma"/>
                <a:cs typeface="Tahoma"/>
              </a:rPr>
              <a:t> </a:t>
            </a:r>
            <a:r>
              <a:rPr sz="1800" spc="-60" dirty="0">
                <a:solidFill>
                  <a:srgbClr val="212121"/>
                </a:solidFill>
                <a:latin typeface="Tahoma"/>
                <a:cs typeface="Tahoma"/>
              </a:rPr>
              <a:t>a </a:t>
            </a:r>
            <a:r>
              <a:rPr sz="1800" spc="-10" dirty="0">
                <a:solidFill>
                  <a:srgbClr val="212121"/>
                </a:solidFill>
                <a:latin typeface="Tahoma"/>
                <a:cs typeface="Tahoma"/>
              </a:rPr>
              <a:t>random</a:t>
            </a:r>
            <a:r>
              <a:rPr sz="1800" spc="-75" dirty="0">
                <a:solidFill>
                  <a:srgbClr val="212121"/>
                </a:solidFill>
                <a:latin typeface="Tahoma"/>
                <a:cs typeface="Tahoma"/>
              </a:rPr>
              <a:t> </a:t>
            </a:r>
            <a:r>
              <a:rPr sz="1800" dirty="0">
                <a:solidFill>
                  <a:srgbClr val="212121"/>
                </a:solidFill>
                <a:latin typeface="Tahoma"/>
                <a:cs typeface="Tahoma"/>
              </a:rPr>
              <a:t>input</a:t>
            </a:r>
            <a:r>
              <a:rPr sz="1800" spc="-65" dirty="0">
                <a:solidFill>
                  <a:srgbClr val="212121"/>
                </a:solidFill>
                <a:latin typeface="Tahoma"/>
                <a:cs typeface="Tahoma"/>
              </a:rPr>
              <a:t> </a:t>
            </a:r>
            <a:r>
              <a:rPr sz="1800" dirty="0">
                <a:solidFill>
                  <a:srgbClr val="212121"/>
                </a:solidFill>
                <a:latin typeface="Tahoma"/>
                <a:cs typeface="Tahoma"/>
              </a:rPr>
              <a:t>vector</a:t>
            </a:r>
            <a:r>
              <a:rPr sz="1800" spc="-50" dirty="0">
                <a:solidFill>
                  <a:srgbClr val="212121"/>
                </a:solidFill>
                <a:latin typeface="Tahoma"/>
                <a:cs typeface="Tahoma"/>
              </a:rPr>
              <a:t> </a:t>
            </a:r>
            <a:r>
              <a:rPr sz="1800" i="1" spc="-100" dirty="0">
                <a:solidFill>
                  <a:srgbClr val="212121"/>
                </a:solidFill>
                <a:latin typeface="Trebuchet MS"/>
                <a:cs typeface="Trebuchet MS"/>
              </a:rPr>
              <a:t>z</a:t>
            </a:r>
            <a:r>
              <a:rPr sz="1800" i="1" spc="-50" dirty="0">
                <a:solidFill>
                  <a:srgbClr val="212121"/>
                </a:solidFill>
                <a:latin typeface="Trebuchet MS"/>
                <a:cs typeface="Trebuchet MS"/>
              </a:rPr>
              <a:t> </a:t>
            </a:r>
            <a:r>
              <a:rPr sz="1800" spc="-50" dirty="0">
                <a:solidFill>
                  <a:srgbClr val="212121"/>
                </a:solidFill>
                <a:latin typeface="Tahoma"/>
                <a:cs typeface="Tahoma"/>
              </a:rPr>
              <a:t>as</a:t>
            </a:r>
            <a:r>
              <a:rPr sz="1800" spc="-65" dirty="0">
                <a:solidFill>
                  <a:srgbClr val="212121"/>
                </a:solidFill>
                <a:latin typeface="Tahoma"/>
                <a:cs typeface="Tahoma"/>
              </a:rPr>
              <a:t> </a:t>
            </a:r>
            <a:r>
              <a:rPr sz="1800" spc="-30" dirty="0">
                <a:solidFill>
                  <a:srgbClr val="212121"/>
                </a:solidFill>
                <a:latin typeface="Tahoma"/>
                <a:cs typeface="Tahoma"/>
              </a:rPr>
              <a:t>an</a:t>
            </a:r>
            <a:r>
              <a:rPr sz="1800" spc="-70" dirty="0">
                <a:solidFill>
                  <a:srgbClr val="212121"/>
                </a:solidFill>
                <a:latin typeface="Tahoma"/>
                <a:cs typeface="Tahoma"/>
              </a:rPr>
              <a:t> </a:t>
            </a:r>
            <a:r>
              <a:rPr sz="1800" dirty="0">
                <a:solidFill>
                  <a:srgbClr val="212121"/>
                </a:solidFill>
                <a:latin typeface="Tahoma"/>
                <a:cs typeface="Tahoma"/>
              </a:rPr>
              <a:t>input</a:t>
            </a:r>
            <a:r>
              <a:rPr sz="1800" spc="-65" dirty="0">
                <a:solidFill>
                  <a:srgbClr val="212121"/>
                </a:solidFill>
                <a:latin typeface="Tahoma"/>
                <a:cs typeface="Tahoma"/>
              </a:rPr>
              <a:t> </a:t>
            </a:r>
            <a:r>
              <a:rPr sz="1800" spc="-20" dirty="0">
                <a:solidFill>
                  <a:srgbClr val="212121"/>
                </a:solidFill>
                <a:latin typeface="Tahoma"/>
                <a:cs typeface="Tahoma"/>
              </a:rPr>
              <a:t>and</a:t>
            </a:r>
            <a:r>
              <a:rPr sz="1800" spc="-70" dirty="0">
                <a:solidFill>
                  <a:srgbClr val="212121"/>
                </a:solidFill>
                <a:latin typeface="Tahoma"/>
                <a:cs typeface="Tahoma"/>
              </a:rPr>
              <a:t> </a:t>
            </a:r>
            <a:r>
              <a:rPr sz="1800" spc="-10" dirty="0">
                <a:solidFill>
                  <a:srgbClr val="212121"/>
                </a:solidFill>
                <a:latin typeface="Tahoma"/>
                <a:cs typeface="Tahoma"/>
              </a:rPr>
              <a:t>generates</a:t>
            </a:r>
            <a:endParaRPr sz="1800">
              <a:latin typeface="Tahoma"/>
              <a:cs typeface="Tahoma"/>
            </a:endParaRPr>
          </a:p>
          <a:p>
            <a:pPr marL="12700">
              <a:lnSpc>
                <a:spcPct val="100000"/>
              </a:lnSpc>
            </a:pPr>
            <a:r>
              <a:rPr sz="1800" dirty="0">
                <a:solidFill>
                  <a:srgbClr val="212121"/>
                </a:solidFill>
                <a:latin typeface="Tahoma"/>
                <a:cs typeface="Tahoma"/>
              </a:rPr>
              <a:t>the</a:t>
            </a:r>
            <a:r>
              <a:rPr sz="1800" spc="-85" dirty="0">
                <a:solidFill>
                  <a:srgbClr val="212121"/>
                </a:solidFill>
                <a:latin typeface="Tahoma"/>
                <a:cs typeface="Tahoma"/>
              </a:rPr>
              <a:t> </a:t>
            </a:r>
            <a:r>
              <a:rPr sz="1800" spc="-30" dirty="0">
                <a:solidFill>
                  <a:srgbClr val="212121"/>
                </a:solidFill>
                <a:latin typeface="Tahoma"/>
                <a:cs typeface="Tahoma"/>
              </a:rPr>
              <a:t>images</a:t>
            </a:r>
            <a:r>
              <a:rPr sz="1800" spc="-75" dirty="0">
                <a:solidFill>
                  <a:srgbClr val="212121"/>
                </a:solidFill>
                <a:latin typeface="Tahoma"/>
                <a:cs typeface="Tahoma"/>
              </a:rPr>
              <a:t> </a:t>
            </a:r>
            <a:r>
              <a:rPr sz="1800" i="1" spc="-10" dirty="0">
                <a:solidFill>
                  <a:srgbClr val="212121"/>
                </a:solidFill>
                <a:latin typeface="Trebuchet MS"/>
                <a:cs typeface="Trebuchet MS"/>
              </a:rPr>
              <a:t>G(z)</a:t>
            </a:r>
            <a:r>
              <a:rPr sz="1800" spc="-10" dirty="0">
                <a:solidFill>
                  <a:srgbClr val="212121"/>
                </a:solidFill>
                <a:latin typeface="Tahoma"/>
                <a:cs typeface="Tahoma"/>
              </a:rPr>
              <a:t>.</a:t>
            </a:r>
            <a:endParaRPr sz="1800">
              <a:latin typeface="Tahoma"/>
              <a:cs typeface="Tahoma"/>
            </a:endParaRPr>
          </a:p>
          <a:p>
            <a:pPr marL="12700" marR="20320">
              <a:lnSpc>
                <a:spcPct val="100000"/>
              </a:lnSpc>
              <a:spcBef>
                <a:spcPts val="2160"/>
              </a:spcBef>
            </a:pPr>
            <a:r>
              <a:rPr sz="1800" spc="-10" dirty="0">
                <a:solidFill>
                  <a:srgbClr val="212121"/>
                </a:solidFill>
                <a:latin typeface="Tahoma"/>
                <a:cs typeface="Tahoma"/>
              </a:rPr>
              <a:t>These</a:t>
            </a:r>
            <a:r>
              <a:rPr sz="1800" spc="-110" dirty="0">
                <a:solidFill>
                  <a:srgbClr val="212121"/>
                </a:solidFill>
                <a:latin typeface="Tahoma"/>
                <a:cs typeface="Tahoma"/>
              </a:rPr>
              <a:t> </a:t>
            </a:r>
            <a:r>
              <a:rPr sz="1800" spc="-10" dirty="0">
                <a:solidFill>
                  <a:srgbClr val="212121"/>
                </a:solidFill>
                <a:latin typeface="Tahoma"/>
                <a:cs typeface="Tahoma"/>
              </a:rPr>
              <a:t>generated</a:t>
            </a:r>
            <a:r>
              <a:rPr sz="1800" spc="-80" dirty="0">
                <a:solidFill>
                  <a:srgbClr val="212121"/>
                </a:solidFill>
                <a:latin typeface="Tahoma"/>
                <a:cs typeface="Tahoma"/>
              </a:rPr>
              <a:t> </a:t>
            </a:r>
            <a:r>
              <a:rPr sz="1800" spc="-35" dirty="0">
                <a:solidFill>
                  <a:srgbClr val="212121"/>
                </a:solidFill>
                <a:latin typeface="Tahoma"/>
                <a:cs typeface="Tahoma"/>
              </a:rPr>
              <a:t>images</a:t>
            </a:r>
            <a:r>
              <a:rPr sz="1800" spc="-95" dirty="0">
                <a:solidFill>
                  <a:srgbClr val="212121"/>
                </a:solidFill>
                <a:latin typeface="Tahoma"/>
                <a:cs typeface="Tahoma"/>
              </a:rPr>
              <a:t> </a:t>
            </a:r>
            <a:r>
              <a:rPr sz="1800" spc="-20" dirty="0">
                <a:solidFill>
                  <a:srgbClr val="212121"/>
                </a:solidFill>
                <a:latin typeface="Tahoma"/>
                <a:cs typeface="Tahoma"/>
              </a:rPr>
              <a:t>along</a:t>
            </a:r>
            <a:r>
              <a:rPr sz="1800" spc="-75" dirty="0">
                <a:solidFill>
                  <a:srgbClr val="212121"/>
                </a:solidFill>
                <a:latin typeface="Tahoma"/>
                <a:cs typeface="Tahoma"/>
              </a:rPr>
              <a:t> </a:t>
            </a:r>
            <a:r>
              <a:rPr sz="1800" dirty="0">
                <a:solidFill>
                  <a:srgbClr val="212121"/>
                </a:solidFill>
                <a:latin typeface="Tahoma"/>
                <a:cs typeface="Tahoma"/>
              </a:rPr>
              <a:t>with</a:t>
            </a:r>
            <a:r>
              <a:rPr sz="1800" spc="-80" dirty="0">
                <a:solidFill>
                  <a:srgbClr val="212121"/>
                </a:solidFill>
                <a:latin typeface="Tahoma"/>
                <a:cs typeface="Tahoma"/>
              </a:rPr>
              <a:t> </a:t>
            </a:r>
            <a:r>
              <a:rPr sz="1800" dirty="0">
                <a:solidFill>
                  <a:srgbClr val="212121"/>
                </a:solidFill>
                <a:latin typeface="Tahoma"/>
                <a:cs typeface="Tahoma"/>
              </a:rPr>
              <a:t>the</a:t>
            </a:r>
            <a:r>
              <a:rPr sz="1800" spc="-85" dirty="0">
                <a:solidFill>
                  <a:srgbClr val="212121"/>
                </a:solidFill>
                <a:latin typeface="Tahoma"/>
                <a:cs typeface="Tahoma"/>
              </a:rPr>
              <a:t> </a:t>
            </a:r>
            <a:r>
              <a:rPr sz="1800" spc="-10" dirty="0">
                <a:solidFill>
                  <a:srgbClr val="212121"/>
                </a:solidFill>
                <a:latin typeface="Tahoma"/>
                <a:cs typeface="Tahoma"/>
              </a:rPr>
              <a:t>real</a:t>
            </a:r>
            <a:r>
              <a:rPr sz="1800" spc="-95" dirty="0">
                <a:solidFill>
                  <a:srgbClr val="212121"/>
                </a:solidFill>
                <a:latin typeface="Tahoma"/>
                <a:cs typeface="Tahoma"/>
              </a:rPr>
              <a:t> </a:t>
            </a:r>
            <a:r>
              <a:rPr sz="1800" spc="-30" dirty="0">
                <a:solidFill>
                  <a:srgbClr val="212121"/>
                </a:solidFill>
                <a:latin typeface="Tahoma"/>
                <a:cs typeface="Tahoma"/>
              </a:rPr>
              <a:t>images</a:t>
            </a:r>
            <a:r>
              <a:rPr sz="1800" spc="-55" dirty="0">
                <a:solidFill>
                  <a:srgbClr val="212121"/>
                </a:solidFill>
                <a:latin typeface="Tahoma"/>
                <a:cs typeface="Tahoma"/>
              </a:rPr>
              <a:t> </a:t>
            </a:r>
            <a:r>
              <a:rPr sz="1800" i="1" spc="-80" dirty="0">
                <a:solidFill>
                  <a:srgbClr val="212121"/>
                </a:solidFill>
                <a:latin typeface="Trebuchet MS"/>
                <a:cs typeface="Trebuchet MS"/>
              </a:rPr>
              <a:t>x</a:t>
            </a:r>
            <a:r>
              <a:rPr sz="1800" i="1" spc="-65" dirty="0">
                <a:solidFill>
                  <a:srgbClr val="212121"/>
                </a:solidFill>
                <a:latin typeface="Trebuchet MS"/>
                <a:cs typeface="Trebuchet MS"/>
              </a:rPr>
              <a:t> </a:t>
            </a:r>
            <a:r>
              <a:rPr sz="1800" dirty="0">
                <a:solidFill>
                  <a:srgbClr val="212121"/>
                </a:solidFill>
                <a:latin typeface="Tahoma"/>
                <a:cs typeface="Tahoma"/>
              </a:rPr>
              <a:t>from</a:t>
            </a:r>
            <a:r>
              <a:rPr sz="1800" spc="-110" dirty="0">
                <a:solidFill>
                  <a:srgbClr val="212121"/>
                </a:solidFill>
                <a:latin typeface="Tahoma"/>
                <a:cs typeface="Tahoma"/>
              </a:rPr>
              <a:t> </a:t>
            </a:r>
            <a:r>
              <a:rPr sz="1800" dirty="0">
                <a:solidFill>
                  <a:srgbClr val="212121"/>
                </a:solidFill>
                <a:latin typeface="Tahoma"/>
                <a:cs typeface="Tahoma"/>
              </a:rPr>
              <a:t>training</a:t>
            </a:r>
            <a:r>
              <a:rPr sz="1800" spc="-85" dirty="0">
                <a:solidFill>
                  <a:srgbClr val="212121"/>
                </a:solidFill>
                <a:latin typeface="Tahoma"/>
                <a:cs typeface="Tahoma"/>
              </a:rPr>
              <a:t> </a:t>
            </a:r>
            <a:r>
              <a:rPr sz="1800" spc="-10" dirty="0">
                <a:solidFill>
                  <a:srgbClr val="212121"/>
                </a:solidFill>
                <a:latin typeface="Tahoma"/>
                <a:cs typeface="Tahoma"/>
              </a:rPr>
              <a:t>data</a:t>
            </a:r>
            <a:r>
              <a:rPr sz="1800" spc="-75" dirty="0">
                <a:solidFill>
                  <a:srgbClr val="212121"/>
                </a:solidFill>
                <a:latin typeface="Tahoma"/>
                <a:cs typeface="Tahoma"/>
              </a:rPr>
              <a:t> </a:t>
            </a:r>
            <a:r>
              <a:rPr sz="1800" spc="-20" dirty="0">
                <a:solidFill>
                  <a:srgbClr val="212121"/>
                </a:solidFill>
                <a:latin typeface="Tahoma"/>
                <a:cs typeface="Tahoma"/>
              </a:rPr>
              <a:t>are</a:t>
            </a:r>
            <a:r>
              <a:rPr sz="1800" spc="-90" dirty="0">
                <a:solidFill>
                  <a:srgbClr val="212121"/>
                </a:solidFill>
                <a:latin typeface="Tahoma"/>
                <a:cs typeface="Tahoma"/>
              </a:rPr>
              <a:t> </a:t>
            </a:r>
            <a:r>
              <a:rPr sz="1800" spc="-20" dirty="0">
                <a:solidFill>
                  <a:srgbClr val="212121"/>
                </a:solidFill>
                <a:latin typeface="Tahoma"/>
                <a:cs typeface="Tahoma"/>
              </a:rPr>
              <a:t>then </a:t>
            </a:r>
            <a:r>
              <a:rPr sz="1800" dirty="0">
                <a:solidFill>
                  <a:srgbClr val="212121"/>
                </a:solidFill>
                <a:latin typeface="Tahoma"/>
                <a:cs typeface="Tahoma"/>
              </a:rPr>
              <a:t>fed</a:t>
            </a:r>
            <a:r>
              <a:rPr sz="1800" spc="-35" dirty="0">
                <a:solidFill>
                  <a:srgbClr val="212121"/>
                </a:solidFill>
                <a:latin typeface="Tahoma"/>
                <a:cs typeface="Tahoma"/>
              </a:rPr>
              <a:t> </a:t>
            </a:r>
            <a:r>
              <a:rPr sz="1800" dirty="0">
                <a:solidFill>
                  <a:srgbClr val="212121"/>
                </a:solidFill>
                <a:latin typeface="Tahoma"/>
                <a:cs typeface="Tahoma"/>
              </a:rPr>
              <a:t>to</a:t>
            </a:r>
            <a:r>
              <a:rPr sz="1800" spc="-35" dirty="0">
                <a:solidFill>
                  <a:srgbClr val="212121"/>
                </a:solidFill>
                <a:latin typeface="Tahoma"/>
                <a:cs typeface="Tahoma"/>
              </a:rPr>
              <a:t> </a:t>
            </a:r>
            <a:r>
              <a:rPr sz="1800" dirty="0">
                <a:solidFill>
                  <a:srgbClr val="212121"/>
                </a:solidFill>
                <a:latin typeface="Tahoma"/>
                <a:cs typeface="Tahoma"/>
              </a:rPr>
              <a:t>the</a:t>
            </a:r>
            <a:r>
              <a:rPr sz="1800" spc="-35" dirty="0">
                <a:solidFill>
                  <a:srgbClr val="212121"/>
                </a:solidFill>
                <a:latin typeface="Tahoma"/>
                <a:cs typeface="Tahoma"/>
              </a:rPr>
              <a:t> </a:t>
            </a:r>
            <a:r>
              <a:rPr sz="1800" dirty="0">
                <a:solidFill>
                  <a:srgbClr val="212121"/>
                </a:solidFill>
                <a:latin typeface="Tahoma"/>
                <a:cs typeface="Tahoma"/>
              </a:rPr>
              <a:t>Discriminator</a:t>
            </a:r>
            <a:r>
              <a:rPr sz="1800" spc="-20" dirty="0">
                <a:solidFill>
                  <a:srgbClr val="212121"/>
                </a:solidFill>
                <a:latin typeface="Tahoma"/>
                <a:cs typeface="Tahoma"/>
              </a:rPr>
              <a:t> </a:t>
            </a:r>
            <a:r>
              <a:rPr sz="1800" spc="60" dirty="0">
                <a:solidFill>
                  <a:srgbClr val="212121"/>
                </a:solidFill>
                <a:latin typeface="Tahoma"/>
                <a:cs typeface="Tahoma"/>
              </a:rPr>
              <a:t>Model</a:t>
            </a:r>
            <a:r>
              <a:rPr sz="1800" dirty="0">
                <a:solidFill>
                  <a:srgbClr val="212121"/>
                </a:solidFill>
                <a:latin typeface="Tahoma"/>
                <a:cs typeface="Tahoma"/>
              </a:rPr>
              <a:t> </a:t>
            </a:r>
            <a:r>
              <a:rPr sz="1800" i="1" spc="-25" dirty="0">
                <a:solidFill>
                  <a:srgbClr val="212121"/>
                </a:solidFill>
                <a:latin typeface="Trebuchet MS"/>
                <a:cs typeface="Trebuchet MS"/>
              </a:rPr>
              <a:t>D</a:t>
            </a:r>
            <a:r>
              <a:rPr sz="1800" spc="-25" dirty="0">
                <a:solidFill>
                  <a:srgbClr val="212121"/>
                </a:solidFill>
                <a:latin typeface="Tahoma"/>
                <a:cs typeface="Tahoma"/>
              </a:rPr>
              <a:t>.</a:t>
            </a:r>
            <a:endParaRPr sz="1800">
              <a:latin typeface="Tahoma"/>
              <a:cs typeface="Tahoma"/>
            </a:endParaRPr>
          </a:p>
          <a:p>
            <a:pPr marL="12700">
              <a:lnSpc>
                <a:spcPct val="100000"/>
              </a:lnSpc>
              <a:spcBef>
                <a:spcPts val="2160"/>
              </a:spcBef>
            </a:pPr>
            <a:r>
              <a:rPr sz="1800" dirty="0">
                <a:solidFill>
                  <a:srgbClr val="212121"/>
                </a:solidFill>
                <a:latin typeface="Tahoma"/>
                <a:cs typeface="Tahoma"/>
              </a:rPr>
              <a:t>The</a:t>
            </a:r>
            <a:r>
              <a:rPr sz="1800" spc="-70" dirty="0">
                <a:solidFill>
                  <a:srgbClr val="212121"/>
                </a:solidFill>
                <a:latin typeface="Tahoma"/>
                <a:cs typeface="Tahoma"/>
              </a:rPr>
              <a:t> </a:t>
            </a:r>
            <a:r>
              <a:rPr sz="1800" dirty="0">
                <a:solidFill>
                  <a:srgbClr val="212121"/>
                </a:solidFill>
                <a:latin typeface="Tahoma"/>
                <a:cs typeface="Tahoma"/>
              </a:rPr>
              <a:t>Discriminator</a:t>
            </a:r>
            <a:r>
              <a:rPr sz="1800" spc="-70" dirty="0">
                <a:solidFill>
                  <a:srgbClr val="212121"/>
                </a:solidFill>
                <a:latin typeface="Tahoma"/>
                <a:cs typeface="Tahoma"/>
              </a:rPr>
              <a:t> </a:t>
            </a:r>
            <a:r>
              <a:rPr sz="1800" spc="55" dirty="0">
                <a:solidFill>
                  <a:srgbClr val="212121"/>
                </a:solidFill>
                <a:latin typeface="Tahoma"/>
                <a:cs typeface="Tahoma"/>
              </a:rPr>
              <a:t>Model</a:t>
            </a:r>
            <a:r>
              <a:rPr sz="1800" spc="-60" dirty="0">
                <a:solidFill>
                  <a:srgbClr val="212121"/>
                </a:solidFill>
                <a:latin typeface="Tahoma"/>
                <a:cs typeface="Tahoma"/>
              </a:rPr>
              <a:t> </a:t>
            </a:r>
            <a:r>
              <a:rPr sz="1800" dirty="0">
                <a:solidFill>
                  <a:srgbClr val="212121"/>
                </a:solidFill>
                <a:latin typeface="Tahoma"/>
                <a:cs typeface="Tahoma"/>
              </a:rPr>
              <a:t>then</a:t>
            </a:r>
            <a:r>
              <a:rPr sz="1800" spc="-70" dirty="0">
                <a:solidFill>
                  <a:srgbClr val="212121"/>
                </a:solidFill>
                <a:latin typeface="Tahoma"/>
                <a:cs typeface="Tahoma"/>
              </a:rPr>
              <a:t> </a:t>
            </a:r>
            <a:r>
              <a:rPr sz="1800" dirty="0">
                <a:solidFill>
                  <a:srgbClr val="212121"/>
                </a:solidFill>
                <a:latin typeface="Tahoma"/>
                <a:cs typeface="Tahoma"/>
              </a:rPr>
              <a:t>classifies</a:t>
            </a:r>
            <a:r>
              <a:rPr sz="1800" spc="-80" dirty="0">
                <a:solidFill>
                  <a:srgbClr val="212121"/>
                </a:solidFill>
                <a:latin typeface="Tahoma"/>
                <a:cs typeface="Tahoma"/>
              </a:rPr>
              <a:t> </a:t>
            </a:r>
            <a:r>
              <a:rPr sz="1800" dirty="0">
                <a:solidFill>
                  <a:srgbClr val="212121"/>
                </a:solidFill>
                <a:latin typeface="Tahoma"/>
                <a:cs typeface="Tahoma"/>
              </a:rPr>
              <a:t>the</a:t>
            </a:r>
            <a:r>
              <a:rPr sz="1800" spc="-75" dirty="0">
                <a:solidFill>
                  <a:srgbClr val="212121"/>
                </a:solidFill>
                <a:latin typeface="Tahoma"/>
                <a:cs typeface="Tahoma"/>
              </a:rPr>
              <a:t> </a:t>
            </a:r>
            <a:r>
              <a:rPr sz="1800" spc="-30" dirty="0">
                <a:solidFill>
                  <a:srgbClr val="212121"/>
                </a:solidFill>
                <a:latin typeface="Tahoma"/>
                <a:cs typeface="Tahoma"/>
              </a:rPr>
              <a:t>images</a:t>
            </a:r>
            <a:r>
              <a:rPr sz="1800" spc="-65" dirty="0">
                <a:solidFill>
                  <a:srgbClr val="212121"/>
                </a:solidFill>
                <a:latin typeface="Tahoma"/>
                <a:cs typeface="Tahoma"/>
              </a:rPr>
              <a:t> </a:t>
            </a:r>
            <a:r>
              <a:rPr sz="1800" spc="-45" dirty="0">
                <a:solidFill>
                  <a:srgbClr val="212121"/>
                </a:solidFill>
                <a:latin typeface="Tahoma"/>
                <a:cs typeface="Tahoma"/>
              </a:rPr>
              <a:t>as</a:t>
            </a:r>
            <a:r>
              <a:rPr sz="1800" spc="-70" dirty="0">
                <a:solidFill>
                  <a:srgbClr val="212121"/>
                </a:solidFill>
                <a:latin typeface="Tahoma"/>
                <a:cs typeface="Tahoma"/>
              </a:rPr>
              <a:t> </a:t>
            </a:r>
            <a:r>
              <a:rPr sz="1800" spc="-10" dirty="0">
                <a:solidFill>
                  <a:srgbClr val="212121"/>
                </a:solidFill>
                <a:latin typeface="Tahoma"/>
                <a:cs typeface="Tahoma"/>
              </a:rPr>
              <a:t>real</a:t>
            </a:r>
            <a:r>
              <a:rPr sz="1800" spc="-75" dirty="0">
                <a:solidFill>
                  <a:srgbClr val="212121"/>
                </a:solidFill>
                <a:latin typeface="Tahoma"/>
                <a:cs typeface="Tahoma"/>
              </a:rPr>
              <a:t> </a:t>
            </a:r>
            <a:r>
              <a:rPr sz="1800" dirty="0">
                <a:solidFill>
                  <a:srgbClr val="212121"/>
                </a:solidFill>
                <a:latin typeface="Tahoma"/>
                <a:cs typeface="Tahoma"/>
              </a:rPr>
              <a:t>or</a:t>
            </a:r>
            <a:r>
              <a:rPr sz="1800" spc="-70" dirty="0">
                <a:solidFill>
                  <a:srgbClr val="212121"/>
                </a:solidFill>
                <a:latin typeface="Tahoma"/>
                <a:cs typeface="Tahoma"/>
              </a:rPr>
              <a:t> </a:t>
            </a:r>
            <a:r>
              <a:rPr sz="1800" spc="-20" dirty="0">
                <a:solidFill>
                  <a:srgbClr val="212121"/>
                </a:solidFill>
                <a:latin typeface="Tahoma"/>
                <a:cs typeface="Tahoma"/>
              </a:rPr>
              <a:t>fake.</a:t>
            </a:r>
            <a:endParaRPr sz="1800">
              <a:latin typeface="Tahoma"/>
              <a:cs typeface="Tahoma"/>
            </a:endParaRPr>
          </a:p>
          <a:p>
            <a:pPr>
              <a:lnSpc>
                <a:spcPct val="100000"/>
              </a:lnSpc>
              <a:spcBef>
                <a:spcPts val="120"/>
              </a:spcBef>
            </a:pPr>
            <a:endParaRPr sz="1800">
              <a:latin typeface="Tahoma"/>
              <a:cs typeface="Tahoma"/>
            </a:endParaRPr>
          </a:p>
          <a:p>
            <a:pPr marL="12700" marR="249554">
              <a:lnSpc>
                <a:spcPts val="2090"/>
              </a:lnSpc>
            </a:pPr>
            <a:r>
              <a:rPr sz="1800" dirty="0">
                <a:solidFill>
                  <a:srgbClr val="212121"/>
                </a:solidFill>
                <a:latin typeface="Tahoma"/>
                <a:cs typeface="Tahoma"/>
              </a:rPr>
              <a:t>Then,</a:t>
            </a:r>
            <a:r>
              <a:rPr sz="1800" spc="375" dirty="0">
                <a:solidFill>
                  <a:srgbClr val="212121"/>
                </a:solidFill>
                <a:latin typeface="Tahoma"/>
                <a:cs typeface="Tahoma"/>
              </a:rPr>
              <a:t> </a:t>
            </a:r>
            <a:r>
              <a:rPr sz="1800" dirty="0">
                <a:solidFill>
                  <a:srgbClr val="212121"/>
                </a:solidFill>
                <a:latin typeface="Tahoma"/>
                <a:cs typeface="Tahoma"/>
              </a:rPr>
              <a:t>we</a:t>
            </a:r>
            <a:r>
              <a:rPr sz="1800" spc="-95" dirty="0">
                <a:solidFill>
                  <a:srgbClr val="212121"/>
                </a:solidFill>
                <a:latin typeface="Tahoma"/>
                <a:cs typeface="Tahoma"/>
              </a:rPr>
              <a:t> </a:t>
            </a:r>
            <a:r>
              <a:rPr sz="1800" spc="-10" dirty="0">
                <a:solidFill>
                  <a:srgbClr val="212121"/>
                </a:solidFill>
                <a:latin typeface="Tahoma"/>
                <a:cs typeface="Tahoma"/>
              </a:rPr>
              <a:t>have</a:t>
            </a:r>
            <a:r>
              <a:rPr sz="1800" spc="-100" dirty="0">
                <a:solidFill>
                  <a:srgbClr val="212121"/>
                </a:solidFill>
                <a:latin typeface="Tahoma"/>
                <a:cs typeface="Tahoma"/>
              </a:rPr>
              <a:t> </a:t>
            </a:r>
            <a:r>
              <a:rPr sz="1800" dirty="0">
                <a:solidFill>
                  <a:srgbClr val="212121"/>
                </a:solidFill>
                <a:latin typeface="Tahoma"/>
                <a:cs typeface="Tahoma"/>
              </a:rPr>
              <a:t>to</a:t>
            </a:r>
            <a:r>
              <a:rPr sz="1800" spc="-75" dirty="0">
                <a:solidFill>
                  <a:srgbClr val="212121"/>
                </a:solidFill>
                <a:latin typeface="Tahoma"/>
                <a:cs typeface="Tahoma"/>
              </a:rPr>
              <a:t> </a:t>
            </a:r>
            <a:r>
              <a:rPr sz="1800" spc="-25" dirty="0">
                <a:solidFill>
                  <a:srgbClr val="212121"/>
                </a:solidFill>
                <a:latin typeface="Tahoma"/>
                <a:cs typeface="Tahoma"/>
              </a:rPr>
              <a:t>measure</a:t>
            </a:r>
            <a:r>
              <a:rPr sz="1800" spc="-114" dirty="0">
                <a:solidFill>
                  <a:srgbClr val="212121"/>
                </a:solidFill>
                <a:latin typeface="Tahoma"/>
                <a:cs typeface="Tahoma"/>
              </a:rPr>
              <a:t> </a:t>
            </a:r>
            <a:r>
              <a:rPr sz="1800" dirty="0">
                <a:solidFill>
                  <a:srgbClr val="212121"/>
                </a:solidFill>
                <a:latin typeface="Tahoma"/>
                <a:cs typeface="Tahoma"/>
              </a:rPr>
              <a:t>the</a:t>
            </a:r>
            <a:r>
              <a:rPr sz="1800" spc="-85" dirty="0">
                <a:solidFill>
                  <a:srgbClr val="212121"/>
                </a:solidFill>
                <a:latin typeface="Tahoma"/>
                <a:cs typeface="Tahoma"/>
              </a:rPr>
              <a:t> </a:t>
            </a:r>
            <a:r>
              <a:rPr sz="1800" dirty="0">
                <a:solidFill>
                  <a:srgbClr val="212121"/>
                </a:solidFill>
                <a:latin typeface="Tahoma"/>
                <a:cs typeface="Tahoma"/>
              </a:rPr>
              <a:t>loss</a:t>
            </a:r>
            <a:r>
              <a:rPr sz="1800" spc="-90" dirty="0">
                <a:solidFill>
                  <a:srgbClr val="212121"/>
                </a:solidFill>
                <a:latin typeface="Tahoma"/>
                <a:cs typeface="Tahoma"/>
              </a:rPr>
              <a:t> </a:t>
            </a:r>
            <a:r>
              <a:rPr sz="1800" spc="-20" dirty="0">
                <a:solidFill>
                  <a:srgbClr val="212121"/>
                </a:solidFill>
                <a:latin typeface="Tahoma"/>
                <a:cs typeface="Tahoma"/>
              </a:rPr>
              <a:t>and</a:t>
            </a:r>
            <a:r>
              <a:rPr sz="1800" spc="-90" dirty="0">
                <a:solidFill>
                  <a:srgbClr val="212121"/>
                </a:solidFill>
                <a:latin typeface="Tahoma"/>
                <a:cs typeface="Tahoma"/>
              </a:rPr>
              <a:t> </a:t>
            </a:r>
            <a:r>
              <a:rPr sz="1800" dirty="0">
                <a:solidFill>
                  <a:srgbClr val="212121"/>
                </a:solidFill>
                <a:latin typeface="Tahoma"/>
                <a:cs typeface="Tahoma"/>
              </a:rPr>
              <a:t>this</a:t>
            </a:r>
            <a:r>
              <a:rPr sz="1800" spc="-95" dirty="0">
                <a:solidFill>
                  <a:srgbClr val="212121"/>
                </a:solidFill>
                <a:latin typeface="Tahoma"/>
                <a:cs typeface="Tahoma"/>
              </a:rPr>
              <a:t> </a:t>
            </a:r>
            <a:r>
              <a:rPr sz="1800" dirty="0">
                <a:solidFill>
                  <a:srgbClr val="212121"/>
                </a:solidFill>
                <a:latin typeface="Tahoma"/>
                <a:cs typeface="Tahoma"/>
              </a:rPr>
              <a:t>loss</a:t>
            </a:r>
            <a:r>
              <a:rPr sz="1800" spc="-85" dirty="0">
                <a:solidFill>
                  <a:srgbClr val="212121"/>
                </a:solidFill>
                <a:latin typeface="Tahoma"/>
                <a:cs typeface="Tahoma"/>
              </a:rPr>
              <a:t> </a:t>
            </a:r>
            <a:r>
              <a:rPr sz="1800" spc="-35" dirty="0">
                <a:solidFill>
                  <a:srgbClr val="212121"/>
                </a:solidFill>
                <a:latin typeface="Tahoma"/>
                <a:cs typeface="Tahoma"/>
              </a:rPr>
              <a:t>has</a:t>
            </a:r>
            <a:r>
              <a:rPr sz="1800" spc="-105" dirty="0">
                <a:solidFill>
                  <a:srgbClr val="212121"/>
                </a:solidFill>
                <a:latin typeface="Tahoma"/>
                <a:cs typeface="Tahoma"/>
              </a:rPr>
              <a:t> </a:t>
            </a:r>
            <a:r>
              <a:rPr sz="1800" dirty="0">
                <a:solidFill>
                  <a:srgbClr val="212121"/>
                </a:solidFill>
                <a:latin typeface="Tahoma"/>
                <a:cs typeface="Tahoma"/>
              </a:rPr>
              <a:t>to</a:t>
            </a:r>
            <a:r>
              <a:rPr sz="1800" spc="-75" dirty="0">
                <a:solidFill>
                  <a:srgbClr val="212121"/>
                </a:solidFill>
                <a:latin typeface="Tahoma"/>
                <a:cs typeface="Tahoma"/>
              </a:rPr>
              <a:t> </a:t>
            </a:r>
            <a:r>
              <a:rPr sz="1800" dirty="0">
                <a:solidFill>
                  <a:srgbClr val="212121"/>
                </a:solidFill>
                <a:latin typeface="Tahoma"/>
                <a:cs typeface="Tahoma"/>
              </a:rPr>
              <a:t>be</a:t>
            </a:r>
            <a:r>
              <a:rPr sz="1800" spc="-90" dirty="0">
                <a:solidFill>
                  <a:srgbClr val="212121"/>
                </a:solidFill>
                <a:latin typeface="Tahoma"/>
                <a:cs typeface="Tahoma"/>
              </a:rPr>
              <a:t> </a:t>
            </a:r>
            <a:r>
              <a:rPr sz="1800" dirty="0">
                <a:solidFill>
                  <a:srgbClr val="212121"/>
                </a:solidFill>
                <a:latin typeface="Tahoma"/>
                <a:cs typeface="Tahoma"/>
              </a:rPr>
              <a:t>back</a:t>
            </a:r>
            <a:r>
              <a:rPr sz="1800" spc="-80" dirty="0">
                <a:solidFill>
                  <a:srgbClr val="212121"/>
                </a:solidFill>
                <a:latin typeface="Tahoma"/>
                <a:cs typeface="Tahoma"/>
              </a:rPr>
              <a:t> </a:t>
            </a:r>
            <a:r>
              <a:rPr sz="1800" spc="-10" dirty="0">
                <a:solidFill>
                  <a:srgbClr val="212121"/>
                </a:solidFill>
                <a:latin typeface="Tahoma"/>
                <a:cs typeface="Tahoma"/>
              </a:rPr>
              <a:t>propagated</a:t>
            </a:r>
            <a:r>
              <a:rPr sz="1800" spc="-85" dirty="0">
                <a:solidFill>
                  <a:srgbClr val="212121"/>
                </a:solidFill>
                <a:latin typeface="Tahoma"/>
                <a:cs typeface="Tahoma"/>
              </a:rPr>
              <a:t> </a:t>
            </a:r>
            <a:r>
              <a:rPr sz="1800" spc="-25" dirty="0">
                <a:solidFill>
                  <a:srgbClr val="212121"/>
                </a:solidFill>
                <a:latin typeface="Tahoma"/>
                <a:cs typeface="Tahoma"/>
              </a:rPr>
              <a:t>to </a:t>
            </a:r>
            <a:r>
              <a:rPr sz="1800" dirty="0">
                <a:solidFill>
                  <a:srgbClr val="212121"/>
                </a:solidFill>
                <a:latin typeface="Tahoma"/>
                <a:cs typeface="Tahoma"/>
              </a:rPr>
              <a:t>update</a:t>
            </a:r>
            <a:r>
              <a:rPr sz="1800" spc="-65" dirty="0">
                <a:solidFill>
                  <a:srgbClr val="212121"/>
                </a:solidFill>
                <a:latin typeface="Tahoma"/>
                <a:cs typeface="Tahoma"/>
              </a:rPr>
              <a:t> </a:t>
            </a:r>
            <a:r>
              <a:rPr sz="1800" dirty="0">
                <a:solidFill>
                  <a:srgbClr val="212121"/>
                </a:solidFill>
                <a:latin typeface="Tahoma"/>
                <a:cs typeface="Tahoma"/>
              </a:rPr>
              <a:t>the</a:t>
            </a:r>
            <a:r>
              <a:rPr sz="1800" spc="-65" dirty="0">
                <a:solidFill>
                  <a:srgbClr val="212121"/>
                </a:solidFill>
                <a:latin typeface="Tahoma"/>
                <a:cs typeface="Tahoma"/>
              </a:rPr>
              <a:t> </a:t>
            </a:r>
            <a:r>
              <a:rPr sz="1800" dirty="0">
                <a:solidFill>
                  <a:srgbClr val="212121"/>
                </a:solidFill>
                <a:latin typeface="Tahoma"/>
                <a:cs typeface="Tahoma"/>
              </a:rPr>
              <a:t>weights</a:t>
            </a:r>
            <a:r>
              <a:rPr sz="1800" spc="-70" dirty="0">
                <a:solidFill>
                  <a:srgbClr val="212121"/>
                </a:solidFill>
                <a:latin typeface="Tahoma"/>
                <a:cs typeface="Tahoma"/>
              </a:rPr>
              <a:t> </a:t>
            </a:r>
            <a:r>
              <a:rPr sz="1800" dirty="0">
                <a:solidFill>
                  <a:srgbClr val="212121"/>
                </a:solidFill>
                <a:latin typeface="Tahoma"/>
                <a:cs typeface="Tahoma"/>
              </a:rPr>
              <a:t>of</a:t>
            </a:r>
            <a:r>
              <a:rPr sz="1800" spc="445" dirty="0">
                <a:solidFill>
                  <a:srgbClr val="212121"/>
                </a:solidFill>
                <a:latin typeface="Tahoma"/>
                <a:cs typeface="Tahoma"/>
              </a:rPr>
              <a:t> </a:t>
            </a:r>
            <a:r>
              <a:rPr sz="1800" dirty="0">
                <a:solidFill>
                  <a:srgbClr val="212121"/>
                </a:solidFill>
                <a:latin typeface="Tahoma"/>
                <a:cs typeface="Tahoma"/>
              </a:rPr>
              <a:t>the</a:t>
            </a:r>
            <a:r>
              <a:rPr sz="1800" spc="-65" dirty="0">
                <a:solidFill>
                  <a:srgbClr val="212121"/>
                </a:solidFill>
                <a:latin typeface="Tahoma"/>
                <a:cs typeface="Tahoma"/>
              </a:rPr>
              <a:t> </a:t>
            </a:r>
            <a:r>
              <a:rPr sz="1800" dirty="0">
                <a:solidFill>
                  <a:srgbClr val="212121"/>
                </a:solidFill>
                <a:latin typeface="Tahoma"/>
                <a:cs typeface="Tahoma"/>
              </a:rPr>
              <a:t>Generator</a:t>
            </a:r>
            <a:r>
              <a:rPr sz="1800" spc="-80" dirty="0">
                <a:solidFill>
                  <a:srgbClr val="212121"/>
                </a:solidFill>
                <a:latin typeface="Tahoma"/>
                <a:cs typeface="Tahoma"/>
              </a:rPr>
              <a:t> </a:t>
            </a:r>
            <a:r>
              <a:rPr sz="1800" spc="-10" dirty="0">
                <a:solidFill>
                  <a:srgbClr val="212121"/>
                </a:solidFill>
                <a:latin typeface="Tahoma"/>
                <a:cs typeface="Tahoma"/>
              </a:rPr>
              <a:t>and</a:t>
            </a:r>
            <a:r>
              <a:rPr sz="1800" spc="-70" dirty="0">
                <a:solidFill>
                  <a:srgbClr val="212121"/>
                </a:solidFill>
                <a:latin typeface="Tahoma"/>
                <a:cs typeface="Tahoma"/>
              </a:rPr>
              <a:t> </a:t>
            </a:r>
            <a:r>
              <a:rPr sz="1800" dirty="0">
                <a:solidFill>
                  <a:srgbClr val="212121"/>
                </a:solidFill>
                <a:latin typeface="Tahoma"/>
                <a:cs typeface="Tahoma"/>
              </a:rPr>
              <a:t>the</a:t>
            </a:r>
            <a:r>
              <a:rPr sz="1800" spc="-70" dirty="0">
                <a:solidFill>
                  <a:srgbClr val="212121"/>
                </a:solidFill>
                <a:latin typeface="Tahoma"/>
                <a:cs typeface="Tahoma"/>
              </a:rPr>
              <a:t> </a:t>
            </a:r>
            <a:r>
              <a:rPr sz="1800" spc="-10" dirty="0">
                <a:solidFill>
                  <a:srgbClr val="212121"/>
                </a:solidFill>
                <a:latin typeface="Tahoma"/>
                <a:cs typeface="Tahoma"/>
              </a:rPr>
              <a:t>Discriminator.</a:t>
            </a:r>
            <a:endParaRPr sz="1800">
              <a:latin typeface="Tahoma"/>
              <a:cs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286257"/>
            <a:ext cx="2984500" cy="513715"/>
          </a:xfrm>
          <a:prstGeom prst="rect">
            <a:avLst/>
          </a:prstGeom>
        </p:spPr>
        <p:txBody>
          <a:bodyPr vert="horz" wrap="square" lIns="0" tIns="12700" rIns="0" bIns="0" rtlCol="0">
            <a:spAutoFit/>
          </a:bodyPr>
          <a:lstStyle/>
          <a:p>
            <a:pPr marL="12700">
              <a:lnSpc>
                <a:spcPct val="100000"/>
              </a:lnSpc>
              <a:spcBef>
                <a:spcPts val="100"/>
              </a:spcBef>
            </a:pPr>
            <a:r>
              <a:rPr dirty="0"/>
              <a:t>Steps</a:t>
            </a:r>
            <a:r>
              <a:rPr spc="-20" dirty="0"/>
              <a:t> </a:t>
            </a:r>
            <a:r>
              <a:rPr dirty="0"/>
              <a:t>of</a:t>
            </a:r>
            <a:r>
              <a:rPr spc="-15" dirty="0"/>
              <a:t> </a:t>
            </a:r>
            <a:r>
              <a:rPr spc="-10" dirty="0"/>
              <a:t>training</a:t>
            </a:r>
          </a:p>
        </p:txBody>
      </p:sp>
      <p:grpSp>
        <p:nvGrpSpPr>
          <p:cNvPr id="3" name="object 3"/>
          <p:cNvGrpSpPr/>
          <p:nvPr/>
        </p:nvGrpSpPr>
        <p:grpSpPr>
          <a:xfrm>
            <a:off x="297199" y="1676400"/>
            <a:ext cx="11750040" cy="3830320"/>
            <a:chOff x="297199" y="1676400"/>
            <a:chExt cx="11750040" cy="3830320"/>
          </a:xfrm>
        </p:grpSpPr>
        <p:pic>
          <p:nvPicPr>
            <p:cNvPr id="4" name="object 4"/>
            <p:cNvPicPr/>
            <p:nvPr/>
          </p:nvPicPr>
          <p:blipFill>
            <a:blip r:embed="rId2" cstate="print"/>
            <a:stretch>
              <a:fillRect/>
            </a:stretch>
          </p:blipFill>
          <p:spPr>
            <a:xfrm>
              <a:off x="297199" y="1923424"/>
              <a:ext cx="5791926" cy="3134348"/>
            </a:xfrm>
            <a:prstGeom prst="rect">
              <a:avLst/>
            </a:prstGeom>
          </p:spPr>
        </p:pic>
        <p:pic>
          <p:nvPicPr>
            <p:cNvPr id="5" name="object 5"/>
            <p:cNvPicPr/>
            <p:nvPr/>
          </p:nvPicPr>
          <p:blipFill>
            <a:blip r:embed="rId3" cstate="print"/>
            <a:stretch>
              <a:fillRect/>
            </a:stretch>
          </p:blipFill>
          <p:spPr>
            <a:xfrm>
              <a:off x="5969507" y="1676400"/>
              <a:ext cx="6077712" cy="3829812"/>
            </a:xfrm>
            <a:prstGeom prst="rect">
              <a:avLst/>
            </a:prstGeom>
          </p:spPr>
        </p:pic>
      </p:grpSp>
      <p:sp>
        <p:nvSpPr>
          <p:cNvPr id="6" name="object 6"/>
          <p:cNvSpPr txBox="1"/>
          <p:nvPr/>
        </p:nvSpPr>
        <p:spPr>
          <a:xfrm>
            <a:off x="411480" y="5391911"/>
            <a:ext cx="6105525" cy="923925"/>
          </a:xfrm>
          <a:prstGeom prst="rect">
            <a:avLst/>
          </a:prstGeom>
          <a:solidFill>
            <a:srgbClr val="DEEBF7"/>
          </a:solidFill>
        </p:spPr>
        <p:txBody>
          <a:bodyPr vert="horz" wrap="square" lIns="0" tIns="43815" rIns="0" bIns="0" rtlCol="0">
            <a:spAutoFit/>
          </a:bodyPr>
          <a:lstStyle/>
          <a:p>
            <a:pPr marL="90805" marR="128270">
              <a:lnSpc>
                <a:spcPct val="100000"/>
              </a:lnSpc>
              <a:spcBef>
                <a:spcPts val="345"/>
              </a:spcBef>
            </a:pPr>
            <a:r>
              <a:rPr sz="1800" spc="55" dirty="0">
                <a:solidFill>
                  <a:srgbClr val="212121"/>
                </a:solidFill>
                <a:latin typeface="Tahoma"/>
                <a:cs typeface="Tahoma"/>
              </a:rPr>
              <a:t>When</a:t>
            </a:r>
            <a:r>
              <a:rPr sz="1800" spc="-70" dirty="0">
                <a:solidFill>
                  <a:srgbClr val="212121"/>
                </a:solidFill>
                <a:latin typeface="Tahoma"/>
                <a:cs typeface="Tahoma"/>
              </a:rPr>
              <a:t> </a:t>
            </a:r>
            <a:r>
              <a:rPr sz="1800" dirty="0">
                <a:solidFill>
                  <a:srgbClr val="212121"/>
                </a:solidFill>
                <a:latin typeface="Tahoma"/>
                <a:cs typeface="Tahoma"/>
              </a:rPr>
              <a:t>we</a:t>
            </a:r>
            <a:r>
              <a:rPr sz="1800" spc="-70" dirty="0">
                <a:solidFill>
                  <a:srgbClr val="212121"/>
                </a:solidFill>
                <a:latin typeface="Tahoma"/>
                <a:cs typeface="Tahoma"/>
              </a:rPr>
              <a:t> </a:t>
            </a:r>
            <a:r>
              <a:rPr sz="1800" spc="-20" dirty="0">
                <a:solidFill>
                  <a:srgbClr val="212121"/>
                </a:solidFill>
                <a:latin typeface="Tahoma"/>
                <a:cs typeface="Tahoma"/>
              </a:rPr>
              <a:t>are</a:t>
            </a:r>
            <a:r>
              <a:rPr sz="1800" spc="-75" dirty="0">
                <a:solidFill>
                  <a:srgbClr val="212121"/>
                </a:solidFill>
                <a:latin typeface="Tahoma"/>
                <a:cs typeface="Tahoma"/>
              </a:rPr>
              <a:t> </a:t>
            </a:r>
            <a:r>
              <a:rPr sz="1800" spc="-10" dirty="0">
                <a:solidFill>
                  <a:srgbClr val="212121"/>
                </a:solidFill>
                <a:latin typeface="Tahoma"/>
                <a:cs typeface="Tahoma"/>
              </a:rPr>
              <a:t>training</a:t>
            </a:r>
            <a:r>
              <a:rPr sz="1800" spc="-80" dirty="0">
                <a:solidFill>
                  <a:srgbClr val="212121"/>
                </a:solidFill>
                <a:latin typeface="Tahoma"/>
                <a:cs typeface="Tahoma"/>
              </a:rPr>
              <a:t> </a:t>
            </a:r>
            <a:r>
              <a:rPr sz="1800" dirty="0">
                <a:solidFill>
                  <a:srgbClr val="212121"/>
                </a:solidFill>
                <a:latin typeface="Tahoma"/>
                <a:cs typeface="Tahoma"/>
              </a:rPr>
              <a:t>the</a:t>
            </a:r>
            <a:r>
              <a:rPr sz="1800" spc="-55" dirty="0">
                <a:solidFill>
                  <a:srgbClr val="212121"/>
                </a:solidFill>
                <a:latin typeface="Tahoma"/>
                <a:cs typeface="Tahoma"/>
              </a:rPr>
              <a:t> </a:t>
            </a:r>
            <a:r>
              <a:rPr sz="1800" dirty="0">
                <a:solidFill>
                  <a:srgbClr val="212121"/>
                </a:solidFill>
                <a:latin typeface="Tahoma"/>
                <a:cs typeface="Tahoma"/>
              </a:rPr>
              <a:t>Discriminator,</a:t>
            </a:r>
            <a:r>
              <a:rPr sz="1800" spc="-75" dirty="0">
                <a:solidFill>
                  <a:srgbClr val="212121"/>
                </a:solidFill>
                <a:latin typeface="Tahoma"/>
                <a:cs typeface="Tahoma"/>
              </a:rPr>
              <a:t> </a:t>
            </a:r>
            <a:r>
              <a:rPr sz="1800" dirty="0">
                <a:solidFill>
                  <a:srgbClr val="212121"/>
                </a:solidFill>
                <a:latin typeface="Tahoma"/>
                <a:cs typeface="Tahoma"/>
              </a:rPr>
              <a:t>we</a:t>
            </a:r>
            <a:r>
              <a:rPr sz="1800" spc="-60" dirty="0">
                <a:solidFill>
                  <a:srgbClr val="212121"/>
                </a:solidFill>
                <a:latin typeface="Tahoma"/>
                <a:cs typeface="Tahoma"/>
              </a:rPr>
              <a:t> </a:t>
            </a:r>
            <a:r>
              <a:rPr sz="1800" spc="-10" dirty="0">
                <a:solidFill>
                  <a:srgbClr val="212121"/>
                </a:solidFill>
                <a:latin typeface="Tahoma"/>
                <a:cs typeface="Tahoma"/>
              </a:rPr>
              <a:t>have</a:t>
            </a:r>
            <a:r>
              <a:rPr sz="1800" spc="-70" dirty="0">
                <a:solidFill>
                  <a:srgbClr val="212121"/>
                </a:solidFill>
                <a:latin typeface="Tahoma"/>
                <a:cs typeface="Tahoma"/>
              </a:rPr>
              <a:t> </a:t>
            </a:r>
            <a:r>
              <a:rPr sz="1800" dirty="0">
                <a:solidFill>
                  <a:srgbClr val="212121"/>
                </a:solidFill>
                <a:latin typeface="Tahoma"/>
                <a:cs typeface="Tahoma"/>
              </a:rPr>
              <a:t>to</a:t>
            </a:r>
            <a:r>
              <a:rPr sz="1800" spc="-65" dirty="0">
                <a:solidFill>
                  <a:srgbClr val="212121"/>
                </a:solidFill>
                <a:latin typeface="Tahoma"/>
                <a:cs typeface="Tahoma"/>
              </a:rPr>
              <a:t> </a:t>
            </a:r>
            <a:r>
              <a:rPr sz="1800" spc="-10" dirty="0">
                <a:solidFill>
                  <a:srgbClr val="212121"/>
                </a:solidFill>
                <a:latin typeface="Tahoma"/>
                <a:cs typeface="Tahoma"/>
              </a:rPr>
              <a:t>freeze </a:t>
            </a:r>
            <a:r>
              <a:rPr sz="1800" dirty="0">
                <a:solidFill>
                  <a:srgbClr val="212121"/>
                </a:solidFill>
                <a:latin typeface="Tahoma"/>
                <a:cs typeface="Tahoma"/>
              </a:rPr>
              <a:t>the</a:t>
            </a:r>
            <a:r>
              <a:rPr sz="1800" spc="-70" dirty="0">
                <a:solidFill>
                  <a:srgbClr val="212121"/>
                </a:solidFill>
                <a:latin typeface="Tahoma"/>
                <a:cs typeface="Tahoma"/>
              </a:rPr>
              <a:t> </a:t>
            </a:r>
            <a:r>
              <a:rPr sz="1800" dirty="0">
                <a:solidFill>
                  <a:srgbClr val="212121"/>
                </a:solidFill>
                <a:latin typeface="Tahoma"/>
                <a:cs typeface="Tahoma"/>
              </a:rPr>
              <a:t>Generator</a:t>
            </a:r>
            <a:r>
              <a:rPr sz="1800" spc="-80" dirty="0">
                <a:solidFill>
                  <a:srgbClr val="212121"/>
                </a:solidFill>
                <a:latin typeface="Tahoma"/>
                <a:cs typeface="Tahoma"/>
              </a:rPr>
              <a:t> </a:t>
            </a:r>
            <a:r>
              <a:rPr sz="1800" spc="-10" dirty="0">
                <a:solidFill>
                  <a:srgbClr val="212121"/>
                </a:solidFill>
                <a:latin typeface="Tahoma"/>
                <a:cs typeface="Tahoma"/>
              </a:rPr>
              <a:t>and</a:t>
            </a:r>
            <a:r>
              <a:rPr sz="1800" spc="-70" dirty="0">
                <a:solidFill>
                  <a:srgbClr val="212121"/>
                </a:solidFill>
                <a:latin typeface="Tahoma"/>
                <a:cs typeface="Tahoma"/>
              </a:rPr>
              <a:t> </a:t>
            </a:r>
            <a:r>
              <a:rPr sz="1800" dirty="0">
                <a:solidFill>
                  <a:srgbClr val="212121"/>
                </a:solidFill>
                <a:latin typeface="Tahoma"/>
                <a:cs typeface="Tahoma"/>
              </a:rPr>
              <a:t>back</a:t>
            </a:r>
            <a:r>
              <a:rPr sz="1800" spc="-55" dirty="0">
                <a:solidFill>
                  <a:srgbClr val="212121"/>
                </a:solidFill>
                <a:latin typeface="Tahoma"/>
                <a:cs typeface="Tahoma"/>
              </a:rPr>
              <a:t> </a:t>
            </a:r>
            <a:r>
              <a:rPr sz="1800" spc="-10" dirty="0">
                <a:solidFill>
                  <a:srgbClr val="212121"/>
                </a:solidFill>
                <a:latin typeface="Tahoma"/>
                <a:cs typeface="Tahoma"/>
              </a:rPr>
              <a:t>propagate</a:t>
            </a:r>
            <a:r>
              <a:rPr sz="1800" spc="-65" dirty="0">
                <a:solidFill>
                  <a:srgbClr val="212121"/>
                </a:solidFill>
                <a:latin typeface="Tahoma"/>
                <a:cs typeface="Tahoma"/>
              </a:rPr>
              <a:t> </a:t>
            </a:r>
            <a:r>
              <a:rPr sz="1800" dirty="0">
                <a:solidFill>
                  <a:srgbClr val="212121"/>
                </a:solidFill>
                <a:latin typeface="Tahoma"/>
                <a:cs typeface="Tahoma"/>
              </a:rPr>
              <a:t>errors</a:t>
            </a:r>
            <a:r>
              <a:rPr sz="1800" spc="-95"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dirty="0">
                <a:solidFill>
                  <a:srgbClr val="212121"/>
                </a:solidFill>
                <a:latin typeface="Tahoma"/>
                <a:cs typeface="Tahoma"/>
              </a:rPr>
              <a:t>only</a:t>
            </a:r>
            <a:r>
              <a:rPr sz="1800" spc="-70" dirty="0">
                <a:solidFill>
                  <a:srgbClr val="212121"/>
                </a:solidFill>
                <a:latin typeface="Tahoma"/>
                <a:cs typeface="Tahoma"/>
              </a:rPr>
              <a:t> </a:t>
            </a:r>
            <a:r>
              <a:rPr sz="1800" spc="-10" dirty="0">
                <a:solidFill>
                  <a:srgbClr val="212121"/>
                </a:solidFill>
                <a:latin typeface="Tahoma"/>
                <a:cs typeface="Tahoma"/>
              </a:rPr>
              <a:t>update </a:t>
            </a:r>
            <a:r>
              <a:rPr sz="1800" dirty="0">
                <a:solidFill>
                  <a:srgbClr val="212121"/>
                </a:solidFill>
                <a:latin typeface="Tahoma"/>
                <a:cs typeface="Tahoma"/>
              </a:rPr>
              <a:t>the</a:t>
            </a:r>
            <a:r>
              <a:rPr sz="1800" spc="-80" dirty="0">
                <a:solidFill>
                  <a:srgbClr val="212121"/>
                </a:solidFill>
                <a:latin typeface="Tahoma"/>
                <a:cs typeface="Tahoma"/>
              </a:rPr>
              <a:t> </a:t>
            </a:r>
            <a:r>
              <a:rPr sz="1800" spc="-10" dirty="0">
                <a:solidFill>
                  <a:srgbClr val="212121"/>
                </a:solidFill>
                <a:latin typeface="Tahoma"/>
                <a:cs typeface="Tahoma"/>
              </a:rPr>
              <a:t>Discriminator.</a:t>
            </a:r>
            <a:endParaRPr sz="1800">
              <a:latin typeface="Tahoma"/>
              <a:cs typeface="Tahoma"/>
            </a:endParaRPr>
          </a:p>
        </p:txBody>
      </p:sp>
      <p:sp>
        <p:nvSpPr>
          <p:cNvPr id="7" name="object 7"/>
          <p:cNvSpPr txBox="1"/>
          <p:nvPr/>
        </p:nvSpPr>
        <p:spPr>
          <a:xfrm>
            <a:off x="6176771" y="944880"/>
            <a:ext cx="6015355" cy="923925"/>
          </a:xfrm>
          <a:prstGeom prst="rect">
            <a:avLst/>
          </a:prstGeom>
          <a:solidFill>
            <a:srgbClr val="E1EFD9"/>
          </a:solidFill>
        </p:spPr>
        <p:txBody>
          <a:bodyPr vert="horz" wrap="square" lIns="0" tIns="43180" rIns="0" bIns="0" rtlCol="0">
            <a:spAutoFit/>
          </a:bodyPr>
          <a:lstStyle/>
          <a:p>
            <a:pPr marL="91440" marR="365760">
              <a:lnSpc>
                <a:spcPct val="100000"/>
              </a:lnSpc>
              <a:spcBef>
                <a:spcPts val="340"/>
              </a:spcBef>
            </a:pPr>
            <a:r>
              <a:rPr sz="1800" spc="50" dirty="0">
                <a:solidFill>
                  <a:srgbClr val="212121"/>
                </a:solidFill>
                <a:latin typeface="Tahoma"/>
                <a:cs typeface="Tahoma"/>
              </a:rPr>
              <a:t>When</a:t>
            </a:r>
            <a:r>
              <a:rPr sz="1800" spc="-70" dirty="0">
                <a:solidFill>
                  <a:srgbClr val="212121"/>
                </a:solidFill>
                <a:latin typeface="Tahoma"/>
                <a:cs typeface="Tahoma"/>
              </a:rPr>
              <a:t> </a:t>
            </a:r>
            <a:r>
              <a:rPr sz="1800" dirty="0">
                <a:solidFill>
                  <a:srgbClr val="212121"/>
                </a:solidFill>
                <a:latin typeface="Tahoma"/>
                <a:cs typeface="Tahoma"/>
              </a:rPr>
              <a:t>we</a:t>
            </a:r>
            <a:r>
              <a:rPr sz="1800" spc="-85" dirty="0">
                <a:solidFill>
                  <a:srgbClr val="212121"/>
                </a:solidFill>
                <a:latin typeface="Tahoma"/>
                <a:cs typeface="Tahoma"/>
              </a:rPr>
              <a:t> </a:t>
            </a:r>
            <a:r>
              <a:rPr sz="1800" spc="-20" dirty="0">
                <a:solidFill>
                  <a:srgbClr val="212121"/>
                </a:solidFill>
                <a:latin typeface="Tahoma"/>
                <a:cs typeface="Tahoma"/>
              </a:rPr>
              <a:t>are</a:t>
            </a:r>
            <a:r>
              <a:rPr sz="1800" spc="-85" dirty="0">
                <a:solidFill>
                  <a:srgbClr val="212121"/>
                </a:solidFill>
                <a:latin typeface="Tahoma"/>
                <a:cs typeface="Tahoma"/>
              </a:rPr>
              <a:t> </a:t>
            </a:r>
            <a:r>
              <a:rPr sz="1800" spc="-10" dirty="0">
                <a:solidFill>
                  <a:srgbClr val="212121"/>
                </a:solidFill>
                <a:latin typeface="Tahoma"/>
                <a:cs typeface="Tahoma"/>
              </a:rPr>
              <a:t>training</a:t>
            </a:r>
            <a:r>
              <a:rPr sz="1800" spc="-85" dirty="0">
                <a:solidFill>
                  <a:srgbClr val="212121"/>
                </a:solidFill>
                <a:latin typeface="Tahoma"/>
                <a:cs typeface="Tahoma"/>
              </a:rPr>
              <a:t> </a:t>
            </a:r>
            <a:r>
              <a:rPr sz="1800" dirty="0">
                <a:solidFill>
                  <a:srgbClr val="212121"/>
                </a:solidFill>
                <a:latin typeface="Tahoma"/>
                <a:cs typeface="Tahoma"/>
              </a:rPr>
              <a:t>the</a:t>
            </a:r>
            <a:r>
              <a:rPr sz="1800" spc="-60" dirty="0">
                <a:solidFill>
                  <a:srgbClr val="212121"/>
                </a:solidFill>
                <a:latin typeface="Tahoma"/>
                <a:cs typeface="Tahoma"/>
              </a:rPr>
              <a:t> </a:t>
            </a:r>
            <a:r>
              <a:rPr sz="1800" dirty="0">
                <a:solidFill>
                  <a:srgbClr val="212121"/>
                </a:solidFill>
                <a:latin typeface="Tahoma"/>
                <a:cs typeface="Tahoma"/>
              </a:rPr>
              <a:t>Generator,</a:t>
            </a:r>
            <a:r>
              <a:rPr sz="1800" spc="-90" dirty="0">
                <a:solidFill>
                  <a:srgbClr val="212121"/>
                </a:solidFill>
                <a:latin typeface="Tahoma"/>
                <a:cs typeface="Tahoma"/>
              </a:rPr>
              <a:t> </a:t>
            </a:r>
            <a:r>
              <a:rPr sz="1800" dirty="0">
                <a:solidFill>
                  <a:srgbClr val="212121"/>
                </a:solidFill>
                <a:latin typeface="Tahoma"/>
                <a:cs typeface="Tahoma"/>
              </a:rPr>
              <a:t>we</a:t>
            </a:r>
            <a:r>
              <a:rPr sz="1800" spc="-80" dirty="0">
                <a:solidFill>
                  <a:srgbClr val="212121"/>
                </a:solidFill>
                <a:latin typeface="Tahoma"/>
                <a:cs typeface="Tahoma"/>
              </a:rPr>
              <a:t> </a:t>
            </a:r>
            <a:r>
              <a:rPr sz="1800" spc="-10" dirty="0">
                <a:solidFill>
                  <a:srgbClr val="212121"/>
                </a:solidFill>
                <a:latin typeface="Tahoma"/>
                <a:cs typeface="Tahoma"/>
              </a:rPr>
              <a:t>have</a:t>
            </a:r>
            <a:r>
              <a:rPr sz="1800" spc="-80" dirty="0">
                <a:solidFill>
                  <a:srgbClr val="212121"/>
                </a:solidFill>
                <a:latin typeface="Tahoma"/>
                <a:cs typeface="Tahoma"/>
              </a:rPr>
              <a:t> </a:t>
            </a:r>
            <a:r>
              <a:rPr sz="1800" dirty="0">
                <a:solidFill>
                  <a:srgbClr val="212121"/>
                </a:solidFill>
                <a:latin typeface="Tahoma"/>
                <a:cs typeface="Tahoma"/>
              </a:rPr>
              <a:t>to</a:t>
            </a:r>
            <a:r>
              <a:rPr sz="1800" spc="-60" dirty="0">
                <a:solidFill>
                  <a:srgbClr val="212121"/>
                </a:solidFill>
                <a:latin typeface="Tahoma"/>
                <a:cs typeface="Tahoma"/>
              </a:rPr>
              <a:t> </a:t>
            </a:r>
            <a:r>
              <a:rPr sz="1800" spc="-10" dirty="0">
                <a:solidFill>
                  <a:srgbClr val="212121"/>
                </a:solidFill>
                <a:latin typeface="Tahoma"/>
                <a:cs typeface="Tahoma"/>
              </a:rPr>
              <a:t>freeze </a:t>
            </a:r>
            <a:r>
              <a:rPr sz="1800" dirty="0">
                <a:solidFill>
                  <a:srgbClr val="212121"/>
                </a:solidFill>
                <a:latin typeface="Tahoma"/>
                <a:cs typeface="Tahoma"/>
              </a:rPr>
              <a:t>the</a:t>
            </a:r>
            <a:r>
              <a:rPr sz="1800" spc="-70" dirty="0">
                <a:solidFill>
                  <a:srgbClr val="212121"/>
                </a:solidFill>
                <a:latin typeface="Tahoma"/>
                <a:cs typeface="Tahoma"/>
              </a:rPr>
              <a:t> </a:t>
            </a:r>
            <a:r>
              <a:rPr sz="1800" dirty="0">
                <a:solidFill>
                  <a:srgbClr val="212121"/>
                </a:solidFill>
                <a:latin typeface="Tahoma"/>
                <a:cs typeface="Tahoma"/>
              </a:rPr>
              <a:t>Discriminator</a:t>
            </a:r>
            <a:r>
              <a:rPr sz="1800" spc="-65" dirty="0">
                <a:solidFill>
                  <a:srgbClr val="212121"/>
                </a:solidFill>
                <a:latin typeface="Tahoma"/>
                <a:cs typeface="Tahoma"/>
              </a:rPr>
              <a:t> </a:t>
            </a:r>
            <a:r>
              <a:rPr sz="1800" spc="-10" dirty="0">
                <a:solidFill>
                  <a:srgbClr val="212121"/>
                </a:solidFill>
                <a:latin typeface="Tahoma"/>
                <a:cs typeface="Tahoma"/>
              </a:rPr>
              <a:t>and</a:t>
            </a:r>
            <a:r>
              <a:rPr sz="1800" spc="-60" dirty="0">
                <a:solidFill>
                  <a:srgbClr val="212121"/>
                </a:solidFill>
                <a:latin typeface="Tahoma"/>
                <a:cs typeface="Tahoma"/>
              </a:rPr>
              <a:t> </a:t>
            </a:r>
            <a:r>
              <a:rPr sz="1800" dirty="0">
                <a:solidFill>
                  <a:srgbClr val="212121"/>
                </a:solidFill>
                <a:latin typeface="Tahoma"/>
                <a:cs typeface="Tahoma"/>
              </a:rPr>
              <a:t>back</a:t>
            </a:r>
            <a:r>
              <a:rPr sz="1800" spc="-75" dirty="0">
                <a:solidFill>
                  <a:srgbClr val="212121"/>
                </a:solidFill>
                <a:latin typeface="Tahoma"/>
                <a:cs typeface="Tahoma"/>
              </a:rPr>
              <a:t> </a:t>
            </a:r>
            <a:r>
              <a:rPr sz="1800" spc="-10" dirty="0">
                <a:solidFill>
                  <a:srgbClr val="212121"/>
                </a:solidFill>
                <a:latin typeface="Tahoma"/>
                <a:cs typeface="Tahoma"/>
              </a:rPr>
              <a:t>propagate</a:t>
            </a:r>
            <a:r>
              <a:rPr sz="1800" spc="-50" dirty="0">
                <a:solidFill>
                  <a:srgbClr val="212121"/>
                </a:solidFill>
                <a:latin typeface="Tahoma"/>
                <a:cs typeface="Tahoma"/>
              </a:rPr>
              <a:t> </a:t>
            </a:r>
            <a:r>
              <a:rPr sz="1800" dirty="0">
                <a:solidFill>
                  <a:srgbClr val="212121"/>
                </a:solidFill>
                <a:latin typeface="Tahoma"/>
                <a:cs typeface="Tahoma"/>
              </a:rPr>
              <a:t>errors</a:t>
            </a:r>
            <a:r>
              <a:rPr sz="1800" spc="-100"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spc="-20" dirty="0">
                <a:solidFill>
                  <a:srgbClr val="212121"/>
                </a:solidFill>
                <a:latin typeface="Tahoma"/>
                <a:cs typeface="Tahoma"/>
              </a:rPr>
              <a:t>only </a:t>
            </a:r>
            <a:r>
              <a:rPr sz="1800" dirty="0">
                <a:solidFill>
                  <a:srgbClr val="212121"/>
                </a:solidFill>
                <a:latin typeface="Tahoma"/>
                <a:cs typeface="Tahoma"/>
              </a:rPr>
              <a:t>update</a:t>
            </a:r>
            <a:r>
              <a:rPr sz="1800" spc="-90" dirty="0">
                <a:solidFill>
                  <a:srgbClr val="212121"/>
                </a:solidFill>
                <a:latin typeface="Tahoma"/>
                <a:cs typeface="Tahoma"/>
              </a:rPr>
              <a:t> </a:t>
            </a:r>
            <a:r>
              <a:rPr sz="1800" dirty="0">
                <a:solidFill>
                  <a:srgbClr val="212121"/>
                </a:solidFill>
                <a:latin typeface="Tahoma"/>
                <a:cs typeface="Tahoma"/>
              </a:rPr>
              <a:t>the</a:t>
            </a:r>
            <a:r>
              <a:rPr sz="1800" spc="-95" dirty="0">
                <a:solidFill>
                  <a:srgbClr val="212121"/>
                </a:solidFill>
                <a:latin typeface="Tahoma"/>
                <a:cs typeface="Tahoma"/>
              </a:rPr>
              <a:t> </a:t>
            </a:r>
            <a:r>
              <a:rPr sz="1800" spc="-10" dirty="0">
                <a:solidFill>
                  <a:srgbClr val="212121"/>
                </a:solidFill>
                <a:latin typeface="Tahoma"/>
                <a:cs typeface="Tahoma"/>
              </a:rPr>
              <a:t>Generator.</a:t>
            </a:r>
            <a:endParaRPr sz="1800">
              <a:latin typeface="Tahoma"/>
              <a:cs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3275" y="746401"/>
            <a:ext cx="11796395" cy="5144135"/>
            <a:chOff x="303275" y="746401"/>
            <a:chExt cx="11796395" cy="5144135"/>
          </a:xfrm>
        </p:grpSpPr>
        <p:pic>
          <p:nvPicPr>
            <p:cNvPr id="3" name="object 3"/>
            <p:cNvPicPr/>
            <p:nvPr/>
          </p:nvPicPr>
          <p:blipFill>
            <a:blip r:embed="rId2" cstate="print"/>
            <a:stretch>
              <a:fillRect/>
            </a:stretch>
          </p:blipFill>
          <p:spPr>
            <a:xfrm>
              <a:off x="312615" y="746401"/>
              <a:ext cx="11786444" cy="5144058"/>
            </a:xfrm>
            <a:prstGeom prst="rect">
              <a:avLst/>
            </a:prstGeom>
          </p:spPr>
        </p:pic>
        <p:pic>
          <p:nvPicPr>
            <p:cNvPr id="4" name="object 4"/>
            <p:cNvPicPr/>
            <p:nvPr/>
          </p:nvPicPr>
          <p:blipFill>
            <a:blip r:embed="rId3" cstate="print"/>
            <a:stretch>
              <a:fillRect/>
            </a:stretch>
          </p:blipFill>
          <p:spPr>
            <a:xfrm>
              <a:off x="303275" y="2714244"/>
              <a:ext cx="1385316" cy="1027175"/>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Steps</a:t>
            </a:r>
            <a:r>
              <a:rPr spc="-20" dirty="0"/>
              <a:t> </a:t>
            </a:r>
            <a:r>
              <a:rPr dirty="0"/>
              <a:t>to</a:t>
            </a:r>
            <a:r>
              <a:rPr spc="-15" dirty="0"/>
              <a:t> </a:t>
            </a:r>
            <a:r>
              <a:rPr dirty="0"/>
              <a:t>train</a:t>
            </a:r>
            <a:r>
              <a:rPr spc="-10" dirty="0"/>
              <a:t> </a:t>
            </a:r>
            <a:r>
              <a:rPr spc="-25" dirty="0"/>
              <a:t>GAN</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marR="10160">
              <a:lnSpc>
                <a:spcPct val="100000"/>
              </a:lnSpc>
              <a:spcBef>
                <a:spcPts val="100"/>
              </a:spcBef>
            </a:pPr>
            <a:r>
              <a:rPr b="1" spc="-130" dirty="0">
                <a:solidFill>
                  <a:srgbClr val="C00000"/>
                </a:solidFill>
                <a:latin typeface="Tahoma"/>
                <a:cs typeface="Tahoma"/>
              </a:rPr>
              <a:t>Step</a:t>
            </a:r>
            <a:r>
              <a:rPr b="1" spc="-45" dirty="0">
                <a:solidFill>
                  <a:srgbClr val="C00000"/>
                </a:solidFill>
                <a:latin typeface="Tahoma"/>
                <a:cs typeface="Tahoma"/>
              </a:rPr>
              <a:t> </a:t>
            </a:r>
            <a:r>
              <a:rPr b="1" spc="-160" dirty="0">
                <a:solidFill>
                  <a:srgbClr val="C00000"/>
                </a:solidFill>
                <a:latin typeface="Tahoma"/>
                <a:cs typeface="Tahoma"/>
              </a:rPr>
              <a:t>1</a:t>
            </a:r>
            <a:r>
              <a:rPr b="1" spc="-160" dirty="0">
                <a:latin typeface="Tahoma"/>
                <a:cs typeface="Tahoma"/>
              </a:rPr>
              <a:t>:</a:t>
            </a:r>
            <a:r>
              <a:rPr b="1" spc="-55" dirty="0">
                <a:latin typeface="Tahoma"/>
                <a:cs typeface="Tahoma"/>
              </a:rPr>
              <a:t> </a:t>
            </a:r>
            <a:r>
              <a:rPr b="1" spc="-95" dirty="0">
                <a:latin typeface="Tahoma"/>
                <a:cs typeface="Tahoma"/>
              </a:rPr>
              <a:t>Define</a:t>
            </a:r>
            <a:r>
              <a:rPr b="1" spc="-35" dirty="0">
                <a:latin typeface="Tahoma"/>
                <a:cs typeface="Tahoma"/>
              </a:rPr>
              <a:t> </a:t>
            </a:r>
            <a:r>
              <a:rPr b="1" spc="-120" dirty="0">
                <a:latin typeface="Tahoma"/>
                <a:cs typeface="Tahoma"/>
              </a:rPr>
              <a:t>the</a:t>
            </a:r>
            <a:r>
              <a:rPr b="1" spc="-65" dirty="0">
                <a:latin typeface="Tahoma"/>
                <a:cs typeface="Tahoma"/>
              </a:rPr>
              <a:t> </a:t>
            </a:r>
            <a:r>
              <a:rPr b="1" spc="-130" dirty="0">
                <a:latin typeface="Tahoma"/>
                <a:cs typeface="Tahoma"/>
              </a:rPr>
              <a:t>problem.</a:t>
            </a:r>
            <a:r>
              <a:rPr b="1" spc="-30" dirty="0">
                <a:latin typeface="Tahoma"/>
                <a:cs typeface="Tahoma"/>
              </a:rPr>
              <a:t> </a:t>
            </a:r>
            <a:r>
              <a:rPr spc="85" dirty="0"/>
              <a:t>Do</a:t>
            </a:r>
            <a:r>
              <a:rPr spc="-50" dirty="0"/>
              <a:t> </a:t>
            </a:r>
            <a:r>
              <a:rPr dirty="0"/>
              <a:t>you</a:t>
            </a:r>
            <a:r>
              <a:rPr spc="-65" dirty="0"/>
              <a:t> </a:t>
            </a:r>
            <a:r>
              <a:rPr dirty="0"/>
              <a:t>want</a:t>
            </a:r>
            <a:r>
              <a:rPr spc="-70" dirty="0"/>
              <a:t> </a:t>
            </a:r>
            <a:r>
              <a:rPr dirty="0"/>
              <a:t>to</a:t>
            </a:r>
            <a:r>
              <a:rPr spc="-60" dirty="0"/>
              <a:t> </a:t>
            </a:r>
            <a:r>
              <a:rPr spc="-10" dirty="0"/>
              <a:t>generate</a:t>
            </a:r>
            <a:r>
              <a:rPr spc="-70" dirty="0"/>
              <a:t> </a:t>
            </a:r>
            <a:r>
              <a:rPr dirty="0"/>
              <a:t>fake</a:t>
            </a:r>
            <a:r>
              <a:rPr spc="-80" dirty="0"/>
              <a:t> </a:t>
            </a:r>
            <a:r>
              <a:rPr spc="-35" dirty="0"/>
              <a:t>images</a:t>
            </a:r>
            <a:r>
              <a:rPr spc="-70" dirty="0"/>
              <a:t> </a:t>
            </a:r>
            <a:r>
              <a:rPr dirty="0"/>
              <a:t>or</a:t>
            </a:r>
            <a:r>
              <a:rPr spc="-60" dirty="0"/>
              <a:t> </a:t>
            </a:r>
            <a:r>
              <a:rPr dirty="0"/>
              <a:t>fake</a:t>
            </a:r>
            <a:r>
              <a:rPr spc="-85" dirty="0"/>
              <a:t> </a:t>
            </a:r>
            <a:r>
              <a:rPr dirty="0"/>
              <a:t>text.</a:t>
            </a:r>
            <a:r>
              <a:rPr spc="-45" dirty="0"/>
              <a:t> </a:t>
            </a:r>
            <a:r>
              <a:rPr dirty="0"/>
              <a:t>Here</a:t>
            </a:r>
            <a:r>
              <a:rPr spc="-90" dirty="0"/>
              <a:t> </a:t>
            </a:r>
            <a:r>
              <a:rPr dirty="0"/>
              <a:t>you</a:t>
            </a:r>
            <a:r>
              <a:rPr spc="-55" dirty="0"/>
              <a:t> </a:t>
            </a:r>
            <a:r>
              <a:rPr dirty="0"/>
              <a:t>should</a:t>
            </a:r>
            <a:r>
              <a:rPr spc="-80" dirty="0"/>
              <a:t> </a:t>
            </a:r>
            <a:r>
              <a:rPr dirty="0"/>
              <a:t>completely</a:t>
            </a:r>
            <a:r>
              <a:rPr spc="-50" dirty="0"/>
              <a:t> </a:t>
            </a:r>
            <a:r>
              <a:rPr spc="-10" dirty="0"/>
              <a:t>define </a:t>
            </a:r>
            <a:r>
              <a:rPr dirty="0"/>
              <a:t>the</a:t>
            </a:r>
            <a:r>
              <a:rPr spc="-70" dirty="0"/>
              <a:t> </a:t>
            </a:r>
            <a:r>
              <a:rPr dirty="0"/>
              <a:t>problem</a:t>
            </a:r>
            <a:r>
              <a:rPr spc="-50" dirty="0"/>
              <a:t> </a:t>
            </a:r>
            <a:r>
              <a:rPr spc="-10" dirty="0"/>
              <a:t>and</a:t>
            </a:r>
            <a:r>
              <a:rPr spc="-70" dirty="0"/>
              <a:t> </a:t>
            </a:r>
            <a:r>
              <a:rPr dirty="0"/>
              <a:t>collect</a:t>
            </a:r>
            <a:r>
              <a:rPr spc="-40" dirty="0"/>
              <a:t> </a:t>
            </a:r>
            <a:r>
              <a:rPr spc="-20" dirty="0"/>
              <a:t>data</a:t>
            </a:r>
            <a:r>
              <a:rPr spc="-55" dirty="0"/>
              <a:t> </a:t>
            </a:r>
            <a:r>
              <a:rPr dirty="0"/>
              <a:t>for</a:t>
            </a:r>
            <a:r>
              <a:rPr spc="-80" dirty="0"/>
              <a:t> </a:t>
            </a:r>
            <a:r>
              <a:rPr spc="-25" dirty="0"/>
              <a:t>it.</a:t>
            </a:r>
          </a:p>
          <a:p>
            <a:pPr marL="12700" marR="5080">
              <a:lnSpc>
                <a:spcPct val="100000"/>
              </a:lnSpc>
              <a:spcBef>
                <a:spcPts val="2160"/>
              </a:spcBef>
            </a:pPr>
            <a:r>
              <a:rPr b="1" spc="-130" dirty="0">
                <a:solidFill>
                  <a:srgbClr val="C00000"/>
                </a:solidFill>
                <a:latin typeface="Tahoma"/>
                <a:cs typeface="Tahoma"/>
              </a:rPr>
              <a:t>Step</a:t>
            </a:r>
            <a:r>
              <a:rPr b="1" spc="-30" dirty="0">
                <a:solidFill>
                  <a:srgbClr val="C00000"/>
                </a:solidFill>
                <a:latin typeface="Tahoma"/>
                <a:cs typeface="Tahoma"/>
              </a:rPr>
              <a:t> </a:t>
            </a:r>
            <a:r>
              <a:rPr b="1" spc="-160" dirty="0">
                <a:solidFill>
                  <a:srgbClr val="C00000"/>
                </a:solidFill>
                <a:latin typeface="Tahoma"/>
                <a:cs typeface="Tahoma"/>
              </a:rPr>
              <a:t>2:</a:t>
            </a:r>
            <a:r>
              <a:rPr b="1" spc="-45" dirty="0">
                <a:solidFill>
                  <a:srgbClr val="C00000"/>
                </a:solidFill>
                <a:latin typeface="Tahoma"/>
                <a:cs typeface="Tahoma"/>
              </a:rPr>
              <a:t> </a:t>
            </a:r>
            <a:r>
              <a:rPr b="1" spc="-95" dirty="0">
                <a:latin typeface="Tahoma"/>
                <a:cs typeface="Tahoma"/>
              </a:rPr>
              <a:t>Define</a:t>
            </a:r>
            <a:r>
              <a:rPr b="1" spc="-25" dirty="0">
                <a:latin typeface="Tahoma"/>
                <a:cs typeface="Tahoma"/>
              </a:rPr>
              <a:t> </a:t>
            </a:r>
            <a:r>
              <a:rPr b="1" spc="-114" dirty="0">
                <a:latin typeface="Tahoma"/>
                <a:cs typeface="Tahoma"/>
              </a:rPr>
              <a:t>architecture</a:t>
            </a:r>
            <a:r>
              <a:rPr b="1" spc="-40" dirty="0">
                <a:latin typeface="Tahoma"/>
                <a:cs typeface="Tahoma"/>
              </a:rPr>
              <a:t> </a:t>
            </a:r>
            <a:r>
              <a:rPr b="1" spc="-65" dirty="0">
                <a:latin typeface="Tahoma"/>
                <a:cs typeface="Tahoma"/>
              </a:rPr>
              <a:t>of</a:t>
            </a:r>
            <a:r>
              <a:rPr b="1" spc="-30" dirty="0">
                <a:latin typeface="Tahoma"/>
                <a:cs typeface="Tahoma"/>
              </a:rPr>
              <a:t> </a:t>
            </a:r>
            <a:r>
              <a:rPr b="1" spc="-50" dirty="0">
                <a:latin typeface="Tahoma"/>
                <a:cs typeface="Tahoma"/>
              </a:rPr>
              <a:t>GAN.</a:t>
            </a:r>
            <a:r>
              <a:rPr b="1" spc="-40" dirty="0">
                <a:latin typeface="Tahoma"/>
                <a:cs typeface="Tahoma"/>
              </a:rPr>
              <a:t> </a:t>
            </a:r>
            <a:r>
              <a:rPr dirty="0"/>
              <a:t>Define</a:t>
            </a:r>
            <a:r>
              <a:rPr spc="-55" dirty="0"/>
              <a:t> </a:t>
            </a:r>
            <a:r>
              <a:rPr dirty="0"/>
              <a:t>how</a:t>
            </a:r>
            <a:r>
              <a:rPr spc="-55" dirty="0"/>
              <a:t> </a:t>
            </a:r>
            <a:r>
              <a:rPr dirty="0"/>
              <a:t>your</a:t>
            </a:r>
            <a:r>
              <a:rPr spc="-55" dirty="0"/>
              <a:t> </a:t>
            </a:r>
            <a:r>
              <a:rPr spc="135" dirty="0"/>
              <a:t>GAN</a:t>
            </a:r>
            <a:r>
              <a:rPr spc="-75" dirty="0"/>
              <a:t> </a:t>
            </a:r>
            <a:r>
              <a:rPr dirty="0"/>
              <a:t>should</a:t>
            </a:r>
            <a:r>
              <a:rPr spc="-60" dirty="0"/>
              <a:t> </a:t>
            </a:r>
            <a:r>
              <a:rPr dirty="0"/>
              <a:t>look</a:t>
            </a:r>
            <a:r>
              <a:rPr spc="-40" dirty="0"/>
              <a:t> </a:t>
            </a:r>
            <a:r>
              <a:rPr spc="-25" dirty="0"/>
              <a:t>like.</a:t>
            </a:r>
            <a:r>
              <a:rPr spc="-40" dirty="0"/>
              <a:t> </a:t>
            </a:r>
            <a:r>
              <a:rPr dirty="0"/>
              <a:t>Should</a:t>
            </a:r>
            <a:r>
              <a:rPr spc="-55" dirty="0"/>
              <a:t> </a:t>
            </a:r>
            <a:r>
              <a:rPr dirty="0"/>
              <a:t>both</a:t>
            </a:r>
            <a:r>
              <a:rPr spc="-40" dirty="0"/>
              <a:t> </a:t>
            </a:r>
            <a:r>
              <a:rPr dirty="0"/>
              <a:t>your</a:t>
            </a:r>
            <a:r>
              <a:rPr spc="-65" dirty="0"/>
              <a:t> </a:t>
            </a:r>
            <a:r>
              <a:rPr spc="-10" dirty="0"/>
              <a:t>generator</a:t>
            </a:r>
            <a:r>
              <a:rPr spc="-65" dirty="0"/>
              <a:t> </a:t>
            </a:r>
            <a:r>
              <a:rPr spc="-25" dirty="0"/>
              <a:t>and </a:t>
            </a:r>
            <a:r>
              <a:rPr dirty="0"/>
              <a:t>discriminator</a:t>
            </a:r>
            <a:r>
              <a:rPr spc="-55" dirty="0"/>
              <a:t> </a:t>
            </a:r>
            <a:r>
              <a:rPr dirty="0"/>
              <a:t>be</a:t>
            </a:r>
            <a:r>
              <a:rPr spc="-60" dirty="0"/>
              <a:t> </a:t>
            </a:r>
            <a:r>
              <a:rPr dirty="0"/>
              <a:t>multi</a:t>
            </a:r>
            <a:r>
              <a:rPr spc="-50" dirty="0"/>
              <a:t> </a:t>
            </a:r>
            <a:r>
              <a:rPr dirty="0"/>
              <a:t>layer</a:t>
            </a:r>
            <a:r>
              <a:rPr spc="-45" dirty="0"/>
              <a:t> </a:t>
            </a:r>
            <a:r>
              <a:rPr spc="-10" dirty="0"/>
              <a:t>perceptrons,</a:t>
            </a:r>
            <a:r>
              <a:rPr spc="-60" dirty="0"/>
              <a:t> </a:t>
            </a:r>
            <a:r>
              <a:rPr dirty="0"/>
              <a:t>or</a:t>
            </a:r>
            <a:r>
              <a:rPr spc="-60" dirty="0"/>
              <a:t> </a:t>
            </a:r>
            <a:r>
              <a:rPr dirty="0"/>
              <a:t>convolutional</a:t>
            </a:r>
            <a:r>
              <a:rPr spc="-60" dirty="0"/>
              <a:t> </a:t>
            </a:r>
            <a:r>
              <a:rPr spc="-10" dirty="0"/>
              <a:t>neural</a:t>
            </a:r>
            <a:r>
              <a:rPr spc="-70" dirty="0"/>
              <a:t> </a:t>
            </a:r>
            <a:r>
              <a:rPr dirty="0"/>
              <a:t>networks?</a:t>
            </a:r>
            <a:r>
              <a:rPr spc="-80" dirty="0"/>
              <a:t> </a:t>
            </a:r>
            <a:r>
              <a:rPr dirty="0"/>
              <a:t>This</a:t>
            </a:r>
            <a:r>
              <a:rPr spc="-75" dirty="0"/>
              <a:t> </a:t>
            </a:r>
            <a:r>
              <a:rPr dirty="0"/>
              <a:t>step</a:t>
            </a:r>
            <a:r>
              <a:rPr spc="-55" dirty="0"/>
              <a:t> </a:t>
            </a:r>
            <a:r>
              <a:rPr dirty="0"/>
              <a:t>will</a:t>
            </a:r>
            <a:r>
              <a:rPr spc="-45" dirty="0"/>
              <a:t> </a:t>
            </a:r>
            <a:r>
              <a:rPr dirty="0"/>
              <a:t>depend</a:t>
            </a:r>
            <a:r>
              <a:rPr spc="-50" dirty="0"/>
              <a:t> </a:t>
            </a:r>
            <a:r>
              <a:rPr dirty="0"/>
              <a:t>on</a:t>
            </a:r>
            <a:r>
              <a:rPr spc="-55" dirty="0"/>
              <a:t> </a:t>
            </a:r>
            <a:r>
              <a:rPr dirty="0"/>
              <a:t>what</a:t>
            </a:r>
            <a:r>
              <a:rPr spc="-60" dirty="0"/>
              <a:t> </a:t>
            </a:r>
            <a:r>
              <a:rPr spc="-10" dirty="0"/>
              <a:t>problem </a:t>
            </a:r>
            <a:r>
              <a:rPr dirty="0"/>
              <a:t>you</a:t>
            </a:r>
            <a:r>
              <a:rPr spc="-70" dirty="0"/>
              <a:t> </a:t>
            </a:r>
            <a:r>
              <a:rPr spc="-20" dirty="0"/>
              <a:t>are</a:t>
            </a:r>
            <a:r>
              <a:rPr spc="-75" dirty="0"/>
              <a:t> </a:t>
            </a:r>
            <a:r>
              <a:rPr dirty="0"/>
              <a:t>trying</a:t>
            </a:r>
            <a:r>
              <a:rPr spc="-70" dirty="0"/>
              <a:t> </a:t>
            </a:r>
            <a:r>
              <a:rPr dirty="0"/>
              <a:t>to</a:t>
            </a:r>
            <a:r>
              <a:rPr spc="-60" dirty="0"/>
              <a:t> </a:t>
            </a:r>
            <a:r>
              <a:rPr spc="-10" dirty="0"/>
              <a:t>solve.</a:t>
            </a:r>
          </a:p>
          <a:p>
            <a:pPr marL="12700" marR="297180">
              <a:lnSpc>
                <a:spcPct val="100000"/>
              </a:lnSpc>
              <a:spcBef>
                <a:spcPts val="2160"/>
              </a:spcBef>
            </a:pPr>
            <a:r>
              <a:rPr b="1" spc="-130" dirty="0">
                <a:solidFill>
                  <a:srgbClr val="C00000"/>
                </a:solidFill>
                <a:latin typeface="Tahoma"/>
                <a:cs typeface="Tahoma"/>
              </a:rPr>
              <a:t>Step</a:t>
            </a:r>
            <a:r>
              <a:rPr b="1" spc="-50" dirty="0">
                <a:solidFill>
                  <a:srgbClr val="C00000"/>
                </a:solidFill>
                <a:latin typeface="Tahoma"/>
                <a:cs typeface="Tahoma"/>
              </a:rPr>
              <a:t> </a:t>
            </a:r>
            <a:r>
              <a:rPr b="1" spc="-160" dirty="0">
                <a:solidFill>
                  <a:srgbClr val="C00000"/>
                </a:solidFill>
                <a:latin typeface="Tahoma"/>
                <a:cs typeface="Tahoma"/>
              </a:rPr>
              <a:t>3</a:t>
            </a:r>
            <a:r>
              <a:rPr b="1" spc="-160" dirty="0">
                <a:latin typeface="Tahoma"/>
                <a:cs typeface="Tahoma"/>
              </a:rPr>
              <a:t>:</a:t>
            </a:r>
            <a:r>
              <a:rPr b="1" spc="-55" dirty="0">
                <a:latin typeface="Tahoma"/>
                <a:cs typeface="Tahoma"/>
              </a:rPr>
              <a:t> </a:t>
            </a:r>
            <a:r>
              <a:rPr b="1" spc="-105" dirty="0">
                <a:latin typeface="Tahoma"/>
                <a:cs typeface="Tahoma"/>
              </a:rPr>
              <a:t>Train</a:t>
            </a:r>
            <a:r>
              <a:rPr b="1" spc="-65" dirty="0">
                <a:latin typeface="Tahoma"/>
                <a:cs typeface="Tahoma"/>
              </a:rPr>
              <a:t> </a:t>
            </a:r>
            <a:r>
              <a:rPr b="1" spc="-114" dirty="0">
                <a:latin typeface="Tahoma"/>
                <a:cs typeface="Tahoma"/>
              </a:rPr>
              <a:t>Discriminator</a:t>
            </a:r>
            <a:r>
              <a:rPr b="1" spc="-30" dirty="0">
                <a:latin typeface="Tahoma"/>
                <a:cs typeface="Tahoma"/>
              </a:rPr>
              <a:t> </a:t>
            </a:r>
            <a:r>
              <a:rPr b="1" spc="-120" dirty="0">
                <a:latin typeface="Tahoma"/>
                <a:cs typeface="Tahoma"/>
              </a:rPr>
              <a:t>on</a:t>
            </a:r>
            <a:r>
              <a:rPr b="1" spc="-50" dirty="0">
                <a:latin typeface="Tahoma"/>
                <a:cs typeface="Tahoma"/>
              </a:rPr>
              <a:t> </a:t>
            </a:r>
            <a:r>
              <a:rPr b="1" spc="-130" dirty="0">
                <a:latin typeface="Tahoma"/>
                <a:cs typeface="Tahoma"/>
              </a:rPr>
              <a:t>real</a:t>
            </a:r>
            <a:r>
              <a:rPr b="1" spc="-65" dirty="0">
                <a:latin typeface="Tahoma"/>
                <a:cs typeface="Tahoma"/>
              </a:rPr>
              <a:t> </a:t>
            </a:r>
            <a:r>
              <a:rPr b="1" spc="-140" dirty="0">
                <a:latin typeface="Tahoma"/>
                <a:cs typeface="Tahoma"/>
              </a:rPr>
              <a:t>data</a:t>
            </a:r>
            <a:r>
              <a:rPr b="1" spc="-55" dirty="0">
                <a:latin typeface="Tahoma"/>
                <a:cs typeface="Tahoma"/>
              </a:rPr>
              <a:t> </a:t>
            </a:r>
            <a:r>
              <a:rPr b="1" spc="-85" dirty="0">
                <a:latin typeface="Tahoma"/>
                <a:cs typeface="Tahoma"/>
              </a:rPr>
              <a:t>for</a:t>
            </a:r>
            <a:r>
              <a:rPr b="1" spc="-40" dirty="0">
                <a:latin typeface="Tahoma"/>
                <a:cs typeface="Tahoma"/>
              </a:rPr>
              <a:t> </a:t>
            </a:r>
            <a:r>
              <a:rPr b="1" spc="-145" dirty="0">
                <a:latin typeface="Tahoma"/>
                <a:cs typeface="Tahoma"/>
              </a:rPr>
              <a:t>n</a:t>
            </a:r>
            <a:r>
              <a:rPr b="1" spc="-70" dirty="0">
                <a:latin typeface="Tahoma"/>
                <a:cs typeface="Tahoma"/>
              </a:rPr>
              <a:t> </a:t>
            </a:r>
            <a:r>
              <a:rPr b="1" spc="-130" dirty="0">
                <a:latin typeface="Tahoma"/>
                <a:cs typeface="Tahoma"/>
              </a:rPr>
              <a:t>epochs.</a:t>
            </a:r>
            <a:r>
              <a:rPr b="1" spc="-40" dirty="0">
                <a:latin typeface="Tahoma"/>
                <a:cs typeface="Tahoma"/>
              </a:rPr>
              <a:t> </a:t>
            </a:r>
            <a:r>
              <a:rPr dirty="0"/>
              <a:t>Get</a:t>
            </a:r>
            <a:r>
              <a:rPr spc="-70" dirty="0"/>
              <a:t> </a:t>
            </a:r>
            <a:r>
              <a:rPr dirty="0"/>
              <a:t>the</a:t>
            </a:r>
            <a:r>
              <a:rPr spc="-60" dirty="0"/>
              <a:t> </a:t>
            </a:r>
            <a:r>
              <a:rPr spc="-20" dirty="0"/>
              <a:t>data</a:t>
            </a:r>
            <a:r>
              <a:rPr spc="-60" dirty="0"/>
              <a:t> </a:t>
            </a:r>
            <a:r>
              <a:rPr dirty="0"/>
              <a:t>you</a:t>
            </a:r>
            <a:r>
              <a:rPr spc="-70" dirty="0"/>
              <a:t> </a:t>
            </a:r>
            <a:r>
              <a:rPr dirty="0"/>
              <a:t>want</a:t>
            </a:r>
            <a:r>
              <a:rPr spc="-70" dirty="0"/>
              <a:t> </a:t>
            </a:r>
            <a:r>
              <a:rPr dirty="0"/>
              <a:t>to</a:t>
            </a:r>
            <a:r>
              <a:rPr spc="-65" dirty="0"/>
              <a:t> </a:t>
            </a:r>
            <a:r>
              <a:rPr spc="-10" dirty="0"/>
              <a:t>generate</a:t>
            </a:r>
            <a:r>
              <a:rPr spc="-75" dirty="0"/>
              <a:t> </a:t>
            </a:r>
            <a:r>
              <a:rPr dirty="0"/>
              <a:t>fake</a:t>
            </a:r>
            <a:r>
              <a:rPr spc="-80" dirty="0"/>
              <a:t> </a:t>
            </a:r>
            <a:r>
              <a:rPr dirty="0"/>
              <a:t>on</a:t>
            </a:r>
            <a:r>
              <a:rPr spc="-70" dirty="0"/>
              <a:t> </a:t>
            </a:r>
            <a:r>
              <a:rPr spc="-10" dirty="0"/>
              <a:t>and</a:t>
            </a:r>
            <a:r>
              <a:rPr spc="-65" dirty="0"/>
              <a:t> </a:t>
            </a:r>
            <a:r>
              <a:rPr dirty="0"/>
              <a:t>train</a:t>
            </a:r>
            <a:r>
              <a:rPr spc="-70" dirty="0"/>
              <a:t> </a:t>
            </a:r>
            <a:r>
              <a:rPr spc="-25" dirty="0"/>
              <a:t>the </a:t>
            </a:r>
            <a:r>
              <a:rPr dirty="0"/>
              <a:t>discriminator</a:t>
            </a:r>
            <a:r>
              <a:rPr spc="-65" dirty="0"/>
              <a:t> </a:t>
            </a:r>
            <a:r>
              <a:rPr dirty="0"/>
              <a:t>to</a:t>
            </a:r>
            <a:r>
              <a:rPr spc="-65" dirty="0"/>
              <a:t> </a:t>
            </a:r>
            <a:r>
              <a:rPr dirty="0"/>
              <a:t>correctly</a:t>
            </a:r>
            <a:r>
              <a:rPr spc="-75" dirty="0"/>
              <a:t> </a:t>
            </a:r>
            <a:r>
              <a:rPr dirty="0"/>
              <a:t>predict</a:t>
            </a:r>
            <a:r>
              <a:rPr spc="-65" dirty="0"/>
              <a:t> </a:t>
            </a:r>
            <a:r>
              <a:rPr dirty="0"/>
              <a:t>them</a:t>
            </a:r>
            <a:r>
              <a:rPr spc="-80" dirty="0"/>
              <a:t> </a:t>
            </a:r>
            <a:r>
              <a:rPr spc="-45" dirty="0"/>
              <a:t>as</a:t>
            </a:r>
            <a:r>
              <a:rPr spc="-60" dirty="0"/>
              <a:t> </a:t>
            </a:r>
            <a:r>
              <a:rPr spc="-35" dirty="0"/>
              <a:t>real.</a:t>
            </a:r>
            <a:r>
              <a:rPr spc="-65" dirty="0"/>
              <a:t> </a:t>
            </a:r>
            <a:r>
              <a:rPr dirty="0"/>
              <a:t>Here</a:t>
            </a:r>
            <a:r>
              <a:rPr spc="-70" dirty="0"/>
              <a:t> </a:t>
            </a:r>
            <a:r>
              <a:rPr spc="-10" dirty="0"/>
              <a:t>value</a:t>
            </a:r>
            <a:r>
              <a:rPr spc="-75" dirty="0"/>
              <a:t> </a:t>
            </a:r>
            <a:r>
              <a:rPr dirty="0"/>
              <a:t>n</a:t>
            </a:r>
            <a:r>
              <a:rPr spc="-60" dirty="0"/>
              <a:t> </a:t>
            </a:r>
            <a:r>
              <a:rPr dirty="0"/>
              <a:t>can</a:t>
            </a:r>
            <a:r>
              <a:rPr spc="-65" dirty="0"/>
              <a:t> </a:t>
            </a:r>
            <a:r>
              <a:rPr dirty="0"/>
              <a:t>be</a:t>
            </a:r>
            <a:r>
              <a:rPr spc="-65" dirty="0"/>
              <a:t> </a:t>
            </a:r>
            <a:r>
              <a:rPr spc="-10" dirty="0"/>
              <a:t>any</a:t>
            </a:r>
            <a:r>
              <a:rPr spc="-70" dirty="0"/>
              <a:t> </a:t>
            </a:r>
            <a:r>
              <a:rPr spc="-10" dirty="0"/>
              <a:t>natural</a:t>
            </a:r>
            <a:r>
              <a:rPr spc="-85" dirty="0"/>
              <a:t> </a:t>
            </a:r>
            <a:r>
              <a:rPr spc="-10" dirty="0"/>
              <a:t>number</a:t>
            </a:r>
            <a:r>
              <a:rPr spc="-75" dirty="0"/>
              <a:t> </a:t>
            </a:r>
            <a:r>
              <a:rPr dirty="0"/>
              <a:t>between</a:t>
            </a:r>
            <a:r>
              <a:rPr spc="-70" dirty="0"/>
              <a:t> </a:t>
            </a:r>
            <a:r>
              <a:rPr dirty="0"/>
              <a:t>1</a:t>
            </a:r>
            <a:r>
              <a:rPr spc="-65" dirty="0"/>
              <a:t> </a:t>
            </a:r>
            <a:r>
              <a:rPr spc="-10" dirty="0"/>
              <a:t>and</a:t>
            </a:r>
            <a:r>
              <a:rPr spc="-60" dirty="0"/>
              <a:t> </a:t>
            </a:r>
            <a:r>
              <a:rPr spc="-10" dirty="0"/>
              <a:t>infinity. </a:t>
            </a:r>
            <a:r>
              <a:rPr b="1" spc="-130" dirty="0">
                <a:solidFill>
                  <a:srgbClr val="C00000"/>
                </a:solidFill>
                <a:latin typeface="Tahoma"/>
                <a:cs typeface="Tahoma"/>
              </a:rPr>
              <a:t>Step</a:t>
            </a:r>
            <a:r>
              <a:rPr b="1" spc="-55" dirty="0">
                <a:solidFill>
                  <a:srgbClr val="C00000"/>
                </a:solidFill>
                <a:latin typeface="Tahoma"/>
                <a:cs typeface="Tahoma"/>
              </a:rPr>
              <a:t> </a:t>
            </a:r>
            <a:r>
              <a:rPr b="1" spc="-160" dirty="0">
                <a:solidFill>
                  <a:srgbClr val="C00000"/>
                </a:solidFill>
                <a:latin typeface="Tahoma"/>
                <a:cs typeface="Tahoma"/>
              </a:rPr>
              <a:t>4:</a:t>
            </a:r>
            <a:r>
              <a:rPr b="1" spc="-60" dirty="0">
                <a:solidFill>
                  <a:srgbClr val="C00000"/>
                </a:solidFill>
                <a:latin typeface="Tahoma"/>
                <a:cs typeface="Tahoma"/>
              </a:rPr>
              <a:t> </a:t>
            </a:r>
            <a:r>
              <a:rPr b="1" spc="-114" dirty="0">
                <a:latin typeface="Tahoma"/>
                <a:cs typeface="Tahoma"/>
              </a:rPr>
              <a:t>Generate</a:t>
            </a:r>
            <a:r>
              <a:rPr b="1" spc="-50" dirty="0">
                <a:latin typeface="Tahoma"/>
                <a:cs typeface="Tahoma"/>
              </a:rPr>
              <a:t> </a:t>
            </a:r>
            <a:r>
              <a:rPr b="1" spc="-125" dirty="0">
                <a:latin typeface="Tahoma"/>
                <a:cs typeface="Tahoma"/>
              </a:rPr>
              <a:t>fake</a:t>
            </a:r>
            <a:r>
              <a:rPr b="1" spc="-60" dirty="0">
                <a:latin typeface="Tahoma"/>
                <a:cs typeface="Tahoma"/>
              </a:rPr>
              <a:t> </a:t>
            </a:r>
            <a:r>
              <a:rPr b="1" spc="-125" dirty="0">
                <a:latin typeface="Tahoma"/>
                <a:cs typeface="Tahoma"/>
              </a:rPr>
              <a:t>inputs</a:t>
            </a:r>
            <a:r>
              <a:rPr b="1" spc="-65" dirty="0">
                <a:latin typeface="Tahoma"/>
                <a:cs typeface="Tahoma"/>
              </a:rPr>
              <a:t> </a:t>
            </a:r>
            <a:r>
              <a:rPr b="1" spc="-85" dirty="0">
                <a:latin typeface="Tahoma"/>
                <a:cs typeface="Tahoma"/>
              </a:rPr>
              <a:t>for</a:t>
            </a:r>
            <a:r>
              <a:rPr b="1" spc="-60" dirty="0">
                <a:latin typeface="Tahoma"/>
                <a:cs typeface="Tahoma"/>
              </a:rPr>
              <a:t> </a:t>
            </a:r>
            <a:r>
              <a:rPr b="1" spc="-130" dirty="0">
                <a:latin typeface="Tahoma"/>
                <a:cs typeface="Tahoma"/>
              </a:rPr>
              <a:t>generator</a:t>
            </a:r>
            <a:r>
              <a:rPr b="1" spc="-55" dirty="0">
                <a:latin typeface="Tahoma"/>
                <a:cs typeface="Tahoma"/>
              </a:rPr>
              <a:t> </a:t>
            </a:r>
            <a:r>
              <a:rPr b="1" spc="-155" dirty="0">
                <a:latin typeface="Tahoma"/>
                <a:cs typeface="Tahoma"/>
              </a:rPr>
              <a:t>and</a:t>
            </a:r>
            <a:r>
              <a:rPr b="1" spc="-65" dirty="0">
                <a:latin typeface="Tahoma"/>
                <a:cs typeface="Tahoma"/>
              </a:rPr>
              <a:t> </a:t>
            </a:r>
            <a:r>
              <a:rPr b="1" spc="-130" dirty="0">
                <a:latin typeface="Tahoma"/>
                <a:cs typeface="Tahoma"/>
              </a:rPr>
              <a:t>train</a:t>
            </a:r>
            <a:r>
              <a:rPr b="1" spc="-60" dirty="0">
                <a:latin typeface="Tahoma"/>
                <a:cs typeface="Tahoma"/>
              </a:rPr>
              <a:t> </a:t>
            </a:r>
            <a:r>
              <a:rPr b="1" spc="-114" dirty="0">
                <a:latin typeface="Tahoma"/>
                <a:cs typeface="Tahoma"/>
              </a:rPr>
              <a:t>discriminator</a:t>
            </a:r>
            <a:r>
              <a:rPr b="1" spc="-35" dirty="0">
                <a:latin typeface="Tahoma"/>
                <a:cs typeface="Tahoma"/>
              </a:rPr>
              <a:t> </a:t>
            </a:r>
            <a:r>
              <a:rPr b="1" spc="-120" dirty="0">
                <a:latin typeface="Tahoma"/>
                <a:cs typeface="Tahoma"/>
              </a:rPr>
              <a:t>on</a:t>
            </a:r>
            <a:r>
              <a:rPr b="1" spc="-60" dirty="0">
                <a:latin typeface="Tahoma"/>
                <a:cs typeface="Tahoma"/>
              </a:rPr>
              <a:t> </a:t>
            </a:r>
            <a:r>
              <a:rPr b="1" spc="-125" dirty="0">
                <a:latin typeface="Tahoma"/>
                <a:cs typeface="Tahoma"/>
              </a:rPr>
              <a:t>fake</a:t>
            </a:r>
            <a:r>
              <a:rPr b="1" spc="-65" dirty="0">
                <a:latin typeface="Tahoma"/>
                <a:cs typeface="Tahoma"/>
              </a:rPr>
              <a:t> </a:t>
            </a:r>
            <a:r>
              <a:rPr b="1" spc="-145" dirty="0">
                <a:latin typeface="Tahoma"/>
                <a:cs typeface="Tahoma"/>
              </a:rPr>
              <a:t>data.</a:t>
            </a:r>
            <a:r>
              <a:rPr b="1" spc="-25" dirty="0">
                <a:latin typeface="Tahoma"/>
                <a:cs typeface="Tahoma"/>
              </a:rPr>
              <a:t> </a:t>
            </a:r>
            <a:r>
              <a:rPr dirty="0"/>
              <a:t>Get</a:t>
            </a:r>
            <a:r>
              <a:rPr spc="-75" dirty="0"/>
              <a:t> </a:t>
            </a:r>
            <a:r>
              <a:rPr spc="-10" dirty="0"/>
              <a:t>generated</a:t>
            </a:r>
            <a:r>
              <a:rPr spc="-80" dirty="0"/>
              <a:t> </a:t>
            </a:r>
            <a:r>
              <a:rPr spc="-20" dirty="0"/>
              <a:t>data</a:t>
            </a:r>
            <a:r>
              <a:rPr spc="-70" dirty="0"/>
              <a:t> </a:t>
            </a:r>
            <a:r>
              <a:rPr spc="-10" dirty="0"/>
              <a:t>and</a:t>
            </a:r>
            <a:r>
              <a:rPr spc="-75" dirty="0"/>
              <a:t> </a:t>
            </a:r>
            <a:r>
              <a:rPr dirty="0"/>
              <a:t>let</a:t>
            </a:r>
            <a:r>
              <a:rPr spc="-55" dirty="0"/>
              <a:t> </a:t>
            </a:r>
            <a:r>
              <a:rPr spc="-25" dirty="0"/>
              <a:t>the </a:t>
            </a:r>
            <a:r>
              <a:rPr dirty="0"/>
              <a:t>discriminator</a:t>
            </a:r>
            <a:r>
              <a:rPr spc="-35" dirty="0"/>
              <a:t> </a:t>
            </a:r>
            <a:r>
              <a:rPr dirty="0"/>
              <a:t>correctly</a:t>
            </a:r>
            <a:r>
              <a:rPr spc="-50" dirty="0"/>
              <a:t> </a:t>
            </a:r>
            <a:r>
              <a:rPr dirty="0"/>
              <a:t>predict</a:t>
            </a:r>
            <a:r>
              <a:rPr spc="-25" dirty="0"/>
              <a:t> </a:t>
            </a:r>
            <a:r>
              <a:rPr dirty="0"/>
              <a:t>them</a:t>
            </a:r>
            <a:r>
              <a:rPr spc="-50" dirty="0"/>
              <a:t> as</a:t>
            </a:r>
            <a:r>
              <a:rPr spc="-35" dirty="0"/>
              <a:t> </a:t>
            </a:r>
            <a:r>
              <a:rPr spc="-10" dirty="0"/>
              <a:t>fake.</a:t>
            </a:r>
          </a:p>
          <a:p>
            <a:pPr marL="12700" marR="290830">
              <a:lnSpc>
                <a:spcPct val="100000"/>
              </a:lnSpc>
              <a:spcBef>
                <a:spcPts val="5"/>
              </a:spcBef>
            </a:pPr>
            <a:r>
              <a:rPr b="1" spc="-130" dirty="0">
                <a:solidFill>
                  <a:srgbClr val="C00000"/>
                </a:solidFill>
                <a:latin typeface="Tahoma"/>
                <a:cs typeface="Tahoma"/>
              </a:rPr>
              <a:t>Step</a:t>
            </a:r>
            <a:r>
              <a:rPr b="1" spc="-60" dirty="0">
                <a:solidFill>
                  <a:srgbClr val="C00000"/>
                </a:solidFill>
                <a:latin typeface="Tahoma"/>
                <a:cs typeface="Tahoma"/>
              </a:rPr>
              <a:t> </a:t>
            </a:r>
            <a:r>
              <a:rPr b="1" spc="-160" dirty="0">
                <a:solidFill>
                  <a:srgbClr val="C00000"/>
                </a:solidFill>
                <a:latin typeface="Tahoma"/>
                <a:cs typeface="Tahoma"/>
              </a:rPr>
              <a:t>5</a:t>
            </a:r>
            <a:r>
              <a:rPr b="1" spc="-160" dirty="0">
                <a:latin typeface="Tahoma"/>
                <a:cs typeface="Tahoma"/>
              </a:rPr>
              <a:t>:</a:t>
            </a:r>
            <a:r>
              <a:rPr b="1" spc="-65" dirty="0">
                <a:latin typeface="Tahoma"/>
                <a:cs typeface="Tahoma"/>
              </a:rPr>
              <a:t> </a:t>
            </a:r>
            <a:r>
              <a:rPr b="1" spc="-105" dirty="0">
                <a:latin typeface="Tahoma"/>
                <a:cs typeface="Tahoma"/>
              </a:rPr>
              <a:t>Train</a:t>
            </a:r>
            <a:r>
              <a:rPr b="1" spc="-80" dirty="0">
                <a:latin typeface="Tahoma"/>
                <a:cs typeface="Tahoma"/>
              </a:rPr>
              <a:t> </a:t>
            </a:r>
            <a:r>
              <a:rPr b="1" spc="-130" dirty="0">
                <a:latin typeface="Tahoma"/>
                <a:cs typeface="Tahoma"/>
              </a:rPr>
              <a:t>generator</a:t>
            </a:r>
            <a:r>
              <a:rPr b="1" spc="-55" dirty="0">
                <a:latin typeface="Tahoma"/>
                <a:cs typeface="Tahoma"/>
              </a:rPr>
              <a:t> </a:t>
            </a:r>
            <a:r>
              <a:rPr b="1" spc="-130" dirty="0">
                <a:latin typeface="Tahoma"/>
                <a:cs typeface="Tahoma"/>
              </a:rPr>
              <a:t>with</a:t>
            </a:r>
            <a:r>
              <a:rPr b="1" spc="-45" dirty="0">
                <a:latin typeface="Tahoma"/>
                <a:cs typeface="Tahoma"/>
              </a:rPr>
              <a:t> </a:t>
            </a:r>
            <a:r>
              <a:rPr b="1" spc="-120" dirty="0">
                <a:latin typeface="Tahoma"/>
                <a:cs typeface="Tahoma"/>
              </a:rPr>
              <a:t>the</a:t>
            </a:r>
            <a:r>
              <a:rPr b="1" spc="-80" dirty="0">
                <a:latin typeface="Tahoma"/>
                <a:cs typeface="Tahoma"/>
              </a:rPr>
              <a:t> </a:t>
            </a:r>
            <a:r>
              <a:rPr b="1" spc="-120" dirty="0">
                <a:latin typeface="Tahoma"/>
                <a:cs typeface="Tahoma"/>
              </a:rPr>
              <a:t>output</a:t>
            </a:r>
            <a:r>
              <a:rPr b="1" spc="-65" dirty="0">
                <a:latin typeface="Tahoma"/>
                <a:cs typeface="Tahoma"/>
              </a:rPr>
              <a:t> </a:t>
            </a:r>
            <a:r>
              <a:rPr b="1" spc="-80" dirty="0">
                <a:latin typeface="Tahoma"/>
                <a:cs typeface="Tahoma"/>
              </a:rPr>
              <a:t>of</a:t>
            </a:r>
            <a:r>
              <a:rPr b="1" spc="-65" dirty="0">
                <a:latin typeface="Tahoma"/>
                <a:cs typeface="Tahoma"/>
              </a:rPr>
              <a:t> </a:t>
            </a:r>
            <a:r>
              <a:rPr b="1" spc="-120" dirty="0">
                <a:latin typeface="Tahoma"/>
                <a:cs typeface="Tahoma"/>
              </a:rPr>
              <a:t>discriminator.</a:t>
            </a:r>
            <a:r>
              <a:rPr b="1" spc="-10" dirty="0">
                <a:latin typeface="Tahoma"/>
                <a:cs typeface="Tahoma"/>
              </a:rPr>
              <a:t> </a:t>
            </a:r>
            <a:r>
              <a:rPr spc="90" dirty="0"/>
              <a:t>Now</a:t>
            </a:r>
            <a:r>
              <a:rPr spc="-80" dirty="0"/>
              <a:t> </a:t>
            </a:r>
            <a:r>
              <a:rPr dirty="0"/>
              <a:t>when</a:t>
            </a:r>
            <a:r>
              <a:rPr spc="-90" dirty="0"/>
              <a:t> </a:t>
            </a:r>
            <a:r>
              <a:rPr dirty="0"/>
              <a:t>the</a:t>
            </a:r>
            <a:r>
              <a:rPr spc="-80" dirty="0"/>
              <a:t> </a:t>
            </a:r>
            <a:r>
              <a:rPr dirty="0"/>
              <a:t>discriminator</a:t>
            </a:r>
            <a:r>
              <a:rPr spc="-80" dirty="0"/>
              <a:t> </a:t>
            </a:r>
            <a:r>
              <a:rPr dirty="0"/>
              <a:t>is</a:t>
            </a:r>
            <a:r>
              <a:rPr spc="-80" dirty="0"/>
              <a:t> </a:t>
            </a:r>
            <a:r>
              <a:rPr spc="-20" dirty="0"/>
              <a:t>trained,</a:t>
            </a:r>
            <a:r>
              <a:rPr spc="-80" dirty="0"/>
              <a:t> </a:t>
            </a:r>
            <a:r>
              <a:rPr dirty="0"/>
              <a:t>you</a:t>
            </a:r>
            <a:r>
              <a:rPr spc="-70" dirty="0"/>
              <a:t> </a:t>
            </a:r>
            <a:r>
              <a:rPr spc="-10" dirty="0"/>
              <a:t>can</a:t>
            </a:r>
            <a:r>
              <a:rPr spc="-90" dirty="0"/>
              <a:t> </a:t>
            </a:r>
            <a:r>
              <a:rPr dirty="0"/>
              <a:t>get</a:t>
            </a:r>
            <a:r>
              <a:rPr spc="-80" dirty="0"/>
              <a:t> </a:t>
            </a:r>
            <a:r>
              <a:rPr spc="-25" dirty="0"/>
              <a:t>its </a:t>
            </a:r>
            <a:r>
              <a:rPr dirty="0"/>
              <a:t>predictions</a:t>
            </a:r>
            <a:r>
              <a:rPr spc="-55" dirty="0"/>
              <a:t> </a:t>
            </a:r>
            <a:r>
              <a:rPr spc="-10" dirty="0"/>
              <a:t>and</a:t>
            </a:r>
            <a:r>
              <a:rPr spc="-65" dirty="0"/>
              <a:t> </a:t>
            </a:r>
            <a:r>
              <a:rPr dirty="0"/>
              <a:t>use</a:t>
            </a:r>
            <a:r>
              <a:rPr spc="-70" dirty="0"/>
              <a:t> </a:t>
            </a:r>
            <a:r>
              <a:rPr dirty="0"/>
              <a:t>it</a:t>
            </a:r>
            <a:r>
              <a:rPr spc="-50" dirty="0"/>
              <a:t> as</a:t>
            </a:r>
            <a:r>
              <a:rPr spc="-60" dirty="0"/>
              <a:t> </a:t>
            </a:r>
            <a:r>
              <a:rPr spc="-30" dirty="0"/>
              <a:t>an</a:t>
            </a:r>
            <a:r>
              <a:rPr spc="-65" dirty="0"/>
              <a:t> </a:t>
            </a:r>
            <a:r>
              <a:rPr dirty="0"/>
              <a:t>objective</a:t>
            </a:r>
            <a:r>
              <a:rPr spc="-35" dirty="0"/>
              <a:t> </a:t>
            </a:r>
            <a:r>
              <a:rPr dirty="0"/>
              <a:t>for</a:t>
            </a:r>
            <a:r>
              <a:rPr spc="-75" dirty="0"/>
              <a:t> </a:t>
            </a:r>
            <a:r>
              <a:rPr spc="-10" dirty="0"/>
              <a:t>training</a:t>
            </a:r>
            <a:r>
              <a:rPr spc="-80" dirty="0"/>
              <a:t> </a:t>
            </a:r>
            <a:r>
              <a:rPr dirty="0"/>
              <a:t>the</a:t>
            </a:r>
            <a:r>
              <a:rPr spc="-55" dirty="0"/>
              <a:t> </a:t>
            </a:r>
            <a:r>
              <a:rPr spc="-20" dirty="0"/>
              <a:t>generator.</a:t>
            </a:r>
            <a:r>
              <a:rPr spc="-85" dirty="0"/>
              <a:t> </a:t>
            </a:r>
            <a:r>
              <a:rPr dirty="0"/>
              <a:t>Train</a:t>
            </a:r>
            <a:r>
              <a:rPr spc="-75" dirty="0"/>
              <a:t> </a:t>
            </a:r>
            <a:r>
              <a:rPr dirty="0"/>
              <a:t>the</a:t>
            </a:r>
            <a:r>
              <a:rPr spc="-50" dirty="0"/>
              <a:t> </a:t>
            </a:r>
            <a:r>
              <a:rPr dirty="0"/>
              <a:t>generator</a:t>
            </a:r>
            <a:r>
              <a:rPr spc="-75" dirty="0"/>
              <a:t> </a:t>
            </a:r>
            <a:r>
              <a:rPr dirty="0"/>
              <a:t>to</a:t>
            </a:r>
            <a:r>
              <a:rPr spc="-55" dirty="0"/>
              <a:t> </a:t>
            </a:r>
            <a:r>
              <a:rPr dirty="0"/>
              <a:t>fool</a:t>
            </a:r>
            <a:r>
              <a:rPr spc="-55" dirty="0"/>
              <a:t> </a:t>
            </a:r>
            <a:r>
              <a:rPr dirty="0"/>
              <a:t>the</a:t>
            </a:r>
            <a:r>
              <a:rPr spc="-65" dirty="0"/>
              <a:t> </a:t>
            </a:r>
            <a:r>
              <a:rPr spc="-10" dirty="0"/>
              <a:t>discriminator.</a:t>
            </a:r>
          </a:p>
          <a:p>
            <a:pPr marL="12700">
              <a:lnSpc>
                <a:spcPct val="100000"/>
              </a:lnSpc>
              <a:spcBef>
                <a:spcPts val="2160"/>
              </a:spcBef>
            </a:pPr>
            <a:r>
              <a:rPr b="1" spc="-130" dirty="0">
                <a:solidFill>
                  <a:srgbClr val="C00000"/>
                </a:solidFill>
                <a:latin typeface="Tahoma"/>
                <a:cs typeface="Tahoma"/>
              </a:rPr>
              <a:t>Step</a:t>
            </a:r>
            <a:r>
              <a:rPr b="1" spc="-60" dirty="0">
                <a:solidFill>
                  <a:srgbClr val="C00000"/>
                </a:solidFill>
                <a:latin typeface="Tahoma"/>
                <a:cs typeface="Tahoma"/>
              </a:rPr>
              <a:t> </a:t>
            </a:r>
            <a:r>
              <a:rPr b="1" spc="-160" dirty="0">
                <a:solidFill>
                  <a:srgbClr val="C00000"/>
                </a:solidFill>
                <a:latin typeface="Tahoma"/>
                <a:cs typeface="Tahoma"/>
              </a:rPr>
              <a:t>6</a:t>
            </a:r>
            <a:r>
              <a:rPr b="1" spc="-160" dirty="0">
                <a:latin typeface="Tahoma"/>
                <a:cs typeface="Tahoma"/>
              </a:rPr>
              <a:t>:</a:t>
            </a:r>
            <a:r>
              <a:rPr b="1" spc="-70" dirty="0">
                <a:latin typeface="Tahoma"/>
                <a:cs typeface="Tahoma"/>
              </a:rPr>
              <a:t> </a:t>
            </a:r>
            <a:r>
              <a:rPr b="1" spc="-140" dirty="0">
                <a:latin typeface="Tahoma"/>
                <a:cs typeface="Tahoma"/>
              </a:rPr>
              <a:t>Repeat</a:t>
            </a:r>
            <a:r>
              <a:rPr b="1" spc="-35" dirty="0">
                <a:latin typeface="Tahoma"/>
                <a:cs typeface="Tahoma"/>
              </a:rPr>
              <a:t> </a:t>
            </a:r>
            <a:r>
              <a:rPr b="1" spc="-125" dirty="0">
                <a:latin typeface="Tahoma"/>
                <a:cs typeface="Tahoma"/>
              </a:rPr>
              <a:t>step</a:t>
            </a:r>
            <a:r>
              <a:rPr b="1" spc="-70" dirty="0">
                <a:latin typeface="Tahoma"/>
                <a:cs typeface="Tahoma"/>
              </a:rPr>
              <a:t> </a:t>
            </a:r>
            <a:r>
              <a:rPr b="1" spc="-114" dirty="0">
                <a:latin typeface="Tahoma"/>
                <a:cs typeface="Tahoma"/>
              </a:rPr>
              <a:t>3</a:t>
            </a:r>
            <a:r>
              <a:rPr b="1" spc="-65" dirty="0">
                <a:latin typeface="Tahoma"/>
                <a:cs typeface="Tahoma"/>
              </a:rPr>
              <a:t> </a:t>
            </a:r>
            <a:r>
              <a:rPr b="1" spc="-90" dirty="0">
                <a:latin typeface="Tahoma"/>
                <a:cs typeface="Tahoma"/>
              </a:rPr>
              <a:t>to</a:t>
            </a:r>
            <a:r>
              <a:rPr b="1" spc="-70" dirty="0">
                <a:latin typeface="Tahoma"/>
                <a:cs typeface="Tahoma"/>
              </a:rPr>
              <a:t> </a:t>
            </a:r>
            <a:r>
              <a:rPr b="1" spc="-125" dirty="0">
                <a:latin typeface="Tahoma"/>
                <a:cs typeface="Tahoma"/>
              </a:rPr>
              <a:t>step</a:t>
            </a:r>
            <a:r>
              <a:rPr b="1" spc="-65" dirty="0">
                <a:latin typeface="Tahoma"/>
                <a:cs typeface="Tahoma"/>
              </a:rPr>
              <a:t> </a:t>
            </a:r>
            <a:r>
              <a:rPr b="1" spc="-114" dirty="0">
                <a:latin typeface="Tahoma"/>
                <a:cs typeface="Tahoma"/>
              </a:rPr>
              <a:t>5</a:t>
            </a:r>
            <a:r>
              <a:rPr b="1" spc="-65" dirty="0">
                <a:latin typeface="Tahoma"/>
                <a:cs typeface="Tahoma"/>
              </a:rPr>
              <a:t> </a:t>
            </a:r>
            <a:r>
              <a:rPr b="1" spc="-85" dirty="0">
                <a:latin typeface="Tahoma"/>
                <a:cs typeface="Tahoma"/>
              </a:rPr>
              <a:t>for</a:t>
            </a:r>
            <a:r>
              <a:rPr b="1" spc="-70" dirty="0">
                <a:latin typeface="Tahoma"/>
                <a:cs typeface="Tahoma"/>
              </a:rPr>
              <a:t> </a:t>
            </a:r>
            <a:r>
              <a:rPr b="1" spc="-180" dirty="0">
                <a:latin typeface="Tahoma"/>
                <a:cs typeface="Tahoma"/>
              </a:rPr>
              <a:t>a</a:t>
            </a:r>
            <a:r>
              <a:rPr b="1" spc="-80" dirty="0">
                <a:latin typeface="Tahoma"/>
                <a:cs typeface="Tahoma"/>
              </a:rPr>
              <a:t> </a:t>
            </a:r>
            <a:r>
              <a:rPr b="1" spc="-120" dirty="0">
                <a:latin typeface="Tahoma"/>
                <a:cs typeface="Tahoma"/>
              </a:rPr>
              <a:t>few</a:t>
            </a:r>
            <a:r>
              <a:rPr b="1" spc="-55" dirty="0">
                <a:latin typeface="Tahoma"/>
                <a:cs typeface="Tahoma"/>
              </a:rPr>
              <a:t> </a:t>
            </a:r>
            <a:r>
              <a:rPr b="1" spc="-10" dirty="0">
                <a:latin typeface="Tahoma"/>
                <a:cs typeface="Tahoma"/>
              </a:rPr>
              <a:t>epochs.</a:t>
            </a:r>
          </a:p>
          <a:p>
            <a:pPr marL="12700">
              <a:lnSpc>
                <a:spcPct val="100000"/>
              </a:lnSpc>
              <a:spcBef>
                <a:spcPts val="2160"/>
              </a:spcBef>
            </a:pPr>
            <a:r>
              <a:rPr b="1" spc="-130" dirty="0">
                <a:solidFill>
                  <a:srgbClr val="C00000"/>
                </a:solidFill>
                <a:latin typeface="Tahoma"/>
                <a:cs typeface="Tahoma"/>
              </a:rPr>
              <a:t>Step</a:t>
            </a:r>
            <a:r>
              <a:rPr b="1" spc="-65" dirty="0">
                <a:solidFill>
                  <a:srgbClr val="C00000"/>
                </a:solidFill>
                <a:latin typeface="Tahoma"/>
                <a:cs typeface="Tahoma"/>
              </a:rPr>
              <a:t> </a:t>
            </a:r>
            <a:r>
              <a:rPr b="1" spc="-160" dirty="0">
                <a:solidFill>
                  <a:srgbClr val="C00000"/>
                </a:solidFill>
                <a:latin typeface="Tahoma"/>
                <a:cs typeface="Tahoma"/>
              </a:rPr>
              <a:t>7</a:t>
            </a:r>
            <a:r>
              <a:rPr b="1" spc="-160" dirty="0">
                <a:latin typeface="Tahoma"/>
                <a:cs typeface="Tahoma"/>
              </a:rPr>
              <a:t>:</a:t>
            </a:r>
            <a:r>
              <a:rPr b="1" spc="-75" dirty="0">
                <a:latin typeface="Tahoma"/>
                <a:cs typeface="Tahoma"/>
              </a:rPr>
              <a:t> </a:t>
            </a:r>
            <a:r>
              <a:rPr b="1" spc="-100" dirty="0">
                <a:latin typeface="Tahoma"/>
                <a:cs typeface="Tahoma"/>
              </a:rPr>
              <a:t>Check</a:t>
            </a:r>
            <a:r>
              <a:rPr b="1" spc="-80" dirty="0">
                <a:latin typeface="Tahoma"/>
                <a:cs typeface="Tahoma"/>
              </a:rPr>
              <a:t> </a:t>
            </a:r>
            <a:r>
              <a:rPr b="1" spc="-65" dirty="0">
                <a:latin typeface="Tahoma"/>
                <a:cs typeface="Tahoma"/>
              </a:rPr>
              <a:t>if</a:t>
            </a:r>
            <a:r>
              <a:rPr b="1" spc="-70" dirty="0">
                <a:latin typeface="Tahoma"/>
                <a:cs typeface="Tahoma"/>
              </a:rPr>
              <a:t> </a:t>
            </a:r>
            <a:r>
              <a:rPr b="1" spc="-120" dirty="0">
                <a:latin typeface="Tahoma"/>
                <a:cs typeface="Tahoma"/>
              </a:rPr>
              <a:t>the</a:t>
            </a:r>
            <a:r>
              <a:rPr b="1" spc="-70" dirty="0">
                <a:latin typeface="Tahoma"/>
                <a:cs typeface="Tahoma"/>
              </a:rPr>
              <a:t> </a:t>
            </a:r>
            <a:r>
              <a:rPr b="1" spc="-125" dirty="0">
                <a:latin typeface="Tahoma"/>
                <a:cs typeface="Tahoma"/>
              </a:rPr>
              <a:t>fake</a:t>
            </a:r>
            <a:r>
              <a:rPr b="1" spc="-75" dirty="0">
                <a:latin typeface="Tahoma"/>
                <a:cs typeface="Tahoma"/>
              </a:rPr>
              <a:t> </a:t>
            </a:r>
            <a:r>
              <a:rPr b="1" spc="-140" dirty="0">
                <a:latin typeface="Tahoma"/>
                <a:cs typeface="Tahoma"/>
              </a:rPr>
              <a:t>data</a:t>
            </a:r>
            <a:r>
              <a:rPr b="1" spc="-70" dirty="0">
                <a:latin typeface="Tahoma"/>
                <a:cs typeface="Tahoma"/>
              </a:rPr>
              <a:t> </a:t>
            </a:r>
            <a:r>
              <a:rPr b="1" spc="-140" dirty="0">
                <a:latin typeface="Tahoma"/>
                <a:cs typeface="Tahoma"/>
              </a:rPr>
              <a:t>manually</a:t>
            </a:r>
            <a:r>
              <a:rPr b="1" spc="-90" dirty="0">
                <a:latin typeface="Tahoma"/>
                <a:cs typeface="Tahoma"/>
              </a:rPr>
              <a:t> </a:t>
            </a:r>
            <a:r>
              <a:rPr b="1" spc="-65" dirty="0">
                <a:latin typeface="Tahoma"/>
                <a:cs typeface="Tahoma"/>
              </a:rPr>
              <a:t>if</a:t>
            </a:r>
            <a:r>
              <a:rPr b="1" spc="-60" dirty="0">
                <a:latin typeface="Tahoma"/>
                <a:cs typeface="Tahoma"/>
              </a:rPr>
              <a:t> </a:t>
            </a:r>
            <a:r>
              <a:rPr b="1" spc="-90" dirty="0">
                <a:latin typeface="Tahoma"/>
                <a:cs typeface="Tahoma"/>
              </a:rPr>
              <a:t>it</a:t>
            </a:r>
            <a:r>
              <a:rPr b="1" spc="-65" dirty="0">
                <a:latin typeface="Tahoma"/>
                <a:cs typeface="Tahoma"/>
              </a:rPr>
              <a:t> </a:t>
            </a:r>
            <a:r>
              <a:rPr b="1" spc="-150" dirty="0">
                <a:latin typeface="Tahoma"/>
                <a:cs typeface="Tahoma"/>
              </a:rPr>
              <a:t>seems</a:t>
            </a:r>
            <a:r>
              <a:rPr b="1" spc="-75" dirty="0">
                <a:latin typeface="Tahoma"/>
                <a:cs typeface="Tahoma"/>
              </a:rPr>
              <a:t> </a:t>
            </a:r>
            <a:r>
              <a:rPr b="1" spc="-125" dirty="0">
                <a:latin typeface="Tahoma"/>
                <a:cs typeface="Tahoma"/>
              </a:rPr>
              <a:t>legit.</a:t>
            </a:r>
            <a:r>
              <a:rPr b="1" spc="-55" dirty="0">
                <a:latin typeface="Tahoma"/>
                <a:cs typeface="Tahoma"/>
              </a:rPr>
              <a:t> </a:t>
            </a:r>
            <a:r>
              <a:rPr b="1" spc="-210" dirty="0">
                <a:latin typeface="Tahoma"/>
                <a:cs typeface="Tahoma"/>
              </a:rPr>
              <a:t>If</a:t>
            </a:r>
            <a:r>
              <a:rPr b="1" spc="-70" dirty="0">
                <a:latin typeface="Tahoma"/>
                <a:cs typeface="Tahoma"/>
              </a:rPr>
              <a:t> </a:t>
            </a:r>
            <a:r>
              <a:rPr b="1" spc="-90" dirty="0">
                <a:latin typeface="Tahoma"/>
                <a:cs typeface="Tahoma"/>
              </a:rPr>
              <a:t>it</a:t>
            </a:r>
            <a:r>
              <a:rPr b="1" spc="-65" dirty="0">
                <a:latin typeface="Tahoma"/>
                <a:cs typeface="Tahoma"/>
              </a:rPr>
              <a:t> </a:t>
            </a:r>
            <a:r>
              <a:rPr b="1" spc="-150" dirty="0">
                <a:latin typeface="Tahoma"/>
                <a:cs typeface="Tahoma"/>
              </a:rPr>
              <a:t>seems</a:t>
            </a:r>
            <a:r>
              <a:rPr b="1" spc="-75" dirty="0">
                <a:latin typeface="Tahoma"/>
                <a:cs typeface="Tahoma"/>
              </a:rPr>
              <a:t> </a:t>
            </a:r>
            <a:r>
              <a:rPr b="1" spc="-120" dirty="0">
                <a:latin typeface="Tahoma"/>
                <a:cs typeface="Tahoma"/>
              </a:rPr>
              <a:t>appropriate,</a:t>
            </a:r>
            <a:r>
              <a:rPr b="1" spc="-25" dirty="0">
                <a:latin typeface="Tahoma"/>
                <a:cs typeface="Tahoma"/>
              </a:rPr>
              <a:t> </a:t>
            </a:r>
            <a:r>
              <a:rPr b="1" spc="-114" dirty="0">
                <a:latin typeface="Tahoma"/>
                <a:cs typeface="Tahoma"/>
              </a:rPr>
              <a:t>stop</a:t>
            </a:r>
            <a:r>
              <a:rPr b="1" spc="-75" dirty="0">
                <a:latin typeface="Tahoma"/>
                <a:cs typeface="Tahoma"/>
              </a:rPr>
              <a:t> </a:t>
            </a:r>
            <a:r>
              <a:rPr b="1" spc="-125" dirty="0">
                <a:latin typeface="Tahoma"/>
                <a:cs typeface="Tahoma"/>
              </a:rPr>
              <a:t>training,</a:t>
            </a:r>
            <a:r>
              <a:rPr b="1" spc="-65" dirty="0">
                <a:latin typeface="Tahoma"/>
                <a:cs typeface="Tahoma"/>
              </a:rPr>
              <a:t> </a:t>
            </a:r>
            <a:r>
              <a:rPr b="1" spc="-125" dirty="0">
                <a:latin typeface="Tahoma"/>
                <a:cs typeface="Tahoma"/>
              </a:rPr>
              <a:t>else</a:t>
            </a:r>
            <a:r>
              <a:rPr b="1" spc="-75" dirty="0">
                <a:latin typeface="Tahoma"/>
                <a:cs typeface="Tahoma"/>
              </a:rPr>
              <a:t> </a:t>
            </a:r>
            <a:r>
              <a:rPr b="1" spc="-135" dirty="0">
                <a:latin typeface="Tahoma"/>
                <a:cs typeface="Tahoma"/>
              </a:rPr>
              <a:t>go</a:t>
            </a:r>
            <a:r>
              <a:rPr b="1" spc="-70" dirty="0">
                <a:latin typeface="Tahoma"/>
                <a:cs typeface="Tahoma"/>
              </a:rPr>
              <a:t> </a:t>
            </a:r>
            <a:r>
              <a:rPr b="1" spc="-90" dirty="0">
                <a:latin typeface="Tahoma"/>
                <a:cs typeface="Tahoma"/>
              </a:rPr>
              <a:t>to</a:t>
            </a:r>
            <a:r>
              <a:rPr b="1" spc="-75" dirty="0">
                <a:latin typeface="Tahoma"/>
                <a:cs typeface="Tahoma"/>
              </a:rPr>
              <a:t> </a:t>
            </a:r>
            <a:r>
              <a:rPr b="1" spc="-125" dirty="0">
                <a:latin typeface="Tahoma"/>
                <a:cs typeface="Tahoma"/>
              </a:rPr>
              <a:t>step</a:t>
            </a:r>
            <a:r>
              <a:rPr b="1" spc="-75" dirty="0">
                <a:latin typeface="Tahoma"/>
                <a:cs typeface="Tahoma"/>
              </a:rPr>
              <a:t> </a:t>
            </a:r>
            <a:r>
              <a:rPr b="1" spc="-50" dirty="0">
                <a:latin typeface="Tahoma"/>
                <a:cs typeface="Tahoma"/>
              </a:rPr>
              <a:t>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8597" y="-38607"/>
            <a:ext cx="3987165" cy="513715"/>
          </a:xfrm>
          <a:prstGeom prst="rect">
            <a:avLst/>
          </a:prstGeom>
        </p:spPr>
        <p:txBody>
          <a:bodyPr vert="horz" wrap="square" lIns="0" tIns="12700" rIns="0" bIns="0" rtlCol="0">
            <a:spAutoFit/>
          </a:bodyPr>
          <a:lstStyle/>
          <a:p>
            <a:pPr marL="12700">
              <a:lnSpc>
                <a:spcPct val="100000"/>
              </a:lnSpc>
              <a:spcBef>
                <a:spcPts val="100"/>
              </a:spcBef>
            </a:pPr>
            <a:r>
              <a:rPr dirty="0"/>
              <a:t>Loss</a:t>
            </a:r>
            <a:r>
              <a:rPr spc="-25" dirty="0"/>
              <a:t> </a:t>
            </a:r>
            <a:r>
              <a:rPr dirty="0"/>
              <a:t>Function</a:t>
            </a:r>
            <a:r>
              <a:rPr spc="-65" dirty="0"/>
              <a:t> </a:t>
            </a:r>
            <a:r>
              <a:rPr dirty="0"/>
              <a:t>of</a:t>
            </a:r>
            <a:r>
              <a:rPr spc="-30" dirty="0"/>
              <a:t> </a:t>
            </a:r>
            <a:r>
              <a:rPr spc="-25" dirty="0"/>
              <a:t>GAN</a:t>
            </a:r>
          </a:p>
        </p:txBody>
      </p:sp>
      <p:grpSp>
        <p:nvGrpSpPr>
          <p:cNvPr id="3" name="object 3"/>
          <p:cNvGrpSpPr/>
          <p:nvPr/>
        </p:nvGrpSpPr>
        <p:grpSpPr>
          <a:xfrm>
            <a:off x="902208" y="466344"/>
            <a:ext cx="11020425" cy="5599430"/>
            <a:chOff x="902208" y="466344"/>
            <a:chExt cx="11020425" cy="5599430"/>
          </a:xfrm>
        </p:grpSpPr>
        <p:pic>
          <p:nvPicPr>
            <p:cNvPr id="4" name="object 4"/>
            <p:cNvPicPr/>
            <p:nvPr/>
          </p:nvPicPr>
          <p:blipFill>
            <a:blip r:embed="rId2" cstate="print"/>
            <a:stretch>
              <a:fillRect/>
            </a:stretch>
          </p:blipFill>
          <p:spPr>
            <a:xfrm>
              <a:off x="902208" y="466344"/>
              <a:ext cx="7549896" cy="2570988"/>
            </a:xfrm>
            <a:prstGeom prst="rect">
              <a:avLst/>
            </a:prstGeom>
          </p:spPr>
        </p:pic>
        <p:pic>
          <p:nvPicPr>
            <p:cNvPr id="5" name="object 5"/>
            <p:cNvPicPr/>
            <p:nvPr/>
          </p:nvPicPr>
          <p:blipFill>
            <a:blip r:embed="rId3" cstate="print"/>
            <a:stretch>
              <a:fillRect/>
            </a:stretch>
          </p:blipFill>
          <p:spPr>
            <a:xfrm>
              <a:off x="6704075" y="2968751"/>
              <a:ext cx="5218176" cy="3096768"/>
            </a:xfrm>
            <a:prstGeom prst="rect">
              <a:avLst/>
            </a:prstGeom>
          </p:spPr>
        </p:pic>
        <p:sp>
          <p:nvSpPr>
            <p:cNvPr id="6" name="object 6"/>
            <p:cNvSpPr/>
            <p:nvPr/>
          </p:nvSpPr>
          <p:spPr>
            <a:xfrm>
              <a:off x="2366010" y="2108454"/>
              <a:ext cx="2423160" cy="567055"/>
            </a:xfrm>
            <a:custGeom>
              <a:avLst/>
              <a:gdLst/>
              <a:ahLst/>
              <a:cxnLst/>
              <a:rect l="l" t="t" r="r" b="b"/>
              <a:pathLst>
                <a:path w="2423160" h="567055">
                  <a:moveTo>
                    <a:pt x="2423160" y="0"/>
                  </a:moveTo>
                  <a:lnTo>
                    <a:pt x="2421468" y="75369"/>
                  </a:lnTo>
                  <a:lnTo>
                    <a:pt x="2416697" y="143086"/>
                  </a:lnTo>
                  <a:lnTo>
                    <a:pt x="2409301" y="200453"/>
                  </a:lnTo>
                  <a:lnTo>
                    <a:pt x="2399735" y="244771"/>
                  </a:lnTo>
                  <a:lnTo>
                    <a:pt x="2375916" y="283463"/>
                  </a:lnTo>
                  <a:lnTo>
                    <a:pt x="1258824" y="283463"/>
                  </a:lnTo>
                  <a:lnTo>
                    <a:pt x="1246284" y="293586"/>
                  </a:lnTo>
                  <a:lnTo>
                    <a:pt x="1225438" y="366474"/>
                  </a:lnTo>
                  <a:lnTo>
                    <a:pt x="1218042" y="423841"/>
                  </a:lnTo>
                  <a:lnTo>
                    <a:pt x="1213271" y="491558"/>
                  </a:lnTo>
                  <a:lnTo>
                    <a:pt x="1211579" y="566928"/>
                  </a:lnTo>
                  <a:lnTo>
                    <a:pt x="1209888" y="491558"/>
                  </a:lnTo>
                  <a:lnTo>
                    <a:pt x="1205117" y="423841"/>
                  </a:lnTo>
                  <a:lnTo>
                    <a:pt x="1197721" y="366474"/>
                  </a:lnTo>
                  <a:lnTo>
                    <a:pt x="1188155" y="322156"/>
                  </a:lnTo>
                  <a:lnTo>
                    <a:pt x="1164336" y="283463"/>
                  </a:lnTo>
                  <a:lnTo>
                    <a:pt x="47243" y="283463"/>
                  </a:lnTo>
                  <a:lnTo>
                    <a:pt x="34704" y="273341"/>
                  </a:lnTo>
                  <a:lnTo>
                    <a:pt x="23424" y="244771"/>
                  </a:lnTo>
                  <a:lnTo>
                    <a:pt x="13858" y="200453"/>
                  </a:lnTo>
                  <a:lnTo>
                    <a:pt x="6462" y="143086"/>
                  </a:lnTo>
                  <a:lnTo>
                    <a:pt x="1691" y="75369"/>
                  </a:lnTo>
                  <a:lnTo>
                    <a:pt x="0" y="0"/>
                  </a:lnTo>
                </a:path>
              </a:pathLst>
            </a:custGeom>
            <a:ln w="28574">
              <a:solidFill>
                <a:srgbClr val="4471C4"/>
              </a:solidFill>
            </a:ln>
          </p:spPr>
          <p:txBody>
            <a:bodyPr wrap="square" lIns="0" tIns="0" rIns="0" bIns="0" rtlCol="0"/>
            <a:lstStyle/>
            <a:p>
              <a:endParaRPr/>
            </a:p>
          </p:txBody>
        </p:sp>
        <p:sp>
          <p:nvSpPr>
            <p:cNvPr id="7" name="object 7"/>
            <p:cNvSpPr/>
            <p:nvPr/>
          </p:nvSpPr>
          <p:spPr>
            <a:xfrm>
              <a:off x="5494781" y="2181605"/>
              <a:ext cx="2421890" cy="567055"/>
            </a:xfrm>
            <a:custGeom>
              <a:avLst/>
              <a:gdLst/>
              <a:ahLst/>
              <a:cxnLst/>
              <a:rect l="l" t="t" r="r" b="b"/>
              <a:pathLst>
                <a:path w="2421890" h="567055">
                  <a:moveTo>
                    <a:pt x="2421636" y="0"/>
                  </a:moveTo>
                  <a:lnTo>
                    <a:pt x="2419944" y="75369"/>
                  </a:lnTo>
                  <a:lnTo>
                    <a:pt x="2415173" y="143086"/>
                  </a:lnTo>
                  <a:lnTo>
                    <a:pt x="2407777" y="200453"/>
                  </a:lnTo>
                  <a:lnTo>
                    <a:pt x="2398211" y="244771"/>
                  </a:lnTo>
                  <a:lnTo>
                    <a:pt x="2374391" y="283464"/>
                  </a:lnTo>
                  <a:lnTo>
                    <a:pt x="1258062" y="283464"/>
                  </a:lnTo>
                  <a:lnTo>
                    <a:pt x="1245522" y="293586"/>
                  </a:lnTo>
                  <a:lnTo>
                    <a:pt x="1224676" y="366474"/>
                  </a:lnTo>
                  <a:lnTo>
                    <a:pt x="1217280" y="423841"/>
                  </a:lnTo>
                  <a:lnTo>
                    <a:pt x="1212509" y="491558"/>
                  </a:lnTo>
                  <a:lnTo>
                    <a:pt x="1210817" y="566928"/>
                  </a:lnTo>
                  <a:lnTo>
                    <a:pt x="1209126" y="491558"/>
                  </a:lnTo>
                  <a:lnTo>
                    <a:pt x="1204355" y="423841"/>
                  </a:lnTo>
                  <a:lnTo>
                    <a:pt x="1196959" y="366474"/>
                  </a:lnTo>
                  <a:lnTo>
                    <a:pt x="1187393" y="322156"/>
                  </a:lnTo>
                  <a:lnTo>
                    <a:pt x="1163573" y="283464"/>
                  </a:lnTo>
                  <a:lnTo>
                    <a:pt x="47243" y="283464"/>
                  </a:lnTo>
                  <a:lnTo>
                    <a:pt x="34704" y="273341"/>
                  </a:lnTo>
                  <a:lnTo>
                    <a:pt x="23424" y="244771"/>
                  </a:lnTo>
                  <a:lnTo>
                    <a:pt x="13858" y="200453"/>
                  </a:lnTo>
                  <a:lnTo>
                    <a:pt x="6462" y="143086"/>
                  </a:lnTo>
                  <a:lnTo>
                    <a:pt x="1691" y="75369"/>
                  </a:lnTo>
                  <a:lnTo>
                    <a:pt x="0" y="0"/>
                  </a:lnTo>
                </a:path>
              </a:pathLst>
            </a:custGeom>
            <a:ln w="28574">
              <a:solidFill>
                <a:srgbClr val="4471C4"/>
              </a:solidFill>
            </a:ln>
          </p:spPr>
          <p:txBody>
            <a:bodyPr wrap="square" lIns="0" tIns="0" rIns="0" bIns="0" rtlCol="0"/>
            <a:lstStyle/>
            <a:p>
              <a:endParaRPr/>
            </a:p>
          </p:txBody>
        </p:sp>
      </p:grpSp>
      <p:sp>
        <p:nvSpPr>
          <p:cNvPr id="8" name="object 8"/>
          <p:cNvSpPr txBox="1"/>
          <p:nvPr/>
        </p:nvSpPr>
        <p:spPr>
          <a:xfrm>
            <a:off x="297688" y="3957954"/>
            <a:ext cx="5658485" cy="2220595"/>
          </a:xfrm>
          <a:prstGeom prst="rect">
            <a:avLst/>
          </a:prstGeom>
        </p:spPr>
        <p:txBody>
          <a:bodyPr vert="horz" wrap="square" lIns="0" tIns="12700" rIns="0" bIns="0" rtlCol="0">
            <a:spAutoFit/>
          </a:bodyPr>
          <a:lstStyle/>
          <a:p>
            <a:pPr marL="63500">
              <a:lnSpc>
                <a:spcPct val="100000"/>
              </a:lnSpc>
              <a:spcBef>
                <a:spcPts val="100"/>
              </a:spcBef>
            </a:pPr>
            <a:r>
              <a:rPr sz="1800" dirty="0">
                <a:solidFill>
                  <a:srgbClr val="212121"/>
                </a:solidFill>
                <a:latin typeface="Tahoma"/>
                <a:cs typeface="Tahoma"/>
              </a:rPr>
              <a:t>Generator</a:t>
            </a:r>
            <a:r>
              <a:rPr sz="1800" spc="-85" dirty="0">
                <a:solidFill>
                  <a:srgbClr val="212121"/>
                </a:solidFill>
                <a:latin typeface="Tahoma"/>
                <a:cs typeface="Tahoma"/>
              </a:rPr>
              <a:t> </a:t>
            </a:r>
            <a:r>
              <a:rPr sz="1800" dirty="0">
                <a:solidFill>
                  <a:srgbClr val="212121"/>
                </a:solidFill>
                <a:latin typeface="Tahoma"/>
                <a:cs typeface="Tahoma"/>
              </a:rPr>
              <a:t>wants</a:t>
            </a:r>
            <a:r>
              <a:rPr sz="1800" spc="-50"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dirty="0">
                <a:solidFill>
                  <a:srgbClr val="212121"/>
                </a:solidFill>
                <a:latin typeface="Tahoma"/>
                <a:cs typeface="Tahoma"/>
              </a:rPr>
              <a:t>minimize</a:t>
            </a:r>
            <a:r>
              <a:rPr sz="1800" spc="-55" dirty="0">
                <a:solidFill>
                  <a:srgbClr val="212121"/>
                </a:solidFill>
                <a:latin typeface="Tahoma"/>
                <a:cs typeface="Tahoma"/>
              </a:rPr>
              <a:t> </a:t>
            </a:r>
            <a:r>
              <a:rPr sz="1800" dirty="0">
                <a:solidFill>
                  <a:srgbClr val="212121"/>
                </a:solidFill>
                <a:latin typeface="Tahoma"/>
                <a:cs typeface="Tahoma"/>
              </a:rPr>
              <a:t>the</a:t>
            </a:r>
            <a:r>
              <a:rPr sz="1800" spc="-40" dirty="0">
                <a:solidFill>
                  <a:srgbClr val="212121"/>
                </a:solidFill>
                <a:latin typeface="Tahoma"/>
                <a:cs typeface="Tahoma"/>
              </a:rPr>
              <a:t> </a:t>
            </a:r>
            <a:r>
              <a:rPr sz="1800" i="1" spc="-65" dirty="0">
                <a:solidFill>
                  <a:srgbClr val="212121"/>
                </a:solidFill>
                <a:latin typeface="Trebuchet MS"/>
                <a:cs typeface="Trebuchet MS"/>
              </a:rPr>
              <a:t>V(D,</a:t>
            </a:r>
            <a:r>
              <a:rPr sz="1800" i="1" spc="-80" dirty="0">
                <a:solidFill>
                  <a:srgbClr val="212121"/>
                </a:solidFill>
                <a:latin typeface="Trebuchet MS"/>
                <a:cs typeface="Trebuchet MS"/>
              </a:rPr>
              <a:t> </a:t>
            </a:r>
            <a:r>
              <a:rPr sz="1800" i="1" spc="-100" dirty="0">
                <a:solidFill>
                  <a:srgbClr val="212121"/>
                </a:solidFill>
                <a:latin typeface="Trebuchet MS"/>
                <a:cs typeface="Trebuchet MS"/>
              </a:rPr>
              <a:t>G)</a:t>
            </a:r>
            <a:r>
              <a:rPr sz="1800" i="1" spc="-65" dirty="0">
                <a:solidFill>
                  <a:srgbClr val="212121"/>
                </a:solidFill>
                <a:latin typeface="Trebuchet MS"/>
                <a:cs typeface="Trebuchet MS"/>
              </a:rPr>
              <a:t> </a:t>
            </a:r>
            <a:r>
              <a:rPr sz="1800" spc="-10" dirty="0">
                <a:solidFill>
                  <a:srgbClr val="212121"/>
                </a:solidFill>
                <a:latin typeface="Tahoma"/>
                <a:cs typeface="Tahoma"/>
              </a:rPr>
              <a:t>whereas</a:t>
            </a:r>
            <a:endParaRPr sz="1800">
              <a:latin typeface="Tahoma"/>
              <a:cs typeface="Tahoma"/>
            </a:endParaRPr>
          </a:p>
          <a:p>
            <a:pPr marL="63500">
              <a:lnSpc>
                <a:spcPct val="100000"/>
              </a:lnSpc>
            </a:pPr>
            <a:r>
              <a:rPr sz="1800" dirty="0">
                <a:solidFill>
                  <a:srgbClr val="212121"/>
                </a:solidFill>
                <a:latin typeface="Tahoma"/>
                <a:cs typeface="Tahoma"/>
              </a:rPr>
              <a:t>the</a:t>
            </a:r>
            <a:r>
              <a:rPr sz="1800" spc="459" dirty="0">
                <a:solidFill>
                  <a:srgbClr val="212121"/>
                </a:solidFill>
                <a:latin typeface="Tahoma"/>
                <a:cs typeface="Tahoma"/>
              </a:rPr>
              <a:t> </a:t>
            </a:r>
            <a:r>
              <a:rPr sz="1800" dirty="0">
                <a:solidFill>
                  <a:srgbClr val="212121"/>
                </a:solidFill>
                <a:latin typeface="Tahoma"/>
                <a:cs typeface="Tahoma"/>
              </a:rPr>
              <a:t>Discriminator</a:t>
            </a:r>
            <a:r>
              <a:rPr sz="1800" spc="-45" dirty="0">
                <a:solidFill>
                  <a:srgbClr val="212121"/>
                </a:solidFill>
                <a:latin typeface="Tahoma"/>
                <a:cs typeface="Tahoma"/>
              </a:rPr>
              <a:t> </a:t>
            </a:r>
            <a:r>
              <a:rPr sz="1800" dirty="0">
                <a:solidFill>
                  <a:srgbClr val="212121"/>
                </a:solidFill>
                <a:latin typeface="Tahoma"/>
                <a:cs typeface="Tahoma"/>
              </a:rPr>
              <a:t>wants</a:t>
            </a:r>
            <a:r>
              <a:rPr sz="1800" spc="-65" dirty="0">
                <a:solidFill>
                  <a:srgbClr val="212121"/>
                </a:solidFill>
                <a:latin typeface="Tahoma"/>
                <a:cs typeface="Tahoma"/>
              </a:rPr>
              <a:t> </a:t>
            </a:r>
            <a:r>
              <a:rPr sz="1800" dirty="0">
                <a:solidFill>
                  <a:srgbClr val="212121"/>
                </a:solidFill>
                <a:latin typeface="Tahoma"/>
                <a:cs typeface="Tahoma"/>
              </a:rPr>
              <a:t>to</a:t>
            </a:r>
            <a:r>
              <a:rPr sz="1800" spc="-40" dirty="0">
                <a:solidFill>
                  <a:srgbClr val="212121"/>
                </a:solidFill>
                <a:latin typeface="Tahoma"/>
                <a:cs typeface="Tahoma"/>
              </a:rPr>
              <a:t> </a:t>
            </a:r>
            <a:r>
              <a:rPr sz="1800" spc="-10" dirty="0">
                <a:solidFill>
                  <a:srgbClr val="212121"/>
                </a:solidFill>
                <a:latin typeface="Tahoma"/>
                <a:cs typeface="Tahoma"/>
              </a:rPr>
              <a:t>maximize</a:t>
            </a:r>
            <a:r>
              <a:rPr sz="1800" spc="-30" dirty="0">
                <a:solidFill>
                  <a:srgbClr val="212121"/>
                </a:solidFill>
                <a:latin typeface="Tahoma"/>
                <a:cs typeface="Tahoma"/>
              </a:rPr>
              <a:t> </a:t>
            </a:r>
            <a:r>
              <a:rPr sz="1800" dirty="0">
                <a:solidFill>
                  <a:srgbClr val="212121"/>
                </a:solidFill>
                <a:latin typeface="Tahoma"/>
                <a:cs typeface="Tahoma"/>
              </a:rPr>
              <a:t>the</a:t>
            </a:r>
            <a:r>
              <a:rPr sz="1800" spc="-95" dirty="0">
                <a:solidFill>
                  <a:srgbClr val="212121"/>
                </a:solidFill>
                <a:latin typeface="Tahoma"/>
                <a:cs typeface="Tahoma"/>
              </a:rPr>
              <a:t> </a:t>
            </a:r>
            <a:r>
              <a:rPr sz="1800" i="1" spc="-65" dirty="0">
                <a:solidFill>
                  <a:srgbClr val="212121"/>
                </a:solidFill>
                <a:latin typeface="Trebuchet MS"/>
                <a:cs typeface="Trebuchet MS"/>
              </a:rPr>
              <a:t>V(D,</a:t>
            </a:r>
            <a:r>
              <a:rPr sz="1800" i="1" spc="-70" dirty="0">
                <a:solidFill>
                  <a:srgbClr val="212121"/>
                </a:solidFill>
                <a:latin typeface="Trebuchet MS"/>
                <a:cs typeface="Trebuchet MS"/>
              </a:rPr>
              <a:t> </a:t>
            </a:r>
            <a:r>
              <a:rPr sz="1800" i="1" spc="-25" dirty="0">
                <a:solidFill>
                  <a:srgbClr val="212121"/>
                </a:solidFill>
                <a:latin typeface="Trebuchet MS"/>
                <a:cs typeface="Trebuchet MS"/>
              </a:rPr>
              <a:t>G)</a:t>
            </a:r>
            <a:r>
              <a:rPr sz="1800" spc="-25" dirty="0">
                <a:solidFill>
                  <a:srgbClr val="212121"/>
                </a:solidFill>
                <a:latin typeface="Tahoma"/>
                <a:cs typeface="Tahoma"/>
              </a:rPr>
              <a:t>.</a:t>
            </a:r>
            <a:endParaRPr sz="1800">
              <a:latin typeface="Tahoma"/>
              <a:cs typeface="Tahoma"/>
            </a:endParaRPr>
          </a:p>
          <a:p>
            <a:pPr marL="63500" marR="55880" indent="-8255">
              <a:lnSpc>
                <a:spcPct val="100000"/>
              </a:lnSpc>
              <a:spcBef>
                <a:spcPts val="2160"/>
              </a:spcBef>
              <a:buSzPct val="94444"/>
              <a:buAutoNum type="arabicPeriod"/>
              <a:tabLst>
                <a:tab pos="250190" algn="l"/>
              </a:tabLst>
            </a:pPr>
            <a:r>
              <a:rPr sz="1800" spc="-45" dirty="0">
                <a:solidFill>
                  <a:srgbClr val="212121"/>
                </a:solidFill>
                <a:latin typeface="Tahoma"/>
                <a:cs typeface="Tahoma"/>
              </a:rPr>
              <a:t>	E</a:t>
            </a:r>
            <a:r>
              <a:rPr sz="1800" spc="-67" baseline="-20833" dirty="0">
                <a:solidFill>
                  <a:srgbClr val="212121"/>
                </a:solidFill>
                <a:latin typeface="Tahoma"/>
                <a:cs typeface="Tahoma"/>
              </a:rPr>
              <a:t>x~pdata(x)</a:t>
            </a:r>
            <a:r>
              <a:rPr sz="1800" spc="-60" baseline="-20833" dirty="0">
                <a:solidFill>
                  <a:srgbClr val="212121"/>
                </a:solidFill>
                <a:latin typeface="Tahoma"/>
                <a:cs typeface="Tahoma"/>
              </a:rPr>
              <a:t> </a:t>
            </a:r>
            <a:r>
              <a:rPr sz="1800" spc="-45" dirty="0">
                <a:solidFill>
                  <a:srgbClr val="212121"/>
                </a:solidFill>
                <a:latin typeface="Tahoma"/>
                <a:cs typeface="Tahoma"/>
              </a:rPr>
              <a:t>[log</a:t>
            </a:r>
            <a:r>
              <a:rPr sz="1800" spc="-75" dirty="0">
                <a:solidFill>
                  <a:srgbClr val="212121"/>
                </a:solidFill>
                <a:latin typeface="Tahoma"/>
                <a:cs typeface="Tahoma"/>
              </a:rPr>
              <a:t> </a:t>
            </a:r>
            <a:r>
              <a:rPr sz="1800" spc="-105" dirty="0">
                <a:solidFill>
                  <a:srgbClr val="212121"/>
                </a:solidFill>
                <a:latin typeface="Tahoma"/>
                <a:cs typeface="Tahoma"/>
              </a:rPr>
              <a:t>D(x)]:</a:t>
            </a:r>
            <a:r>
              <a:rPr sz="1800" spc="-65" dirty="0">
                <a:solidFill>
                  <a:srgbClr val="212121"/>
                </a:solidFill>
                <a:latin typeface="Tahoma"/>
                <a:cs typeface="Tahoma"/>
              </a:rPr>
              <a:t> </a:t>
            </a:r>
            <a:r>
              <a:rPr sz="1800" dirty="0">
                <a:solidFill>
                  <a:srgbClr val="212121"/>
                </a:solidFill>
                <a:latin typeface="Tahoma"/>
                <a:cs typeface="Tahoma"/>
              </a:rPr>
              <a:t>Average</a:t>
            </a:r>
            <a:r>
              <a:rPr sz="1800" spc="-95" dirty="0">
                <a:solidFill>
                  <a:srgbClr val="212121"/>
                </a:solidFill>
                <a:latin typeface="Tahoma"/>
                <a:cs typeface="Tahoma"/>
              </a:rPr>
              <a:t> </a:t>
            </a:r>
            <a:r>
              <a:rPr sz="1800" dirty="0">
                <a:solidFill>
                  <a:srgbClr val="212121"/>
                </a:solidFill>
                <a:latin typeface="Tahoma"/>
                <a:cs typeface="Tahoma"/>
              </a:rPr>
              <a:t>log</a:t>
            </a:r>
            <a:r>
              <a:rPr sz="1800" spc="-50" dirty="0">
                <a:solidFill>
                  <a:srgbClr val="212121"/>
                </a:solidFill>
                <a:latin typeface="Tahoma"/>
                <a:cs typeface="Tahoma"/>
              </a:rPr>
              <a:t> </a:t>
            </a:r>
            <a:r>
              <a:rPr sz="1800" dirty="0">
                <a:solidFill>
                  <a:srgbClr val="212121"/>
                </a:solidFill>
                <a:latin typeface="Tahoma"/>
                <a:cs typeface="Tahoma"/>
              </a:rPr>
              <a:t>probability</a:t>
            </a:r>
            <a:r>
              <a:rPr sz="1800" spc="-45" dirty="0">
                <a:solidFill>
                  <a:srgbClr val="212121"/>
                </a:solidFill>
                <a:latin typeface="Tahoma"/>
                <a:cs typeface="Tahoma"/>
              </a:rPr>
              <a:t> </a:t>
            </a:r>
            <a:r>
              <a:rPr sz="1800" dirty="0">
                <a:solidFill>
                  <a:srgbClr val="212121"/>
                </a:solidFill>
                <a:latin typeface="Tahoma"/>
                <a:cs typeface="Tahoma"/>
              </a:rPr>
              <a:t>of</a:t>
            </a:r>
            <a:r>
              <a:rPr sz="1800" spc="-75" dirty="0">
                <a:solidFill>
                  <a:srgbClr val="212121"/>
                </a:solidFill>
                <a:latin typeface="Tahoma"/>
                <a:cs typeface="Tahoma"/>
              </a:rPr>
              <a:t> </a:t>
            </a:r>
            <a:r>
              <a:rPr sz="1800" spc="130" dirty="0">
                <a:solidFill>
                  <a:srgbClr val="212121"/>
                </a:solidFill>
                <a:latin typeface="Tahoma"/>
                <a:cs typeface="Tahoma"/>
              </a:rPr>
              <a:t>D</a:t>
            </a:r>
            <a:r>
              <a:rPr sz="1800" spc="-75" dirty="0">
                <a:solidFill>
                  <a:srgbClr val="212121"/>
                </a:solidFill>
                <a:latin typeface="Tahoma"/>
                <a:cs typeface="Tahoma"/>
              </a:rPr>
              <a:t> </a:t>
            </a:r>
            <a:r>
              <a:rPr sz="1800" spc="-20" dirty="0">
                <a:solidFill>
                  <a:srgbClr val="212121"/>
                </a:solidFill>
                <a:latin typeface="Tahoma"/>
                <a:cs typeface="Tahoma"/>
              </a:rPr>
              <a:t>when </a:t>
            </a:r>
            <a:r>
              <a:rPr sz="1800" spc="-10" dirty="0">
                <a:solidFill>
                  <a:srgbClr val="212121"/>
                </a:solidFill>
                <a:latin typeface="Tahoma"/>
                <a:cs typeface="Tahoma"/>
              </a:rPr>
              <a:t>real</a:t>
            </a:r>
            <a:r>
              <a:rPr sz="1800" spc="-114" dirty="0">
                <a:solidFill>
                  <a:srgbClr val="212121"/>
                </a:solidFill>
                <a:latin typeface="Tahoma"/>
                <a:cs typeface="Tahoma"/>
              </a:rPr>
              <a:t> </a:t>
            </a:r>
            <a:r>
              <a:rPr sz="1800" spc="-35" dirty="0">
                <a:solidFill>
                  <a:srgbClr val="212121"/>
                </a:solidFill>
                <a:latin typeface="Tahoma"/>
                <a:cs typeface="Tahoma"/>
              </a:rPr>
              <a:t>image</a:t>
            </a:r>
            <a:r>
              <a:rPr sz="1800" spc="-105" dirty="0">
                <a:solidFill>
                  <a:srgbClr val="212121"/>
                </a:solidFill>
                <a:latin typeface="Tahoma"/>
                <a:cs typeface="Tahoma"/>
              </a:rPr>
              <a:t> </a:t>
            </a:r>
            <a:r>
              <a:rPr sz="1800" dirty="0">
                <a:solidFill>
                  <a:srgbClr val="212121"/>
                </a:solidFill>
                <a:latin typeface="Tahoma"/>
                <a:cs typeface="Tahoma"/>
              </a:rPr>
              <a:t>is</a:t>
            </a:r>
            <a:r>
              <a:rPr sz="1800" spc="-95" dirty="0">
                <a:solidFill>
                  <a:srgbClr val="212121"/>
                </a:solidFill>
                <a:latin typeface="Tahoma"/>
                <a:cs typeface="Tahoma"/>
              </a:rPr>
              <a:t> </a:t>
            </a:r>
            <a:r>
              <a:rPr sz="1800" spc="-10" dirty="0">
                <a:solidFill>
                  <a:srgbClr val="212121"/>
                </a:solidFill>
                <a:latin typeface="Tahoma"/>
                <a:cs typeface="Tahoma"/>
              </a:rPr>
              <a:t>input.</a:t>
            </a:r>
            <a:endParaRPr sz="1800">
              <a:latin typeface="Tahoma"/>
              <a:cs typeface="Tahoma"/>
            </a:endParaRPr>
          </a:p>
          <a:p>
            <a:pPr marL="250190" indent="-195580">
              <a:lnSpc>
                <a:spcPct val="100000"/>
              </a:lnSpc>
              <a:spcBef>
                <a:spcPts val="2160"/>
              </a:spcBef>
              <a:buSzPct val="94444"/>
              <a:buAutoNum type="arabicPeriod"/>
              <a:tabLst>
                <a:tab pos="250190" algn="l"/>
              </a:tabLst>
            </a:pPr>
            <a:r>
              <a:rPr sz="1800" spc="-60" dirty="0">
                <a:solidFill>
                  <a:srgbClr val="212121"/>
                </a:solidFill>
                <a:latin typeface="Tahoma"/>
                <a:cs typeface="Tahoma"/>
              </a:rPr>
              <a:t>E</a:t>
            </a:r>
            <a:r>
              <a:rPr sz="1800" spc="-89" baseline="-20833" dirty="0">
                <a:solidFill>
                  <a:srgbClr val="212121"/>
                </a:solidFill>
                <a:latin typeface="Tahoma"/>
                <a:cs typeface="Tahoma"/>
              </a:rPr>
              <a:t>z~pz(z)</a:t>
            </a:r>
            <a:r>
              <a:rPr sz="1800" spc="-52" baseline="-20833" dirty="0">
                <a:solidFill>
                  <a:srgbClr val="212121"/>
                </a:solidFill>
                <a:latin typeface="Tahoma"/>
                <a:cs typeface="Tahoma"/>
              </a:rPr>
              <a:t> </a:t>
            </a:r>
            <a:r>
              <a:rPr sz="1800" spc="-60" dirty="0">
                <a:solidFill>
                  <a:srgbClr val="212121"/>
                </a:solidFill>
                <a:latin typeface="Tahoma"/>
                <a:cs typeface="Tahoma"/>
              </a:rPr>
              <a:t>[log(1</a:t>
            </a:r>
            <a:r>
              <a:rPr sz="1800" spc="-50" dirty="0">
                <a:solidFill>
                  <a:srgbClr val="212121"/>
                </a:solidFill>
                <a:latin typeface="Tahoma"/>
                <a:cs typeface="Tahoma"/>
              </a:rPr>
              <a:t> </a:t>
            </a:r>
            <a:r>
              <a:rPr sz="1800" dirty="0">
                <a:solidFill>
                  <a:srgbClr val="212121"/>
                </a:solidFill>
                <a:latin typeface="Tahoma"/>
                <a:cs typeface="Tahoma"/>
              </a:rPr>
              <a:t>–</a:t>
            </a:r>
            <a:r>
              <a:rPr sz="1800" spc="-55" dirty="0">
                <a:solidFill>
                  <a:srgbClr val="212121"/>
                </a:solidFill>
                <a:latin typeface="Tahoma"/>
                <a:cs typeface="Tahoma"/>
              </a:rPr>
              <a:t> </a:t>
            </a:r>
            <a:r>
              <a:rPr sz="1800" spc="-120" dirty="0">
                <a:solidFill>
                  <a:srgbClr val="212121"/>
                </a:solidFill>
                <a:latin typeface="Tahoma"/>
                <a:cs typeface="Tahoma"/>
              </a:rPr>
              <a:t>D(G(z)))]:</a:t>
            </a:r>
            <a:r>
              <a:rPr sz="1800" spc="-85" dirty="0">
                <a:solidFill>
                  <a:srgbClr val="212121"/>
                </a:solidFill>
                <a:latin typeface="Tahoma"/>
                <a:cs typeface="Tahoma"/>
              </a:rPr>
              <a:t> </a:t>
            </a:r>
            <a:r>
              <a:rPr sz="1800" dirty="0">
                <a:solidFill>
                  <a:srgbClr val="212121"/>
                </a:solidFill>
                <a:latin typeface="Tahoma"/>
                <a:cs typeface="Tahoma"/>
              </a:rPr>
              <a:t>Average</a:t>
            </a:r>
            <a:r>
              <a:rPr sz="1800" spc="-75" dirty="0">
                <a:solidFill>
                  <a:srgbClr val="212121"/>
                </a:solidFill>
                <a:latin typeface="Tahoma"/>
                <a:cs typeface="Tahoma"/>
              </a:rPr>
              <a:t> </a:t>
            </a:r>
            <a:r>
              <a:rPr sz="1800" dirty="0">
                <a:solidFill>
                  <a:srgbClr val="212121"/>
                </a:solidFill>
                <a:latin typeface="Tahoma"/>
                <a:cs typeface="Tahoma"/>
              </a:rPr>
              <a:t>log</a:t>
            </a:r>
            <a:r>
              <a:rPr sz="1800" spc="-60" dirty="0">
                <a:solidFill>
                  <a:srgbClr val="212121"/>
                </a:solidFill>
                <a:latin typeface="Tahoma"/>
                <a:cs typeface="Tahoma"/>
              </a:rPr>
              <a:t> </a:t>
            </a:r>
            <a:r>
              <a:rPr sz="1800" dirty="0">
                <a:solidFill>
                  <a:srgbClr val="212121"/>
                </a:solidFill>
                <a:latin typeface="Tahoma"/>
                <a:cs typeface="Tahoma"/>
              </a:rPr>
              <a:t>probability</a:t>
            </a:r>
            <a:r>
              <a:rPr sz="1800" spc="-30" dirty="0">
                <a:solidFill>
                  <a:srgbClr val="212121"/>
                </a:solidFill>
                <a:latin typeface="Tahoma"/>
                <a:cs typeface="Tahoma"/>
              </a:rPr>
              <a:t> </a:t>
            </a:r>
            <a:r>
              <a:rPr sz="1800" dirty="0">
                <a:solidFill>
                  <a:srgbClr val="212121"/>
                </a:solidFill>
                <a:latin typeface="Tahoma"/>
                <a:cs typeface="Tahoma"/>
              </a:rPr>
              <a:t>of</a:t>
            </a:r>
            <a:r>
              <a:rPr sz="1800" spc="-55" dirty="0">
                <a:solidFill>
                  <a:srgbClr val="212121"/>
                </a:solidFill>
                <a:latin typeface="Tahoma"/>
                <a:cs typeface="Tahoma"/>
              </a:rPr>
              <a:t> </a:t>
            </a:r>
            <a:r>
              <a:rPr sz="1800" spc="80" dirty="0">
                <a:solidFill>
                  <a:srgbClr val="212121"/>
                </a:solidFill>
                <a:latin typeface="Tahoma"/>
                <a:cs typeface="Tahoma"/>
              </a:rPr>
              <a:t>D</a:t>
            </a:r>
            <a:endParaRPr sz="1800">
              <a:latin typeface="Tahoma"/>
              <a:cs typeface="Tahoma"/>
            </a:endParaRPr>
          </a:p>
          <a:p>
            <a:pPr marL="63500">
              <a:lnSpc>
                <a:spcPct val="100000"/>
              </a:lnSpc>
              <a:spcBef>
                <a:spcPts val="5"/>
              </a:spcBef>
            </a:pPr>
            <a:r>
              <a:rPr sz="1800" dirty="0">
                <a:solidFill>
                  <a:srgbClr val="212121"/>
                </a:solidFill>
                <a:latin typeface="Tahoma"/>
                <a:cs typeface="Tahoma"/>
              </a:rPr>
              <a:t>when</a:t>
            </a:r>
            <a:r>
              <a:rPr sz="1800" spc="-95" dirty="0">
                <a:solidFill>
                  <a:srgbClr val="212121"/>
                </a:solidFill>
                <a:latin typeface="Tahoma"/>
                <a:cs typeface="Tahoma"/>
              </a:rPr>
              <a:t> </a:t>
            </a:r>
            <a:r>
              <a:rPr sz="1800" dirty="0">
                <a:solidFill>
                  <a:srgbClr val="212121"/>
                </a:solidFill>
                <a:latin typeface="Tahoma"/>
                <a:cs typeface="Tahoma"/>
              </a:rPr>
              <a:t>the</a:t>
            </a:r>
            <a:r>
              <a:rPr sz="1800" spc="-85" dirty="0">
                <a:solidFill>
                  <a:srgbClr val="212121"/>
                </a:solidFill>
                <a:latin typeface="Tahoma"/>
                <a:cs typeface="Tahoma"/>
              </a:rPr>
              <a:t> </a:t>
            </a:r>
            <a:r>
              <a:rPr sz="1800" spc="-10" dirty="0">
                <a:solidFill>
                  <a:srgbClr val="212121"/>
                </a:solidFill>
                <a:latin typeface="Tahoma"/>
                <a:cs typeface="Tahoma"/>
              </a:rPr>
              <a:t>generated</a:t>
            </a:r>
            <a:r>
              <a:rPr sz="1800" spc="-80" dirty="0">
                <a:solidFill>
                  <a:srgbClr val="212121"/>
                </a:solidFill>
                <a:latin typeface="Tahoma"/>
                <a:cs typeface="Tahoma"/>
              </a:rPr>
              <a:t> </a:t>
            </a:r>
            <a:r>
              <a:rPr sz="1800" spc="-35" dirty="0">
                <a:solidFill>
                  <a:srgbClr val="212121"/>
                </a:solidFill>
                <a:latin typeface="Tahoma"/>
                <a:cs typeface="Tahoma"/>
              </a:rPr>
              <a:t>image</a:t>
            </a:r>
            <a:r>
              <a:rPr sz="1800" spc="-80" dirty="0">
                <a:solidFill>
                  <a:srgbClr val="212121"/>
                </a:solidFill>
                <a:latin typeface="Tahoma"/>
                <a:cs typeface="Tahoma"/>
              </a:rPr>
              <a:t> </a:t>
            </a:r>
            <a:r>
              <a:rPr sz="1800" dirty="0">
                <a:solidFill>
                  <a:srgbClr val="212121"/>
                </a:solidFill>
                <a:latin typeface="Tahoma"/>
                <a:cs typeface="Tahoma"/>
              </a:rPr>
              <a:t>is</a:t>
            </a:r>
            <a:r>
              <a:rPr sz="1800" spc="-80" dirty="0">
                <a:solidFill>
                  <a:srgbClr val="212121"/>
                </a:solidFill>
                <a:latin typeface="Tahoma"/>
                <a:cs typeface="Tahoma"/>
              </a:rPr>
              <a:t> </a:t>
            </a:r>
            <a:r>
              <a:rPr sz="1800" spc="-10" dirty="0">
                <a:solidFill>
                  <a:srgbClr val="212121"/>
                </a:solidFill>
                <a:latin typeface="Tahoma"/>
                <a:cs typeface="Tahoma"/>
              </a:rPr>
              <a:t>input.</a:t>
            </a:r>
            <a:endParaRPr sz="1800">
              <a:latin typeface="Tahoma"/>
              <a:cs typeface="Tahoma"/>
            </a:endParaRPr>
          </a:p>
        </p:txBody>
      </p:sp>
      <p:sp>
        <p:nvSpPr>
          <p:cNvPr id="9" name="object 9"/>
          <p:cNvSpPr txBox="1"/>
          <p:nvPr/>
        </p:nvSpPr>
        <p:spPr>
          <a:xfrm>
            <a:off x="1953005" y="2698750"/>
            <a:ext cx="3133725" cy="299720"/>
          </a:xfrm>
          <a:prstGeom prst="rect">
            <a:avLst/>
          </a:prstGeom>
        </p:spPr>
        <p:txBody>
          <a:bodyPr vert="horz" wrap="square" lIns="0" tIns="12700" rIns="0" bIns="0" rtlCol="0">
            <a:spAutoFit/>
          </a:bodyPr>
          <a:lstStyle/>
          <a:p>
            <a:pPr marL="12700">
              <a:lnSpc>
                <a:spcPct val="100000"/>
              </a:lnSpc>
              <a:spcBef>
                <a:spcPts val="100"/>
              </a:spcBef>
            </a:pPr>
            <a:r>
              <a:rPr sz="1800" b="1" spc="-145" dirty="0">
                <a:solidFill>
                  <a:srgbClr val="C00000"/>
                </a:solidFill>
                <a:latin typeface="Arial"/>
                <a:cs typeface="Arial"/>
              </a:rPr>
              <a:t>Discriminator</a:t>
            </a:r>
            <a:r>
              <a:rPr sz="1800" b="1" spc="-30" dirty="0">
                <a:solidFill>
                  <a:srgbClr val="C00000"/>
                </a:solidFill>
                <a:latin typeface="Arial"/>
                <a:cs typeface="Arial"/>
              </a:rPr>
              <a:t> </a:t>
            </a:r>
            <a:r>
              <a:rPr sz="1800" b="1" spc="-160" dirty="0">
                <a:solidFill>
                  <a:srgbClr val="C00000"/>
                </a:solidFill>
                <a:latin typeface="Arial"/>
                <a:cs typeface="Arial"/>
              </a:rPr>
              <a:t>output</a:t>
            </a:r>
            <a:r>
              <a:rPr sz="1800" b="1" spc="-25" dirty="0">
                <a:solidFill>
                  <a:srgbClr val="C00000"/>
                </a:solidFill>
                <a:latin typeface="Arial"/>
                <a:cs typeface="Arial"/>
              </a:rPr>
              <a:t> </a:t>
            </a:r>
            <a:r>
              <a:rPr sz="1800" b="1" spc="-145" dirty="0">
                <a:solidFill>
                  <a:srgbClr val="C00000"/>
                </a:solidFill>
                <a:latin typeface="Arial"/>
                <a:cs typeface="Arial"/>
              </a:rPr>
              <a:t>for</a:t>
            </a:r>
            <a:r>
              <a:rPr sz="1800" b="1" spc="-35" dirty="0">
                <a:solidFill>
                  <a:srgbClr val="C00000"/>
                </a:solidFill>
                <a:latin typeface="Arial"/>
                <a:cs typeface="Arial"/>
              </a:rPr>
              <a:t> </a:t>
            </a:r>
            <a:r>
              <a:rPr sz="1800" b="1" spc="-100" dirty="0">
                <a:solidFill>
                  <a:srgbClr val="C00000"/>
                </a:solidFill>
                <a:latin typeface="Arial"/>
                <a:cs typeface="Arial"/>
              </a:rPr>
              <a:t>real</a:t>
            </a:r>
            <a:r>
              <a:rPr sz="1800" b="1" spc="-40" dirty="0">
                <a:solidFill>
                  <a:srgbClr val="C00000"/>
                </a:solidFill>
                <a:latin typeface="Arial"/>
                <a:cs typeface="Arial"/>
              </a:rPr>
              <a:t> </a:t>
            </a:r>
            <a:r>
              <a:rPr sz="1800" b="1" spc="-50" dirty="0">
                <a:solidFill>
                  <a:srgbClr val="C00000"/>
                </a:solidFill>
                <a:latin typeface="Arial"/>
                <a:cs typeface="Arial"/>
              </a:rPr>
              <a:t>data</a:t>
            </a:r>
            <a:endParaRPr sz="1800">
              <a:latin typeface="Arial"/>
              <a:cs typeface="Arial"/>
            </a:endParaRPr>
          </a:p>
        </p:txBody>
      </p:sp>
      <p:sp>
        <p:nvSpPr>
          <p:cNvPr id="10" name="object 10"/>
          <p:cNvSpPr txBox="1"/>
          <p:nvPr/>
        </p:nvSpPr>
        <p:spPr>
          <a:xfrm>
            <a:off x="5292597" y="2673858"/>
            <a:ext cx="3208655" cy="299720"/>
          </a:xfrm>
          <a:prstGeom prst="rect">
            <a:avLst/>
          </a:prstGeom>
        </p:spPr>
        <p:txBody>
          <a:bodyPr vert="horz" wrap="square" lIns="0" tIns="12700" rIns="0" bIns="0" rtlCol="0">
            <a:spAutoFit/>
          </a:bodyPr>
          <a:lstStyle/>
          <a:p>
            <a:pPr marL="12700">
              <a:lnSpc>
                <a:spcPct val="100000"/>
              </a:lnSpc>
              <a:spcBef>
                <a:spcPts val="100"/>
              </a:spcBef>
            </a:pPr>
            <a:r>
              <a:rPr sz="1800" b="1" spc="-145" dirty="0">
                <a:solidFill>
                  <a:srgbClr val="C00000"/>
                </a:solidFill>
                <a:latin typeface="Arial"/>
                <a:cs typeface="Arial"/>
              </a:rPr>
              <a:t>Discriminator</a:t>
            </a:r>
            <a:r>
              <a:rPr sz="1800" b="1" spc="-20" dirty="0">
                <a:solidFill>
                  <a:srgbClr val="C00000"/>
                </a:solidFill>
                <a:latin typeface="Arial"/>
                <a:cs typeface="Arial"/>
              </a:rPr>
              <a:t> </a:t>
            </a:r>
            <a:r>
              <a:rPr sz="1800" b="1" spc="-160" dirty="0">
                <a:solidFill>
                  <a:srgbClr val="C00000"/>
                </a:solidFill>
                <a:latin typeface="Arial"/>
                <a:cs typeface="Arial"/>
              </a:rPr>
              <a:t>output</a:t>
            </a:r>
            <a:r>
              <a:rPr sz="1800" b="1" spc="-20" dirty="0">
                <a:solidFill>
                  <a:srgbClr val="C00000"/>
                </a:solidFill>
                <a:latin typeface="Arial"/>
                <a:cs typeface="Arial"/>
              </a:rPr>
              <a:t> </a:t>
            </a:r>
            <a:r>
              <a:rPr sz="1800" b="1" spc="-145" dirty="0">
                <a:solidFill>
                  <a:srgbClr val="C00000"/>
                </a:solidFill>
                <a:latin typeface="Arial"/>
                <a:cs typeface="Arial"/>
              </a:rPr>
              <a:t>for</a:t>
            </a:r>
            <a:r>
              <a:rPr sz="1800" b="1" spc="-30" dirty="0">
                <a:solidFill>
                  <a:srgbClr val="C00000"/>
                </a:solidFill>
                <a:latin typeface="Arial"/>
                <a:cs typeface="Arial"/>
              </a:rPr>
              <a:t> </a:t>
            </a:r>
            <a:r>
              <a:rPr sz="1800" b="1" spc="-180" dirty="0">
                <a:solidFill>
                  <a:srgbClr val="C00000"/>
                </a:solidFill>
                <a:latin typeface="Arial"/>
                <a:cs typeface="Arial"/>
              </a:rPr>
              <a:t>Fake</a:t>
            </a:r>
            <a:r>
              <a:rPr sz="1800" b="1" spc="-35" dirty="0">
                <a:solidFill>
                  <a:srgbClr val="C00000"/>
                </a:solidFill>
                <a:latin typeface="Arial"/>
                <a:cs typeface="Arial"/>
              </a:rPr>
              <a:t> </a:t>
            </a:r>
            <a:r>
              <a:rPr sz="1800" b="1" spc="-55" dirty="0">
                <a:solidFill>
                  <a:srgbClr val="C00000"/>
                </a:solidFill>
                <a:latin typeface="Arial"/>
                <a:cs typeface="Arial"/>
              </a:rPr>
              <a:t>data</a:t>
            </a:r>
            <a:endParaRPr sz="18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spc="-10" dirty="0"/>
              <a:t>Min-</a:t>
            </a:r>
            <a:r>
              <a:rPr spc="-25" dirty="0"/>
              <a:t>max</a:t>
            </a:r>
          </a:p>
        </p:txBody>
      </p:sp>
      <p:pic>
        <p:nvPicPr>
          <p:cNvPr id="3" name="object 3"/>
          <p:cNvPicPr/>
          <p:nvPr/>
        </p:nvPicPr>
        <p:blipFill>
          <a:blip r:embed="rId2" cstate="print"/>
          <a:stretch>
            <a:fillRect/>
          </a:stretch>
        </p:blipFill>
        <p:spPr>
          <a:xfrm>
            <a:off x="1066801" y="1447800"/>
            <a:ext cx="9363836" cy="33958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54370" y="1326007"/>
            <a:ext cx="5912485" cy="331787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12121"/>
                </a:solidFill>
                <a:latin typeface="Tahoma"/>
                <a:cs typeface="Tahoma"/>
              </a:rPr>
              <a:t>Discriminator’s</a:t>
            </a:r>
            <a:r>
              <a:rPr sz="1800" spc="60" dirty="0">
                <a:solidFill>
                  <a:srgbClr val="212121"/>
                </a:solidFill>
                <a:latin typeface="Tahoma"/>
                <a:cs typeface="Tahoma"/>
              </a:rPr>
              <a:t> </a:t>
            </a:r>
            <a:r>
              <a:rPr sz="1800" spc="-10" dirty="0">
                <a:solidFill>
                  <a:srgbClr val="212121"/>
                </a:solidFill>
                <a:latin typeface="Tahoma"/>
                <a:cs typeface="Tahoma"/>
              </a:rPr>
              <a:t>perspective</a:t>
            </a:r>
            <a:endParaRPr sz="1800">
              <a:latin typeface="Tahoma"/>
              <a:cs typeface="Tahoma"/>
            </a:endParaRPr>
          </a:p>
          <a:p>
            <a:pPr marL="12700" marR="626745">
              <a:lnSpc>
                <a:spcPct val="100000"/>
              </a:lnSpc>
            </a:pPr>
            <a:r>
              <a:rPr sz="1800" dirty="0">
                <a:solidFill>
                  <a:srgbClr val="212121"/>
                </a:solidFill>
                <a:latin typeface="Tahoma"/>
                <a:cs typeface="Tahoma"/>
              </a:rPr>
              <a:t>The</a:t>
            </a:r>
            <a:r>
              <a:rPr sz="1800" spc="-65" dirty="0">
                <a:solidFill>
                  <a:srgbClr val="212121"/>
                </a:solidFill>
                <a:latin typeface="Tahoma"/>
                <a:cs typeface="Tahoma"/>
              </a:rPr>
              <a:t> </a:t>
            </a:r>
            <a:r>
              <a:rPr sz="1800" dirty="0">
                <a:solidFill>
                  <a:srgbClr val="212121"/>
                </a:solidFill>
                <a:latin typeface="Tahoma"/>
                <a:cs typeface="Tahoma"/>
              </a:rPr>
              <a:t>Discriminator</a:t>
            </a:r>
            <a:r>
              <a:rPr sz="1800" spc="-50" dirty="0">
                <a:solidFill>
                  <a:srgbClr val="212121"/>
                </a:solidFill>
                <a:latin typeface="Tahoma"/>
                <a:cs typeface="Tahoma"/>
              </a:rPr>
              <a:t> </a:t>
            </a:r>
            <a:r>
              <a:rPr sz="1800" dirty="0">
                <a:solidFill>
                  <a:srgbClr val="212121"/>
                </a:solidFill>
                <a:latin typeface="Tahoma"/>
                <a:cs typeface="Tahoma"/>
              </a:rPr>
              <a:t>wants</a:t>
            </a:r>
            <a:r>
              <a:rPr sz="1800" spc="-75" dirty="0">
                <a:solidFill>
                  <a:srgbClr val="212121"/>
                </a:solidFill>
                <a:latin typeface="Tahoma"/>
                <a:cs typeface="Tahoma"/>
              </a:rPr>
              <a:t> </a:t>
            </a:r>
            <a:r>
              <a:rPr sz="1800" dirty="0">
                <a:solidFill>
                  <a:srgbClr val="212121"/>
                </a:solidFill>
                <a:latin typeface="Tahoma"/>
                <a:cs typeface="Tahoma"/>
              </a:rPr>
              <a:t>to</a:t>
            </a:r>
            <a:r>
              <a:rPr sz="1800" spc="-45" dirty="0">
                <a:solidFill>
                  <a:srgbClr val="212121"/>
                </a:solidFill>
                <a:latin typeface="Tahoma"/>
                <a:cs typeface="Tahoma"/>
              </a:rPr>
              <a:t> </a:t>
            </a:r>
            <a:r>
              <a:rPr sz="1800" spc="-10" dirty="0">
                <a:solidFill>
                  <a:srgbClr val="212121"/>
                </a:solidFill>
                <a:latin typeface="Tahoma"/>
                <a:cs typeface="Tahoma"/>
              </a:rPr>
              <a:t>maximize</a:t>
            </a:r>
            <a:r>
              <a:rPr sz="1800" spc="-50" dirty="0">
                <a:solidFill>
                  <a:srgbClr val="212121"/>
                </a:solidFill>
                <a:latin typeface="Tahoma"/>
                <a:cs typeface="Tahoma"/>
              </a:rPr>
              <a:t> </a:t>
            </a:r>
            <a:r>
              <a:rPr sz="1800" dirty="0">
                <a:solidFill>
                  <a:srgbClr val="212121"/>
                </a:solidFill>
                <a:latin typeface="Tahoma"/>
                <a:cs typeface="Tahoma"/>
              </a:rPr>
              <a:t>the</a:t>
            </a:r>
            <a:r>
              <a:rPr sz="1800" spc="-45" dirty="0">
                <a:solidFill>
                  <a:srgbClr val="212121"/>
                </a:solidFill>
                <a:latin typeface="Tahoma"/>
                <a:cs typeface="Tahoma"/>
              </a:rPr>
              <a:t> </a:t>
            </a:r>
            <a:r>
              <a:rPr sz="1800" spc="-20" dirty="0">
                <a:solidFill>
                  <a:srgbClr val="212121"/>
                </a:solidFill>
                <a:latin typeface="Tahoma"/>
                <a:cs typeface="Tahoma"/>
              </a:rPr>
              <a:t>loss </a:t>
            </a:r>
            <a:r>
              <a:rPr sz="1800" dirty="0">
                <a:solidFill>
                  <a:srgbClr val="212121"/>
                </a:solidFill>
                <a:latin typeface="Tahoma"/>
                <a:cs typeface="Tahoma"/>
              </a:rPr>
              <a:t>function</a:t>
            </a:r>
            <a:r>
              <a:rPr sz="1800" spc="-55" dirty="0">
                <a:solidFill>
                  <a:srgbClr val="212121"/>
                </a:solidFill>
                <a:latin typeface="Tahoma"/>
                <a:cs typeface="Tahoma"/>
              </a:rPr>
              <a:t> </a:t>
            </a:r>
            <a:r>
              <a:rPr sz="1800" i="1" spc="-65" dirty="0">
                <a:solidFill>
                  <a:srgbClr val="212121"/>
                </a:solidFill>
                <a:latin typeface="Trebuchet MS"/>
                <a:cs typeface="Trebuchet MS"/>
              </a:rPr>
              <a:t>V(D,</a:t>
            </a:r>
            <a:r>
              <a:rPr sz="1800" i="1" spc="-70" dirty="0">
                <a:solidFill>
                  <a:srgbClr val="212121"/>
                </a:solidFill>
                <a:latin typeface="Trebuchet MS"/>
                <a:cs typeface="Trebuchet MS"/>
              </a:rPr>
              <a:t> </a:t>
            </a:r>
            <a:r>
              <a:rPr sz="1800" i="1" spc="-95" dirty="0">
                <a:solidFill>
                  <a:srgbClr val="212121"/>
                </a:solidFill>
                <a:latin typeface="Trebuchet MS"/>
                <a:cs typeface="Trebuchet MS"/>
              </a:rPr>
              <a:t>G)</a:t>
            </a:r>
            <a:r>
              <a:rPr sz="1800" i="1" spc="-70" dirty="0">
                <a:solidFill>
                  <a:srgbClr val="212121"/>
                </a:solidFill>
                <a:latin typeface="Trebuchet MS"/>
                <a:cs typeface="Trebuchet MS"/>
              </a:rPr>
              <a:t> </a:t>
            </a:r>
            <a:r>
              <a:rPr sz="1800" dirty="0">
                <a:solidFill>
                  <a:srgbClr val="212121"/>
                </a:solidFill>
                <a:latin typeface="Tahoma"/>
                <a:cs typeface="Tahoma"/>
              </a:rPr>
              <a:t>by</a:t>
            </a:r>
            <a:r>
              <a:rPr sz="1800" spc="-45" dirty="0">
                <a:solidFill>
                  <a:srgbClr val="212121"/>
                </a:solidFill>
                <a:latin typeface="Tahoma"/>
                <a:cs typeface="Tahoma"/>
              </a:rPr>
              <a:t> </a:t>
            </a:r>
            <a:r>
              <a:rPr sz="1800" dirty="0">
                <a:solidFill>
                  <a:srgbClr val="212121"/>
                </a:solidFill>
                <a:latin typeface="Tahoma"/>
                <a:cs typeface="Tahoma"/>
              </a:rPr>
              <a:t>correctly</a:t>
            </a:r>
            <a:r>
              <a:rPr sz="1800" spc="-50" dirty="0">
                <a:solidFill>
                  <a:srgbClr val="212121"/>
                </a:solidFill>
                <a:latin typeface="Tahoma"/>
                <a:cs typeface="Tahoma"/>
              </a:rPr>
              <a:t> </a:t>
            </a:r>
            <a:r>
              <a:rPr sz="1800" spc="-10" dirty="0">
                <a:solidFill>
                  <a:srgbClr val="212121"/>
                </a:solidFill>
                <a:latin typeface="Tahoma"/>
                <a:cs typeface="Tahoma"/>
              </a:rPr>
              <a:t>classifying</a:t>
            </a:r>
            <a:r>
              <a:rPr sz="1800" spc="-60" dirty="0">
                <a:solidFill>
                  <a:srgbClr val="212121"/>
                </a:solidFill>
                <a:latin typeface="Tahoma"/>
                <a:cs typeface="Tahoma"/>
              </a:rPr>
              <a:t> </a:t>
            </a:r>
            <a:r>
              <a:rPr sz="1800" spc="-10" dirty="0">
                <a:solidFill>
                  <a:srgbClr val="212121"/>
                </a:solidFill>
                <a:latin typeface="Tahoma"/>
                <a:cs typeface="Tahoma"/>
              </a:rPr>
              <a:t>real</a:t>
            </a:r>
            <a:r>
              <a:rPr sz="1800" spc="-45" dirty="0">
                <a:solidFill>
                  <a:srgbClr val="212121"/>
                </a:solidFill>
                <a:latin typeface="Tahoma"/>
                <a:cs typeface="Tahoma"/>
              </a:rPr>
              <a:t> </a:t>
            </a:r>
            <a:r>
              <a:rPr sz="1800" spc="-10" dirty="0">
                <a:solidFill>
                  <a:srgbClr val="212121"/>
                </a:solidFill>
                <a:latin typeface="Tahoma"/>
                <a:cs typeface="Tahoma"/>
              </a:rPr>
              <a:t>and</a:t>
            </a:r>
            <a:r>
              <a:rPr sz="1800" spc="-45" dirty="0">
                <a:solidFill>
                  <a:srgbClr val="212121"/>
                </a:solidFill>
                <a:latin typeface="Tahoma"/>
                <a:cs typeface="Tahoma"/>
              </a:rPr>
              <a:t> </a:t>
            </a:r>
            <a:r>
              <a:rPr sz="1800" spc="-20" dirty="0">
                <a:solidFill>
                  <a:srgbClr val="212121"/>
                </a:solidFill>
                <a:latin typeface="Tahoma"/>
                <a:cs typeface="Tahoma"/>
              </a:rPr>
              <a:t>fake </a:t>
            </a:r>
            <a:r>
              <a:rPr sz="1800" spc="-10" dirty="0">
                <a:solidFill>
                  <a:srgbClr val="212121"/>
                </a:solidFill>
                <a:latin typeface="Tahoma"/>
                <a:cs typeface="Tahoma"/>
              </a:rPr>
              <a:t>images.</a:t>
            </a:r>
            <a:endParaRPr sz="1800">
              <a:latin typeface="Tahoma"/>
              <a:cs typeface="Tahoma"/>
            </a:endParaRPr>
          </a:p>
          <a:p>
            <a:pPr marL="12700" marR="5080">
              <a:lnSpc>
                <a:spcPct val="100000"/>
              </a:lnSpc>
            </a:pPr>
            <a:r>
              <a:rPr sz="1800" dirty="0">
                <a:solidFill>
                  <a:srgbClr val="212121"/>
                </a:solidFill>
                <a:latin typeface="Tahoma"/>
                <a:cs typeface="Tahoma"/>
              </a:rPr>
              <a:t>The</a:t>
            </a:r>
            <a:r>
              <a:rPr sz="1800" spc="-65" dirty="0">
                <a:solidFill>
                  <a:srgbClr val="212121"/>
                </a:solidFill>
                <a:latin typeface="Tahoma"/>
                <a:cs typeface="Tahoma"/>
              </a:rPr>
              <a:t> </a:t>
            </a:r>
            <a:r>
              <a:rPr sz="1800" dirty="0">
                <a:solidFill>
                  <a:srgbClr val="212121"/>
                </a:solidFill>
                <a:latin typeface="Tahoma"/>
                <a:cs typeface="Tahoma"/>
              </a:rPr>
              <a:t>first</a:t>
            </a:r>
            <a:r>
              <a:rPr sz="1800" spc="-75" dirty="0">
                <a:solidFill>
                  <a:srgbClr val="212121"/>
                </a:solidFill>
                <a:latin typeface="Tahoma"/>
                <a:cs typeface="Tahoma"/>
              </a:rPr>
              <a:t> </a:t>
            </a:r>
            <a:r>
              <a:rPr sz="1800" dirty="0">
                <a:solidFill>
                  <a:srgbClr val="212121"/>
                </a:solidFill>
                <a:latin typeface="Tahoma"/>
                <a:cs typeface="Tahoma"/>
              </a:rPr>
              <a:t>term</a:t>
            </a:r>
            <a:r>
              <a:rPr sz="1800" spc="-65" dirty="0">
                <a:solidFill>
                  <a:srgbClr val="212121"/>
                </a:solidFill>
                <a:latin typeface="Tahoma"/>
                <a:cs typeface="Tahoma"/>
              </a:rPr>
              <a:t> </a:t>
            </a:r>
            <a:r>
              <a:rPr sz="1800" spc="-30" dirty="0">
                <a:solidFill>
                  <a:srgbClr val="212121"/>
                </a:solidFill>
                <a:latin typeface="Tahoma"/>
                <a:cs typeface="Tahoma"/>
              </a:rPr>
              <a:t>suggests</a:t>
            </a:r>
            <a:r>
              <a:rPr sz="1800" spc="-70" dirty="0">
                <a:solidFill>
                  <a:srgbClr val="212121"/>
                </a:solidFill>
                <a:latin typeface="Tahoma"/>
                <a:cs typeface="Tahoma"/>
              </a:rPr>
              <a:t> </a:t>
            </a:r>
            <a:r>
              <a:rPr sz="1800" dirty="0">
                <a:solidFill>
                  <a:srgbClr val="212121"/>
                </a:solidFill>
                <a:latin typeface="Tahoma"/>
                <a:cs typeface="Tahoma"/>
              </a:rPr>
              <a:t>that</a:t>
            </a:r>
            <a:r>
              <a:rPr sz="1800" spc="-60" dirty="0">
                <a:solidFill>
                  <a:srgbClr val="212121"/>
                </a:solidFill>
                <a:latin typeface="Tahoma"/>
                <a:cs typeface="Tahoma"/>
              </a:rPr>
              <a:t> </a:t>
            </a:r>
            <a:r>
              <a:rPr sz="1800" dirty="0">
                <a:solidFill>
                  <a:srgbClr val="212121"/>
                </a:solidFill>
                <a:latin typeface="Tahoma"/>
                <a:cs typeface="Tahoma"/>
              </a:rPr>
              <a:t>the</a:t>
            </a:r>
            <a:r>
              <a:rPr sz="1800" spc="-60" dirty="0">
                <a:solidFill>
                  <a:srgbClr val="212121"/>
                </a:solidFill>
                <a:latin typeface="Tahoma"/>
                <a:cs typeface="Tahoma"/>
              </a:rPr>
              <a:t> </a:t>
            </a:r>
            <a:r>
              <a:rPr sz="1800" dirty="0">
                <a:solidFill>
                  <a:srgbClr val="212121"/>
                </a:solidFill>
                <a:latin typeface="Tahoma"/>
                <a:cs typeface="Tahoma"/>
              </a:rPr>
              <a:t>Discriminator</a:t>
            </a:r>
            <a:r>
              <a:rPr sz="1800" spc="-50" dirty="0">
                <a:solidFill>
                  <a:srgbClr val="212121"/>
                </a:solidFill>
                <a:latin typeface="Tahoma"/>
                <a:cs typeface="Tahoma"/>
              </a:rPr>
              <a:t> </a:t>
            </a:r>
            <a:r>
              <a:rPr sz="1800" dirty="0">
                <a:solidFill>
                  <a:srgbClr val="212121"/>
                </a:solidFill>
                <a:latin typeface="Tahoma"/>
                <a:cs typeface="Tahoma"/>
              </a:rPr>
              <a:t>wants</a:t>
            </a:r>
            <a:r>
              <a:rPr sz="1800" spc="-60" dirty="0">
                <a:solidFill>
                  <a:srgbClr val="212121"/>
                </a:solidFill>
                <a:latin typeface="Tahoma"/>
                <a:cs typeface="Tahoma"/>
              </a:rPr>
              <a:t> </a:t>
            </a:r>
            <a:r>
              <a:rPr sz="1800" spc="-25" dirty="0">
                <a:solidFill>
                  <a:srgbClr val="212121"/>
                </a:solidFill>
                <a:latin typeface="Tahoma"/>
                <a:cs typeface="Tahoma"/>
              </a:rPr>
              <a:t>to make</a:t>
            </a:r>
            <a:r>
              <a:rPr sz="1800" spc="-60" dirty="0">
                <a:solidFill>
                  <a:srgbClr val="212121"/>
                </a:solidFill>
                <a:latin typeface="Tahoma"/>
                <a:cs typeface="Tahoma"/>
              </a:rPr>
              <a:t> </a:t>
            </a:r>
            <a:r>
              <a:rPr sz="1800" spc="-70" dirty="0">
                <a:solidFill>
                  <a:srgbClr val="212121"/>
                </a:solidFill>
                <a:latin typeface="Tahoma"/>
                <a:cs typeface="Tahoma"/>
              </a:rPr>
              <a:t>D(x) </a:t>
            </a:r>
            <a:r>
              <a:rPr sz="1800" spc="-45" dirty="0">
                <a:solidFill>
                  <a:srgbClr val="212121"/>
                </a:solidFill>
                <a:latin typeface="Tahoma"/>
                <a:cs typeface="Tahoma"/>
              </a:rPr>
              <a:t>as</a:t>
            </a:r>
            <a:r>
              <a:rPr sz="1800" spc="-65" dirty="0">
                <a:solidFill>
                  <a:srgbClr val="212121"/>
                </a:solidFill>
                <a:latin typeface="Tahoma"/>
                <a:cs typeface="Tahoma"/>
              </a:rPr>
              <a:t> </a:t>
            </a:r>
            <a:r>
              <a:rPr sz="1800" dirty="0">
                <a:solidFill>
                  <a:srgbClr val="212121"/>
                </a:solidFill>
                <a:latin typeface="Tahoma"/>
                <a:cs typeface="Tahoma"/>
              </a:rPr>
              <a:t>close</a:t>
            </a:r>
            <a:r>
              <a:rPr sz="1800" spc="-65"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dirty="0">
                <a:solidFill>
                  <a:srgbClr val="212121"/>
                </a:solidFill>
                <a:latin typeface="Tahoma"/>
                <a:cs typeface="Tahoma"/>
              </a:rPr>
              <a:t>1</a:t>
            </a:r>
            <a:r>
              <a:rPr sz="1800" spc="-60" dirty="0">
                <a:solidFill>
                  <a:srgbClr val="212121"/>
                </a:solidFill>
                <a:latin typeface="Tahoma"/>
                <a:cs typeface="Tahoma"/>
              </a:rPr>
              <a:t> </a:t>
            </a:r>
            <a:r>
              <a:rPr sz="1800" spc="-50" dirty="0">
                <a:solidFill>
                  <a:srgbClr val="212121"/>
                </a:solidFill>
                <a:latin typeface="Tahoma"/>
                <a:cs typeface="Tahoma"/>
              </a:rPr>
              <a:t>as</a:t>
            </a:r>
            <a:r>
              <a:rPr sz="1800" spc="-60" dirty="0">
                <a:solidFill>
                  <a:srgbClr val="212121"/>
                </a:solidFill>
                <a:latin typeface="Tahoma"/>
                <a:cs typeface="Tahoma"/>
              </a:rPr>
              <a:t> </a:t>
            </a:r>
            <a:r>
              <a:rPr sz="1800" spc="-20" dirty="0">
                <a:solidFill>
                  <a:srgbClr val="212121"/>
                </a:solidFill>
                <a:latin typeface="Tahoma"/>
                <a:cs typeface="Tahoma"/>
              </a:rPr>
              <a:t>possible,</a:t>
            </a:r>
            <a:r>
              <a:rPr sz="1800" spc="-30" dirty="0">
                <a:solidFill>
                  <a:srgbClr val="212121"/>
                </a:solidFill>
                <a:latin typeface="Tahoma"/>
                <a:cs typeface="Tahoma"/>
              </a:rPr>
              <a:t> </a:t>
            </a:r>
            <a:r>
              <a:rPr sz="1800" spc="-70" dirty="0">
                <a:solidFill>
                  <a:srgbClr val="212121"/>
                </a:solidFill>
                <a:latin typeface="Tahoma"/>
                <a:cs typeface="Tahoma"/>
              </a:rPr>
              <a:t>i.e.</a:t>
            </a:r>
            <a:r>
              <a:rPr sz="1800" spc="-50" dirty="0">
                <a:solidFill>
                  <a:srgbClr val="212121"/>
                </a:solidFill>
                <a:latin typeface="Tahoma"/>
                <a:cs typeface="Tahoma"/>
              </a:rPr>
              <a:t> </a:t>
            </a:r>
            <a:r>
              <a:rPr sz="1800" dirty="0">
                <a:solidFill>
                  <a:srgbClr val="212121"/>
                </a:solidFill>
                <a:latin typeface="Tahoma"/>
                <a:cs typeface="Tahoma"/>
              </a:rPr>
              <a:t>correctly</a:t>
            </a:r>
            <a:r>
              <a:rPr sz="1800" spc="-70" dirty="0">
                <a:solidFill>
                  <a:srgbClr val="212121"/>
                </a:solidFill>
                <a:latin typeface="Tahoma"/>
                <a:cs typeface="Tahoma"/>
              </a:rPr>
              <a:t> </a:t>
            </a:r>
            <a:r>
              <a:rPr sz="1800" spc="-10" dirty="0">
                <a:solidFill>
                  <a:srgbClr val="212121"/>
                </a:solidFill>
                <a:latin typeface="Tahoma"/>
                <a:cs typeface="Tahoma"/>
              </a:rPr>
              <a:t>classifying real</a:t>
            </a:r>
            <a:r>
              <a:rPr sz="1800" spc="-110" dirty="0">
                <a:solidFill>
                  <a:srgbClr val="212121"/>
                </a:solidFill>
                <a:latin typeface="Tahoma"/>
                <a:cs typeface="Tahoma"/>
              </a:rPr>
              <a:t> </a:t>
            </a:r>
            <a:r>
              <a:rPr sz="1800" spc="-35" dirty="0">
                <a:solidFill>
                  <a:srgbClr val="212121"/>
                </a:solidFill>
                <a:latin typeface="Tahoma"/>
                <a:cs typeface="Tahoma"/>
              </a:rPr>
              <a:t>images</a:t>
            </a:r>
            <a:r>
              <a:rPr sz="1800" spc="-90" dirty="0">
                <a:solidFill>
                  <a:srgbClr val="212121"/>
                </a:solidFill>
                <a:latin typeface="Tahoma"/>
                <a:cs typeface="Tahoma"/>
              </a:rPr>
              <a:t> </a:t>
            </a:r>
            <a:r>
              <a:rPr sz="1800" spc="-50" dirty="0">
                <a:solidFill>
                  <a:srgbClr val="212121"/>
                </a:solidFill>
                <a:latin typeface="Tahoma"/>
                <a:cs typeface="Tahoma"/>
              </a:rPr>
              <a:t>as</a:t>
            </a:r>
            <a:r>
              <a:rPr sz="1800" spc="-90" dirty="0">
                <a:solidFill>
                  <a:srgbClr val="212121"/>
                </a:solidFill>
                <a:latin typeface="Tahoma"/>
                <a:cs typeface="Tahoma"/>
              </a:rPr>
              <a:t> </a:t>
            </a:r>
            <a:r>
              <a:rPr sz="1800" spc="-10" dirty="0">
                <a:solidFill>
                  <a:srgbClr val="212121"/>
                </a:solidFill>
                <a:latin typeface="Tahoma"/>
                <a:cs typeface="Tahoma"/>
              </a:rPr>
              <a:t>real.</a:t>
            </a:r>
            <a:endParaRPr sz="1800">
              <a:latin typeface="Tahoma"/>
              <a:cs typeface="Tahoma"/>
            </a:endParaRPr>
          </a:p>
          <a:p>
            <a:pPr marL="12700" marR="19685">
              <a:lnSpc>
                <a:spcPct val="100000"/>
              </a:lnSpc>
            </a:pPr>
            <a:r>
              <a:rPr sz="1800" dirty="0">
                <a:solidFill>
                  <a:srgbClr val="212121"/>
                </a:solidFill>
                <a:latin typeface="Tahoma"/>
                <a:cs typeface="Tahoma"/>
              </a:rPr>
              <a:t>The</a:t>
            </a:r>
            <a:r>
              <a:rPr sz="1800" spc="-70" dirty="0">
                <a:solidFill>
                  <a:srgbClr val="212121"/>
                </a:solidFill>
                <a:latin typeface="Tahoma"/>
                <a:cs typeface="Tahoma"/>
              </a:rPr>
              <a:t> </a:t>
            </a:r>
            <a:r>
              <a:rPr sz="1800" dirty="0">
                <a:solidFill>
                  <a:srgbClr val="212121"/>
                </a:solidFill>
                <a:latin typeface="Tahoma"/>
                <a:cs typeface="Tahoma"/>
              </a:rPr>
              <a:t>second</a:t>
            </a:r>
            <a:r>
              <a:rPr sz="1800" spc="-60" dirty="0">
                <a:solidFill>
                  <a:srgbClr val="212121"/>
                </a:solidFill>
                <a:latin typeface="Tahoma"/>
                <a:cs typeface="Tahoma"/>
              </a:rPr>
              <a:t> </a:t>
            </a:r>
            <a:r>
              <a:rPr sz="1800" dirty="0">
                <a:solidFill>
                  <a:srgbClr val="212121"/>
                </a:solidFill>
                <a:latin typeface="Tahoma"/>
                <a:cs typeface="Tahoma"/>
              </a:rPr>
              <a:t>term</a:t>
            </a:r>
            <a:r>
              <a:rPr sz="1800" spc="-70" dirty="0">
                <a:solidFill>
                  <a:srgbClr val="212121"/>
                </a:solidFill>
                <a:latin typeface="Tahoma"/>
                <a:cs typeface="Tahoma"/>
              </a:rPr>
              <a:t> </a:t>
            </a:r>
            <a:r>
              <a:rPr sz="1800" spc="-30" dirty="0">
                <a:solidFill>
                  <a:srgbClr val="212121"/>
                </a:solidFill>
                <a:latin typeface="Tahoma"/>
                <a:cs typeface="Tahoma"/>
              </a:rPr>
              <a:t>suggests</a:t>
            </a:r>
            <a:r>
              <a:rPr sz="1800" spc="-70" dirty="0">
                <a:solidFill>
                  <a:srgbClr val="212121"/>
                </a:solidFill>
                <a:latin typeface="Tahoma"/>
                <a:cs typeface="Tahoma"/>
              </a:rPr>
              <a:t> </a:t>
            </a:r>
            <a:r>
              <a:rPr sz="1800" dirty="0">
                <a:solidFill>
                  <a:srgbClr val="212121"/>
                </a:solidFill>
                <a:latin typeface="Tahoma"/>
                <a:cs typeface="Tahoma"/>
              </a:rPr>
              <a:t>that</a:t>
            </a:r>
            <a:r>
              <a:rPr sz="1800" spc="-60" dirty="0">
                <a:solidFill>
                  <a:srgbClr val="212121"/>
                </a:solidFill>
                <a:latin typeface="Tahoma"/>
                <a:cs typeface="Tahoma"/>
              </a:rPr>
              <a:t> </a:t>
            </a:r>
            <a:r>
              <a:rPr sz="1800" dirty="0">
                <a:solidFill>
                  <a:srgbClr val="212121"/>
                </a:solidFill>
                <a:latin typeface="Tahoma"/>
                <a:cs typeface="Tahoma"/>
              </a:rPr>
              <a:t>the</a:t>
            </a:r>
            <a:r>
              <a:rPr sz="1800" spc="-65" dirty="0">
                <a:solidFill>
                  <a:srgbClr val="212121"/>
                </a:solidFill>
                <a:latin typeface="Tahoma"/>
                <a:cs typeface="Tahoma"/>
              </a:rPr>
              <a:t> </a:t>
            </a:r>
            <a:r>
              <a:rPr sz="1800" dirty="0">
                <a:solidFill>
                  <a:srgbClr val="212121"/>
                </a:solidFill>
                <a:latin typeface="Tahoma"/>
                <a:cs typeface="Tahoma"/>
              </a:rPr>
              <a:t>Discriminator</a:t>
            </a:r>
            <a:r>
              <a:rPr sz="1800" spc="-50" dirty="0">
                <a:solidFill>
                  <a:srgbClr val="212121"/>
                </a:solidFill>
                <a:latin typeface="Tahoma"/>
                <a:cs typeface="Tahoma"/>
              </a:rPr>
              <a:t> </a:t>
            </a:r>
            <a:r>
              <a:rPr sz="1800" dirty="0">
                <a:solidFill>
                  <a:srgbClr val="212121"/>
                </a:solidFill>
                <a:latin typeface="Tahoma"/>
                <a:cs typeface="Tahoma"/>
              </a:rPr>
              <a:t>wants</a:t>
            </a:r>
            <a:r>
              <a:rPr sz="1800" spc="-70" dirty="0">
                <a:solidFill>
                  <a:srgbClr val="212121"/>
                </a:solidFill>
                <a:latin typeface="Tahoma"/>
                <a:cs typeface="Tahoma"/>
              </a:rPr>
              <a:t> </a:t>
            </a:r>
            <a:r>
              <a:rPr sz="1800" spc="-25" dirty="0">
                <a:solidFill>
                  <a:srgbClr val="212121"/>
                </a:solidFill>
                <a:latin typeface="Tahoma"/>
                <a:cs typeface="Tahoma"/>
              </a:rPr>
              <a:t>to make</a:t>
            </a:r>
            <a:r>
              <a:rPr sz="1800" spc="-75" dirty="0">
                <a:solidFill>
                  <a:srgbClr val="212121"/>
                </a:solidFill>
                <a:latin typeface="Tahoma"/>
                <a:cs typeface="Tahoma"/>
              </a:rPr>
              <a:t> </a:t>
            </a:r>
            <a:r>
              <a:rPr sz="1800" spc="-95" dirty="0">
                <a:solidFill>
                  <a:srgbClr val="212121"/>
                </a:solidFill>
                <a:latin typeface="Tahoma"/>
                <a:cs typeface="Tahoma"/>
              </a:rPr>
              <a:t>D(G(x)) </a:t>
            </a:r>
            <a:r>
              <a:rPr sz="1800" spc="-50" dirty="0">
                <a:solidFill>
                  <a:srgbClr val="212121"/>
                </a:solidFill>
                <a:latin typeface="Tahoma"/>
                <a:cs typeface="Tahoma"/>
              </a:rPr>
              <a:t>as</a:t>
            </a:r>
            <a:r>
              <a:rPr sz="1800" spc="-60" dirty="0">
                <a:solidFill>
                  <a:srgbClr val="212121"/>
                </a:solidFill>
                <a:latin typeface="Tahoma"/>
                <a:cs typeface="Tahoma"/>
              </a:rPr>
              <a:t> </a:t>
            </a:r>
            <a:r>
              <a:rPr sz="1800" dirty="0">
                <a:solidFill>
                  <a:srgbClr val="212121"/>
                </a:solidFill>
                <a:latin typeface="Tahoma"/>
                <a:cs typeface="Tahoma"/>
              </a:rPr>
              <a:t>close</a:t>
            </a:r>
            <a:r>
              <a:rPr sz="1800" spc="-70" dirty="0">
                <a:solidFill>
                  <a:srgbClr val="212121"/>
                </a:solidFill>
                <a:latin typeface="Tahoma"/>
                <a:cs typeface="Tahoma"/>
              </a:rPr>
              <a:t> </a:t>
            </a:r>
            <a:r>
              <a:rPr sz="1800" dirty="0">
                <a:solidFill>
                  <a:srgbClr val="212121"/>
                </a:solidFill>
                <a:latin typeface="Tahoma"/>
                <a:cs typeface="Tahoma"/>
              </a:rPr>
              <a:t>to</a:t>
            </a:r>
            <a:r>
              <a:rPr sz="1800" spc="-65" dirty="0">
                <a:solidFill>
                  <a:srgbClr val="212121"/>
                </a:solidFill>
                <a:latin typeface="Tahoma"/>
                <a:cs typeface="Tahoma"/>
              </a:rPr>
              <a:t> </a:t>
            </a:r>
            <a:r>
              <a:rPr sz="1800" dirty="0">
                <a:solidFill>
                  <a:srgbClr val="212121"/>
                </a:solidFill>
                <a:latin typeface="Tahoma"/>
                <a:cs typeface="Tahoma"/>
              </a:rPr>
              <a:t>0</a:t>
            </a:r>
            <a:r>
              <a:rPr sz="1800" spc="-70" dirty="0">
                <a:solidFill>
                  <a:srgbClr val="212121"/>
                </a:solidFill>
                <a:latin typeface="Tahoma"/>
                <a:cs typeface="Tahoma"/>
              </a:rPr>
              <a:t> </a:t>
            </a:r>
            <a:r>
              <a:rPr sz="1800" spc="-40" dirty="0">
                <a:solidFill>
                  <a:srgbClr val="212121"/>
                </a:solidFill>
                <a:latin typeface="Tahoma"/>
                <a:cs typeface="Tahoma"/>
              </a:rPr>
              <a:t>as</a:t>
            </a:r>
            <a:r>
              <a:rPr sz="1800" spc="-75" dirty="0">
                <a:solidFill>
                  <a:srgbClr val="212121"/>
                </a:solidFill>
                <a:latin typeface="Tahoma"/>
                <a:cs typeface="Tahoma"/>
              </a:rPr>
              <a:t> </a:t>
            </a:r>
            <a:r>
              <a:rPr sz="1800" spc="-20" dirty="0">
                <a:solidFill>
                  <a:srgbClr val="212121"/>
                </a:solidFill>
                <a:latin typeface="Tahoma"/>
                <a:cs typeface="Tahoma"/>
              </a:rPr>
              <a:t>possible,</a:t>
            </a:r>
            <a:r>
              <a:rPr sz="1800" spc="-55" dirty="0">
                <a:solidFill>
                  <a:srgbClr val="212121"/>
                </a:solidFill>
                <a:latin typeface="Tahoma"/>
                <a:cs typeface="Tahoma"/>
              </a:rPr>
              <a:t> </a:t>
            </a:r>
            <a:r>
              <a:rPr sz="1800" spc="-70" dirty="0">
                <a:solidFill>
                  <a:srgbClr val="212121"/>
                </a:solidFill>
                <a:latin typeface="Tahoma"/>
                <a:cs typeface="Tahoma"/>
              </a:rPr>
              <a:t>i.e.</a:t>
            </a:r>
            <a:r>
              <a:rPr sz="1800" spc="-60" dirty="0">
                <a:solidFill>
                  <a:srgbClr val="212121"/>
                </a:solidFill>
                <a:latin typeface="Tahoma"/>
                <a:cs typeface="Tahoma"/>
              </a:rPr>
              <a:t> </a:t>
            </a:r>
            <a:r>
              <a:rPr sz="1800" spc="-10" dirty="0">
                <a:solidFill>
                  <a:srgbClr val="212121"/>
                </a:solidFill>
                <a:latin typeface="Tahoma"/>
                <a:cs typeface="Tahoma"/>
              </a:rPr>
              <a:t>correctly </a:t>
            </a:r>
            <a:r>
              <a:rPr sz="1800" dirty="0">
                <a:solidFill>
                  <a:srgbClr val="212121"/>
                </a:solidFill>
                <a:latin typeface="Tahoma"/>
                <a:cs typeface="Tahoma"/>
              </a:rPr>
              <a:t>classifying</a:t>
            </a:r>
            <a:r>
              <a:rPr sz="1800" spc="-105" dirty="0">
                <a:solidFill>
                  <a:srgbClr val="212121"/>
                </a:solidFill>
                <a:latin typeface="Tahoma"/>
                <a:cs typeface="Tahoma"/>
              </a:rPr>
              <a:t> </a:t>
            </a:r>
            <a:r>
              <a:rPr sz="1800" dirty="0">
                <a:solidFill>
                  <a:srgbClr val="212121"/>
                </a:solidFill>
                <a:latin typeface="Tahoma"/>
                <a:cs typeface="Tahoma"/>
              </a:rPr>
              <a:t>fake</a:t>
            </a:r>
            <a:r>
              <a:rPr sz="1800" spc="-120" dirty="0">
                <a:solidFill>
                  <a:srgbClr val="212121"/>
                </a:solidFill>
                <a:latin typeface="Tahoma"/>
                <a:cs typeface="Tahoma"/>
              </a:rPr>
              <a:t> </a:t>
            </a:r>
            <a:r>
              <a:rPr sz="1800" spc="-35" dirty="0">
                <a:solidFill>
                  <a:srgbClr val="212121"/>
                </a:solidFill>
                <a:latin typeface="Tahoma"/>
                <a:cs typeface="Tahoma"/>
              </a:rPr>
              <a:t>images</a:t>
            </a:r>
            <a:r>
              <a:rPr sz="1800" spc="-95" dirty="0">
                <a:solidFill>
                  <a:srgbClr val="212121"/>
                </a:solidFill>
                <a:latin typeface="Tahoma"/>
                <a:cs typeface="Tahoma"/>
              </a:rPr>
              <a:t> </a:t>
            </a:r>
            <a:r>
              <a:rPr sz="1800" spc="-50" dirty="0">
                <a:solidFill>
                  <a:srgbClr val="212121"/>
                </a:solidFill>
                <a:latin typeface="Tahoma"/>
                <a:cs typeface="Tahoma"/>
              </a:rPr>
              <a:t>as</a:t>
            </a:r>
            <a:r>
              <a:rPr sz="1800" spc="-95" dirty="0">
                <a:solidFill>
                  <a:srgbClr val="212121"/>
                </a:solidFill>
                <a:latin typeface="Tahoma"/>
                <a:cs typeface="Tahoma"/>
              </a:rPr>
              <a:t> </a:t>
            </a:r>
            <a:r>
              <a:rPr sz="1800" dirty="0">
                <a:solidFill>
                  <a:srgbClr val="212121"/>
                </a:solidFill>
                <a:latin typeface="Tahoma"/>
                <a:cs typeface="Tahoma"/>
              </a:rPr>
              <a:t>fake</a:t>
            </a:r>
            <a:r>
              <a:rPr sz="1800" spc="-105" dirty="0">
                <a:solidFill>
                  <a:srgbClr val="212121"/>
                </a:solidFill>
                <a:latin typeface="Tahoma"/>
                <a:cs typeface="Tahoma"/>
              </a:rPr>
              <a:t> </a:t>
            </a:r>
            <a:r>
              <a:rPr sz="1800" spc="-20" dirty="0">
                <a:solidFill>
                  <a:srgbClr val="212121"/>
                </a:solidFill>
                <a:latin typeface="Tahoma"/>
                <a:cs typeface="Tahoma"/>
              </a:rPr>
              <a:t>and</a:t>
            </a:r>
            <a:r>
              <a:rPr sz="1800" spc="-100" dirty="0">
                <a:solidFill>
                  <a:srgbClr val="212121"/>
                </a:solidFill>
                <a:latin typeface="Tahoma"/>
                <a:cs typeface="Tahoma"/>
              </a:rPr>
              <a:t> </a:t>
            </a:r>
            <a:r>
              <a:rPr sz="1800" dirty="0">
                <a:solidFill>
                  <a:srgbClr val="212121"/>
                </a:solidFill>
                <a:latin typeface="Tahoma"/>
                <a:cs typeface="Tahoma"/>
              </a:rPr>
              <a:t>thus</a:t>
            </a:r>
            <a:r>
              <a:rPr sz="1800" spc="-114" dirty="0">
                <a:solidFill>
                  <a:srgbClr val="212121"/>
                </a:solidFill>
                <a:latin typeface="Tahoma"/>
                <a:cs typeface="Tahoma"/>
              </a:rPr>
              <a:t> </a:t>
            </a:r>
            <a:r>
              <a:rPr sz="1800" spc="-10" dirty="0">
                <a:solidFill>
                  <a:srgbClr val="212121"/>
                </a:solidFill>
                <a:latin typeface="Tahoma"/>
                <a:cs typeface="Tahoma"/>
              </a:rPr>
              <a:t>maximize</a:t>
            </a:r>
            <a:r>
              <a:rPr sz="1800" spc="-80" dirty="0">
                <a:solidFill>
                  <a:srgbClr val="212121"/>
                </a:solidFill>
                <a:latin typeface="Tahoma"/>
                <a:cs typeface="Tahoma"/>
              </a:rPr>
              <a:t> </a:t>
            </a:r>
            <a:r>
              <a:rPr sz="1800" dirty="0">
                <a:solidFill>
                  <a:srgbClr val="212121"/>
                </a:solidFill>
                <a:latin typeface="Tahoma"/>
                <a:cs typeface="Tahoma"/>
              </a:rPr>
              <a:t>the</a:t>
            </a:r>
            <a:r>
              <a:rPr sz="1800" spc="-100" dirty="0">
                <a:solidFill>
                  <a:srgbClr val="212121"/>
                </a:solidFill>
                <a:latin typeface="Tahoma"/>
                <a:cs typeface="Tahoma"/>
              </a:rPr>
              <a:t> </a:t>
            </a:r>
            <a:r>
              <a:rPr sz="1800" spc="-20" dirty="0">
                <a:solidFill>
                  <a:srgbClr val="212121"/>
                </a:solidFill>
                <a:latin typeface="Tahoma"/>
                <a:cs typeface="Tahoma"/>
              </a:rPr>
              <a:t>term </a:t>
            </a:r>
            <a:r>
              <a:rPr sz="1800" dirty="0">
                <a:solidFill>
                  <a:srgbClr val="212121"/>
                </a:solidFill>
                <a:latin typeface="Tahoma"/>
                <a:cs typeface="Tahoma"/>
              </a:rPr>
              <a:t>eventually</a:t>
            </a:r>
            <a:r>
              <a:rPr sz="1800" spc="-80" dirty="0">
                <a:solidFill>
                  <a:srgbClr val="212121"/>
                </a:solidFill>
                <a:latin typeface="Tahoma"/>
                <a:cs typeface="Tahoma"/>
              </a:rPr>
              <a:t> </a:t>
            </a:r>
            <a:r>
              <a:rPr sz="1800" spc="-85" dirty="0">
                <a:solidFill>
                  <a:srgbClr val="212121"/>
                </a:solidFill>
                <a:latin typeface="Tahoma"/>
                <a:cs typeface="Tahoma"/>
              </a:rPr>
              <a:t>(1</a:t>
            </a:r>
            <a:r>
              <a:rPr sz="1800" spc="-80" dirty="0">
                <a:solidFill>
                  <a:srgbClr val="212121"/>
                </a:solidFill>
                <a:latin typeface="Tahoma"/>
                <a:cs typeface="Tahoma"/>
              </a:rPr>
              <a:t> </a:t>
            </a:r>
            <a:r>
              <a:rPr sz="1800" dirty="0">
                <a:solidFill>
                  <a:srgbClr val="212121"/>
                </a:solidFill>
                <a:latin typeface="Tahoma"/>
                <a:cs typeface="Tahoma"/>
              </a:rPr>
              <a:t>–</a:t>
            </a:r>
            <a:r>
              <a:rPr sz="1800" spc="-65" dirty="0">
                <a:solidFill>
                  <a:srgbClr val="212121"/>
                </a:solidFill>
                <a:latin typeface="Tahoma"/>
                <a:cs typeface="Tahoma"/>
              </a:rPr>
              <a:t> </a:t>
            </a:r>
            <a:r>
              <a:rPr sz="1800" spc="-20" dirty="0">
                <a:solidFill>
                  <a:srgbClr val="212121"/>
                </a:solidFill>
                <a:latin typeface="Tahoma"/>
                <a:cs typeface="Tahoma"/>
              </a:rPr>
              <a:t>smaller</a:t>
            </a:r>
            <a:r>
              <a:rPr sz="1800" spc="-65" dirty="0">
                <a:solidFill>
                  <a:srgbClr val="212121"/>
                </a:solidFill>
                <a:latin typeface="Tahoma"/>
                <a:cs typeface="Tahoma"/>
              </a:rPr>
              <a:t> </a:t>
            </a:r>
            <a:r>
              <a:rPr sz="1800" spc="-10" dirty="0">
                <a:solidFill>
                  <a:srgbClr val="212121"/>
                </a:solidFill>
                <a:latin typeface="Tahoma"/>
                <a:cs typeface="Tahoma"/>
              </a:rPr>
              <a:t>number</a:t>
            </a:r>
            <a:r>
              <a:rPr sz="1800" spc="-105" dirty="0">
                <a:solidFill>
                  <a:srgbClr val="212121"/>
                </a:solidFill>
                <a:latin typeface="Tahoma"/>
                <a:cs typeface="Tahoma"/>
              </a:rPr>
              <a:t> </a:t>
            </a:r>
            <a:r>
              <a:rPr sz="1800" dirty="0">
                <a:solidFill>
                  <a:srgbClr val="212121"/>
                </a:solidFill>
                <a:latin typeface="Tahoma"/>
                <a:cs typeface="Tahoma"/>
              </a:rPr>
              <a:t>will</a:t>
            </a:r>
            <a:r>
              <a:rPr sz="1800" spc="-65" dirty="0">
                <a:solidFill>
                  <a:srgbClr val="212121"/>
                </a:solidFill>
                <a:latin typeface="Tahoma"/>
                <a:cs typeface="Tahoma"/>
              </a:rPr>
              <a:t> </a:t>
            </a:r>
            <a:r>
              <a:rPr sz="1800" dirty="0">
                <a:solidFill>
                  <a:srgbClr val="212121"/>
                </a:solidFill>
                <a:latin typeface="Tahoma"/>
                <a:cs typeface="Tahoma"/>
              </a:rPr>
              <a:t>result</a:t>
            </a:r>
            <a:r>
              <a:rPr sz="1800" spc="-95" dirty="0">
                <a:solidFill>
                  <a:srgbClr val="212121"/>
                </a:solidFill>
                <a:latin typeface="Tahoma"/>
                <a:cs typeface="Tahoma"/>
              </a:rPr>
              <a:t> </a:t>
            </a:r>
            <a:r>
              <a:rPr sz="1800" dirty="0">
                <a:solidFill>
                  <a:srgbClr val="212121"/>
                </a:solidFill>
                <a:latin typeface="Tahoma"/>
                <a:cs typeface="Tahoma"/>
              </a:rPr>
              <a:t>in</a:t>
            </a:r>
            <a:r>
              <a:rPr sz="1800" spc="-65" dirty="0">
                <a:solidFill>
                  <a:srgbClr val="212121"/>
                </a:solidFill>
                <a:latin typeface="Tahoma"/>
                <a:cs typeface="Tahoma"/>
              </a:rPr>
              <a:t> a</a:t>
            </a:r>
            <a:r>
              <a:rPr sz="1800" spc="-80" dirty="0">
                <a:solidFill>
                  <a:srgbClr val="212121"/>
                </a:solidFill>
                <a:latin typeface="Tahoma"/>
                <a:cs typeface="Tahoma"/>
              </a:rPr>
              <a:t> </a:t>
            </a:r>
            <a:r>
              <a:rPr sz="1800" spc="-10" dirty="0">
                <a:solidFill>
                  <a:srgbClr val="212121"/>
                </a:solidFill>
                <a:latin typeface="Tahoma"/>
                <a:cs typeface="Tahoma"/>
              </a:rPr>
              <a:t>larger </a:t>
            </a:r>
            <a:r>
              <a:rPr sz="1800" spc="-55" dirty="0">
                <a:solidFill>
                  <a:srgbClr val="212121"/>
                </a:solidFill>
                <a:latin typeface="Tahoma"/>
                <a:cs typeface="Tahoma"/>
              </a:rPr>
              <a:t>number).</a:t>
            </a:r>
            <a:r>
              <a:rPr sz="1800" spc="-90" dirty="0">
                <a:solidFill>
                  <a:srgbClr val="212121"/>
                </a:solidFill>
                <a:latin typeface="Tahoma"/>
                <a:cs typeface="Tahoma"/>
              </a:rPr>
              <a:t> </a:t>
            </a:r>
            <a:r>
              <a:rPr sz="1800" i="1" spc="-75" dirty="0">
                <a:solidFill>
                  <a:srgbClr val="212121"/>
                </a:solidFill>
                <a:latin typeface="Trebuchet MS"/>
                <a:cs typeface="Trebuchet MS"/>
              </a:rPr>
              <a:t>Note:</a:t>
            </a:r>
            <a:r>
              <a:rPr sz="1800" i="1" spc="-80" dirty="0">
                <a:solidFill>
                  <a:srgbClr val="212121"/>
                </a:solidFill>
                <a:latin typeface="Trebuchet MS"/>
                <a:cs typeface="Trebuchet MS"/>
              </a:rPr>
              <a:t> </a:t>
            </a:r>
            <a:r>
              <a:rPr sz="1800" i="1" spc="-85" dirty="0">
                <a:solidFill>
                  <a:srgbClr val="212121"/>
                </a:solidFill>
                <a:latin typeface="Trebuchet MS"/>
                <a:cs typeface="Trebuchet MS"/>
              </a:rPr>
              <a:t>Probability</a:t>
            </a:r>
            <a:r>
              <a:rPr sz="1800" i="1" spc="-65" dirty="0">
                <a:solidFill>
                  <a:srgbClr val="212121"/>
                </a:solidFill>
                <a:latin typeface="Trebuchet MS"/>
                <a:cs typeface="Trebuchet MS"/>
              </a:rPr>
              <a:t> </a:t>
            </a:r>
            <a:r>
              <a:rPr sz="1800" i="1" spc="-110" dirty="0">
                <a:solidFill>
                  <a:srgbClr val="212121"/>
                </a:solidFill>
                <a:latin typeface="Trebuchet MS"/>
                <a:cs typeface="Trebuchet MS"/>
              </a:rPr>
              <a:t>lies</a:t>
            </a:r>
            <a:r>
              <a:rPr sz="1800" i="1" spc="-95" dirty="0">
                <a:solidFill>
                  <a:srgbClr val="212121"/>
                </a:solidFill>
                <a:latin typeface="Trebuchet MS"/>
                <a:cs typeface="Trebuchet MS"/>
              </a:rPr>
              <a:t> in</a:t>
            </a:r>
            <a:r>
              <a:rPr sz="1800" i="1" spc="-85" dirty="0">
                <a:solidFill>
                  <a:srgbClr val="212121"/>
                </a:solidFill>
                <a:latin typeface="Trebuchet MS"/>
                <a:cs typeface="Trebuchet MS"/>
              </a:rPr>
              <a:t> </a:t>
            </a:r>
            <a:r>
              <a:rPr sz="1800" i="1" spc="-105" dirty="0">
                <a:solidFill>
                  <a:srgbClr val="212121"/>
                </a:solidFill>
                <a:latin typeface="Trebuchet MS"/>
                <a:cs typeface="Trebuchet MS"/>
              </a:rPr>
              <a:t>the</a:t>
            </a:r>
            <a:r>
              <a:rPr sz="1800" i="1" spc="-80" dirty="0">
                <a:solidFill>
                  <a:srgbClr val="212121"/>
                </a:solidFill>
                <a:latin typeface="Trebuchet MS"/>
                <a:cs typeface="Trebuchet MS"/>
              </a:rPr>
              <a:t> range</a:t>
            </a:r>
            <a:r>
              <a:rPr sz="1800" i="1" spc="-90" dirty="0">
                <a:solidFill>
                  <a:srgbClr val="212121"/>
                </a:solidFill>
                <a:latin typeface="Trebuchet MS"/>
                <a:cs typeface="Trebuchet MS"/>
              </a:rPr>
              <a:t> </a:t>
            </a:r>
            <a:r>
              <a:rPr sz="1800" i="1" spc="-100" dirty="0">
                <a:solidFill>
                  <a:srgbClr val="212121"/>
                </a:solidFill>
                <a:latin typeface="Trebuchet MS"/>
                <a:cs typeface="Trebuchet MS"/>
              </a:rPr>
              <a:t>of</a:t>
            </a:r>
            <a:r>
              <a:rPr sz="1800" i="1" spc="-85" dirty="0">
                <a:solidFill>
                  <a:srgbClr val="212121"/>
                </a:solidFill>
                <a:latin typeface="Trebuchet MS"/>
                <a:cs typeface="Trebuchet MS"/>
              </a:rPr>
              <a:t> </a:t>
            </a:r>
            <a:r>
              <a:rPr sz="1800" i="1" dirty="0">
                <a:solidFill>
                  <a:srgbClr val="212121"/>
                </a:solidFill>
                <a:latin typeface="Trebuchet MS"/>
                <a:cs typeface="Trebuchet MS"/>
              </a:rPr>
              <a:t>0-</a:t>
            </a:r>
            <a:r>
              <a:rPr sz="1800" i="1" spc="-25" dirty="0">
                <a:solidFill>
                  <a:srgbClr val="212121"/>
                </a:solidFill>
                <a:latin typeface="Trebuchet MS"/>
                <a:cs typeface="Trebuchet MS"/>
              </a:rPr>
              <a:t>1.</a:t>
            </a:r>
            <a:endParaRPr sz="1800">
              <a:latin typeface="Trebuchet MS"/>
              <a:cs typeface="Trebuchet MS"/>
            </a:endParaRPr>
          </a:p>
        </p:txBody>
      </p:sp>
      <p:sp>
        <p:nvSpPr>
          <p:cNvPr id="3" name="object 3"/>
          <p:cNvSpPr txBox="1"/>
          <p:nvPr/>
        </p:nvSpPr>
        <p:spPr>
          <a:xfrm>
            <a:off x="5865621" y="5215254"/>
            <a:ext cx="5874385" cy="299720"/>
          </a:xfrm>
          <a:prstGeom prst="rect">
            <a:avLst/>
          </a:prstGeom>
        </p:spPr>
        <p:txBody>
          <a:bodyPr vert="horz" wrap="square" lIns="0" tIns="12700" rIns="0" bIns="0" rtlCol="0">
            <a:spAutoFit/>
          </a:bodyPr>
          <a:lstStyle/>
          <a:p>
            <a:pPr marL="12700">
              <a:lnSpc>
                <a:spcPct val="100000"/>
              </a:lnSpc>
              <a:spcBef>
                <a:spcPts val="100"/>
              </a:spcBef>
            </a:pPr>
            <a:r>
              <a:rPr sz="1800" b="1" spc="-120" dirty="0">
                <a:solidFill>
                  <a:srgbClr val="212121"/>
                </a:solidFill>
                <a:latin typeface="Tahoma"/>
                <a:cs typeface="Tahoma"/>
              </a:rPr>
              <a:t>Thus,</a:t>
            </a:r>
            <a:r>
              <a:rPr sz="1800" b="1" spc="-75" dirty="0">
                <a:solidFill>
                  <a:srgbClr val="212121"/>
                </a:solidFill>
                <a:latin typeface="Tahoma"/>
                <a:cs typeface="Tahoma"/>
              </a:rPr>
              <a:t> </a:t>
            </a:r>
            <a:r>
              <a:rPr sz="1800" b="1" spc="-100" dirty="0">
                <a:solidFill>
                  <a:srgbClr val="212121"/>
                </a:solidFill>
                <a:latin typeface="Tahoma"/>
                <a:cs typeface="Tahoma"/>
              </a:rPr>
              <a:t>The</a:t>
            </a:r>
            <a:r>
              <a:rPr sz="1800" b="1" spc="-65" dirty="0">
                <a:solidFill>
                  <a:srgbClr val="212121"/>
                </a:solidFill>
                <a:latin typeface="Tahoma"/>
                <a:cs typeface="Tahoma"/>
              </a:rPr>
              <a:t> </a:t>
            </a:r>
            <a:r>
              <a:rPr sz="1800" b="1" spc="-114" dirty="0">
                <a:solidFill>
                  <a:srgbClr val="212121"/>
                </a:solidFill>
                <a:latin typeface="Tahoma"/>
                <a:cs typeface="Tahoma"/>
              </a:rPr>
              <a:t>Discriminator</a:t>
            </a:r>
            <a:r>
              <a:rPr sz="1800" b="1" spc="-25" dirty="0">
                <a:solidFill>
                  <a:srgbClr val="212121"/>
                </a:solidFill>
                <a:latin typeface="Tahoma"/>
                <a:cs typeface="Tahoma"/>
              </a:rPr>
              <a:t> </a:t>
            </a:r>
            <a:r>
              <a:rPr sz="1800" b="1" spc="-114" dirty="0">
                <a:solidFill>
                  <a:srgbClr val="212121"/>
                </a:solidFill>
                <a:latin typeface="Tahoma"/>
                <a:cs typeface="Tahoma"/>
              </a:rPr>
              <a:t>tries</a:t>
            </a:r>
            <a:r>
              <a:rPr sz="1800" b="1" spc="-35" dirty="0">
                <a:solidFill>
                  <a:srgbClr val="212121"/>
                </a:solidFill>
                <a:latin typeface="Tahoma"/>
                <a:cs typeface="Tahoma"/>
              </a:rPr>
              <a:t> </a:t>
            </a:r>
            <a:r>
              <a:rPr sz="1800" b="1" spc="-90" dirty="0">
                <a:solidFill>
                  <a:srgbClr val="212121"/>
                </a:solidFill>
                <a:latin typeface="Tahoma"/>
                <a:cs typeface="Tahoma"/>
              </a:rPr>
              <a:t>to</a:t>
            </a:r>
            <a:r>
              <a:rPr sz="1800" b="1" spc="-50" dirty="0">
                <a:solidFill>
                  <a:srgbClr val="212121"/>
                </a:solidFill>
                <a:latin typeface="Tahoma"/>
                <a:cs typeface="Tahoma"/>
              </a:rPr>
              <a:t> </a:t>
            </a:r>
            <a:r>
              <a:rPr sz="1800" b="1" spc="-150" dirty="0">
                <a:solidFill>
                  <a:srgbClr val="212121"/>
                </a:solidFill>
                <a:latin typeface="Tahoma"/>
                <a:cs typeface="Tahoma"/>
              </a:rPr>
              <a:t>maximize</a:t>
            </a:r>
            <a:r>
              <a:rPr sz="1800" b="1" spc="-35" dirty="0">
                <a:solidFill>
                  <a:srgbClr val="212121"/>
                </a:solidFill>
                <a:latin typeface="Tahoma"/>
                <a:cs typeface="Tahoma"/>
              </a:rPr>
              <a:t> </a:t>
            </a:r>
            <a:r>
              <a:rPr sz="1800" b="1" spc="-114" dirty="0">
                <a:solidFill>
                  <a:srgbClr val="212121"/>
                </a:solidFill>
                <a:latin typeface="Tahoma"/>
                <a:cs typeface="Tahoma"/>
              </a:rPr>
              <a:t>both</a:t>
            </a:r>
            <a:r>
              <a:rPr sz="1800" b="1" spc="-40" dirty="0">
                <a:solidFill>
                  <a:srgbClr val="212121"/>
                </a:solidFill>
                <a:latin typeface="Tahoma"/>
                <a:cs typeface="Tahoma"/>
              </a:rPr>
              <a:t> </a:t>
            </a:r>
            <a:r>
              <a:rPr sz="1800" b="1" spc="-120" dirty="0">
                <a:solidFill>
                  <a:srgbClr val="212121"/>
                </a:solidFill>
                <a:latin typeface="Tahoma"/>
                <a:cs typeface="Tahoma"/>
              </a:rPr>
              <a:t>the</a:t>
            </a:r>
            <a:r>
              <a:rPr sz="1800" b="1" spc="-60" dirty="0">
                <a:solidFill>
                  <a:srgbClr val="212121"/>
                </a:solidFill>
                <a:latin typeface="Tahoma"/>
                <a:cs typeface="Tahoma"/>
              </a:rPr>
              <a:t> </a:t>
            </a:r>
            <a:r>
              <a:rPr sz="1800" b="1" spc="-90" dirty="0">
                <a:solidFill>
                  <a:srgbClr val="212121"/>
                </a:solidFill>
                <a:latin typeface="Tahoma"/>
                <a:cs typeface="Tahoma"/>
              </a:rPr>
              <a:t>terms.</a:t>
            </a:r>
            <a:endParaRPr sz="1800">
              <a:latin typeface="Tahoma"/>
              <a:cs typeface="Tahoma"/>
            </a:endParaRPr>
          </a:p>
        </p:txBody>
      </p:sp>
      <p:sp>
        <p:nvSpPr>
          <p:cNvPr id="4" name="object 4"/>
          <p:cNvSpPr txBox="1"/>
          <p:nvPr/>
        </p:nvSpPr>
        <p:spPr>
          <a:xfrm>
            <a:off x="491744" y="1441780"/>
            <a:ext cx="4740275" cy="304419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12121"/>
                </a:solidFill>
                <a:latin typeface="Tahoma"/>
                <a:cs typeface="Tahoma"/>
              </a:rPr>
              <a:t>Generator’s</a:t>
            </a:r>
            <a:r>
              <a:rPr sz="1800" spc="-5" dirty="0">
                <a:solidFill>
                  <a:srgbClr val="212121"/>
                </a:solidFill>
                <a:latin typeface="Tahoma"/>
                <a:cs typeface="Tahoma"/>
              </a:rPr>
              <a:t> </a:t>
            </a:r>
            <a:r>
              <a:rPr sz="1800" spc="-10" dirty="0">
                <a:solidFill>
                  <a:srgbClr val="212121"/>
                </a:solidFill>
                <a:latin typeface="Tahoma"/>
                <a:cs typeface="Tahoma"/>
              </a:rPr>
              <a:t>perspective</a:t>
            </a:r>
            <a:endParaRPr sz="1800">
              <a:latin typeface="Tahoma"/>
              <a:cs typeface="Tahoma"/>
            </a:endParaRPr>
          </a:p>
          <a:p>
            <a:pPr marL="12700" marR="5080">
              <a:lnSpc>
                <a:spcPct val="100000"/>
              </a:lnSpc>
              <a:spcBef>
                <a:spcPts val="5"/>
              </a:spcBef>
            </a:pPr>
            <a:r>
              <a:rPr sz="1800" dirty="0">
                <a:solidFill>
                  <a:srgbClr val="212121"/>
                </a:solidFill>
                <a:latin typeface="Tahoma"/>
                <a:cs typeface="Tahoma"/>
              </a:rPr>
              <a:t>The</a:t>
            </a:r>
            <a:r>
              <a:rPr sz="1800" spc="-60" dirty="0">
                <a:solidFill>
                  <a:srgbClr val="212121"/>
                </a:solidFill>
                <a:latin typeface="Tahoma"/>
                <a:cs typeface="Tahoma"/>
              </a:rPr>
              <a:t> </a:t>
            </a:r>
            <a:r>
              <a:rPr sz="1800" dirty="0">
                <a:solidFill>
                  <a:srgbClr val="212121"/>
                </a:solidFill>
                <a:latin typeface="Tahoma"/>
                <a:cs typeface="Tahoma"/>
              </a:rPr>
              <a:t>Generator</a:t>
            </a:r>
            <a:r>
              <a:rPr sz="1800" spc="-85" dirty="0">
                <a:solidFill>
                  <a:srgbClr val="212121"/>
                </a:solidFill>
                <a:latin typeface="Tahoma"/>
                <a:cs typeface="Tahoma"/>
              </a:rPr>
              <a:t> </a:t>
            </a:r>
            <a:r>
              <a:rPr sz="1800" dirty="0">
                <a:solidFill>
                  <a:srgbClr val="212121"/>
                </a:solidFill>
                <a:latin typeface="Tahoma"/>
                <a:cs typeface="Tahoma"/>
              </a:rPr>
              <a:t>wants</a:t>
            </a:r>
            <a:r>
              <a:rPr sz="1800" spc="-65" dirty="0">
                <a:solidFill>
                  <a:srgbClr val="212121"/>
                </a:solidFill>
                <a:latin typeface="Tahoma"/>
                <a:cs typeface="Tahoma"/>
              </a:rPr>
              <a:t> </a:t>
            </a:r>
            <a:r>
              <a:rPr sz="1800" dirty="0">
                <a:solidFill>
                  <a:srgbClr val="212121"/>
                </a:solidFill>
                <a:latin typeface="Tahoma"/>
                <a:cs typeface="Tahoma"/>
              </a:rPr>
              <a:t>to</a:t>
            </a:r>
            <a:r>
              <a:rPr sz="1800" spc="-30" dirty="0">
                <a:solidFill>
                  <a:srgbClr val="212121"/>
                </a:solidFill>
                <a:latin typeface="Tahoma"/>
                <a:cs typeface="Tahoma"/>
              </a:rPr>
              <a:t> </a:t>
            </a:r>
            <a:r>
              <a:rPr sz="1800" spc="-10" dirty="0">
                <a:solidFill>
                  <a:srgbClr val="212121"/>
                </a:solidFill>
                <a:latin typeface="Tahoma"/>
                <a:cs typeface="Tahoma"/>
              </a:rPr>
              <a:t>minimize</a:t>
            </a:r>
            <a:r>
              <a:rPr sz="1800" spc="-50" dirty="0">
                <a:solidFill>
                  <a:srgbClr val="212121"/>
                </a:solidFill>
                <a:latin typeface="Tahoma"/>
                <a:cs typeface="Tahoma"/>
              </a:rPr>
              <a:t> </a:t>
            </a:r>
            <a:r>
              <a:rPr sz="1800" dirty="0">
                <a:solidFill>
                  <a:srgbClr val="212121"/>
                </a:solidFill>
                <a:latin typeface="Tahoma"/>
                <a:cs typeface="Tahoma"/>
              </a:rPr>
              <a:t>the</a:t>
            </a:r>
            <a:r>
              <a:rPr sz="1800" spc="-50" dirty="0">
                <a:solidFill>
                  <a:srgbClr val="212121"/>
                </a:solidFill>
                <a:latin typeface="Tahoma"/>
                <a:cs typeface="Tahoma"/>
              </a:rPr>
              <a:t> </a:t>
            </a:r>
            <a:r>
              <a:rPr sz="1800" spc="-20" dirty="0">
                <a:solidFill>
                  <a:srgbClr val="212121"/>
                </a:solidFill>
                <a:latin typeface="Tahoma"/>
                <a:cs typeface="Tahoma"/>
              </a:rPr>
              <a:t>loss </a:t>
            </a:r>
            <a:r>
              <a:rPr sz="1800" dirty="0">
                <a:solidFill>
                  <a:srgbClr val="212121"/>
                </a:solidFill>
                <a:latin typeface="Tahoma"/>
                <a:cs typeface="Tahoma"/>
              </a:rPr>
              <a:t>function</a:t>
            </a:r>
            <a:r>
              <a:rPr sz="1800" spc="-65" dirty="0">
                <a:solidFill>
                  <a:srgbClr val="212121"/>
                </a:solidFill>
                <a:latin typeface="Tahoma"/>
                <a:cs typeface="Tahoma"/>
              </a:rPr>
              <a:t> </a:t>
            </a:r>
            <a:r>
              <a:rPr sz="1800" i="1" spc="-65" dirty="0">
                <a:solidFill>
                  <a:srgbClr val="212121"/>
                </a:solidFill>
                <a:latin typeface="Trebuchet MS"/>
                <a:cs typeface="Trebuchet MS"/>
              </a:rPr>
              <a:t>V(D,</a:t>
            </a:r>
            <a:r>
              <a:rPr sz="1800" i="1" spc="-85" dirty="0">
                <a:solidFill>
                  <a:srgbClr val="212121"/>
                </a:solidFill>
                <a:latin typeface="Trebuchet MS"/>
                <a:cs typeface="Trebuchet MS"/>
              </a:rPr>
              <a:t> </a:t>
            </a:r>
            <a:r>
              <a:rPr sz="1800" i="1" spc="-95" dirty="0">
                <a:solidFill>
                  <a:srgbClr val="212121"/>
                </a:solidFill>
                <a:latin typeface="Trebuchet MS"/>
                <a:cs typeface="Trebuchet MS"/>
              </a:rPr>
              <a:t>G)</a:t>
            </a:r>
            <a:r>
              <a:rPr sz="1800" i="1" spc="-80" dirty="0">
                <a:solidFill>
                  <a:srgbClr val="212121"/>
                </a:solidFill>
                <a:latin typeface="Trebuchet MS"/>
                <a:cs typeface="Trebuchet MS"/>
              </a:rPr>
              <a:t> </a:t>
            </a:r>
            <a:r>
              <a:rPr sz="1800" dirty="0">
                <a:solidFill>
                  <a:srgbClr val="212121"/>
                </a:solidFill>
                <a:latin typeface="Tahoma"/>
                <a:cs typeface="Tahoma"/>
              </a:rPr>
              <a:t>by</a:t>
            </a:r>
            <a:r>
              <a:rPr sz="1800" spc="-55" dirty="0">
                <a:solidFill>
                  <a:srgbClr val="212121"/>
                </a:solidFill>
                <a:latin typeface="Tahoma"/>
                <a:cs typeface="Tahoma"/>
              </a:rPr>
              <a:t> </a:t>
            </a:r>
            <a:r>
              <a:rPr sz="1800" spc="-20" dirty="0">
                <a:solidFill>
                  <a:srgbClr val="212121"/>
                </a:solidFill>
                <a:latin typeface="Tahoma"/>
                <a:cs typeface="Tahoma"/>
              </a:rPr>
              <a:t>generating</a:t>
            </a:r>
            <a:r>
              <a:rPr sz="1800" spc="-60" dirty="0">
                <a:solidFill>
                  <a:srgbClr val="212121"/>
                </a:solidFill>
                <a:latin typeface="Tahoma"/>
                <a:cs typeface="Tahoma"/>
              </a:rPr>
              <a:t> </a:t>
            </a:r>
            <a:r>
              <a:rPr sz="1800" spc="-35" dirty="0">
                <a:solidFill>
                  <a:srgbClr val="212121"/>
                </a:solidFill>
                <a:latin typeface="Tahoma"/>
                <a:cs typeface="Tahoma"/>
              </a:rPr>
              <a:t>images</a:t>
            </a:r>
            <a:r>
              <a:rPr sz="1800" spc="-65" dirty="0">
                <a:solidFill>
                  <a:srgbClr val="212121"/>
                </a:solidFill>
                <a:latin typeface="Tahoma"/>
                <a:cs typeface="Tahoma"/>
              </a:rPr>
              <a:t> </a:t>
            </a:r>
            <a:r>
              <a:rPr sz="1800" dirty="0">
                <a:solidFill>
                  <a:srgbClr val="212121"/>
                </a:solidFill>
                <a:latin typeface="Tahoma"/>
                <a:cs typeface="Tahoma"/>
              </a:rPr>
              <a:t>that</a:t>
            </a:r>
            <a:r>
              <a:rPr sz="1800" spc="-50" dirty="0">
                <a:solidFill>
                  <a:srgbClr val="212121"/>
                </a:solidFill>
                <a:latin typeface="Tahoma"/>
                <a:cs typeface="Tahoma"/>
              </a:rPr>
              <a:t> </a:t>
            </a:r>
            <a:r>
              <a:rPr sz="1800" spc="-20" dirty="0">
                <a:solidFill>
                  <a:srgbClr val="212121"/>
                </a:solidFill>
                <a:latin typeface="Tahoma"/>
                <a:cs typeface="Tahoma"/>
              </a:rPr>
              <a:t>look </a:t>
            </a:r>
            <a:r>
              <a:rPr sz="1800" dirty="0">
                <a:solidFill>
                  <a:srgbClr val="212121"/>
                </a:solidFill>
                <a:latin typeface="Tahoma"/>
                <a:cs typeface="Tahoma"/>
              </a:rPr>
              <a:t>like</a:t>
            </a:r>
            <a:r>
              <a:rPr sz="1800" spc="-50" dirty="0">
                <a:solidFill>
                  <a:srgbClr val="212121"/>
                </a:solidFill>
                <a:latin typeface="Tahoma"/>
                <a:cs typeface="Tahoma"/>
              </a:rPr>
              <a:t> </a:t>
            </a:r>
            <a:r>
              <a:rPr sz="1800" spc="-10" dirty="0">
                <a:solidFill>
                  <a:srgbClr val="212121"/>
                </a:solidFill>
                <a:latin typeface="Tahoma"/>
                <a:cs typeface="Tahoma"/>
              </a:rPr>
              <a:t>real</a:t>
            </a:r>
            <a:r>
              <a:rPr sz="1800" spc="-75" dirty="0">
                <a:solidFill>
                  <a:srgbClr val="212121"/>
                </a:solidFill>
                <a:latin typeface="Tahoma"/>
                <a:cs typeface="Tahoma"/>
              </a:rPr>
              <a:t> </a:t>
            </a:r>
            <a:r>
              <a:rPr sz="1800" spc="-35" dirty="0">
                <a:solidFill>
                  <a:srgbClr val="212121"/>
                </a:solidFill>
                <a:latin typeface="Tahoma"/>
                <a:cs typeface="Tahoma"/>
              </a:rPr>
              <a:t>images</a:t>
            </a:r>
            <a:r>
              <a:rPr sz="1800" spc="-60" dirty="0">
                <a:solidFill>
                  <a:srgbClr val="212121"/>
                </a:solidFill>
                <a:latin typeface="Tahoma"/>
                <a:cs typeface="Tahoma"/>
              </a:rPr>
              <a:t> </a:t>
            </a:r>
            <a:r>
              <a:rPr sz="1800" spc="-10" dirty="0">
                <a:solidFill>
                  <a:srgbClr val="212121"/>
                </a:solidFill>
                <a:latin typeface="Tahoma"/>
                <a:cs typeface="Tahoma"/>
              </a:rPr>
              <a:t>and</a:t>
            </a:r>
            <a:r>
              <a:rPr sz="1800" spc="-65" dirty="0">
                <a:solidFill>
                  <a:srgbClr val="212121"/>
                </a:solidFill>
                <a:latin typeface="Tahoma"/>
                <a:cs typeface="Tahoma"/>
              </a:rPr>
              <a:t> </a:t>
            </a:r>
            <a:r>
              <a:rPr sz="1800" dirty="0">
                <a:solidFill>
                  <a:srgbClr val="212121"/>
                </a:solidFill>
                <a:latin typeface="Tahoma"/>
                <a:cs typeface="Tahoma"/>
              </a:rPr>
              <a:t>tries</a:t>
            </a:r>
            <a:r>
              <a:rPr sz="1800" spc="-65" dirty="0">
                <a:solidFill>
                  <a:srgbClr val="212121"/>
                </a:solidFill>
                <a:latin typeface="Tahoma"/>
                <a:cs typeface="Tahoma"/>
              </a:rPr>
              <a:t> </a:t>
            </a:r>
            <a:r>
              <a:rPr sz="1800" dirty="0">
                <a:solidFill>
                  <a:srgbClr val="212121"/>
                </a:solidFill>
                <a:latin typeface="Tahoma"/>
                <a:cs typeface="Tahoma"/>
              </a:rPr>
              <a:t>to</a:t>
            </a:r>
            <a:r>
              <a:rPr sz="1800" spc="-65" dirty="0">
                <a:solidFill>
                  <a:srgbClr val="212121"/>
                </a:solidFill>
                <a:latin typeface="Tahoma"/>
                <a:cs typeface="Tahoma"/>
              </a:rPr>
              <a:t> </a:t>
            </a:r>
            <a:r>
              <a:rPr sz="1800" dirty="0">
                <a:solidFill>
                  <a:srgbClr val="212121"/>
                </a:solidFill>
                <a:latin typeface="Tahoma"/>
                <a:cs typeface="Tahoma"/>
              </a:rPr>
              <a:t>fool</a:t>
            </a:r>
            <a:r>
              <a:rPr sz="1800" spc="-65" dirty="0">
                <a:solidFill>
                  <a:srgbClr val="212121"/>
                </a:solidFill>
                <a:latin typeface="Tahoma"/>
                <a:cs typeface="Tahoma"/>
              </a:rPr>
              <a:t> </a:t>
            </a:r>
            <a:r>
              <a:rPr sz="1800" spc="-25" dirty="0">
                <a:solidFill>
                  <a:srgbClr val="212121"/>
                </a:solidFill>
                <a:latin typeface="Tahoma"/>
                <a:cs typeface="Tahoma"/>
              </a:rPr>
              <a:t>the </a:t>
            </a:r>
            <a:r>
              <a:rPr sz="1800" spc="-10" dirty="0">
                <a:solidFill>
                  <a:srgbClr val="212121"/>
                </a:solidFill>
                <a:latin typeface="Tahoma"/>
                <a:cs typeface="Tahoma"/>
              </a:rPr>
              <a:t>Discriminator</a:t>
            </a:r>
            <a:r>
              <a:rPr sz="1800" i="1" spc="-10" dirty="0">
                <a:solidFill>
                  <a:srgbClr val="212121"/>
                </a:solidFill>
                <a:latin typeface="Trebuchet MS"/>
                <a:cs typeface="Trebuchet MS"/>
              </a:rPr>
              <a:t>.</a:t>
            </a:r>
            <a:endParaRPr sz="1800">
              <a:latin typeface="Trebuchet MS"/>
              <a:cs typeface="Trebuchet MS"/>
            </a:endParaRPr>
          </a:p>
          <a:p>
            <a:pPr marL="12700" marR="21590">
              <a:lnSpc>
                <a:spcPct val="100000"/>
              </a:lnSpc>
            </a:pPr>
            <a:r>
              <a:rPr sz="1800" dirty="0">
                <a:solidFill>
                  <a:srgbClr val="212121"/>
                </a:solidFill>
                <a:latin typeface="Tahoma"/>
                <a:cs typeface="Tahoma"/>
              </a:rPr>
              <a:t>The</a:t>
            </a:r>
            <a:r>
              <a:rPr sz="1800" spc="-80" dirty="0">
                <a:solidFill>
                  <a:srgbClr val="212121"/>
                </a:solidFill>
                <a:latin typeface="Tahoma"/>
                <a:cs typeface="Tahoma"/>
              </a:rPr>
              <a:t> </a:t>
            </a:r>
            <a:r>
              <a:rPr sz="1800" dirty="0">
                <a:solidFill>
                  <a:srgbClr val="212121"/>
                </a:solidFill>
                <a:latin typeface="Tahoma"/>
                <a:cs typeface="Tahoma"/>
              </a:rPr>
              <a:t>second</a:t>
            </a:r>
            <a:r>
              <a:rPr sz="1800" spc="-80" dirty="0">
                <a:solidFill>
                  <a:srgbClr val="212121"/>
                </a:solidFill>
                <a:latin typeface="Tahoma"/>
                <a:cs typeface="Tahoma"/>
              </a:rPr>
              <a:t> </a:t>
            </a:r>
            <a:r>
              <a:rPr sz="1800" dirty="0">
                <a:solidFill>
                  <a:srgbClr val="212121"/>
                </a:solidFill>
                <a:latin typeface="Tahoma"/>
                <a:cs typeface="Tahoma"/>
              </a:rPr>
              <a:t>term</a:t>
            </a:r>
            <a:r>
              <a:rPr sz="1800" spc="-85" dirty="0">
                <a:solidFill>
                  <a:srgbClr val="212121"/>
                </a:solidFill>
                <a:latin typeface="Tahoma"/>
                <a:cs typeface="Tahoma"/>
              </a:rPr>
              <a:t> </a:t>
            </a:r>
            <a:r>
              <a:rPr sz="1800" spc="-25" dirty="0">
                <a:solidFill>
                  <a:srgbClr val="212121"/>
                </a:solidFill>
                <a:latin typeface="Tahoma"/>
                <a:cs typeface="Tahoma"/>
              </a:rPr>
              <a:t>suggests</a:t>
            </a:r>
            <a:r>
              <a:rPr sz="1800" spc="-95" dirty="0">
                <a:solidFill>
                  <a:srgbClr val="212121"/>
                </a:solidFill>
                <a:latin typeface="Tahoma"/>
                <a:cs typeface="Tahoma"/>
              </a:rPr>
              <a:t> </a:t>
            </a:r>
            <a:r>
              <a:rPr sz="1800" dirty="0">
                <a:solidFill>
                  <a:srgbClr val="212121"/>
                </a:solidFill>
                <a:latin typeface="Tahoma"/>
                <a:cs typeface="Tahoma"/>
              </a:rPr>
              <a:t>that</a:t>
            </a:r>
            <a:r>
              <a:rPr sz="1800" spc="-80" dirty="0">
                <a:solidFill>
                  <a:srgbClr val="212121"/>
                </a:solidFill>
                <a:latin typeface="Tahoma"/>
                <a:cs typeface="Tahoma"/>
              </a:rPr>
              <a:t> </a:t>
            </a:r>
            <a:r>
              <a:rPr sz="1800" dirty="0">
                <a:solidFill>
                  <a:srgbClr val="212121"/>
                </a:solidFill>
                <a:latin typeface="Tahoma"/>
                <a:cs typeface="Tahoma"/>
              </a:rPr>
              <a:t>the</a:t>
            </a:r>
            <a:r>
              <a:rPr sz="1800" spc="-90" dirty="0">
                <a:solidFill>
                  <a:srgbClr val="212121"/>
                </a:solidFill>
                <a:latin typeface="Tahoma"/>
                <a:cs typeface="Tahoma"/>
              </a:rPr>
              <a:t> </a:t>
            </a:r>
            <a:r>
              <a:rPr sz="1800" spc="-10" dirty="0">
                <a:solidFill>
                  <a:srgbClr val="212121"/>
                </a:solidFill>
                <a:latin typeface="Tahoma"/>
                <a:cs typeface="Tahoma"/>
              </a:rPr>
              <a:t>Generator </a:t>
            </a:r>
            <a:r>
              <a:rPr sz="1800" dirty="0">
                <a:solidFill>
                  <a:srgbClr val="212121"/>
                </a:solidFill>
                <a:latin typeface="Tahoma"/>
                <a:cs typeface="Tahoma"/>
              </a:rPr>
              <a:t>wants</a:t>
            </a:r>
            <a:r>
              <a:rPr sz="1800" spc="-85"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spc="-25" dirty="0">
                <a:solidFill>
                  <a:srgbClr val="212121"/>
                </a:solidFill>
                <a:latin typeface="Tahoma"/>
                <a:cs typeface="Tahoma"/>
              </a:rPr>
              <a:t>make</a:t>
            </a:r>
            <a:r>
              <a:rPr sz="1800" spc="-65" dirty="0">
                <a:solidFill>
                  <a:srgbClr val="212121"/>
                </a:solidFill>
                <a:latin typeface="Tahoma"/>
                <a:cs typeface="Tahoma"/>
              </a:rPr>
              <a:t> </a:t>
            </a:r>
            <a:r>
              <a:rPr sz="1800" spc="-90" dirty="0">
                <a:solidFill>
                  <a:srgbClr val="212121"/>
                </a:solidFill>
                <a:latin typeface="Tahoma"/>
                <a:cs typeface="Tahoma"/>
              </a:rPr>
              <a:t>D(G(z)) </a:t>
            </a:r>
            <a:r>
              <a:rPr sz="1800" spc="-50" dirty="0">
                <a:solidFill>
                  <a:srgbClr val="212121"/>
                </a:solidFill>
                <a:latin typeface="Tahoma"/>
                <a:cs typeface="Tahoma"/>
              </a:rPr>
              <a:t>as</a:t>
            </a:r>
            <a:r>
              <a:rPr sz="1800" spc="-65" dirty="0">
                <a:solidFill>
                  <a:srgbClr val="212121"/>
                </a:solidFill>
                <a:latin typeface="Tahoma"/>
                <a:cs typeface="Tahoma"/>
              </a:rPr>
              <a:t> </a:t>
            </a:r>
            <a:r>
              <a:rPr sz="1800" dirty="0">
                <a:solidFill>
                  <a:srgbClr val="212121"/>
                </a:solidFill>
                <a:latin typeface="Tahoma"/>
                <a:cs typeface="Tahoma"/>
              </a:rPr>
              <a:t>close</a:t>
            </a:r>
            <a:r>
              <a:rPr sz="1800" spc="-70" dirty="0">
                <a:solidFill>
                  <a:srgbClr val="212121"/>
                </a:solidFill>
                <a:latin typeface="Tahoma"/>
                <a:cs typeface="Tahoma"/>
              </a:rPr>
              <a:t> </a:t>
            </a:r>
            <a:r>
              <a:rPr sz="1800" dirty="0">
                <a:solidFill>
                  <a:srgbClr val="212121"/>
                </a:solidFill>
                <a:latin typeface="Tahoma"/>
                <a:cs typeface="Tahoma"/>
              </a:rPr>
              <a:t>to</a:t>
            </a:r>
            <a:r>
              <a:rPr sz="1800" spc="-60" dirty="0">
                <a:solidFill>
                  <a:srgbClr val="212121"/>
                </a:solidFill>
                <a:latin typeface="Tahoma"/>
                <a:cs typeface="Tahoma"/>
              </a:rPr>
              <a:t> </a:t>
            </a:r>
            <a:r>
              <a:rPr sz="1800" dirty="0">
                <a:solidFill>
                  <a:srgbClr val="212121"/>
                </a:solidFill>
                <a:latin typeface="Tahoma"/>
                <a:cs typeface="Tahoma"/>
              </a:rPr>
              <a:t>1</a:t>
            </a:r>
            <a:r>
              <a:rPr sz="1800" spc="-65" dirty="0">
                <a:solidFill>
                  <a:srgbClr val="212121"/>
                </a:solidFill>
                <a:latin typeface="Tahoma"/>
                <a:cs typeface="Tahoma"/>
              </a:rPr>
              <a:t> </a:t>
            </a:r>
            <a:r>
              <a:rPr sz="1800" spc="-30" dirty="0">
                <a:solidFill>
                  <a:srgbClr val="212121"/>
                </a:solidFill>
                <a:latin typeface="Tahoma"/>
                <a:cs typeface="Tahoma"/>
              </a:rPr>
              <a:t>(instead</a:t>
            </a:r>
            <a:r>
              <a:rPr sz="1800" spc="-70" dirty="0">
                <a:solidFill>
                  <a:srgbClr val="212121"/>
                </a:solidFill>
                <a:latin typeface="Tahoma"/>
                <a:cs typeface="Tahoma"/>
              </a:rPr>
              <a:t> </a:t>
            </a:r>
            <a:r>
              <a:rPr sz="1800" spc="-25" dirty="0">
                <a:solidFill>
                  <a:srgbClr val="212121"/>
                </a:solidFill>
                <a:latin typeface="Tahoma"/>
                <a:cs typeface="Tahoma"/>
              </a:rPr>
              <a:t>of </a:t>
            </a:r>
            <a:r>
              <a:rPr sz="1800" spc="-85" dirty="0">
                <a:solidFill>
                  <a:srgbClr val="212121"/>
                </a:solidFill>
                <a:latin typeface="Tahoma"/>
                <a:cs typeface="Tahoma"/>
              </a:rPr>
              <a:t>0)</a:t>
            </a:r>
            <a:r>
              <a:rPr sz="1800" spc="-95" dirty="0">
                <a:solidFill>
                  <a:srgbClr val="212121"/>
                </a:solidFill>
                <a:latin typeface="Tahoma"/>
                <a:cs typeface="Tahoma"/>
              </a:rPr>
              <a:t> </a:t>
            </a:r>
            <a:r>
              <a:rPr sz="1800" spc="-50" dirty="0">
                <a:solidFill>
                  <a:srgbClr val="212121"/>
                </a:solidFill>
                <a:latin typeface="Tahoma"/>
                <a:cs typeface="Tahoma"/>
              </a:rPr>
              <a:t>as</a:t>
            </a:r>
            <a:r>
              <a:rPr sz="1800" spc="-90" dirty="0">
                <a:solidFill>
                  <a:srgbClr val="212121"/>
                </a:solidFill>
                <a:latin typeface="Tahoma"/>
                <a:cs typeface="Tahoma"/>
              </a:rPr>
              <a:t> </a:t>
            </a:r>
            <a:r>
              <a:rPr sz="1800" dirty="0">
                <a:solidFill>
                  <a:srgbClr val="212121"/>
                </a:solidFill>
                <a:latin typeface="Tahoma"/>
                <a:cs typeface="Tahoma"/>
              </a:rPr>
              <a:t>possible</a:t>
            </a:r>
            <a:r>
              <a:rPr sz="1800" spc="-90" dirty="0">
                <a:solidFill>
                  <a:srgbClr val="212121"/>
                </a:solidFill>
                <a:latin typeface="Tahoma"/>
                <a:cs typeface="Tahoma"/>
              </a:rPr>
              <a:t> </a:t>
            </a:r>
            <a:r>
              <a:rPr sz="1800" spc="-10" dirty="0">
                <a:solidFill>
                  <a:srgbClr val="212121"/>
                </a:solidFill>
                <a:latin typeface="Tahoma"/>
                <a:cs typeface="Tahoma"/>
              </a:rPr>
              <a:t>and</a:t>
            </a:r>
            <a:r>
              <a:rPr sz="1800" spc="-95" dirty="0">
                <a:solidFill>
                  <a:srgbClr val="212121"/>
                </a:solidFill>
                <a:latin typeface="Tahoma"/>
                <a:cs typeface="Tahoma"/>
              </a:rPr>
              <a:t> </a:t>
            </a:r>
            <a:r>
              <a:rPr sz="1800" dirty="0">
                <a:solidFill>
                  <a:srgbClr val="212121"/>
                </a:solidFill>
                <a:latin typeface="Tahoma"/>
                <a:cs typeface="Tahoma"/>
              </a:rPr>
              <a:t>thus</a:t>
            </a:r>
            <a:r>
              <a:rPr sz="1800" spc="-110" dirty="0">
                <a:solidFill>
                  <a:srgbClr val="212121"/>
                </a:solidFill>
                <a:latin typeface="Tahoma"/>
                <a:cs typeface="Tahoma"/>
              </a:rPr>
              <a:t> </a:t>
            </a:r>
            <a:r>
              <a:rPr sz="1800" spc="-10" dirty="0">
                <a:solidFill>
                  <a:srgbClr val="212121"/>
                </a:solidFill>
                <a:latin typeface="Tahoma"/>
                <a:cs typeface="Tahoma"/>
              </a:rPr>
              <a:t>minimize</a:t>
            </a:r>
            <a:r>
              <a:rPr sz="1800" spc="-90" dirty="0">
                <a:solidFill>
                  <a:srgbClr val="212121"/>
                </a:solidFill>
                <a:latin typeface="Tahoma"/>
                <a:cs typeface="Tahoma"/>
              </a:rPr>
              <a:t> </a:t>
            </a:r>
            <a:r>
              <a:rPr sz="1800" dirty="0">
                <a:solidFill>
                  <a:srgbClr val="212121"/>
                </a:solidFill>
                <a:latin typeface="Tahoma"/>
                <a:cs typeface="Tahoma"/>
              </a:rPr>
              <a:t>the</a:t>
            </a:r>
            <a:r>
              <a:rPr sz="1800" spc="-100" dirty="0">
                <a:solidFill>
                  <a:srgbClr val="212121"/>
                </a:solidFill>
                <a:latin typeface="Tahoma"/>
                <a:cs typeface="Tahoma"/>
              </a:rPr>
              <a:t> </a:t>
            </a:r>
            <a:r>
              <a:rPr sz="1800" spc="-20" dirty="0">
                <a:solidFill>
                  <a:srgbClr val="212121"/>
                </a:solidFill>
                <a:latin typeface="Tahoma"/>
                <a:cs typeface="Tahoma"/>
              </a:rPr>
              <a:t>term </a:t>
            </a:r>
            <a:r>
              <a:rPr sz="1800" dirty="0">
                <a:solidFill>
                  <a:srgbClr val="212121"/>
                </a:solidFill>
                <a:latin typeface="Tahoma"/>
                <a:cs typeface="Tahoma"/>
              </a:rPr>
              <a:t>eventually</a:t>
            </a:r>
            <a:r>
              <a:rPr sz="1800" spc="-80" dirty="0">
                <a:solidFill>
                  <a:srgbClr val="212121"/>
                </a:solidFill>
                <a:latin typeface="Tahoma"/>
                <a:cs typeface="Tahoma"/>
              </a:rPr>
              <a:t> </a:t>
            </a:r>
            <a:r>
              <a:rPr sz="1800" spc="-85" dirty="0">
                <a:solidFill>
                  <a:srgbClr val="212121"/>
                </a:solidFill>
                <a:latin typeface="Tahoma"/>
                <a:cs typeface="Tahoma"/>
              </a:rPr>
              <a:t>(1</a:t>
            </a:r>
            <a:r>
              <a:rPr sz="1800" spc="-80" dirty="0">
                <a:solidFill>
                  <a:srgbClr val="212121"/>
                </a:solidFill>
                <a:latin typeface="Tahoma"/>
                <a:cs typeface="Tahoma"/>
              </a:rPr>
              <a:t> </a:t>
            </a:r>
            <a:r>
              <a:rPr sz="1800" dirty="0">
                <a:solidFill>
                  <a:srgbClr val="212121"/>
                </a:solidFill>
                <a:latin typeface="Tahoma"/>
                <a:cs typeface="Tahoma"/>
              </a:rPr>
              <a:t>–</a:t>
            </a:r>
            <a:r>
              <a:rPr sz="1800" spc="-65" dirty="0">
                <a:solidFill>
                  <a:srgbClr val="212121"/>
                </a:solidFill>
                <a:latin typeface="Tahoma"/>
                <a:cs typeface="Tahoma"/>
              </a:rPr>
              <a:t> </a:t>
            </a:r>
            <a:r>
              <a:rPr sz="1800" spc="-20" dirty="0">
                <a:solidFill>
                  <a:srgbClr val="212121"/>
                </a:solidFill>
                <a:latin typeface="Tahoma"/>
                <a:cs typeface="Tahoma"/>
              </a:rPr>
              <a:t>larger</a:t>
            </a:r>
            <a:r>
              <a:rPr sz="1800" spc="-75" dirty="0">
                <a:solidFill>
                  <a:srgbClr val="212121"/>
                </a:solidFill>
                <a:latin typeface="Tahoma"/>
                <a:cs typeface="Tahoma"/>
              </a:rPr>
              <a:t> </a:t>
            </a:r>
            <a:r>
              <a:rPr sz="1800" spc="-10" dirty="0">
                <a:solidFill>
                  <a:srgbClr val="212121"/>
                </a:solidFill>
                <a:latin typeface="Tahoma"/>
                <a:cs typeface="Tahoma"/>
              </a:rPr>
              <a:t>number</a:t>
            </a:r>
            <a:r>
              <a:rPr sz="1800" spc="-95" dirty="0">
                <a:solidFill>
                  <a:srgbClr val="212121"/>
                </a:solidFill>
                <a:latin typeface="Tahoma"/>
                <a:cs typeface="Tahoma"/>
              </a:rPr>
              <a:t> </a:t>
            </a:r>
            <a:r>
              <a:rPr sz="1800" dirty="0">
                <a:solidFill>
                  <a:srgbClr val="212121"/>
                </a:solidFill>
                <a:latin typeface="Tahoma"/>
                <a:cs typeface="Tahoma"/>
              </a:rPr>
              <a:t>will</a:t>
            </a:r>
            <a:r>
              <a:rPr sz="1800" spc="-80" dirty="0">
                <a:solidFill>
                  <a:srgbClr val="212121"/>
                </a:solidFill>
                <a:latin typeface="Tahoma"/>
                <a:cs typeface="Tahoma"/>
              </a:rPr>
              <a:t> </a:t>
            </a:r>
            <a:r>
              <a:rPr sz="1800" dirty="0">
                <a:solidFill>
                  <a:srgbClr val="212121"/>
                </a:solidFill>
                <a:latin typeface="Tahoma"/>
                <a:cs typeface="Tahoma"/>
              </a:rPr>
              <a:t>result</a:t>
            </a:r>
            <a:r>
              <a:rPr sz="1800" spc="-80" dirty="0">
                <a:solidFill>
                  <a:srgbClr val="212121"/>
                </a:solidFill>
                <a:latin typeface="Tahoma"/>
                <a:cs typeface="Tahoma"/>
              </a:rPr>
              <a:t> </a:t>
            </a:r>
            <a:r>
              <a:rPr sz="1800" dirty="0">
                <a:solidFill>
                  <a:srgbClr val="212121"/>
                </a:solidFill>
                <a:latin typeface="Tahoma"/>
                <a:cs typeface="Tahoma"/>
              </a:rPr>
              <a:t>in</a:t>
            </a:r>
            <a:r>
              <a:rPr sz="1800" spc="-75" dirty="0">
                <a:solidFill>
                  <a:srgbClr val="212121"/>
                </a:solidFill>
                <a:latin typeface="Tahoma"/>
                <a:cs typeface="Tahoma"/>
              </a:rPr>
              <a:t> </a:t>
            </a:r>
            <a:r>
              <a:rPr sz="1800" spc="-50" dirty="0">
                <a:solidFill>
                  <a:srgbClr val="212121"/>
                </a:solidFill>
                <a:latin typeface="Tahoma"/>
                <a:cs typeface="Tahoma"/>
              </a:rPr>
              <a:t>a </a:t>
            </a:r>
            <a:r>
              <a:rPr sz="1800" spc="-20" dirty="0">
                <a:solidFill>
                  <a:srgbClr val="212121"/>
                </a:solidFill>
                <a:latin typeface="Tahoma"/>
                <a:cs typeface="Tahoma"/>
              </a:rPr>
              <a:t>smaller</a:t>
            </a:r>
            <a:r>
              <a:rPr sz="1800" spc="-60" dirty="0">
                <a:solidFill>
                  <a:srgbClr val="212121"/>
                </a:solidFill>
                <a:latin typeface="Tahoma"/>
                <a:cs typeface="Tahoma"/>
              </a:rPr>
              <a:t> </a:t>
            </a:r>
            <a:r>
              <a:rPr sz="1800" spc="-50" dirty="0">
                <a:solidFill>
                  <a:srgbClr val="212121"/>
                </a:solidFill>
                <a:latin typeface="Tahoma"/>
                <a:cs typeface="Tahoma"/>
              </a:rPr>
              <a:t>number).</a:t>
            </a:r>
            <a:r>
              <a:rPr sz="1800" spc="-75" dirty="0">
                <a:solidFill>
                  <a:srgbClr val="212121"/>
                </a:solidFill>
                <a:latin typeface="Tahoma"/>
                <a:cs typeface="Tahoma"/>
              </a:rPr>
              <a:t> </a:t>
            </a:r>
            <a:r>
              <a:rPr sz="1800" dirty="0">
                <a:solidFill>
                  <a:srgbClr val="212121"/>
                </a:solidFill>
                <a:latin typeface="Tahoma"/>
                <a:cs typeface="Tahoma"/>
              </a:rPr>
              <a:t>So</a:t>
            </a:r>
            <a:r>
              <a:rPr sz="1800" spc="-60" dirty="0">
                <a:solidFill>
                  <a:srgbClr val="212121"/>
                </a:solidFill>
                <a:latin typeface="Tahoma"/>
                <a:cs typeface="Tahoma"/>
              </a:rPr>
              <a:t> </a:t>
            </a:r>
            <a:r>
              <a:rPr sz="1800" dirty="0">
                <a:solidFill>
                  <a:srgbClr val="212121"/>
                </a:solidFill>
                <a:latin typeface="Tahoma"/>
                <a:cs typeface="Tahoma"/>
              </a:rPr>
              <a:t>that</a:t>
            </a:r>
            <a:r>
              <a:rPr sz="1800" spc="-55" dirty="0">
                <a:solidFill>
                  <a:srgbClr val="212121"/>
                </a:solidFill>
                <a:latin typeface="Tahoma"/>
                <a:cs typeface="Tahoma"/>
              </a:rPr>
              <a:t> </a:t>
            </a:r>
            <a:r>
              <a:rPr sz="1800" dirty="0">
                <a:solidFill>
                  <a:srgbClr val="212121"/>
                </a:solidFill>
                <a:latin typeface="Tahoma"/>
                <a:cs typeface="Tahoma"/>
              </a:rPr>
              <a:t>the</a:t>
            </a:r>
            <a:r>
              <a:rPr sz="1800" spc="-50" dirty="0">
                <a:solidFill>
                  <a:srgbClr val="212121"/>
                </a:solidFill>
                <a:latin typeface="Tahoma"/>
                <a:cs typeface="Tahoma"/>
              </a:rPr>
              <a:t> </a:t>
            </a:r>
            <a:r>
              <a:rPr sz="1800" dirty="0">
                <a:solidFill>
                  <a:srgbClr val="212121"/>
                </a:solidFill>
                <a:latin typeface="Tahoma"/>
                <a:cs typeface="Tahoma"/>
              </a:rPr>
              <a:t>Discriminator</a:t>
            </a:r>
            <a:r>
              <a:rPr sz="1800" spc="-50" dirty="0">
                <a:solidFill>
                  <a:srgbClr val="212121"/>
                </a:solidFill>
                <a:latin typeface="Tahoma"/>
                <a:cs typeface="Tahoma"/>
              </a:rPr>
              <a:t> </a:t>
            </a:r>
            <a:r>
              <a:rPr sz="1800" spc="-10" dirty="0">
                <a:solidFill>
                  <a:srgbClr val="212121"/>
                </a:solidFill>
                <a:latin typeface="Tahoma"/>
                <a:cs typeface="Tahoma"/>
              </a:rPr>
              <a:t>fails and</a:t>
            </a:r>
            <a:r>
              <a:rPr sz="1800" spc="-105" dirty="0">
                <a:solidFill>
                  <a:srgbClr val="212121"/>
                </a:solidFill>
                <a:latin typeface="Tahoma"/>
                <a:cs typeface="Tahoma"/>
              </a:rPr>
              <a:t> </a:t>
            </a:r>
            <a:r>
              <a:rPr sz="1800" b="1" spc="-120" dirty="0">
                <a:solidFill>
                  <a:srgbClr val="212121"/>
                </a:solidFill>
                <a:latin typeface="Tahoma"/>
                <a:cs typeface="Tahoma"/>
              </a:rPr>
              <a:t>misclassifies</a:t>
            </a:r>
            <a:r>
              <a:rPr sz="1800" b="1" spc="-50" dirty="0">
                <a:solidFill>
                  <a:srgbClr val="212121"/>
                </a:solidFill>
                <a:latin typeface="Tahoma"/>
                <a:cs typeface="Tahoma"/>
              </a:rPr>
              <a:t> </a:t>
            </a:r>
            <a:r>
              <a:rPr sz="1800" dirty="0">
                <a:solidFill>
                  <a:srgbClr val="212121"/>
                </a:solidFill>
                <a:latin typeface="Tahoma"/>
                <a:cs typeface="Tahoma"/>
              </a:rPr>
              <a:t>the</a:t>
            </a:r>
            <a:r>
              <a:rPr sz="1800" spc="-100" dirty="0">
                <a:solidFill>
                  <a:srgbClr val="212121"/>
                </a:solidFill>
                <a:latin typeface="Tahoma"/>
                <a:cs typeface="Tahoma"/>
              </a:rPr>
              <a:t> </a:t>
            </a:r>
            <a:r>
              <a:rPr sz="1800" spc="-10" dirty="0">
                <a:solidFill>
                  <a:srgbClr val="212121"/>
                </a:solidFill>
                <a:latin typeface="Tahoma"/>
                <a:cs typeface="Tahoma"/>
              </a:rPr>
              <a:t>images.</a:t>
            </a:r>
            <a:endParaRPr sz="1800">
              <a:latin typeface="Tahoma"/>
              <a:cs typeface="Tahoma"/>
            </a:endParaRPr>
          </a:p>
        </p:txBody>
      </p:sp>
      <p:sp>
        <p:nvSpPr>
          <p:cNvPr id="5" name="object 5"/>
          <p:cNvSpPr txBox="1"/>
          <p:nvPr/>
        </p:nvSpPr>
        <p:spPr>
          <a:xfrm>
            <a:off x="231140" y="5155438"/>
            <a:ext cx="5037455" cy="565150"/>
          </a:xfrm>
          <a:prstGeom prst="rect">
            <a:avLst/>
          </a:prstGeom>
        </p:spPr>
        <p:txBody>
          <a:bodyPr vert="horz" wrap="square" lIns="0" tIns="28575" rIns="0" bIns="0" rtlCol="0">
            <a:spAutoFit/>
          </a:bodyPr>
          <a:lstStyle/>
          <a:p>
            <a:pPr marL="12700" marR="5080">
              <a:lnSpc>
                <a:spcPts val="2090"/>
              </a:lnSpc>
              <a:spcBef>
                <a:spcPts val="225"/>
              </a:spcBef>
            </a:pPr>
            <a:r>
              <a:rPr sz="1800" b="1" spc="-120" dirty="0">
                <a:solidFill>
                  <a:srgbClr val="212121"/>
                </a:solidFill>
                <a:latin typeface="Tahoma"/>
                <a:cs typeface="Tahoma"/>
              </a:rPr>
              <a:t>Thus,</a:t>
            </a:r>
            <a:r>
              <a:rPr sz="1800" b="1" spc="-95" dirty="0">
                <a:solidFill>
                  <a:srgbClr val="212121"/>
                </a:solidFill>
                <a:latin typeface="Tahoma"/>
                <a:cs typeface="Tahoma"/>
              </a:rPr>
              <a:t> </a:t>
            </a:r>
            <a:r>
              <a:rPr sz="1800" b="1" spc="-100" dirty="0">
                <a:solidFill>
                  <a:srgbClr val="212121"/>
                </a:solidFill>
                <a:latin typeface="Tahoma"/>
                <a:cs typeface="Tahoma"/>
              </a:rPr>
              <a:t>The</a:t>
            </a:r>
            <a:r>
              <a:rPr sz="1800" b="1" spc="-85" dirty="0">
                <a:solidFill>
                  <a:srgbClr val="212121"/>
                </a:solidFill>
                <a:latin typeface="Tahoma"/>
                <a:cs typeface="Tahoma"/>
              </a:rPr>
              <a:t> </a:t>
            </a:r>
            <a:r>
              <a:rPr sz="1800" b="1" spc="-114" dirty="0">
                <a:solidFill>
                  <a:srgbClr val="212121"/>
                </a:solidFill>
                <a:latin typeface="Tahoma"/>
                <a:cs typeface="Tahoma"/>
              </a:rPr>
              <a:t>Generator</a:t>
            </a:r>
            <a:r>
              <a:rPr sz="1800" b="1" spc="-50" dirty="0">
                <a:solidFill>
                  <a:srgbClr val="212121"/>
                </a:solidFill>
                <a:latin typeface="Tahoma"/>
                <a:cs typeface="Tahoma"/>
              </a:rPr>
              <a:t> </a:t>
            </a:r>
            <a:r>
              <a:rPr sz="1800" b="1" spc="-114" dirty="0">
                <a:solidFill>
                  <a:srgbClr val="212121"/>
                </a:solidFill>
                <a:latin typeface="Tahoma"/>
                <a:cs typeface="Tahoma"/>
              </a:rPr>
              <a:t>tries</a:t>
            </a:r>
            <a:r>
              <a:rPr sz="1800" b="1" spc="-55" dirty="0">
                <a:solidFill>
                  <a:srgbClr val="212121"/>
                </a:solidFill>
                <a:latin typeface="Tahoma"/>
                <a:cs typeface="Tahoma"/>
              </a:rPr>
              <a:t> </a:t>
            </a:r>
            <a:r>
              <a:rPr sz="1800" b="1" spc="-90" dirty="0">
                <a:solidFill>
                  <a:srgbClr val="212121"/>
                </a:solidFill>
                <a:latin typeface="Tahoma"/>
                <a:cs typeface="Tahoma"/>
              </a:rPr>
              <a:t>to</a:t>
            </a:r>
            <a:r>
              <a:rPr sz="1800" b="1" spc="-70" dirty="0">
                <a:solidFill>
                  <a:srgbClr val="212121"/>
                </a:solidFill>
                <a:latin typeface="Tahoma"/>
                <a:cs typeface="Tahoma"/>
              </a:rPr>
              <a:t> </a:t>
            </a:r>
            <a:r>
              <a:rPr sz="1800" b="1" spc="-135" dirty="0">
                <a:solidFill>
                  <a:srgbClr val="212121"/>
                </a:solidFill>
                <a:latin typeface="Tahoma"/>
                <a:cs typeface="Tahoma"/>
              </a:rPr>
              <a:t>minimize</a:t>
            </a:r>
            <a:r>
              <a:rPr sz="1800" b="1" spc="-65" dirty="0">
                <a:solidFill>
                  <a:srgbClr val="212121"/>
                </a:solidFill>
                <a:latin typeface="Tahoma"/>
                <a:cs typeface="Tahoma"/>
              </a:rPr>
              <a:t> </a:t>
            </a:r>
            <a:r>
              <a:rPr sz="1800" b="1" spc="-120" dirty="0">
                <a:solidFill>
                  <a:srgbClr val="212121"/>
                </a:solidFill>
                <a:latin typeface="Tahoma"/>
                <a:cs typeface="Tahoma"/>
              </a:rPr>
              <a:t>the</a:t>
            </a:r>
            <a:r>
              <a:rPr sz="1800" b="1" spc="-70" dirty="0">
                <a:solidFill>
                  <a:srgbClr val="212121"/>
                </a:solidFill>
                <a:latin typeface="Tahoma"/>
                <a:cs typeface="Tahoma"/>
              </a:rPr>
              <a:t> </a:t>
            </a:r>
            <a:r>
              <a:rPr sz="1800" b="1" spc="-80" dirty="0">
                <a:solidFill>
                  <a:srgbClr val="212121"/>
                </a:solidFill>
                <a:latin typeface="Tahoma"/>
                <a:cs typeface="Tahoma"/>
              </a:rPr>
              <a:t>second </a:t>
            </a:r>
            <a:r>
              <a:rPr sz="1800" b="1" spc="-10" dirty="0">
                <a:solidFill>
                  <a:srgbClr val="212121"/>
                </a:solidFill>
                <a:latin typeface="Tahoma"/>
                <a:cs typeface="Tahoma"/>
              </a:rPr>
              <a:t>term.</a:t>
            </a:r>
            <a:endParaRPr sz="1800">
              <a:latin typeface="Tahoma"/>
              <a:cs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Challenges</a:t>
            </a:r>
            <a:r>
              <a:rPr spc="-45" dirty="0"/>
              <a:t> </a:t>
            </a:r>
            <a:r>
              <a:rPr dirty="0"/>
              <a:t>of</a:t>
            </a:r>
            <a:r>
              <a:rPr spc="-30" dirty="0"/>
              <a:t> </a:t>
            </a:r>
            <a:r>
              <a:rPr spc="-25" dirty="0"/>
              <a:t>GAN</a:t>
            </a:r>
          </a:p>
        </p:txBody>
      </p:sp>
      <p:sp>
        <p:nvSpPr>
          <p:cNvPr id="3" name="object 3"/>
          <p:cNvSpPr txBox="1"/>
          <p:nvPr/>
        </p:nvSpPr>
        <p:spPr>
          <a:xfrm>
            <a:off x="1447800" y="983559"/>
            <a:ext cx="8229600" cy="565150"/>
          </a:xfrm>
          <a:prstGeom prst="rect">
            <a:avLst/>
          </a:prstGeom>
        </p:spPr>
        <p:txBody>
          <a:bodyPr vert="horz" wrap="square" lIns="0" tIns="12700" rIns="0" bIns="0" rtlCol="0">
            <a:spAutoFit/>
          </a:bodyPr>
          <a:lstStyle/>
          <a:p>
            <a:pPr marL="12700">
              <a:lnSpc>
                <a:spcPts val="2125"/>
              </a:lnSpc>
              <a:spcBef>
                <a:spcPts val="100"/>
              </a:spcBef>
            </a:pPr>
            <a:r>
              <a:rPr sz="1800" b="1" spc="-125" dirty="0">
                <a:solidFill>
                  <a:srgbClr val="212121"/>
                </a:solidFill>
                <a:latin typeface="Tahoma"/>
                <a:cs typeface="Tahoma"/>
              </a:rPr>
              <a:t>Problem</a:t>
            </a:r>
            <a:r>
              <a:rPr sz="1800" b="1" spc="-15" dirty="0">
                <a:solidFill>
                  <a:srgbClr val="212121"/>
                </a:solidFill>
                <a:latin typeface="Tahoma"/>
                <a:cs typeface="Tahoma"/>
              </a:rPr>
              <a:t> </a:t>
            </a:r>
            <a:r>
              <a:rPr sz="1800" b="1" spc="-130" dirty="0">
                <a:solidFill>
                  <a:srgbClr val="212121"/>
                </a:solidFill>
                <a:latin typeface="Tahoma"/>
                <a:cs typeface="Tahoma"/>
              </a:rPr>
              <a:t>with</a:t>
            </a:r>
            <a:r>
              <a:rPr sz="1800" b="1" spc="-30" dirty="0">
                <a:solidFill>
                  <a:srgbClr val="212121"/>
                </a:solidFill>
                <a:latin typeface="Tahoma"/>
                <a:cs typeface="Tahoma"/>
              </a:rPr>
              <a:t> </a:t>
            </a:r>
            <a:r>
              <a:rPr sz="1800" b="1" spc="-120" dirty="0">
                <a:solidFill>
                  <a:srgbClr val="212121"/>
                </a:solidFill>
                <a:latin typeface="Tahoma"/>
                <a:cs typeface="Tahoma"/>
              </a:rPr>
              <a:t>Counting</a:t>
            </a:r>
            <a:r>
              <a:rPr sz="1800" spc="-120" dirty="0">
                <a:solidFill>
                  <a:srgbClr val="212121"/>
                </a:solidFill>
                <a:latin typeface="Tahoma"/>
                <a:cs typeface="Tahoma"/>
              </a:rPr>
              <a:t>:</a:t>
            </a:r>
            <a:r>
              <a:rPr sz="1800" spc="-45" dirty="0">
                <a:solidFill>
                  <a:srgbClr val="212121"/>
                </a:solidFill>
                <a:latin typeface="Tahoma"/>
                <a:cs typeface="Tahoma"/>
              </a:rPr>
              <a:t> </a:t>
            </a:r>
            <a:r>
              <a:rPr sz="1800" spc="95" dirty="0">
                <a:solidFill>
                  <a:srgbClr val="212121"/>
                </a:solidFill>
                <a:latin typeface="Tahoma"/>
                <a:cs typeface="Tahoma"/>
              </a:rPr>
              <a:t>GANs</a:t>
            </a:r>
            <a:r>
              <a:rPr sz="1800" spc="-80" dirty="0">
                <a:solidFill>
                  <a:srgbClr val="212121"/>
                </a:solidFill>
                <a:latin typeface="Tahoma"/>
                <a:cs typeface="Tahoma"/>
              </a:rPr>
              <a:t> </a:t>
            </a:r>
            <a:r>
              <a:rPr sz="1800" dirty="0">
                <a:solidFill>
                  <a:srgbClr val="212121"/>
                </a:solidFill>
                <a:latin typeface="Tahoma"/>
                <a:cs typeface="Tahoma"/>
              </a:rPr>
              <a:t>fail</a:t>
            </a:r>
            <a:r>
              <a:rPr sz="1800" spc="-50" dirty="0">
                <a:solidFill>
                  <a:srgbClr val="212121"/>
                </a:solidFill>
                <a:latin typeface="Tahoma"/>
                <a:cs typeface="Tahoma"/>
              </a:rPr>
              <a:t> </a:t>
            </a:r>
            <a:r>
              <a:rPr sz="1800" dirty="0">
                <a:solidFill>
                  <a:srgbClr val="212121"/>
                </a:solidFill>
                <a:latin typeface="Tahoma"/>
                <a:cs typeface="Tahoma"/>
              </a:rPr>
              <a:t>to</a:t>
            </a:r>
            <a:r>
              <a:rPr sz="1800" spc="-40" dirty="0">
                <a:solidFill>
                  <a:srgbClr val="212121"/>
                </a:solidFill>
                <a:latin typeface="Tahoma"/>
                <a:cs typeface="Tahoma"/>
              </a:rPr>
              <a:t> </a:t>
            </a:r>
            <a:r>
              <a:rPr sz="1800" dirty="0">
                <a:solidFill>
                  <a:srgbClr val="212121"/>
                </a:solidFill>
                <a:latin typeface="Tahoma"/>
                <a:cs typeface="Tahoma"/>
              </a:rPr>
              <a:t>differentiate</a:t>
            </a:r>
            <a:r>
              <a:rPr sz="1800" spc="-65" dirty="0">
                <a:solidFill>
                  <a:srgbClr val="212121"/>
                </a:solidFill>
                <a:latin typeface="Tahoma"/>
                <a:cs typeface="Tahoma"/>
              </a:rPr>
              <a:t> </a:t>
            </a:r>
            <a:r>
              <a:rPr sz="1800" spc="-25" dirty="0">
                <a:solidFill>
                  <a:srgbClr val="212121"/>
                </a:solidFill>
                <a:latin typeface="Tahoma"/>
                <a:cs typeface="Tahoma"/>
              </a:rPr>
              <a:t>how</a:t>
            </a:r>
            <a:r>
              <a:rPr lang="en-US" sz="1800" spc="-25" dirty="0">
                <a:solidFill>
                  <a:srgbClr val="212121"/>
                </a:solidFill>
                <a:latin typeface="Tahoma"/>
                <a:cs typeface="Tahoma"/>
              </a:rPr>
              <a:t> </a:t>
            </a:r>
            <a:r>
              <a:rPr sz="1800" spc="-20" dirty="0">
                <a:solidFill>
                  <a:srgbClr val="212121"/>
                </a:solidFill>
                <a:latin typeface="Tahoma"/>
                <a:cs typeface="Tahoma"/>
              </a:rPr>
              <a:t>many</a:t>
            </a:r>
            <a:r>
              <a:rPr sz="1800" spc="-85" dirty="0">
                <a:solidFill>
                  <a:srgbClr val="212121"/>
                </a:solidFill>
                <a:latin typeface="Tahoma"/>
                <a:cs typeface="Tahoma"/>
              </a:rPr>
              <a:t> </a:t>
            </a:r>
            <a:r>
              <a:rPr sz="1800" dirty="0">
                <a:solidFill>
                  <a:srgbClr val="212121"/>
                </a:solidFill>
                <a:latin typeface="Tahoma"/>
                <a:cs typeface="Tahoma"/>
              </a:rPr>
              <a:t>of</a:t>
            </a:r>
            <a:r>
              <a:rPr sz="1800" spc="-70" dirty="0">
                <a:solidFill>
                  <a:srgbClr val="212121"/>
                </a:solidFill>
                <a:latin typeface="Tahoma"/>
                <a:cs typeface="Tahoma"/>
              </a:rPr>
              <a:t> </a:t>
            </a:r>
            <a:r>
              <a:rPr sz="1800" spc="-65" dirty="0">
                <a:solidFill>
                  <a:srgbClr val="212121"/>
                </a:solidFill>
                <a:latin typeface="Tahoma"/>
                <a:cs typeface="Tahoma"/>
              </a:rPr>
              <a:t>a</a:t>
            </a:r>
            <a:r>
              <a:rPr sz="1800" spc="-70" dirty="0">
                <a:solidFill>
                  <a:srgbClr val="212121"/>
                </a:solidFill>
                <a:latin typeface="Tahoma"/>
                <a:cs typeface="Tahoma"/>
              </a:rPr>
              <a:t> </a:t>
            </a:r>
            <a:r>
              <a:rPr sz="1800" dirty="0">
                <a:solidFill>
                  <a:srgbClr val="212121"/>
                </a:solidFill>
                <a:latin typeface="Tahoma"/>
                <a:cs typeface="Tahoma"/>
              </a:rPr>
              <a:t>particular</a:t>
            </a:r>
            <a:r>
              <a:rPr sz="1800" spc="-75" dirty="0">
                <a:solidFill>
                  <a:srgbClr val="212121"/>
                </a:solidFill>
                <a:latin typeface="Tahoma"/>
                <a:cs typeface="Tahoma"/>
              </a:rPr>
              <a:t> </a:t>
            </a:r>
            <a:r>
              <a:rPr sz="1800" dirty="0">
                <a:solidFill>
                  <a:srgbClr val="212121"/>
                </a:solidFill>
                <a:latin typeface="Tahoma"/>
                <a:cs typeface="Tahoma"/>
              </a:rPr>
              <a:t>object</a:t>
            </a:r>
            <a:r>
              <a:rPr sz="1800" spc="-50" dirty="0">
                <a:solidFill>
                  <a:srgbClr val="212121"/>
                </a:solidFill>
                <a:latin typeface="Tahoma"/>
                <a:cs typeface="Tahoma"/>
              </a:rPr>
              <a:t> </a:t>
            </a:r>
            <a:r>
              <a:rPr sz="1800" dirty="0">
                <a:solidFill>
                  <a:srgbClr val="212121"/>
                </a:solidFill>
                <a:latin typeface="Tahoma"/>
                <a:cs typeface="Tahoma"/>
              </a:rPr>
              <a:t>should</a:t>
            </a:r>
            <a:r>
              <a:rPr sz="1800" spc="-80" dirty="0">
                <a:solidFill>
                  <a:srgbClr val="212121"/>
                </a:solidFill>
                <a:latin typeface="Tahoma"/>
                <a:cs typeface="Tahoma"/>
              </a:rPr>
              <a:t> </a:t>
            </a:r>
            <a:r>
              <a:rPr sz="1800" dirty="0">
                <a:solidFill>
                  <a:srgbClr val="212121"/>
                </a:solidFill>
                <a:latin typeface="Tahoma"/>
                <a:cs typeface="Tahoma"/>
              </a:rPr>
              <a:t>occur</a:t>
            </a:r>
            <a:r>
              <a:rPr sz="1800" spc="-85" dirty="0">
                <a:solidFill>
                  <a:srgbClr val="212121"/>
                </a:solidFill>
                <a:latin typeface="Tahoma"/>
                <a:cs typeface="Tahoma"/>
              </a:rPr>
              <a:t> </a:t>
            </a:r>
            <a:r>
              <a:rPr sz="1800" dirty="0">
                <a:solidFill>
                  <a:srgbClr val="212121"/>
                </a:solidFill>
                <a:latin typeface="Tahoma"/>
                <a:cs typeface="Tahoma"/>
              </a:rPr>
              <a:t>at</a:t>
            </a:r>
            <a:r>
              <a:rPr sz="1800" spc="-55" dirty="0">
                <a:solidFill>
                  <a:srgbClr val="212121"/>
                </a:solidFill>
                <a:latin typeface="Tahoma"/>
                <a:cs typeface="Tahoma"/>
              </a:rPr>
              <a:t> </a:t>
            </a:r>
            <a:r>
              <a:rPr sz="1800" spc="-65" dirty="0">
                <a:solidFill>
                  <a:srgbClr val="212121"/>
                </a:solidFill>
                <a:latin typeface="Tahoma"/>
                <a:cs typeface="Tahoma"/>
              </a:rPr>
              <a:t>a</a:t>
            </a:r>
            <a:r>
              <a:rPr sz="1800" spc="-70" dirty="0">
                <a:solidFill>
                  <a:srgbClr val="212121"/>
                </a:solidFill>
                <a:latin typeface="Tahoma"/>
                <a:cs typeface="Tahoma"/>
              </a:rPr>
              <a:t> </a:t>
            </a:r>
            <a:r>
              <a:rPr sz="1800" spc="-10" dirty="0">
                <a:solidFill>
                  <a:srgbClr val="212121"/>
                </a:solidFill>
                <a:latin typeface="Tahoma"/>
                <a:cs typeface="Tahoma"/>
              </a:rPr>
              <a:t>location.</a:t>
            </a:r>
            <a:endParaRPr sz="1800" dirty="0">
              <a:latin typeface="Tahoma"/>
              <a:cs typeface="Tahoma"/>
            </a:endParaRPr>
          </a:p>
        </p:txBody>
      </p:sp>
      <p:pic>
        <p:nvPicPr>
          <p:cNvPr id="4" name="object 4"/>
          <p:cNvPicPr/>
          <p:nvPr/>
        </p:nvPicPr>
        <p:blipFill>
          <a:blip r:embed="rId2" cstate="print"/>
          <a:stretch>
            <a:fillRect/>
          </a:stretch>
        </p:blipFill>
        <p:spPr>
          <a:xfrm>
            <a:off x="3118104" y="1783079"/>
            <a:ext cx="5701284" cy="43053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Challenges</a:t>
            </a:r>
            <a:r>
              <a:rPr spc="-45" dirty="0"/>
              <a:t> </a:t>
            </a:r>
            <a:r>
              <a:rPr dirty="0"/>
              <a:t>of</a:t>
            </a:r>
            <a:r>
              <a:rPr spc="-30" dirty="0"/>
              <a:t> </a:t>
            </a:r>
            <a:r>
              <a:rPr spc="-25" dirty="0"/>
              <a:t>GAN</a:t>
            </a:r>
          </a:p>
        </p:txBody>
      </p:sp>
      <p:sp>
        <p:nvSpPr>
          <p:cNvPr id="3" name="object 3"/>
          <p:cNvSpPr txBox="1"/>
          <p:nvPr/>
        </p:nvSpPr>
        <p:spPr>
          <a:xfrm>
            <a:off x="1447800" y="914400"/>
            <a:ext cx="7866633" cy="560282"/>
          </a:xfrm>
          <a:prstGeom prst="rect">
            <a:avLst/>
          </a:prstGeom>
        </p:spPr>
        <p:txBody>
          <a:bodyPr vert="horz" wrap="square" lIns="0" tIns="17145" rIns="0" bIns="0" rtlCol="0">
            <a:spAutoFit/>
          </a:bodyPr>
          <a:lstStyle/>
          <a:p>
            <a:pPr marL="12700" marR="5080">
              <a:lnSpc>
                <a:spcPct val="98300"/>
              </a:lnSpc>
              <a:spcBef>
                <a:spcPts val="135"/>
              </a:spcBef>
            </a:pPr>
            <a:r>
              <a:rPr sz="1800" b="1" spc="-130" dirty="0">
                <a:solidFill>
                  <a:srgbClr val="212121"/>
                </a:solidFill>
                <a:latin typeface="Tahoma"/>
                <a:cs typeface="Tahoma"/>
              </a:rPr>
              <a:t>Problems</a:t>
            </a:r>
            <a:r>
              <a:rPr sz="1800" b="1" spc="-35" dirty="0">
                <a:solidFill>
                  <a:srgbClr val="212121"/>
                </a:solidFill>
                <a:latin typeface="Tahoma"/>
                <a:cs typeface="Tahoma"/>
              </a:rPr>
              <a:t> </a:t>
            </a:r>
            <a:r>
              <a:rPr sz="1800" b="1" spc="-130" dirty="0">
                <a:solidFill>
                  <a:srgbClr val="212121"/>
                </a:solidFill>
                <a:latin typeface="Tahoma"/>
                <a:cs typeface="Tahoma"/>
              </a:rPr>
              <a:t>with</a:t>
            </a:r>
            <a:r>
              <a:rPr sz="1800" b="1" spc="-40" dirty="0">
                <a:solidFill>
                  <a:srgbClr val="212121"/>
                </a:solidFill>
                <a:latin typeface="Tahoma"/>
                <a:cs typeface="Tahoma"/>
              </a:rPr>
              <a:t> </a:t>
            </a:r>
            <a:r>
              <a:rPr sz="1800" b="1" spc="-114" dirty="0">
                <a:solidFill>
                  <a:srgbClr val="212121"/>
                </a:solidFill>
                <a:latin typeface="Tahoma"/>
                <a:cs typeface="Tahoma"/>
              </a:rPr>
              <a:t>Perspective:</a:t>
            </a:r>
            <a:r>
              <a:rPr sz="1800" b="1" spc="-35" dirty="0">
                <a:solidFill>
                  <a:srgbClr val="212121"/>
                </a:solidFill>
                <a:latin typeface="Tahoma"/>
                <a:cs typeface="Tahoma"/>
              </a:rPr>
              <a:t> </a:t>
            </a:r>
            <a:r>
              <a:rPr sz="1800" spc="95" dirty="0">
                <a:solidFill>
                  <a:srgbClr val="212121"/>
                </a:solidFill>
                <a:latin typeface="Tahoma"/>
                <a:cs typeface="Tahoma"/>
              </a:rPr>
              <a:t>GANs</a:t>
            </a:r>
            <a:r>
              <a:rPr sz="1800" spc="-90" dirty="0">
                <a:solidFill>
                  <a:srgbClr val="212121"/>
                </a:solidFill>
                <a:latin typeface="Tahoma"/>
                <a:cs typeface="Tahoma"/>
              </a:rPr>
              <a:t> </a:t>
            </a:r>
            <a:r>
              <a:rPr sz="1800" dirty="0">
                <a:solidFill>
                  <a:srgbClr val="212121"/>
                </a:solidFill>
                <a:latin typeface="Tahoma"/>
                <a:cs typeface="Tahoma"/>
              </a:rPr>
              <a:t>fail</a:t>
            </a:r>
            <a:r>
              <a:rPr sz="1800" spc="-80"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spc="-10" dirty="0">
                <a:solidFill>
                  <a:srgbClr val="212121"/>
                </a:solidFill>
                <a:latin typeface="Tahoma"/>
                <a:cs typeface="Tahoma"/>
              </a:rPr>
              <a:t>adapt</a:t>
            </a:r>
            <a:r>
              <a:rPr sz="1800" spc="-45"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spc="70" dirty="0">
                <a:solidFill>
                  <a:srgbClr val="212121"/>
                </a:solidFill>
                <a:latin typeface="Tahoma"/>
                <a:cs typeface="Tahoma"/>
              </a:rPr>
              <a:t>3D </a:t>
            </a:r>
            <a:r>
              <a:rPr sz="1800" spc="-20" dirty="0">
                <a:solidFill>
                  <a:srgbClr val="212121"/>
                </a:solidFill>
                <a:latin typeface="Tahoma"/>
                <a:cs typeface="Tahoma"/>
              </a:rPr>
              <a:t>objects.</a:t>
            </a:r>
            <a:r>
              <a:rPr sz="1800" spc="-55" dirty="0">
                <a:solidFill>
                  <a:srgbClr val="212121"/>
                </a:solidFill>
                <a:latin typeface="Tahoma"/>
                <a:cs typeface="Tahoma"/>
              </a:rPr>
              <a:t> </a:t>
            </a:r>
            <a:r>
              <a:rPr sz="1800" spc="-70" dirty="0">
                <a:solidFill>
                  <a:srgbClr val="212121"/>
                </a:solidFill>
                <a:latin typeface="Tahoma"/>
                <a:cs typeface="Tahoma"/>
              </a:rPr>
              <a:t>It </a:t>
            </a:r>
            <a:r>
              <a:rPr sz="1800" dirty="0">
                <a:solidFill>
                  <a:srgbClr val="212121"/>
                </a:solidFill>
                <a:latin typeface="Tahoma"/>
                <a:cs typeface="Tahoma"/>
              </a:rPr>
              <a:t>doesn’t</a:t>
            </a:r>
            <a:r>
              <a:rPr sz="1800" spc="-55" dirty="0">
                <a:solidFill>
                  <a:srgbClr val="212121"/>
                </a:solidFill>
                <a:latin typeface="Tahoma"/>
                <a:cs typeface="Tahoma"/>
              </a:rPr>
              <a:t> </a:t>
            </a:r>
            <a:r>
              <a:rPr sz="1800" spc="-10" dirty="0">
                <a:solidFill>
                  <a:srgbClr val="212121"/>
                </a:solidFill>
                <a:latin typeface="Tahoma"/>
                <a:cs typeface="Tahoma"/>
              </a:rPr>
              <a:t>understand</a:t>
            </a:r>
            <a:r>
              <a:rPr sz="1800" spc="-80" dirty="0">
                <a:solidFill>
                  <a:srgbClr val="212121"/>
                </a:solidFill>
                <a:latin typeface="Tahoma"/>
                <a:cs typeface="Tahoma"/>
              </a:rPr>
              <a:t> </a:t>
            </a:r>
            <a:r>
              <a:rPr sz="1800" spc="-10" dirty="0">
                <a:solidFill>
                  <a:srgbClr val="212121"/>
                </a:solidFill>
                <a:latin typeface="Tahoma"/>
                <a:cs typeface="Tahoma"/>
              </a:rPr>
              <a:t>perspective,</a:t>
            </a:r>
            <a:r>
              <a:rPr sz="1800" spc="-55" dirty="0">
                <a:solidFill>
                  <a:srgbClr val="212121"/>
                </a:solidFill>
                <a:latin typeface="Tahoma"/>
                <a:cs typeface="Tahoma"/>
              </a:rPr>
              <a:t> </a:t>
            </a:r>
            <a:r>
              <a:rPr sz="1800" spc="-10" dirty="0">
                <a:solidFill>
                  <a:srgbClr val="212121"/>
                </a:solidFill>
                <a:latin typeface="Tahoma"/>
                <a:cs typeface="Tahoma"/>
              </a:rPr>
              <a:t>i.e.difference </a:t>
            </a:r>
            <a:r>
              <a:rPr sz="1800" dirty="0">
                <a:solidFill>
                  <a:srgbClr val="212121"/>
                </a:solidFill>
                <a:latin typeface="Tahoma"/>
                <a:cs typeface="Tahoma"/>
              </a:rPr>
              <a:t>between frontview</a:t>
            </a:r>
            <a:r>
              <a:rPr sz="1800" spc="-35" dirty="0">
                <a:solidFill>
                  <a:srgbClr val="212121"/>
                </a:solidFill>
                <a:latin typeface="Tahoma"/>
                <a:cs typeface="Tahoma"/>
              </a:rPr>
              <a:t> </a:t>
            </a:r>
            <a:r>
              <a:rPr sz="1800" spc="-10" dirty="0">
                <a:solidFill>
                  <a:srgbClr val="212121"/>
                </a:solidFill>
                <a:latin typeface="Tahoma"/>
                <a:cs typeface="Tahoma"/>
              </a:rPr>
              <a:t>and backview.</a:t>
            </a:r>
            <a:endParaRPr sz="1800" dirty="0">
              <a:latin typeface="Tahoma"/>
              <a:cs typeface="Tahoma"/>
            </a:endParaRPr>
          </a:p>
        </p:txBody>
      </p:sp>
      <p:pic>
        <p:nvPicPr>
          <p:cNvPr id="4" name="object 4"/>
          <p:cNvPicPr/>
          <p:nvPr/>
        </p:nvPicPr>
        <p:blipFill>
          <a:blip r:embed="rId2" cstate="print"/>
          <a:stretch>
            <a:fillRect/>
          </a:stretch>
        </p:blipFill>
        <p:spPr>
          <a:xfrm>
            <a:off x="2962655" y="1778507"/>
            <a:ext cx="6106668" cy="459181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5094" rIns="0" bIns="0" rtlCol="0">
            <a:spAutoFit/>
          </a:bodyPr>
          <a:lstStyle/>
          <a:p>
            <a:pPr marL="12700">
              <a:lnSpc>
                <a:spcPct val="100000"/>
              </a:lnSpc>
              <a:spcBef>
                <a:spcPts val="100"/>
              </a:spcBef>
            </a:pPr>
            <a:r>
              <a:rPr dirty="0"/>
              <a:t>Challenges</a:t>
            </a:r>
            <a:r>
              <a:rPr spc="-45" dirty="0"/>
              <a:t> </a:t>
            </a:r>
            <a:r>
              <a:rPr dirty="0"/>
              <a:t>of</a:t>
            </a:r>
            <a:r>
              <a:rPr spc="-30" dirty="0"/>
              <a:t> </a:t>
            </a:r>
            <a:r>
              <a:rPr spc="-25" dirty="0"/>
              <a:t>GAN</a:t>
            </a:r>
          </a:p>
        </p:txBody>
      </p:sp>
      <p:sp>
        <p:nvSpPr>
          <p:cNvPr id="3" name="object 3"/>
          <p:cNvSpPr txBox="1"/>
          <p:nvPr/>
        </p:nvSpPr>
        <p:spPr>
          <a:xfrm>
            <a:off x="1266444" y="1581911"/>
            <a:ext cx="2895600" cy="3694429"/>
          </a:xfrm>
          <a:prstGeom prst="rect">
            <a:avLst/>
          </a:prstGeom>
          <a:solidFill>
            <a:srgbClr val="DEEBF7"/>
          </a:solidFill>
        </p:spPr>
        <p:txBody>
          <a:bodyPr vert="horz" wrap="square" lIns="0" tIns="44450" rIns="0" bIns="0" rtlCol="0">
            <a:spAutoFit/>
          </a:bodyPr>
          <a:lstStyle/>
          <a:p>
            <a:pPr marL="91440" marR="120014">
              <a:lnSpc>
                <a:spcPct val="99700"/>
              </a:lnSpc>
              <a:spcBef>
                <a:spcPts val="350"/>
              </a:spcBef>
            </a:pPr>
            <a:r>
              <a:rPr sz="1800" b="1" spc="-130" dirty="0">
                <a:solidFill>
                  <a:srgbClr val="212121"/>
                </a:solidFill>
                <a:latin typeface="Tahoma"/>
                <a:cs typeface="Tahoma"/>
              </a:rPr>
              <a:t>Problems</a:t>
            </a:r>
            <a:r>
              <a:rPr sz="1800" b="1" spc="-25" dirty="0">
                <a:solidFill>
                  <a:srgbClr val="212121"/>
                </a:solidFill>
                <a:latin typeface="Tahoma"/>
                <a:cs typeface="Tahoma"/>
              </a:rPr>
              <a:t> </a:t>
            </a:r>
            <a:r>
              <a:rPr sz="1800" b="1" spc="-130" dirty="0">
                <a:solidFill>
                  <a:srgbClr val="212121"/>
                </a:solidFill>
                <a:latin typeface="Tahoma"/>
                <a:cs typeface="Tahoma"/>
              </a:rPr>
              <a:t>with</a:t>
            </a:r>
            <a:r>
              <a:rPr sz="1800" b="1" spc="-30" dirty="0">
                <a:solidFill>
                  <a:srgbClr val="212121"/>
                </a:solidFill>
                <a:latin typeface="Tahoma"/>
                <a:cs typeface="Tahoma"/>
              </a:rPr>
              <a:t> </a:t>
            </a:r>
            <a:r>
              <a:rPr sz="1800" b="1" spc="-10" dirty="0">
                <a:solidFill>
                  <a:srgbClr val="212121"/>
                </a:solidFill>
                <a:latin typeface="Tahoma"/>
                <a:cs typeface="Tahoma"/>
              </a:rPr>
              <a:t>Global </a:t>
            </a:r>
            <a:r>
              <a:rPr sz="1800" b="1" spc="-125" dirty="0">
                <a:solidFill>
                  <a:srgbClr val="212121"/>
                </a:solidFill>
                <a:latin typeface="Tahoma"/>
                <a:cs typeface="Tahoma"/>
              </a:rPr>
              <a:t>Structures:</a:t>
            </a:r>
            <a:r>
              <a:rPr sz="1800" b="1" spc="-50" dirty="0">
                <a:solidFill>
                  <a:srgbClr val="212121"/>
                </a:solidFill>
                <a:latin typeface="Tahoma"/>
                <a:cs typeface="Tahoma"/>
              </a:rPr>
              <a:t> </a:t>
            </a:r>
            <a:r>
              <a:rPr sz="1800" spc="-45" dirty="0">
                <a:solidFill>
                  <a:srgbClr val="212121"/>
                </a:solidFill>
                <a:latin typeface="Tahoma"/>
                <a:cs typeface="Tahoma"/>
              </a:rPr>
              <a:t>Same</a:t>
            </a:r>
            <a:r>
              <a:rPr sz="1800" spc="-80" dirty="0">
                <a:solidFill>
                  <a:srgbClr val="212121"/>
                </a:solidFill>
                <a:latin typeface="Tahoma"/>
                <a:cs typeface="Tahoma"/>
              </a:rPr>
              <a:t> </a:t>
            </a:r>
            <a:r>
              <a:rPr sz="1800" spc="-40" dirty="0">
                <a:solidFill>
                  <a:srgbClr val="212121"/>
                </a:solidFill>
                <a:latin typeface="Tahoma"/>
                <a:cs typeface="Tahoma"/>
              </a:rPr>
              <a:t>as</a:t>
            </a:r>
            <a:r>
              <a:rPr sz="1800" spc="-80" dirty="0">
                <a:solidFill>
                  <a:srgbClr val="212121"/>
                </a:solidFill>
                <a:latin typeface="Tahoma"/>
                <a:cs typeface="Tahoma"/>
              </a:rPr>
              <a:t> </a:t>
            </a:r>
            <a:r>
              <a:rPr sz="1800" spc="-25" dirty="0">
                <a:solidFill>
                  <a:srgbClr val="212121"/>
                </a:solidFill>
                <a:latin typeface="Tahoma"/>
                <a:cs typeface="Tahoma"/>
              </a:rPr>
              <a:t>the </a:t>
            </a:r>
            <a:r>
              <a:rPr sz="1800" dirty="0">
                <a:solidFill>
                  <a:srgbClr val="212121"/>
                </a:solidFill>
                <a:latin typeface="Tahoma"/>
                <a:cs typeface="Tahoma"/>
              </a:rPr>
              <a:t>problem</a:t>
            </a:r>
            <a:r>
              <a:rPr sz="1800" spc="-45" dirty="0">
                <a:solidFill>
                  <a:srgbClr val="212121"/>
                </a:solidFill>
                <a:latin typeface="Tahoma"/>
                <a:cs typeface="Tahoma"/>
              </a:rPr>
              <a:t> </a:t>
            </a:r>
            <a:r>
              <a:rPr sz="1800" dirty="0">
                <a:solidFill>
                  <a:srgbClr val="212121"/>
                </a:solidFill>
                <a:latin typeface="Tahoma"/>
                <a:cs typeface="Tahoma"/>
              </a:rPr>
              <a:t>with</a:t>
            </a:r>
            <a:r>
              <a:rPr sz="1800" spc="-30" dirty="0">
                <a:solidFill>
                  <a:srgbClr val="212121"/>
                </a:solidFill>
                <a:latin typeface="Tahoma"/>
                <a:cs typeface="Tahoma"/>
              </a:rPr>
              <a:t> </a:t>
            </a:r>
            <a:r>
              <a:rPr sz="1800" spc="-10" dirty="0">
                <a:solidFill>
                  <a:srgbClr val="212121"/>
                </a:solidFill>
                <a:latin typeface="Tahoma"/>
                <a:cs typeface="Tahoma"/>
              </a:rPr>
              <a:t>perspective, </a:t>
            </a:r>
            <a:r>
              <a:rPr sz="1800" spc="95" dirty="0">
                <a:solidFill>
                  <a:srgbClr val="212121"/>
                </a:solidFill>
                <a:latin typeface="Tahoma"/>
                <a:cs typeface="Tahoma"/>
              </a:rPr>
              <a:t>GANs</a:t>
            </a:r>
            <a:r>
              <a:rPr sz="1800" spc="-100" dirty="0">
                <a:solidFill>
                  <a:srgbClr val="212121"/>
                </a:solidFill>
                <a:latin typeface="Tahoma"/>
                <a:cs typeface="Tahoma"/>
              </a:rPr>
              <a:t> </a:t>
            </a:r>
            <a:r>
              <a:rPr sz="1800" dirty="0">
                <a:solidFill>
                  <a:srgbClr val="212121"/>
                </a:solidFill>
                <a:latin typeface="Tahoma"/>
                <a:cs typeface="Tahoma"/>
              </a:rPr>
              <a:t>do</a:t>
            </a:r>
            <a:r>
              <a:rPr sz="1800" spc="-70" dirty="0">
                <a:solidFill>
                  <a:srgbClr val="212121"/>
                </a:solidFill>
                <a:latin typeface="Tahoma"/>
                <a:cs typeface="Tahoma"/>
              </a:rPr>
              <a:t> </a:t>
            </a:r>
            <a:r>
              <a:rPr sz="1800" dirty="0">
                <a:solidFill>
                  <a:srgbClr val="212121"/>
                </a:solidFill>
                <a:latin typeface="Tahoma"/>
                <a:cs typeface="Tahoma"/>
              </a:rPr>
              <a:t>not</a:t>
            </a:r>
            <a:r>
              <a:rPr sz="1800" spc="-65" dirty="0">
                <a:solidFill>
                  <a:srgbClr val="212121"/>
                </a:solidFill>
                <a:latin typeface="Tahoma"/>
                <a:cs typeface="Tahoma"/>
              </a:rPr>
              <a:t> </a:t>
            </a:r>
            <a:r>
              <a:rPr sz="1800" dirty="0">
                <a:solidFill>
                  <a:srgbClr val="212121"/>
                </a:solidFill>
                <a:latin typeface="Tahoma"/>
                <a:cs typeface="Tahoma"/>
              </a:rPr>
              <a:t>understand</a:t>
            </a:r>
            <a:r>
              <a:rPr sz="1800" spc="-100" dirty="0">
                <a:solidFill>
                  <a:srgbClr val="212121"/>
                </a:solidFill>
                <a:latin typeface="Tahoma"/>
                <a:cs typeface="Tahoma"/>
              </a:rPr>
              <a:t> </a:t>
            </a:r>
            <a:r>
              <a:rPr sz="1800" spc="-50" dirty="0">
                <a:solidFill>
                  <a:srgbClr val="212121"/>
                </a:solidFill>
                <a:latin typeface="Tahoma"/>
                <a:cs typeface="Tahoma"/>
              </a:rPr>
              <a:t>a </a:t>
            </a:r>
            <a:r>
              <a:rPr sz="1800" dirty="0">
                <a:solidFill>
                  <a:srgbClr val="212121"/>
                </a:solidFill>
                <a:latin typeface="Tahoma"/>
                <a:cs typeface="Tahoma"/>
              </a:rPr>
              <a:t>holistic</a:t>
            </a:r>
            <a:r>
              <a:rPr sz="1800" spc="5" dirty="0">
                <a:solidFill>
                  <a:srgbClr val="212121"/>
                </a:solidFill>
                <a:latin typeface="Tahoma"/>
                <a:cs typeface="Tahoma"/>
              </a:rPr>
              <a:t> </a:t>
            </a:r>
            <a:r>
              <a:rPr sz="1800" spc="-10" dirty="0">
                <a:solidFill>
                  <a:srgbClr val="212121"/>
                </a:solidFill>
                <a:latin typeface="Tahoma"/>
                <a:cs typeface="Tahoma"/>
              </a:rPr>
              <a:t>structure.</a:t>
            </a:r>
            <a:r>
              <a:rPr sz="1800" spc="-50" dirty="0">
                <a:solidFill>
                  <a:srgbClr val="212121"/>
                </a:solidFill>
                <a:latin typeface="Tahoma"/>
                <a:cs typeface="Tahoma"/>
              </a:rPr>
              <a:t> </a:t>
            </a:r>
            <a:r>
              <a:rPr sz="1800" spc="-25" dirty="0">
                <a:solidFill>
                  <a:srgbClr val="212121"/>
                </a:solidFill>
                <a:latin typeface="Tahoma"/>
                <a:cs typeface="Tahoma"/>
              </a:rPr>
              <a:t>For </a:t>
            </a:r>
            <a:r>
              <a:rPr sz="1800" spc="-30" dirty="0">
                <a:solidFill>
                  <a:srgbClr val="212121"/>
                </a:solidFill>
                <a:latin typeface="Tahoma"/>
                <a:cs typeface="Tahoma"/>
              </a:rPr>
              <a:t>example,</a:t>
            </a:r>
            <a:r>
              <a:rPr sz="1800" spc="-80" dirty="0">
                <a:solidFill>
                  <a:srgbClr val="212121"/>
                </a:solidFill>
                <a:latin typeface="Tahoma"/>
                <a:cs typeface="Tahoma"/>
              </a:rPr>
              <a:t> </a:t>
            </a:r>
            <a:r>
              <a:rPr sz="1800" dirty="0">
                <a:solidFill>
                  <a:srgbClr val="212121"/>
                </a:solidFill>
                <a:latin typeface="Tahoma"/>
                <a:cs typeface="Tahoma"/>
              </a:rPr>
              <a:t>in</a:t>
            </a:r>
            <a:r>
              <a:rPr sz="1800" spc="-95" dirty="0">
                <a:solidFill>
                  <a:srgbClr val="212121"/>
                </a:solidFill>
                <a:latin typeface="Tahoma"/>
                <a:cs typeface="Tahoma"/>
              </a:rPr>
              <a:t> </a:t>
            </a:r>
            <a:r>
              <a:rPr sz="1800" dirty="0">
                <a:solidFill>
                  <a:srgbClr val="212121"/>
                </a:solidFill>
                <a:latin typeface="Tahoma"/>
                <a:cs typeface="Tahoma"/>
              </a:rPr>
              <a:t>the</a:t>
            </a:r>
            <a:r>
              <a:rPr sz="1800" spc="-85" dirty="0">
                <a:solidFill>
                  <a:srgbClr val="212121"/>
                </a:solidFill>
                <a:latin typeface="Tahoma"/>
                <a:cs typeface="Tahoma"/>
              </a:rPr>
              <a:t> </a:t>
            </a:r>
            <a:r>
              <a:rPr sz="1800" spc="-10" dirty="0">
                <a:solidFill>
                  <a:srgbClr val="212121"/>
                </a:solidFill>
                <a:latin typeface="Tahoma"/>
                <a:cs typeface="Tahoma"/>
              </a:rPr>
              <a:t>bottom</a:t>
            </a:r>
            <a:r>
              <a:rPr sz="1800" spc="500" dirty="0">
                <a:solidFill>
                  <a:srgbClr val="212121"/>
                </a:solidFill>
                <a:latin typeface="Tahoma"/>
                <a:cs typeface="Tahoma"/>
              </a:rPr>
              <a:t> </a:t>
            </a:r>
            <a:r>
              <a:rPr sz="1800" dirty="0">
                <a:solidFill>
                  <a:srgbClr val="212121"/>
                </a:solidFill>
                <a:latin typeface="Tahoma"/>
                <a:cs typeface="Tahoma"/>
              </a:rPr>
              <a:t>left</a:t>
            </a:r>
            <a:r>
              <a:rPr sz="1800" spc="-60" dirty="0">
                <a:solidFill>
                  <a:srgbClr val="212121"/>
                </a:solidFill>
                <a:latin typeface="Tahoma"/>
                <a:cs typeface="Tahoma"/>
              </a:rPr>
              <a:t> image,</a:t>
            </a:r>
            <a:r>
              <a:rPr sz="1800" spc="-45" dirty="0">
                <a:solidFill>
                  <a:srgbClr val="212121"/>
                </a:solidFill>
                <a:latin typeface="Tahoma"/>
                <a:cs typeface="Tahoma"/>
              </a:rPr>
              <a:t> </a:t>
            </a:r>
            <a:r>
              <a:rPr sz="1800" dirty="0">
                <a:solidFill>
                  <a:srgbClr val="212121"/>
                </a:solidFill>
                <a:latin typeface="Tahoma"/>
                <a:cs typeface="Tahoma"/>
              </a:rPr>
              <a:t>it</a:t>
            </a:r>
            <a:r>
              <a:rPr sz="1800" spc="-55" dirty="0">
                <a:solidFill>
                  <a:srgbClr val="212121"/>
                </a:solidFill>
                <a:latin typeface="Tahoma"/>
                <a:cs typeface="Tahoma"/>
              </a:rPr>
              <a:t> </a:t>
            </a:r>
            <a:r>
              <a:rPr sz="1800" spc="-10" dirty="0">
                <a:solidFill>
                  <a:srgbClr val="212121"/>
                </a:solidFill>
                <a:latin typeface="Tahoma"/>
                <a:cs typeface="Tahoma"/>
              </a:rPr>
              <a:t>gives</a:t>
            </a:r>
            <a:r>
              <a:rPr sz="1800" spc="-55" dirty="0">
                <a:solidFill>
                  <a:srgbClr val="212121"/>
                </a:solidFill>
                <a:latin typeface="Tahoma"/>
                <a:cs typeface="Tahoma"/>
              </a:rPr>
              <a:t> </a:t>
            </a:r>
            <a:r>
              <a:rPr sz="1800" spc="-50" dirty="0">
                <a:solidFill>
                  <a:srgbClr val="212121"/>
                </a:solidFill>
                <a:latin typeface="Tahoma"/>
                <a:cs typeface="Tahoma"/>
              </a:rPr>
              <a:t>a </a:t>
            </a:r>
            <a:r>
              <a:rPr sz="1800" spc="-10" dirty="0">
                <a:solidFill>
                  <a:srgbClr val="212121"/>
                </a:solidFill>
                <a:latin typeface="Tahoma"/>
                <a:cs typeface="Tahoma"/>
              </a:rPr>
              <a:t>generated</a:t>
            </a:r>
            <a:r>
              <a:rPr sz="1800" spc="-65" dirty="0">
                <a:solidFill>
                  <a:srgbClr val="212121"/>
                </a:solidFill>
                <a:latin typeface="Tahoma"/>
                <a:cs typeface="Tahoma"/>
              </a:rPr>
              <a:t> </a:t>
            </a:r>
            <a:r>
              <a:rPr sz="1800" spc="-35" dirty="0">
                <a:solidFill>
                  <a:srgbClr val="212121"/>
                </a:solidFill>
                <a:latin typeface="Tahoma"/>
                <a:cs typeface="Tahoma"/>
              </a:rPr>
              <a:t>image</a:t>
            </a:r>
            <a:r>
              <a:rPr sz="1800" spc="-60" dirty="0">
                <a:solidFill>
                  <a:srgbClr val="212121"/>
                </a:solidFill>
                <a:latin typeface="Tahoma"/>
                <a:cs typeface="Tahoma"/>
              </a:rPr>
              <a:t> </a:t>
            </a:r>
            <a:r>
              <a:rPr sz="1800" dirty="0">
                <a:solidFill>
                  <a:srgbClr val="212121"/>
                </a:solidFill>
                <a:latin typeface="Tahoma"/>
                <a:cs typeface="Tahoma"/>
              </a:rPr>
              <a:t>of</a:t>
            </a:r>
            <a:r>
              <a:rPr sz="1800" spc="-45" dirty="0">
                <a:solidFill>
                  <a:srgbClr val="212121"/>
                </a:solidFill>
                <a:latin typeface="Tahoma"/>
                <a:cs typeface="Tahoma"/>
              </a:rPr>
              <a:t> </a:t>
            </a:r>
            <a:r>
              <a:rPr sz="1800" spc="-50" dirty="0">
                <a:solidFill>
                  <a:srgbClr val="212121"/>
                </a:solidFill>
                <a:latin typeface="Tahoma"/>
                <a:cs typeface="Tahoma"/>
              </a:rPr>
              <a:t>a </a:t>
            </a:r>
            <a:r>
              <a:rPr sz="1800" spc="-10" dirty="0">
                <a:solidFill>
                  <a:srgbClr val="212121"/>
                </a:solidFill>
                <a:latin typeface="Tahoma"/>
                <a:cs typeface="Tahoma"/>
              </a:rPr>
              <a:t>quadruple</a:t>
            </a:r>
            <a:r>
              <a:rPr sz="1800" spc="-95" dirty="0">
                <a:solidFill>
                  <a:srgbClr val="212121"/>
                </a:solidFill>
                <a:latin typeface="Tahoma"/>
                <a:cs typeface="Tahoma"/>
              </a:rPr>
              <a:t> </a:t>
            </a:r>
            <a:r>
              <a:rPr sz="1800" dirty="0">
                <a:solidFill>
                  <a:srgbClr val="212121"/>
                </a:solidFill>
                <a:latin typeface="Tahoma"/>
                <a:cs typeface="Tahoma"/>
              </a:rPr>
              <a:t>cow,</a:t>
            </a:r>
            <a:r>
              <a:rPr sz="1800" spc="-80" dirty="0">
                <a:solidFill>
                  <a:srgbClr val="212121"/>
                </a:solidFill>
                <a:latin typeface="Tahoma"/>
                <a:cs typeface="Tahoma"/>
              </a:rPr>
              <a:t> </a:t>
            </a:r>
            <a:r>
              <a:rPr sz="1800" spc="-70" dirty="0">
                <a:solidFill>
                  <a:srgbClr val="212121"/>
                </a:solidFill>
                <a:latin typeface="Tahoma"/>
                <a:cs typeface="Tahoma"/>
              </a:rPr>
              <a:t>i.e. </a:t>
            </a:r>
            <a:r>
              <a:rPr sz="1800" spc="-60" dirty="0">
                <a:solidFill>
                  <a:srgbClr val="212121"/>
                </a:solidFill>
                <a:latin typeface="Tahoma"/>
                <a:cs typeface="Tahoma"/>
              </a:rPr>
              <a:t>a</a:t>
            </a:r>
            <a:r>
              <a:rPr sz="1800" spc="-70" dirty="0">
                <a:solidFill>
                  <a:srgbClr val="212121"/>
                </a:solidFill>
                <a:latin typeface="Tahoma"/>
                <a:cs typeface="Tahoma"/>
              </a:rPr>
              <a:t> </a:t>
            </a:r>
            <a:r>
              <a:rPr sz="1800" spc="25" dirty="0">
                <a:solidFill>
                  <a:srgbClr val="212121"/>
                </a:solidFill>
                <a:latin typeface="Tahoma"/>
                <a:cs typeface="Tahoma"/>
              </a:rPr>
              <a:t>cow </a:t>
            </a:r>
            <a:r>
              <a:rPr sz="1800" spc="-10" dirty="0">
                <a:solidFill>
                  <a:srgbClr val="212121"/>
                </a:solidFill>
                <a:latin typeface="Tahoma"/>
                <a:cs typeface="Tahoma"/>
              </a:rPr>
              <a:t>standing</a:t>
            </a:r>
            <a:r>
              <a:rPr sz="1800" spc="-80" dirty="0">
                <a:solidFill>
                  <a:srgbClr val="212121"/>
                </a:solidFill>
                <a:latin typeface="Tahoma"/>
                <a:cs typeface="Tahoma"/>
              </a:rPr>
              <a:t> </a:t>
            </a:r>
            <a:r>
              <a:rPr sz="1800" dirty="0">
                <a:solidFill>
                  <a:srgbClr val="212121"/>
                </a:solidFill>
                <a:latin typeface="Tahoma"/>
                <a:cs typeface="Tahoma"/>
              </a:rPr>
              <a:t>on</a:t>
            </a:r>
            <a:r>
              <a:rPr sz="1800" spc="-80" dirty="0">
                <a:solidFill>
                  <a:srgbClr val="212121"/>
                </a:solidFill>
                <a:latin typeface="Tahoma"/>
                <a:cs typeface="Tahoma"/>
              </a:rPr>
              <a:t> </a:t>
            </a:r>
            <a:r>
              <a:rPr sz="1800" dirty="0">
                <a:solidFill>
                  <a:srgbClr val="212121"/>
                </a:solidFill>
                <a:latin typeface="Tahoma"/>
                <a:cs typeface="Tahoma"/>
              </a:rPr>
              <a:t>its</a:t>
            </a:r>
            <a:r>
              <a:rPr sz="1800" spc="-70" dirty="0">
                <a:solidFill>
                  <a:srgbClr val="212121"/>
                </a:solidFill>
                <a:latin typeface="Tahoma"/>
                <a:cs typeface="Tahoma"/>
              </a:rPr>
              <a:t> </a:t>
            </a:r>
            <a:r>
              <a:rPr sz="1800" dirty="0">
                <a:solidFill>
                  <a:srgbClr val="212121"/>
                </a:solidFill>
                <a:latin typeface="Tahoma"/>
                <a:cs typeface="Tahoma"/>
              </a:rPr>
              <a:t>hind</a:t>
            </a:r>
            <a:r>
              <a:rPr sz="1800" spc="-80" dirty="0">
                <a:solidFill>
                  <a:srgbClr val="212121"/>
                </a:solidFill>
                <a:latin typeface="Tahoma"/>
                <a:cs typeface="Tahoma"/>
              </a:rPr>
              <a:t> </a:t>
            </a:r>
            <a:r>
              <a:rPr sz="1800" spc="-20" dirty="0">
                <a:solidFill>
                  <a:srgbClr val="212121"/>
                </a:solidFill>
                <a:latin typeface="Tahoma"/>
                <a:cs typeface="Tahoma"/>
              </a:rPr>
              <a:t>legs </a:t>
            </a:r>
            <a:r>
              <a:rPr sz="1800" spc="-10" dirty="0">
                <a:solidFill>
                  <a:srgbClr val="212121"/>
                </a:solidFill>
                <a:latin typeface="Tahoma"/>
                <a:cs typeface="Tahoma"/>
              </a:rPr>
              <a:t>and</a:t>
            </a:r>
            <a:r>
              <a:rPr sz="1800" spc="-105" dirty="0">
                <a:solidFill>
                  <a:srgbClr val="212121"/>
                </a:solidFill>
                <a:latin typeface="Tahoma"/>
                <a:cs typeface="Tahoma"/>
              </a:rPr>
              <a:t> </a:t>
            </a:r>
            <a:r>
              <a:rPr sz="1800" dirty="0">
                <a:solidFill>
                  <a:srgbClr val="212121"/>
                </a:solidFill>
                <a:latin typeface="Tahoma"/>
                <a:cs typeface="Tahoma"/>
              </a:rPr>
              <a:t>simultaneously</a:t>
            </a:r>
            <a:r>
              <a:rPr sz="1800" spc="-105" dirty="0">
                <a:solidFill>
                  <a:srgbClr val="212121"/>
                </a:solidFill>
                <a:latin typeface="Tahoma"/>
                <a:cs typeface="Tahoma"/>
              </a:rPr>
              <a:t> </a:t>
            </a:r>
            <a:r>
              <a:rPr sz="1800" dirty="0">
                <a:solidFill>
                  <a:srgbClr val="212121"/>
                </a:solidFill>
                <a:latin typeface="Tahoma"/>
                <a:cs typeface="Tahoma"/>
              </a:rPr>
              <a:t>on</a:t>
            </a:r>
            <a:r>
              <a:rPr sz="1800" spc="-100" dirty="0">
                <a:solidFill>
                  <a:srgbClr val="212121"/>
                </a:solidFill>
                <a:latin typeface="Tahoma"/>
                <a:cs typeface="Tahoma"/>
              </a:rPr>
              <a:t> </a:t>
            </a:r>
            <a:r>
              <a:rPr sz="1800" spc="-25" dirty="0">
                <a:solidFill>
                  <a:srgbClr val="212121"/>
                </a:solidFill>
                <a:latin typeface="Tahoma"/>
                <a:cs typeface="Tahoma"/>
              </a:rPr>
              <a:t>all </a:t>
            </a:r>
            <a:r>
              <a:rPr sz="1800" dirty="0">
                <a:solidFill>
                  <a:srgbClr val="212121"/>
                </a:solidFill>
                <a:latin typeface="Tahoma"/>
                <a:cs typeface="Tahoma"/>
              </a:rPr>
              <a:t>four</a:t>
            </a:r>
            <a:r>
              <a:rPr sz="1800" spc="-90" dirty="0">
                <a:solidFill>
                  <a:srgbClr val="212121"/>
                </a:solidFill>
                <a:latin typeface="Tahoma"/>
                <a:cs typeface="Tahoma"/>
              </a:rPr>
              <a:t> </a:t>
            </a:r>
            <a:r>
              <a:rPr sz="1800" spc="-45" dirty="0">
                <a:solidFill>
                  <a:srgbClr val="212121"/>
                </a:solidFill>
                <a:latin typeface="Tahoma"/>
                <a:cs typeface="Tahoma"/>
              </a:rPr>
              <a:t>legs.</a:t>
            </a:r>
            <a:r>
              <a:rPr sz="1800" spc="-80" dirty="0">
                <a:solidFill>
                  <a:srgbClr val="212121"/>
                </a:solidFill>
                <a:latin typeface="Tahoma"/>
                <a:cs typeface="Tahoma"/>
              </a:rPr>
              <a:t> </a:t>
            </a:r>
            <a:r>
              <a:rPr sz="1800" dirty="0">
                <a:solidFill>
                  <a:srgbClr val="212121"/>
                </a:solidFill>
                <a:latin typeface="Tahoma"/>
                <a:cs typeface="Tahoma"/>
              </a:rPr>
              <a:t>That</a:t>
            </a:r>
            <a:r>
              <a:rPr sz="1800" spc="-95" dirty="0">
                <a:solidFill>
                  <a:srgbClr val="212121"/>
                </a:solidFill>
                <a:latin typeface="Tahoma"/>
                <a:cs typeface="Tahoma"/>
              </a:rPr>
              <a:t> </a:t>
            </a:r>
            <a:r>
              <a:rPr sz="1800" dirty="0">
                <a:solidFill>
                  <a:srgbClr val="212121"/>
                </a:solidFill>
                <a:latin typeface="Tahoma"/>
                <a:cs typeface="Tahoma"/>
              </a:rPr>
              <a:t>is</a:t>
            </a:r>
            <a:r>
              <a:rPr sz="1800" spc="-75" dirty="0">
                <a:solidFill>
                  <a:srgbClr val="212121"/>
                </a:solidFill>
                <a:latin typeface="Tahoma"/>
                <a:cs typeface="Tahoma"/>
              </a:rPr>
              <a:t> </a:t>
            </a:r>
            <a:r>
              <a:rPr sz="1800" spc="-10" dirty="0">
                <a:solidFill>
                  <a:srgbClr val="212121"/>
                </a:solidFill>
                <a:latin typeface="Tahoma"/>
                <a:cs typeface="Tahoma"/>
              </a:rPr>
              <a:t>definitely </a:t>
            </a:r>
            <a:r>
              <a:rPr sz="1800" dirty="0">
                <a:solidFill>
                  <a:srgbClr val="212121"/>
                </a:solidFill>
                <a:latin typeface="Tahoma"/>
                <a:cs typeface="Tahoma"/>
              </a:rPr>
              <a:t>not</a:t>
            </a:r>
            <a:r>
              <a:rPr sz="1800" spc="-85" dirty="0">
                <a:solidFill>
                  <a:srgbClr val="212121"/>
                </a:solidFill>
                <a:latin typeface="Tahoma"/>
                <a:cs typeface="Tahoma"/>
              </a:rPr>
              <a:t> </a:t>
            </a:r>
            <a:r>
              <a:rPr sz="1800" dirty="0">
                <a:solidFill>
                  <a:srgbClr val="212121"/>
                </a:solidFill>
                <a:latin typeface="Tahoma"/>
                <a:cs typeface="Tahoma"/>
              </a:rPr>
              <a:t>possible</a:t>
            </a:r>
            <a:r>
              <a:rPr sz="1800" spc="-70" dirty="0">
                <a:solidFill>
                  <a:srgbClr val="212121"/>
                </a:solidFill>
                <a:latin typeface="Tahoma"/>
                <a:cs typeface="Tahoma"/>
              </a:rPr>
              <a:t> </a:t>
            </a:r>
            <a:r>
              <a:rPr sz="1800" dirty="0">
                <a:solidFill>
                  <a:srgbClr val="212121"/>
                </a:solidFill>
                <a:latin typeface="Tahoma"/>
                <a:cs typeface="Tahoma"/>
              </a:rPr>
              <a:t>in</a:t>
            </a:r>
            <a:r>
              <a:rPr sz="1800" spc="-75" dirty="0">
                <a:solidFill>
                  <a:srgbClr val="212121"/>
                </a:solidFill>
                <a:latin typeface="Tahoma"/>
                <a:cs typeface="Tahoma"/>
              </a:rPr>
              <a:t> </a:t>
            </a:r>
            <a:r>
              <a:rPr sz="1800" spc="-10" dirty="0">
                <a:solidFill>
                  <a:srgbClr val="212121"/>
                </a:solidFill>
                <a:latin typeface="Tahoma"/>
                <a:cs typeface="Tahoma"/>
              </a:rPr>
              <a:t>real</a:t>
            </a:r>
            <a:r>
              <a:rPr sz="1800" spc="-95" dirty="0">
                <a:solidFill>
                  <a:srgbClr val="212121"/>
                </a:solidFill>
                <a:latin typeface="Tahoma"/>
                <a:cs typeface="Tahoma"/>
              </a:rPr>
              <a:t> </a:t>
            </a:r>
            <a:r>
              <a:rPr sz="1800" spc="-10" dirty="0">
                <a:solidFill>
                  <a:srgbClr val="212121"/>
                </a:solidFill>
                <a:latin typeface="Tahoma"/>
                <a:cs typeface="Tahoma"/>
              </a:rPr>
              <a:t>life!</a:t>
            </a:r>
            <a:endParaRPr sz="1800">
              <a:latin typeface="Tahoma"/>
              <a:cs typeface="Tahoma"/>
            </a:endParaRPr>
          </a:p>
        </p:txBody>
      </p:sp>
      <p:pic>
        <p:nvPicPr>
          <p:cNvPr id="4" name="object 4"/>
          <p:cNvPicPr/>
          <p:nvPr/>
        </p:nvPicPr>
        <p:blipFill>
          <a:blip r:embed="rId2" cstate="print"/>
          <a:stretch>
            <a:fillRect/>
          </a:stretch>
        </p:blipFill>
        <p:spPr>
          <a:xfrm>
            <a:off x="4856988" y="702563"/>
            <a:ext cx="7144511" cy="534314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49082" y="609600"/>
            <a:ext cx="8361718" cy="4953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TotalTime>
  <Words>1512</Words>
  <Application>Microsoft Office PowerPoint</Application>
  <PresentationFormat>Widescreen</PresentationFormat>
  <Paragraphs>92</Paragraphs>
  <Slides>38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Arial MT</vt:lpstr>
      <vt:lpstr>Calibri</vt:lpstr>
      <vt:lpstr>Calibri Light</vt:lpstr>
      <vt:lpstr>Georgia</vt:lpstr>
      <vt:lpstr>Roboto</vt:lpstr>
      <vt:lpstr>Segoe UI</vt:lpstr>
      <vt:lpstr>Tahoma</vt:lpstr>
      <vt:lpstr>Times New Roman</vt:lpstr>
      <vt:lpstr>Trebuchet MS</vt:lpstr>
      <vt:lpstr>Office Theme</vt:lpstr>
      <vt:lpstr>Generative Adversarial Network (GAN) </vt:lpstr>
      <vt:lpstr>PowerPoint Presentation</vt:lpstr>
      <vt:lpstr>PowerPoint Presentation</vt:lpstr>
      <vt:lpstr>PowerPoint Presentation</vt:lpstr>
      <vt:lpstr>PowerPoint Presentation</vt:lpstr>
      <vt:lpstr>Deepfakes?-Face synthesis with GANs and Autoencoders</vt:lpstr>
      <vt:lpstr>Closest Real Images</vt:lpstr>
      <vt:lpstr>PowerPoint Presentation</vt:lpstr>
      <vt:lpstr>PowerPoint Presentation</vt:lpstr>
      <vt:lpstr>PowerPoint Presentation</vt:lpstr>
      <vt:lpstr>FaceApp</vt:lpstr>
      <vt:lpstr>Face de-aging</vt:lpstr>
      <vt:lpstr>Text to Image Generation</vt:lpstr>
      <vt:lpstr>Text to Image Translation</vt:lpstr>
      <vt:lpstr>Photos to Emojis</vt:lpstr>
      <vt:lpstr>Image Editing</vt:lpstr>
      <vt:lpstr>PowerPoint Presentation</vt:lpstr>
      <vt:lpstr>Increasing Resolution of an image : Generate a high resolution photo from a comparatively low resolution.</vt:lpstr>
      <vt:lpstr>Interactive Image Generation : Draw simple strokes and let the GAN draw an impressive picture for you!</vt:lpstr>
      <vt:lpstr>Image to Image Translation</vt:lpstr>
      <vt:lpstr>Pix2Pix GAN Image-to-image translation with conditional adversarial networks</vt:lpstr>
      <vt:lpstr>Image to image Translation (Cycle GAN)</vt:lpstr>
      <vt:lpstr>Creative GANs for generation, of text, music poerty, lyrics, metaphors MuseGAN: Using GANs to generate original Music</vt:lpstr>
      <vt:lpstr>How GAN works?</vt:lpstr>
      <vt:lpstr>Generative Adversarial Networks(GAN in short) is an advancement in the field of Machine Learning which is capable of generating new data samples including Text, Audio, Images, Videos, etc. using previously available data.</vt:lpstr>
      <vt:lpstr>PowerPoint Presentation</vt:lpstr>
      <vt:lpstr>PowerPoint Presentation</vt:lpstr>
      <vt:lpstr>PowerPoint Presentation</vt:lpstr>
      <vt:lpstr>Steps of training</vt:lpstr>
      <vt:lpstr>PowerPoint Presentation</vt:lpstr>
      <vt:lpstr>Steps to train GAN</vt:lpstr>
      <vt:lpstr>Loss Function of GAN</vt:lpstr>
      <vt:lpstr>Min-max</vt:lpstr>
      <vt:lpstr>PowerPoint Presentation</vt:lpstr>
      <vt:lpstr>Challenges of GAN</vt:lpstr>
      <vt:lpstr>Challenges of GAN</vt:lpstr>
      <vt:lpstr>Challenges of GAN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Sarath S</dc:creator>
  <cp:lastModifiedBy>saraths</cp:lastModifiedBy>
  <cp:revision>1</cp:revision>
  <dcterms:created xsi:type="dcterms:W3CDTF">2025-06-13T04:34:28Z</dcterms:created>
  <dcterms:modified xsi:type="dcterms:W3CDTF">2025-06-17T10:25:06Z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2022-05-30T00:00:00Z</vt:filetime>
  </property>
  <property fmtid="{D5CDD505-2E9C-101B-9397-08002B2CF9AE}" pid="3" name="Creator">
    <vt:lpwstr>Microsoft® PowerPoint® for Microsoft 365</vt:lpwstr>
  </property>
  <property fmtid="{D5CDD505-2E9C-101B-9397-08002B2CF9AE}" pid="4" name="LastSaved">
    <vt:filetime>2025-06-13T00:00:00Z</vt:filetime>
  </property>
  <property fmtid="{D5CDD505-2E9C-101B-9397-08002B2CF9AE}" pid="5" name="Producer">
    <vt:lpwstr>Microsoft® PowerPoint® for Microsoft 365</vt:lpwstr>
  </property>
</Properties>
</file>
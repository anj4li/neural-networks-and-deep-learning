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46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347" r:id="rId44"/>
    <p:sldId id="297" r:id="rId45"/>
    <p:sldId id="298" r:id="rId46"/>
    <p:sldId id="349" r:id="rId47"/>
    <p:sldId id="299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643E7062-ECE0-4E63-826A-AB1A5C21B8C5}">
          <p14:sldIdLst>
            <p14:sldId id="300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346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347"/>
            <p14:sldId id="297"/>
            <p14:sldId id="298"/>
            <p14:sldId id="349"/>
            <p14:sldId id="299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54152-5C25-3C90-E3AD-4A6CB22A4782}" v="4" dt="2025-11-12T23:44:58.498"/>
    <p1510:client id="{226D99AA-25C6-826A-3409-A0D77609F82C}" v="27" dt="2025-11-13T04:29:12.641"/>
    <p1510:client id="{AF9A63B3-3DE8-D0F0-ED9E-30578A6893D5}" v="35" dt="2025-11-11T10:56:57.2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s" userId="S::saraths@am.amrita.edu::244d0ad9-751b-45dc-a37d-eb545e66f5d8" providerId="AD" clId="Web-{20B54152-5C25-3C90-E3AD-4A6CB22A4782}"/>
    <pc:docChg chg="modSld">
      <pc:chgData name="saraths" userId="S::saraths@am.amrita.edu::244d0ad9-751b-45dc-a37d-eb545e66f5d8" providerId="AD" clId="Web-{20B54152-5C25-3C90-E3AD-4A6CB22A4782}" dt="2025-11-12T23:44:57.092" v="1"/>
      <pc:docMkLst>
        <pc:docMk/>
      </pc:docMkLst>
      <pc:sldChg chg="modSp">
        <pc:chgData name="saraths" userId="S::saraths@am.amrita.edu::244d0ad9-751b-45dc-a37d-eb545e66f5d8" providerId="AD" clId="Web-{20B54152-5C25-3C90-E3AD-4A6CB22A4782}" dt="2025-11-12T23:44:57.092" v="1"/>
        <pc:sldMkLst>
          <pc:docMk/>
          <pc:sldMk cId="0" sldId="284"/>
        </pc:sldMkLst>
        <pc:graphicFrameChg chg="mod modGraphic">
          <ac:chgData name="saraths" userId="S::saraths@am.amrita.edu::244d0ad9-751b-45dc-a37d-eb545e66f5d8" providerId="AD" clId="Web-{20B54152-5C25-3C90-E3AD-4A6CB22A4782}" dt="2025-11-12T23:44:57.092" v="1"/>
          <ac:graphicFrameMkLst>
            <pc:docMk/>
            <pc:sldMk cId="0" sldId="284"/>
            <ac:graphicFrameMk id="2" creationId="{00000000-0000-0000-0000-000000000000}"/>
          </ac:graphicFrameMkLst>
        </pc:graphicFrameChg>
      </pc:sldChg>
    </pc:docChg>
  </pc:docChgLst>
  <pc:docChgLst>
    <pc:chgData name="saraths" userId="S::saraths@am.amrita.edu::244d0ad9-751b-45dc-a37d-eb545e66f5d8" providerId="AD" clId="Web-{AF9A63B3-3DE8-D0F0-ED9E-30578A6893D5}"/>
    <pc:docChg chg="modSld">
      <pc:chgData name="saraths" userId="S::saraths@am.amrita.edu::244d0ad9-751b-45dc-a37d-eb545e66f5d8" providerId="AD" clId="Web-{AF9A63B3-3DE8-D0F0-ED9E-30578A6893D5}" dt="2025-11-11T10:56:55.655" v="20" actId="20577"/>
      <pc:docMkLst>
        <pc:docMk/>
      </pc:docMkLst>
      <pc:sldChg chg="addSp delSp modSp">
        <pc:chgData name="saraths" userId="S::saraths@am.amrita.edu::244d0ad9-751b-45dc-a37d-eb545e66f5d8" providerId="AD" clId="Web-{AF9A63B3-3DE8-D0F0-ED9E-30578A6893D5}" dt="2025-11-11T10:55:13.386" v="18" actId="20577"/>
        <pc:sldMkLst>
          <pc:docMk/>
          <pc:sldMk cId="0" sldId="266"/>
        </pc:sldMkLst>
        <pc:spChg chg="mod">
          <ac:chgData name="saraths" userId="S::saraths@am.amrita.edu::244d0ad9-751b-45dc-a37d-eb545e66f5d8" providerId="AD" clId="Web-{AF9A63B3-3DE8-D0F0-ED9E-30578A6893D5}" dt="2025-11-11T10:54:33.994" v="13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raths" userId="S::saraths@am.amrita.edu::244d0ad9-751b-45dc-a37d-eb545e66f5d8" providerId="AD" clId="Web-{AF9A63B3-3DE8-D0F0-ED9E-30578A6893D5}" dt="2025-11-11T10:54:09.681" v="9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saraths" userId="S::saraths@am.amrita.edu::244d0ad9-751b-45dc-a37d-eb545e66f5d8" providerId="AD" clId="Web-{AF9A63B3-3DE8-D0F0-ED9E-30578A6893D5}" dt="2025-11-11T10:55:13.386" v="18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saraths" userId="S::saraths@am.amrita.edu::244d0ad9-751b-45dc-a37d-eb545e66f5d8" providerId="AD" clId="Web-{AF9A63B3-3DE8-D0F0-ED9E-30578A6893D5}" dt="2025-11-11T10:54:44.604" v="15" actId="1076"/>
          <ac:spMkLst>
            <pc:docMk/>
            <pc:sldMk cId="0" sldId="266"/>
            <ac:spMk id="8" creationId="{00000000-0000-0000-0000-000000000000}"/>
          </ac:spMkLst>
        </pc:spChg>
        <pc:picChg chg="mod">
          <ac:chgData name="saraths" userId="S::saraths@am.amrita.edu::244d0ad9-751b-45dc-a37d-eb545e66f5d8" providerId="AD" clId="Web-{AF9A63B3-3DE8-D0F0-ED9E-30578A6893D5}" dt="2025-11-11T10:50:54.380" v="0" actId="1076"/>
          <ac:picMkLst>
            <pc:docMk/>
            <pc:sldMk cId="0" sldId="266"/>
            <ac:picMk id="3" creationId="{00000000-0000-0000-0000-000000000000}"/>
          </ac:picMkLst>
        </pc:picChg>
        <pc:picChg chg="mod modCrop">
          <ac:chgData name="saraths" userId="S::saraths@am.amrita.edu::244d0ad9-751b-45dc-a37d-eb545e66f5d8" providerId="AD" clId="Web-{AF9A63B3-3DE8-D0F0-ED9E-30578A6893D5}" dt="2025-11-11T10:54:39.276" v="14" actId="1076"/>
          <ac:picMkLst>
            <pc:docMk/>
            <pc:sldMk cId="0" sldId="266"/>
            <ac:picMk id="7" creationId="{00000000-0000-0000-0000-000000000000}"/>
          </ac:picMkLst>
        </pc:picChg>
        <pc:picChg chg="add mod">
          <ac:chgData name="saraths" userId="S::saraths@am.amrita.edu::244d0ad9-751b-45dc-a37d-eb545e66f5d8" providerId="AD" clId="Web-{AF9A63B3-3DE8-D0F0-ED9E-30578A6893D5}" dt="2025-11-11T10:54:52.120" v="17" actId="14100"/>
          <ac:picMkLst>
            <pc:docMk/>
            <pc:sldMk cId="0" sldId="266"/>
            <ac:picMk id="9" creationId="{5E00A5A1-373E-B5C0-53BF-E93353043B82}"/>
          </ac:picMkLst>
        </pc:picChg>
      </pc:sldChg>
      <pc:sldChg chg="modSp">
        <pc:chgData name="saraths" userId="S::saraths@am.amrita.edu::244d0ad9-751b-45dc-a37d-eb545e66f5d8" providerId="AD" clId="Web-{AF9A63B3-3DE8-D0F0-ED9E-30578A6893D5}" dt="2025-11-11T10:56:55.655" v="20" actId="20577"/>
        <pc:sldMkLst>
          <pc:docMk/>
          <pc:sldMk cId="0" sldId="283"/>
        </pc:sldMkLst>
        <pc:spChg chg="mod">
          <ac:chgData name="saraths" userId="S::saraths@am.amrita.edu::244d0ad9-751b-45dc-a37d-eb545e66f5d8" providerId="AD" clId="Web-{AF9A63B3-3DE8-D0F0-ED9E-30578A6893D5}" dt="2025-11-11T10:56:50.593" v="19" actId="20577"/>
          <ac:spMkLst>
            <pc:docMk/>
            <pc:sldMk cId="0" sldId="283"/>
            <ac:spMk id="3" creationId="{00000000-0000-0000-0000-000000000000}"/>
          </ac:spMkLst>
        </pc:spChg>
        <pc:spChg chg="mod">
          <ac:chgData name="saraths" userId="S::saraths@am.amrita.edu::244d0ad9-751b-45dc-a37d-eb545e66f5d8" providerId="AD" clId="Web-{AF9A63B3-3DE8-D0F0-ED9E-30578A6893D5}" dt="2025-11-11T10:56:55.655" v="20" actId="20577"/>
          <ac:spMkLst>
            <pc:docMk/>
            <pc:sldMk cId="0" sldId="283"/>
            <ac:spMk id="5" creationId="{2153C356-6DA2-8A99-4CD2-4557931BAF63}"/>
          </ac:spMkLst>
        </pc:spChg>
      </pc:sldChg>
    </pc:docChg>
  </pc:docChgLst>
  <pc:docChgLst>
    <pc:chgData name="saraths" userId="S::saraths@am.amrita.edu::244d0ad9-751b-45dc-a37d-eb545e66f5d8" providerId="AD" clId="Web-{226D99AA-25C6-826A-3409-A0D77609F82C}"/>
    <pc:docChg chg="delSld modSld modSection">
      <pc:chgData name="saraths" userId="S::saraths@am.amrita.edu::244d0ad9-751b-45dc-a37d-eb545e66f5d8" providerId="AD" clId="Web-{226D99AA-25C6-826A-3409-A0D77609F82C}" dt="2025-11-13T04:29:12.641" v="26" actId="1076"/>
      <pc:docMkLst>
        <pc:docMk/>
      </pc:docMkLst>
      <pc:sldChg chg="del">
        <pc:chgData name="saraths" userId="S::saraths@am.amrita.edu::244d0ad9-751b-45dc-a37d-eb545e66f5d8" providerId="AD" clId="Web-{226D99AA-25C6-826A-3409-A0D77609F82C}" dt="2025-11-13T04:14:33.744" v="1"/>
        <pc:sldMkLst>
          <pc:docMk/>
          <pc:sldMk cId="0" sldId="310"/>
        </pc:sldMkLst>
      </pc:sldChg>
      <pc:sldChg chg="addSp delSp modSp">
        <pc:chgData name="saraths" userId="S::saraths@am.amrita.edu::244d0ad9-751b-45dc-a37d-eb545e66f5d8" providerId="AD" clId="Web-{226D99AA-25C6-826A-3409-A0D77609F82C}" dt="2025-11-13T04:29:12.641" v="26" actId="1076"/>
        <pc:sldMkLst>
          <pc:docMk/>
          <pc:sldMk cId="0" sldId="313"/>
        </pc:sldMkLst>
        <pc:spChg chg="add mod">
          <ac:chgData name="saraths" userId="S::saraths@am.amrita.edu::244d0ad9-751b-45dc-a37d-eb545e66f5d8" providerId="AD" clId="Web-{226D99AA-25C6-826A-3409-A0D77609F82C}" dt="2025-11-13T04:29:12.641" v="26" actId="1076"/>
          <ac:spMkLst>
            <pc:docMk/>
            <pc:sldMk cId="0" sldId="313"/>
            <ac:spMk id="9" creationId="{33E3104E-2971-C562-E172-D822386BE3AD}"/>
          </ac:spMkLst>
        </pc:spChg>
        <pc:spChg chg="add mod">
          <ac:chgData name="saraths" userId="S::saraths@am.amrita.edu::244d0ad9-751b-45dc-a37d-eb545e66f5d8" providerId="AD" clId="Web-{226D99AA-25C6-826A-3409-A0D77609F82C}" dt="2025-11-13T04:16:07.104" v="13" actId="1076"/>
          <ac:spMkLst>
            <pc:docMk/>
            <pc:sldMk cId="0" sldId="313"/>
            <ac:spMk id="10" creationId="{BCE75A81-DBDC-E49F-E9E6-3567E4E39645}"/>
          </ac:spMkLst>
        </pc:spChg>
        <pc:spChg chg="add del mod">
          <ac:chgData name="saraths" userId="S::saraths@am.amrita.edu::244d0ad9-751b-45dc-a37d-eb545e66f5d8" providerId="AD" clId="Web-{226D99AA-25C6-826A-3409-A0D77609F82C}" dt="2025-11-13T04:28:36.375" v="18"/>
          <ac:spMkLst>
            <pc:docMk/>
            <pc:sldMk cId="0" sldId="313"/>
            <ac:spMk id="11" creationId="{E46ED2C1-9E9A-9FAB-C215-EE2E987D2AAE}"/>
          </ac:spMkLst>
        </pc:spChg>
        <pc:spChg chg="add mod">
          <ac:chgData name="saraths" userId="S::saraths@am.amrita.edu::244d0ad9-751b-45dc-a37d-eb545e66f5d8" providerId="AD" clId="Web-{226D99AA-25C6-826A-3409-A0D77609F82C}" dt="2025-11-13T04:29:04.985" v="25" actId="14100"/>
          <ac:spMkLst>
            <pc:docMk/>
            <pc:sldMk cId="0" sldId="313"/>
            <ac:spMk id="12" creationId="{732B1892-36A1-E07F-0F01-D3B167D99487}"/>
          </ac:spMkLst>
        </pc:spChg>
      </pc:sldChg>
      <pc:sldChg chg="del">
        <pc:chgData name="saraths" userId="S::saraths@am.amrita.edu::244d0ad9-751b-45dc-a37d-eb545e66f5d8" providerId="AD" clId="Web-{226D99AA-25C6-826A-3409-A0D77609F82C}" dt="2025-11-13T04:14:07.134" v="0"/>
        <pc:sldMkLst>
          <pc:docMk/>
          <pc:sldMk cId="716383076" sldId="34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722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370320"/>
            <a:ext cx="12192000" cy="4876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6490714"/>
            <a:ext cx="1781556" cy="313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100" y="210058"/>
            <a:ext cx="1189979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4598" y="2823209"/>
            <a:ext cx="5716905" cy="139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2.png"/><Relationship Id="rId21" Type="http://schemas.openxmlformats.org/officeDocument/2006/relationships/image" Target="../media/image77.png"/><Relationship Id="rId42" Type="http://schemas.openxmlformats.org/officeDocument/2006/relationships/image" Target="../media/image98.png"/><Relationship Id="rId47" Type="http://schemas.openxmlformats.org/officeDocument/2006/relationships/image" Target="../media/image103.png"/><Relationship Id="rId63" Type="http://schemas.openxmlformats.org/officeDocument/2006/relationships/image" Target="../media/image118.png"/><Relationship Id="rId68" Type="http://schemas.openxmlformats.org/officeDocument/2006/relationships/image" Target="../media/image123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9" Type="http://schemas.openxmlformats.org/officeDocument/2006/relationships/image" Target="../media/image85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32" Type="http://schemas.openxmlformats.org/officeDocument/2006/relationships/image" Target="../media/image88.png"/><Relationship Id="rId37" Type="http://schemas.openxmlformats.org/officeDocument/2006/relationships/image" Target="../media/image93.png"/><Relationship Id="rId40" Type="http://schemas.openxmlformats.org/officeDocument/2006/relationships/image" Target="../media/image96.png"/><Relationship Id="rId45" Type="http://schemas.openxmlformats.org/officeDocument/2006/relationships/image" Target="../media/image101.png"/><Relationship Id="rId53" Type="http://schemas.openxmlformats.org/officeDocument/2006/relationships/image" Target="../media/image109.png"/><Relationship Id="rId58" Type="http://schemas.openxmlformats.org/officeDocument/2006/relationships/image" Target="../media/image45.png"/><Relationship Id="rId66" Type="http://schemas.openxmlformats.org/officeDocument/2006/relationships/image" Target="../media/image121.png"/><Relationship Id="rId5" Type="http://schemas.openxmlformats.org/officeDocument/2006/relationships/image" Target="../media/image61.png"/><Relationship Id="rId61" Type="http://schemas.openxmlformats.org/officeDocument/2006/relationships/image" Target="../media/image116.png"/><Relationship Id="rId19" Type="http://schemas.openxmlformats.org/officeDocument/2006/relationships/image" Target="../media/image7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30" Type="http://schemas.openxmlformats.org/officeDocument/2006/relationships/image" Target="../media/image86.png"/><Relationship Id="rId35" Type="http://schemas.openxmlformats.org/officeDocument/2006/relationships/image" Target="../media/image91.png"/><Relationship Id="rId43" Type="http://schemas.openxmlformats.org/officeDocument/2006/relationships/image" Target="../media/image99.png"/><Relationship Id="rId48" Type="http://schemas.openxmlformats.org/officeDocument/2006/relationships/image" Target="../media/image104.png"/><Relationship Id="rId56" Type="http://schemas.openxmlformats.org/officeDocument/2006/relationships/image" Target="../media/image112.png"/><Relationship Id="rId64" Type="http://schemas.openxmlformats.org/officeDocument/2006/relationships/image" Target="../media/image119.png"/><Relationship Id="rId69" Type="http://schemas.openxmlformats.org/officeDocument/2006/relationships/image" Target="../media/image124.png"/><Relationship Id="rId8" Type="http://schemas.openxmlformats.org/officeDocument/2006/relationships/image" Target="../media/image64.png"/><Relationship Id="rId51" Type="http://schemas.openxmlformats.org/officeDocument/2006/relationships/image" Target="../media/image107.png"/><Relationship Id="rId3" Type="http://schemas.openxmlformats.org/officeDocument/2006/relationships/image" Target="../media/image59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image" Target="../media/image94.png"/><Relationship Id="rId46" Type="http://schemas.openxmlformats.org/officeDocument/2006/relationships/image" Target="../media/image102.png"/><Relationship Id="rId59" Type="http://schemas.openxmlformats.org/officeDocument/2006/relationships/image" Target="../media/image114.png"/><Relationship Id="rId67" Type="http://schemas.openxmlformats.org/officeDocument/2006/relationships/image" Target="../media/image122.png"/><Relationship Id="rId20" Type="http://schemas.openxmlformats.org/officeDocument/2006/relationships/image" Target="../media/image76.png"/><Relationship Id="rId41" Type="http://schemas.openxmlformats.org/officeDocument/2006/relationships/image" Target="../media/image97.png"/><Relationship Id="rId54" Type="http://schemas.openxmlformats.org/officeDocument/2006/relationships/image" Target="../media/image110.png"/><Relationship Id="rId62" Type="http://schemas.openxmlformats.org/officeDocument/2006/relationships/image" Target="../media/image1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36" Type="http://schemas.openxmlformats.org/officeDocument/2006/relationships/image" Target="../media/image92.png"/><Relationship Id="rId49" Type="http://schemas.openxmlformats.org/officeDocument/2006/relationships/image" Target="../media/image105.png"/><Relationship Id="rId57" Type="http://schemas.openxmlformats.org/officeDocument/2006/relationships/image" Target="../media/image113.png"/><Relationship Id="rId10" Type="http://schemas.openxmlformats.org/officeDocument/2006/relationships/image" Target="../media/image66.png"/><Relationship Id="rId31" Type="http://schemas.openxmlformats.org/officeDocument/2006/relationships/image" Target="../media/image87.png"/><Relationship Id="rId44" Type="http://schemas.openxmlformats.org/officeDocument/2006/relationships/image" Target="../media/image100.png"/><Relationship Id="rId52" Type="http://schemas.openxmlformats.org/officeDocument/2006/relationships/image" Target="../media/image108.png"/><Relationship Id="rId60" Type="http://schemas.openxmlformats.org/officeDocument/2006/relationships/image" Target="../media/image115.png"/><Relationship Id="rId65" Type="http://schemas.openxmlformats.org/officeDocument/2006/relationships/image" Target="../media/image120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9" Type="http://schemas.openxmlformats.org/officeDocument/2006/relationships/image" Target="../media/image95.png"/><Relationship Id="rId34" Type="http://schemas.openxmlformats.org/officeDocument/2006/relationships/image" Target="../media/image90.png"/><Relationship Id="rId50" Type="http://schemas.openxmlformats.org/officeDocument/2006/relationships/image" Target="../media/image106.png"/><Relationship Id="rId55" Type="http://schemas.openxmlformats.org/officeDocument/2006/relationships/image" Target="../media/image1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g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8.jpg"/><Relationship Id="rId4" Type="http://schemas.openxmlformats.org/officeDocument/2006/relationships/image" Target="../media/image127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1.jpg"/><Relationship Id="rId4" Type="http://schemas.openxmlformats.org/officeDocument/2006/relationships/image" Target="../media/image140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2.jpg"/><Relationship Id="rId4" Type="http://schemas.openxmlformats.org/officeDocument/2006/relationships/image" Target="../media/image140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3.jpg"/><Relationship Id="rId4" Type="http://schemas.openxmlformats.org/officeDocument/2006/relationships/image" Target="../media/image14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4.jpg"/><Relationship Id="rId4" Type="http://schemas.openxmlformats.org/officeDocument/2006/relationships/image" Target="../media/image140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5.jpg"/><Relationship Id="rId4" Type="http://schemas.openxmlformats.org/officeDocument/2006/relationships/image" Target="../media/image140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6.jpg"/><Relationship Id="rId4" Type="http://schemas.openxmlformats.org/officeDocument/2006/relationships/image" Target="../media/image140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7.jpg"/><Relationship Id="rId4" Type="http://schemas.openxmlformats.org/officeDocument/2006/relationships/image" Target="../media/image140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g"/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0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4.jpg"/><Relationship Id="rId4" Type="http://schemas.openxmlformats.org/officeDocument/2006/relationships/image" Target="../media/image153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jpg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g"/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jpg"/><Relationship Id="rId2" Type="http://schemas.openxmlformats.org/officeDocument/2006/relationships/image" Target="../media/image16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jpg"/><Relationship Id="rId7" Type="http://schemas.openxmlformats.org/officeDocument/2006/relationships/image" Target="../media/image170.jpg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9.jpg"/><Relationship Id="rId5" Type="http://schemas.openxmlformats.org/officeDocument/2006/relationships/image" Target="../media/image168.jpg"/><Relationship Id="rId4" Type="http://schemas.openxmlformats.org/officeDocument/2006/relationships/image" Target="../media/image167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jpg"/><Relationship Id="rId2" Type="http://schemas.openxmlformats.org/officeDocument/2006/relationships/image" Target="../media/image17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jp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jpg"/><Relationship Id="rId3" Type="http://schemas.openxmlformats.org/officeDocument/2006/relationships/image" Target="../media/image175.jpg"/><Relationship Id="rId7" Type="http://schemas.openxmlformats.org/officeDocument/2006/relationships/image" Target="../media/image179.jpg"/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8.jpg"/><Relationship Id="rId5" Type="http://schemas.openxmlformats.org/officeDocument/2006/relationships/image" Target="../media/image177.jpg"/><Relationship Id="rId4" Type="http://schemas.openxmlformats.org/officeDocument/2006/relationships/image" Target="../media/image176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g"/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3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jpg"/><Relationship Id="rId2" Type="http://schemas.openxmlformats.org/officeDocument/2006/relationships/image" Target="../media/image18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jpg"/><Relationship Id="rId5" Type="http://schemas.openxmlformats.org/officeDocument/2006/relationships/image" Target="../media/image187.jpg"/><Relationship Id="rId4" Type="http://schemas.openxmlformats.org/officeDocument/2006/relationships/image" Target="../media/image186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g"/><Relationship Id="rId7" Type="http://schemas.openxmlformats.org/officeDocument/2006/relationships/image" Target="../media/image192.png"/><Relationship Id="rId2" Type="http://schemas.openxmlformats.org/officeDocument/2006/relationships/image" Target="../media/image18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jpg"/><Relationship Id="rId5" Type="http://schemas.openxmlformats.org/officeDocument/2006/relationships/image" Target="../media/image132.jpg"/><Relationship Id="rId4" Type="http://schemas.openxmlformats.org/officeDocument/2006/relationships/image" Target="../media/image191.jp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jpg"/><Relationship Id="rId2" Type="http://schemas.openxmlformats.org/officeDocument/2006/relationships/image" Target="../media/image193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jpg"/><Relationship Id="rId2" Type="http://schemas.openxmlformats.org/officeDocument/2006/relationships/image" Target="../media/image19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8.png"/><Relationship Id="rId5" Type="http://schemas.openxmlformats.org/officeDocument/2006/relationships/image" Target="../media/image191.jpg"/><Relationship Id="rId4" Type="http://schemas.openxmlformats.org/officeDocument/2006/relationships/image" Target="../media/image197.jp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jpg"/><Relationship Id="rId2" Type="http://schemas.openxmlformats.org/officeDocument/2006/relationships/image" Target="../media/image201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jpg"/><Relationship Id="rId2" Type="http://schemas.openxmlformats.org/officeDocument/2006/relationships/image" Target="../media/image203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g"/><Relationship Id="rId2" Type="http://schemas.openxmlformats.org/officeDocument/2006/relationships/image" Target="../media/image20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6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jpg"/><Relationship Id="rId7" Type="http://schemas.openxmlformats.org/officeDocument/2006/relationships/image" Target="../media/image212.jpg"/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1.jpg"/><Relationship Id="rId5" Type="http://schemas.openxmlformats.org/officeDocument/2006/relationships/image" Target="../media/image210.jpg"/><Relationship Id="rId4" Type="http://schemas.openxmlformats.org/officeDocument/2006/relationships/image" Target="../media/image209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jpg"/><Relationship Id="rId2" Type="http://schemas.openxmlformats.org/officeDocument/2006/relationships/image" Target="../media/image21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5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jpg"/><Relationship Id="rId2" Type="http://schemas.openxmlformats.org/officeDocument/2006/relationships/image" Target="../media/image216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jpg"/><Relationship Id="rId2" Type="http://schemas.openxmlformats.org/officeDocument/2006/relationships/image" Target="../media/image218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jpg"/><Relationship Id="rId2" Type="http://schemas.openxmlformats.org/officeDocument/2006/relationships/image" Target="../media/image2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jpg"/><Relationship Id="rId4" Type="http://schemas.openxmlformats.org/officeDocument/2006/relationships/image" Target="../media/image222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jpg"/><Relationship Id="rId2" Type="http://schemas.openxmlformats.org/officeDocument/2006/relationships/image" Target="../media/image22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5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jpg"/><Relationship Id="rId2" Type="http://schemas.openxmlformats.org/officeDocument/2006/relationships/image" Target="../media/image226.jp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jpg"/><Relationship Id="rId2" Type="http://schemas.openxmlformats.org/officeDocument/2006/relationships/image" Target="../media/image228.jp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jpg"/><Relationship Id="rId2" Type="http://schemas.openxmlformats.org/officeDocument/2006/relationships/image" Target="../media/image230.jp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jpg"/><Relationship Id="rId2" Type="http://schemas.openxmlformats.org/officeDocument/2006/relationships/image" Target="../media/image232.jp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45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12" Type="http://schemas.openxmlformats.org/officeDocument/2006/relationships/image" Target="../media/image244.png"/><Relationship Id="rId2" Type="http://schemas.openxmlformats.org/officeDocument/2006/relationships/image" Target="../media/image234.jpg"/><Relationship Id="rId16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11" Type="http://schemas.openxmlformats.org/officeDocument/2006/relationships/image" Target="../media/image243.png"/><Relationship Id="rId5" Type="http://schemas.openxmlformats.org/officeDocument/2006/relationships/image" Target="../media/image237.png"/><Relationship Id="rId15" Type="http://schemas.openxmlformats.org/officeDocument/2006/relationships/image" Target="../media/image247.png"/><Relationship Id="rId10" Type="http://schemas.openxmlformats.org/officeDocument/2006/relationships/image" Target="../media/image242.png"/><Relationship Id="rId4" Type="http://schemas.openxmlformats.org/officeDocument/2006/relationships/image" Target="../media/image236.png"/><Relationship Id="rId9" Type="http://schemas.openxmlformats.org/officeDocument/2006/relationships/image" Target="../media/image241.png"/><Relationship Id="rId14" Type="http://schemas.openxmlformats.org/officeDocument/2006/relationships/image" Target="../media/image24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jpg"/><Relationship Id="rId2" Type="http://schemas.openxmlformats.org/officeDocument/2006/relationships/image" Target="../media/image249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jp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jpg"/><Relationship Id="rId2" Type="http://schemas.openxmlformats.org/officeDocument/2006/relationships/image" Target="../media/image25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8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jpg"/><Relationship Id="rId2" Type="http://schemas.openxmlformats.org/officeDocument/2006/relationships/image" Target="../media/image259.jp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jpg"/><Relationship Id="rId2" Type="http://schemas.openxmlformats.org/officeDocument/2006/relationships/image" Target="../media/image26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3.jp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jpg"/><Relationship Id="rId2" Type="http://schemas.openxmlformats.org/officeDocument/2006/relationships/image" Target="../media/image26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7.jpg"/><Relationship Id="rId4" Type="http://schemas.openxmlformats.org/officeDocument/2006/relationships/image" Target="../media/image266.jp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jpg"/><Relationship Id="rId2" Type="http://schemas.openxmlformats.org/officeDocument/2006/relationships/image" Target="../media/image268.jp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jpg"/><Relationship Id="rId2" Type="http://schemas.openxmlformats.org/officeDocument/2006/relationships/image" Target="../media/image26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15" y="2576464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3969489" y="2310506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4038600" y="2596836"/>
            <a:ext cx="746760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Sequential Models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Recurrent Neural Network ( RNN)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Long Short-Term Memory Cells( LSTM)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Encoder- Decoder Models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Attention Mechanism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6622" y="1506982"/>
            <a:ext cx="8873490" cy="3844290"/>
            <a:chOff x="2436622" y="1506982"/>
            <a:chExt cx="8873490" cy="3844290"/>
          </a:xfrm>
        </p:grpSpPr>
        <p:sp>
          <p:nvSpPr>
            <p:cNvPr id="3" name="object 3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8860536" y="0"/>
                  </a:moveTo>
                  <a:lnTo>
                    <a:pt x="0" y="0"/>
                  </a:lnTo>
                  <a:lnTo>
                    <a:pt x="0" y="3831336"/>
                  </a:lnTo>
                  <a:lnTo>
                    <a:pt x="8860536" y="3831336"/>
                  </a:lnTo>
                  <a:lnTo>
                    <a:pt x="8860536" y="0"/>
                  </a:lnTo>
                  <a:close/>
                </a:path>
              </a:pathLst>
            </a:custGeom>
            <a:solidFill>
              <a:srgbClr val="FCD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0" y="3831336"/>
                  </a:moveTo>
                  <a:lnTo>
                    <a:pt x="8860536" y="3831336"/>
                  </a:lnTo>
                  <a:lnTo>
                    <a:pt x="8860536" y="0"/>
                  </a:lnTo>
                  <a:lnTo>
                    <a:pt x="0" y="0"/>
                  </a:lnTo>
                  <a:lnTo>
                    <a:pt x="0" y="38313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22347" y="2737484"/>
            <a:ext cx="6378575" cy="131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00000"/>
                </a:solidFill>
                <a:latin typeface="Calibri"/>
                <a:cs typeface="Calibri"/>
              </a:rPr>
              <a:t>Sequential</a:t>
            </a:r>
            <a:r>
              <a:rPr sz="4800" b="1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b="1" spc="-10" dirty="0">
                <a:solidFill>
                  <a:srgbClr val="000000"/>
                </a:solidFill>
                <a:latin typeface="Calibri"/>
                <a:cs typeface="Calibri"/>
              </a:rPr>
              <a:t>Models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Recurrent</a:t>
            </a:r>
            <a:r>
              <a:rPr sz="3600" b="1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Neural</a:t>
            </a:r>
            <a:r>
              <a:rPr sz="3600" b="1"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Network</a:t>
            </a:r>
            <a:r>
              <a:rPr sz="3600" b="1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sz="3600" b="1"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000000"/>
                </a:solidFill>
                <a:latin typeface="Calibri"/>
                <a:cs typeface="Calibri"/>
              </a:rPr>
              <a:t>RNN)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6045809"/>
            <a:ext cx="693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Courtesy: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Mitesh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Kapra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NPTEL,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analytics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vidya,fast.ai,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coursera: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AndrewNG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3228289"/>
            <a:ext cx="110039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70" dirty="0">
                <a:solidFill>
                  <a:srgbClr val="A4A4A4"/>
                </a:solidFill>
                <a:latin typeface="Tahoma"/>
                <a:cs typeface="Tahoma"/>
              </a:rPr>
              <a:t>“We</a:t>
            </a:r>
            <a:r>
              <a:rPr sz="5400" b="1" spc="-260" dirty="0">
                <a:solidFill>
                  <a:srgbClr val="A4A4A4"/>
                </a:solidFill>
                <a:latin typeface="Tahoma"/>
                <a:cs typeface="Tahoma"/>
              </a:rPr>
              <a:t> </a:t>
            </a:r>
            <a:r>
              <a:rPr sz="5400" b="1" spc="-285" dirty="0">
                <a:solidFill>
                  <a:srgbClr val="A4A4A4"/>
                </a:solidFill>
                <a:latin typeface="Tahoma"/>
                <a:cs typeface="Tahoma"/>
              </a:rPr>
              <a:t>love</a:t>
            </a:r>
            <a:r>
              <a:rPr sz="5400" b="1" spc="-280" dirty="0">
                <a:solidFill>
                  <a:srgbClr val="A4A4A4"/>
                </a:solidFill>
                <a:latin typeface="Tahoma"/>
                <a:cs typeface="Tahoma"/>
              </a:rPr>
              <a:t> </a:t>
            </a:r>
            <a:r>
              <a:rPr sz="5400" b="1" spc="-385" dirty="0">
                <a:solidFill>
                  <a:srgbClr val="A4A4A4"/>
                </a:solidFill>
                <a:latin typeface="Tahoma"/>
                <a:cs typeface="Tahoma"/>
              </a:rPr>
              <a:t>working</a:t>
            </a:r>
            <a:r>
              <a:rPr sz="5400" b="1" spc="-260" dirty="0">
                <a:solidFill>
                  <a:srgbClr val="A4A4A4"/>
                </a:solidFill>
                <a:latin typeface="Tahoma"/>
                <a:cs typeface="Tahoma"/>
              </a:rPr>
              <a:t> </a:t>
            </a:r>
            <a:r>
              <a:rPr sz="5400" b="1" spc="-340" dirty="0">
                <a:solidFill>
                  <a:srgbClr val="A4A4A4"/>
                </a:solidFill>
                <a:latin typeface="Tahoma"/>
                <a:cs typeface="Tahoma"/>
              </a:rPr>
              <a:t>on</a:t>
            </a:r>
            <a:r>
              <a:rPr sz="5400" b="1" spc="-254" dirty="0">
                <a:solidFill>
                  <a:srgbClr val="A4A4A4"/>
                </a:solidFill>
                <a:latin typeface="Tahoma"/>
                <a:cs typeface="Tahoma"/>
              </a:rPr>
              <a:t> </a:t>
            </a:r>
            <a:r>
              <a:rPr sz="5400" b="1" spc="-355" dirty="0">
                <a:solidFill>
                  <a:srgbClr val="A4A4A4"/>
                </a:solidFill>
                <a:latin typeface="Tahoma"/>
                <a:cs typeface="Tahoma"/>
              </a:rPr>
              <a:t>deep</a:t>
            </a:r>
            <a:r>
              <a:rPr sz="5400" b="1" spc="-260" dirty="0">
                <a:solidFill>
                  <a:srgbClr val="A4A4A4"/>
                </a:solidFill>
                <a:latin typeface="Tahoma"/>
                <a:cs typeface="Tahoma"/>
              </a:rPr>
              <a:t> </a:t>
            </a:r>
            <a:r>
              <a:rPr sz="5400" b="1" spc="-430" dirty="0">
                <a:solidFill>
                  <a:srgbClr val="A4A4A4"/>
                </a:solidFill>
                <a:latin typeface="Tahoma"/>
                <a:cs typeface="Tahoma"/>
              </a:rPr>
              <a:t>learning”</a:t>
            </a:r>
            <a:endParaRPr sz="5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19299" y="2247519"/>
            <a:ext cx="7027545" cy="516255"/>
            <a:chOff x="2019299" y="2247519"/>
            <a:chExt cx="7027545" cy="5162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9299" y="2613629"/>
              <a:ext cx="6957830" cy="1498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0696" y="2247519"/>
              <a:ext cx="7025767" cy="46075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4483" y="1240523"/>
            <a:ext cx="10915650" cy="66523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145535" y="4671059"/>
            <a:ext cx="4458970" cy="532130"/>
            <a:chOff x="3145535" y="4671059"/>
            <a:chExt cx="4458970" cy="53213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45535" y="5042918"/>
              <a:ext cx="4456939" cy="1596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6551" y="4671059"/>
              <a:ext cx="4457446" cy="4607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671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kind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tasks</a:t>
            </a:r>
            <a:r>
              <a:rPr spc="-15" dirty="0"/>
              <a:t> </a:t>
            </a:r>
            <a:r>
              <a:rPr spc="-50" dirty="0"/>
              <a:t>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1660" y="3087623"/>
            <a:ext cx="4858335" cy="12421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2725" y="1321765"/>
            <a:ext cx="10142855" cy="241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985" algn="just">
              <a:lnSpc>
                <a:spcPct val="100000"/>
              </a:lnSpc>
              <a:spcBef>
                <a:spcPts val="100"/>
              </a:spcBef>
              <a:buSzPct val="94444"/>
              <a:buFont typeface="Tahoma"/>
              <a:buChar char="•"/>
              <a:tabLst>
                <a:tab pos="146685" algn="l"/>
              </a:tabLst>
            </a:pPr>
            <a:r>
              <a:rPr sz="1800" b="1" spc="-130" dirty="0">
                <a:solidFill>
                  <a:srgbClr val="212121"/>
                </a:solidFill>
                <a:latin typeface="Tahoma"/>
                <a:cs typeface="Tahoma"/>
              </a:rPr>
              <a:t>Sentiment</a:t>
            </a:r>
            <a:r>
              <a:rPr sz="1800" b="1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212121"/>
                </a:solidFill>
                <a:latin typeface="Tahoma"/>
                <a:cs typeface="Tahoma"/>
              </a:rPr>
              <a:t>Classification</a:t>
            </a:r>
            <a:r>
              <a:rPr sz="1800" b="1" spc="-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212121"/>
                </a:solidFill>
                <a:latin typeface="Tahoma"/>
                <a:cs typeface="Tahoma"/>
              </a:rPr>
              <a:t>–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This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task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simply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classifying</a:t>
            </a:r>
            <a:r>
              <a:rPr sz="1800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tweets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212121"/>
                </a:solidFill>
                <a:latin typeface="Tahoma"/>
                <a:cs typeface="Tahoma"/>
              </a:rPr>
              <a:t>into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positive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negative sentiment.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So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here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C00000"/>
                </a:solidFill>
                <a:latin typeface="Tahoma"/>
                <a:cs typeface="Tahoma"/>
              </a:rPr>
              <a:t>input</a:t>
            </a:r>
            <a:r>
              <a:rPr sz="1800" b="1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Tahoma"/>
                <a:cs typeface="Tahoma"/>
              </a:rPr>
              <a:t>would</a:t>
            </a:r>
            <a:r>
              <a:rPr sz="1800" b="1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Tahoma"/>
                <a:cs typeface="Tahoma"/>
              </a:rPr>
              <a:t>be</a:t>
            </a:r>
            <a:r>
              <a:rPr sz="1800" b="1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7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1800" b="1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C00000"/>
                </a:solidFill>
                <a:latin typeface="Tahoma"/>
                <a:cs typeface="Tahoma"/>
              </a:rPr>
              <a:t>tweet</a:t>
            </a:r>
            <a:r>
              <a:rPr sz="1800" b="1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1800" b="1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Tahoma"/>
                <a:cs typeface="Tahoma"/>
              </a:rPr>
              <a:t>varying</a:t>
            </a:r>
            <a:r>
              <a:rPr sz="1800" b="1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C00000"/>
                </a:solidFill>
                <a:latin typeface="Tahoma"/>
                <a:cs typeface="Tahoma"/>
              </a:rPr>
              <a:t>lengths</a:t>
            </a:r>
            <a:r>
              <a:rPr sz="1800" spc="-135" dirty="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while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C00000"/>
                </a:solidFill>
                <a:latin typeface="Tahoma"/>
                <a:cs typeface="Tahoma"/>
              </a:rPr>
              <a:t>output</a:t>
            </a:r>
            <a:r>
              <a:rPr sz="1800" b="1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C00000"/>
                </a:solidFill>
                <a:latin typeface="Tahoma"/>
                <a:cs typeface="Tahoma"/>
              </a:rPr>
              <a:t>is</a:t>
            </a:r>
            <a:r>
              <a:rPr sz="1800" b="1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1800" b="1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7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1800" b="1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C00000"/>
                </a:solidFill>
                <a:latin typeface="Tahoma"/>
                <a:cs typeface="Tahoma"/>
              </a:rPr>
              <a:t>fixed</a:t>
            </a:r>
            <a:r>
              <a:rPr sz="1800" b="1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C00000"/>
                </a:solidFill>
                <a:latin typeface="Tahoma"/>
                <a:cs typeface="Tahoma"/>
              </a:rPr>
              <a:t>type</a:t>
            </a:r>
            <a:r>
              <a:rPr sz="1800" b="1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Tahoma"/>
                <a:cs typeface="Tahoma"/>
              </a:rPr>
              <a:t>size.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>
              <a:latin typeface="Tahoma"/>
              <a:cs typeface="Tahoma"/>
            </a:endParaRPr>
          </a:p>
          <a:p>
            <a:pPr marL="144145">
              <a:lnSpc>
                <a:spcPct val="100000"/>
              </a:lnSpc>
            </a:pPr>
            <a:r>
              <a:rPr sz="8100" spc="944" dirty="0">
                <a:solidFill>
                  <a:srgbClr val="212121"/>
                </a:solidFill>
                <a:latin typeface="Tahoma"/>
                <a:cs typeface="Tahoma"/>
              </a:rPr>
              <a:t>•</a:t>
            </a:r>
            <a:endParaRPr sz="8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kind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tasks</a:t>
            </a:r>
            <a:r>
              <a:rPr spc="-15" dirty="0"/>
              <a:t> </a:t>
            </a:r>
            <a:r>
              <a:rPr spc="-50" dirty="0"/>
              <a:t>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5984" y="900683"/>
            <a:ext cx="5952000" cy="50566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0986" y="1715515"/>
            <a:ext cx="335216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016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220" dirty="0">
                <a:solidFill>
                  <a:srgbClr val="212121"/>
                </a:solidFill>
                <a:latin typeface="Tahoma"/>
                <a:cs typeface="Tahoma"/>
              </a:rPr>
              <a:t>	Image</a:t>
            </a:r>
            <a:r>
              <a:rPr sz="1800" b="1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212121"/>
                </a:solidFill>
                <a:latin typeface="Tahoma"/>
                <a:cs typeface="Tahoma"/>
              </a:rPr>
              <a:t>Captioning</a:t>
            </a:r>
            <a:r>
              <a:rPr sz="1800" b="1" spc="-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–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Here,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let’s say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have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12121"/>
                </a:solidFill>
                <a:latin typeface="Tahoma"/>
                <a:cs typeface="Tahoma"/>
              </a:rPr>
              <a:t>an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image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which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need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textual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description.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So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have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single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input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–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image,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series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sequence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words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output.</a:t>
            </a:r>
            <a:r>
              <a:rPr sz="1800" spc="-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Here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image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might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fixed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size,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but</a:t>
            </a:r>
            <a:r>
              <a:rPr sz="1800" spc="-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output</a:t>
            </a:r>
            <a:r>
              <a:rPr sz="1800" spc="-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description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of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varying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lengths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2215718"/>
            <a:ext cx="59169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016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155" dirty="0">
                <a:solidFill>
                  <a:srgbClr val="212121"/>
                </a:solidFill>
                <a:latin typeface="Tahoma"/>
                <a:cs typeface="Tahoma"/>
              </a:rPr>
              <a:t>	Language</a:t>
            </a:r>
            <a:r>
              <a:rPr sz="1800" b="1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212121"/>
                </a:solidFill>
                <a:latin typeface="Tahoma"/>
                <a:cs typeface="Tahoma"/>
              </a:rPr>
              <a:t>Translation</a:t>
            </a:r>
            <a:r>
              <a:rPr sz="1800" b="1" spc="-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–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This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basically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means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have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some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text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particular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language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let’s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say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English,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we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wish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translate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it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French.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Each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language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12121"/>
                </a:solidFill>
                <a:latin typeface="Tahoma"/>
                <a:cs typeface="Tahoma"/>
              </a:rPr>
              <a:t>has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it’s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own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semantics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would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have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varying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lengths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same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sentence.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So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here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inputs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well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outputs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of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varying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lengths.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4011" y="1491996"/>
            <a:ext cx="4399788" cy="3695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035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kind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tasks</a:t>
            </a:r>
            <a:r>
              <a:rPr spc="-15" dirty="0"/>
              <a:t> </a:t>
            </a:r>
            <a:r>
              <a:rPr spc="-50" dirty="0"/>
              <a:t>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45552" y="812291"/>
            <a:ext cx="4013200" cy="5039995"/>
            <a:chOff x="7845552" y="812291"/>
            <a:chExt cx="4013200" cy="50399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5552" y="5586983"/>
              <a:ext cx="4012692" cy="2651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8579" y="812291"/>
              <a:ext cx="2903164" cy="477469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161" y="2021001"/>
            <a:ext cx="5890476" cy="266699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759" y="5000244"/>
            <a:ext cx="6350508" cy="11567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5552" y="5913120"/>
            <a:ext cx="4012692" cy="2651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61250" y="5496931"/>
            <a:ext cx="293370" cy="67437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800" b="1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  <a:spcBef>
                <a:spcPts val="400"/>
              </a:spcBef>
            </a:pPr>
            <a:r>
              <a:rPr sz="1800" b="1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34311"/>
            <a:ext cx="12192000" cy="5123815"/>
            <a:chOff x="0" y="1734311"/>
            <a:chExt cx="12192000" cy="5123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471" y="1734311"/>
              <a:ext cx="9153903" cy="3390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2756" y="5102352"/>
              <a:ext cx="5943600" cy="12374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Sequence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50" dirty="0"/>
              <a:t> </a:t>
            </a:r>
            <a:r>
              <a:rPr spc="-10" dirty="0"/>
              <a:t>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683" y="1833372"/>
            <a:ext cx="10371584" cy="30578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91914" y="4998846"/>
            <a:ext cx="7069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Awesome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adjective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3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identifying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movie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noun</a:t>
            </a:r>
            <a:r>
              <a:rPr sz="1800" spc="5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bank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noun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verb.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context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matters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943" y="4998846"/>
            <a:ext cx="21602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encoding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convert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number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829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880"/>
              </a:spcBef>
            </a:pPr>
            <a:r>
              <a:rPr dirty="0"/>
              <a:t>Sequence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50" dirty="0"/>
              <a:t> </a:t>
            </a:r>
            <a:r>
              <a:rPr spc="-10" dirty="0"/>
              <a:t>Problems</a:t>
            </a:r>
          </a:p>
          <a:p>
            <a:pPr marL="2616835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Sequence</a:t>
            </a:r>
            <a:r>
              <a:rPr sz="18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0000"/>
                </a:solidFill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230" rIns="0" bIns="0" rtlCol="0">
            <a:spAutoFit/>
          </a:bodyPr>
          <a:lstStyle/>
          <a:p>
            <a:pPr marL="50419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Sequence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45" dirty="0"/>
              <a:t> </a:t>
            </a:r>
            <a:r>
              <a:rPr dirty="0"/>
              <a:t>Problems-</a:t>
            </a:r>
            <a:r>
              <a:rPr spc="-20" dirty="0"/>
              <a:t> </a:t>
            </a:r>
            <a:r>
              <a:rPr dirty="0"/>
              <a:t>Predict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polarity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the </a:t>
            </a:r>
            <a:r>
              <a:rPr spc="-10" dirty="0"/>
              <a:t>sentence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0683" y="1833372"/>
            <a:ext cx="10372090" cy="3167380"/>
            <a:chOff x="900683" y="1833372"/>
            <a:chExt cx="10372090" cy="31673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0683" y="1833372"/>
              <a:ext cx="10371584" cy="30578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927" y="1857756"/>
              <a:ext cx="10296144" cy="314248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66978" y="5633415"/>
            <a:ext cx="8962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no: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single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classifies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polarity-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negative.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154" y="-315829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spc="-30" dirty="0"/>
              <a:t> </a:t>
            </a:r>
            <a:r>
              <a:rPr dirty="0"/>
              <a:t>sequence</a:t>
            </a:r>
            <a:r>
              <a:rPr spc="-30" dirty="0"/>
              <a:t> </a:t>
            </a:r>
            <a:r>
              <a:rPr dirty="0"/>
              <a:t>learning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1524" y="1035644"/>
            <a:ext cx="3505200" cy="12280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41264" y="2266831"/>
            <a:ext cx="4189729" cy="8483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Speech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Processing</a:t>
            </a:r>
            <a:r>
              <a:rPr sz="1800" spc="-10" dirty="0">
                <a:latin typeface="Calibri"/>
                <a:cs typeface="Calibri"/>
              </a:rPr>
              <a:t>-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another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sequence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Take </a:t>
            </a:r>
            <a:r>
              <a:rPr sz="1800" dirty="0">
                <a:latin typeface="Calibri"/>
                <a:cs typeface="Calibri"/>
              </a:rPr>
              <a:t>audio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signals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input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classify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phonemes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91158" y="3853770"/>
            <a:ext cx="3896995" cy="112331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b="1" spc="-40" dirty="0">
                <a:latin typeface="Calibri"/>
                <a:cs typeface="Calibri"/>
              </a:rPr>
              <a:t>Yoga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Video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classification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: 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frame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video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correspond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we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classify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frames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into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rcRect t="57" r="-44" b="50310"/>
          <a:stretch>
            <a:fillRect/>
          </a:stretch>
        </p:blipFill>
        <p:spPr>
          <a:xfrm>
            <a:off x="465142" y="638101"/>
            <a:ext cx="6250763" cy="201905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3501" y="5431006"/>
            <a:ext cx="61239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Classify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yoga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posters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Yoga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exercise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-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frames,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single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Yoga </a:t>
            </a:r>
            <a:r>
              <a:rPr sz="1800" spc="-10" dirty="0">
                <a:latin typeface="Calibri"/>
                <a:cs typeface="Calibri"/>
              </a:rPr>
              <a:t>exercise </a:t>
            </a:r>
            <a:r>
              <a:rPr sz="1800" dirty="0">
                <a:latin typeface="Calibri"/>
                <a:cs typeface="Calibri"/>
              </a:rPr>
              <a:t>name.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challenges-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frames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Picture 8" descr="A person doing yoga in different poses&#10;&#10;AI-generated content may be incorrect.">
            <a:extLst>
              <a:ext uri="{FF2B5EF4-FFF2-40B4-BE49-F238E27FC236}">
                <a16:creationId xmlns:a16="http://schemas.microsoft.com/office/drawing/2014/main" id="{5E00A5A1-373E-B5C0-53BF-E93353043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494" y="2659755"/>
            <a:ext cx="3414646" cy="2772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00" y="-175890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can</a:t>
            </a:r>
            <a:r>
              <a:rPr spc="-20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solution?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6503" y="2207702"/>
            <a:ext cx="2321765" cy="38660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26127" y="777240"/>
            <a:ext cx="8006080" cy="5483860"/>
            <a:chOff x="1295400" y="777240"/>
            <a:chExt cx="8006080" cy="54838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5500" y="777240"/>
              <a:ext cx="7205472" cy="32598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5400" y="3867912"/>
              <a:ext cx="8005572" cy="23926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20" dirty="0"/>
              <a:t> </a:t>
            </a:r>
            <a:r>
              <a:rPr spc="-10" dirty="0"/>
              <a:t>Revisited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3683" y="1524000"/>
            <a:ext cx="8104632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Feed</a:t>
            </a:r>
            <a:r>
              <a:rPr spc="-30" dirty="0"/>
              <a:t> </a:t>
            </a:r>
            <a:r>
              <a:rPr dirty="0"/>
              <a:t>Forward</a:t>
            </a:r>
            <a:r>
              <a:rPr spc="-30" dirty="0"/>
              <a:t> </a:t>
            </a:r>
            <a:r>
              <a:rPr spc="-10" dirty="0"/>
              <a:t>Revisited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483" y="1043939"/>
            <a:ext cx="7655052" cy="50947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583" y="1165860"/>
            <a:ext cx="7805928" cy="45552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740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105"/>
              </a:spcBef>
            </a:pPr>
            <a:r>
              <a:rPr dirty="0"/>
              <a:t>Feed</a:t>
            </a:r>
            <a:r>
              <a:rPr spc="-30" dirty="0"/>
              <a:t> </a:t>
            </a:r>
            <a:r>
              <a:rPr dirty="0"/>
              <a:t>Forward</a:t>
            </a:r>
            <a:r>
              <a:rPr spc="-30" dirty="0"/>
              <a:t> </a:t>
            </a:r>
            <a:r>
              <a:rPr spc="-10" dirty="0"/>
              <a:t>Revisited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843" y="2263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Handling</a:t>
            </a:r>
            <a:r>
              <a:rPr spc="-75" dirty="0"/>
              <a:t> </a:t>
            </a:r>
            <a:r>
              <a:rPr dirty="0"/>
              <a:t>individual</a:t>
            </a:r>
            <a:r>
              <a:rPr spc="-55" dirty="0"/>
              <a:t> </a:t>
            </a:r>
            <a:r>
              <a:rPr dirty="0"/>
              <a:t>Time</a:t>
            </a:r>
            <a:r>
              <a:rPr spc="-30" dirty="0"/>
              <a:t> </a:t>
            </a:r>
            <a:r>
              <a:rPr spc="-10" dirty="0"/>
              <a:t>steps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181" y="1053083"/>
            <a:ext cx="10895122" cy="50764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01" y="0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Neurons</a:t>
            </a:r>
            <a:r>
              <a:rPr spc="-4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Recurrence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" y="1136903"/>
            <a:ext cx="1056894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7" y="5861303"/>
            <a:ext cx="11210544" cy="5151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40" dirty="0"/>
              <a:t> </a:t>
            </a:r>
            <a:r>
              <a:rPr spc="-10" dirty="0"/>
              <a:t>Networks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907" y="847997"/>
            <a:ext cx="4125548" cy="47457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1248" y="847997"/>
            <a:ext cx="6324600" cy="48341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61742" y="6528613"/>
            <a:ext cx="1936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@MIT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DeepLearning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1104" y="812291"/>
            <a:ext cx="11741150" cy="5372100"/>
            <a:chOff x="451104" y="812291"/>
            <a:chExt cx="11741150" cy="5372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1351" y="812291"/>
              <a:ext cx="7470648" cy="53721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104" y="975359"/>
              <a:ext cx="4389120" cy="47457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098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40" dirty="0"/>
              <a:t> </a:t>
            </a:r>
            <a:r>
              <a:rPr spc="-10" dirty="0"/>
              <a:t>Networks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86925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0" dirty="0"/>
              <a:t> </a:t>
            </a:r>
            <a:r>
              <a:rPr dirty="0"/>
              <a:t>solution</a:t>
            </a:r>
            <a:r>
              <a:rPr spc="-4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Recurrent</a:t>
            </a:r>
            <a:r>
              <a:rPr spc="-25" dirty="0"/>
              <a:t> </a:t>
            </a:r>
            <a:r>
              <a:rPr dirty="0"/>
              <a:t>Neural</a:t>
            </a:r>
            <a:r>
              <a:rPr spc="-40" dirty="0"/>
              <a:t> </a:t>
            </a:r>
            <a:r>
              <a:rPr dirty="0"/>
              <a:t>Networks</a:t>
            </a:r>
            <a:r>
              <a:rPr spc="-25" dirty="0"/>
              <a:t> </a:t>
            </a:r>
            <a:r>
              <a:rPr dirty="0"/>
              <a:t>(</a:t>
            </a:r>
            <a:r>
              <a:rPr spc="-20" dirty="0"/>
              <a:t> RNN)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1" y="1871472"/>
            <a:ext cx="10325100" cy="30578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275" y="5059679"/>
            <a:ext cx="4571271" cy="1143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4871" y="5228940"/>
            <a:ext cx="5143500" cy="57170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0816" y="2852166"/>
            <a:ext cx="209550" cy="1572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05"/>
              </a:spcBef>
            </a:pPr>
            <a:r>
              <a:rPr sz="3200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5611" y="1111453"/>
            <a:ext cx="38576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RNN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satisfies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criterias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347" y="1046988"/>
            <a:ext cx="9906760" cy="22962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347" y="3931920"/>
            <a:ext cx="9648444" cy="22955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8392" y="795909"/>
            <a:ext cx="9663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Sequence</a:t>
            </a:r>
            <a:r>
              <a:rPr sz="2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eg: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sentiment</a:t>
            </a: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C00000"/>
                </a:solidFill>
                <a:latin typeface="Calibri"/>
                <a:cs typeface="Calibri"/>
              </a:rPr>
              <a:t>analysis-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Polarity)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2563" y="3419347"/>
            <a:ext cx="84277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Sequence</a:t>
            </a: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Labelling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r>
              <a:rPr sz="2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(eg:</a:t>
            </a:r>
            <a:r>
              <a:rPr sz="2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parts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speech</a:t>
            </a: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tagging)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Loss</a:t>
            </a:r>
            <a:r>
              <a:rPr spc="-25" dirty="0"/>
              <a:t> </a:t>
            </a:r>
            <a:r>
              <a:rPr dirty="0"/>
              <a:t>function</a:t>
            </a:r>
            <a:r>
              <a:rPr spc="-7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sequence</a:t>
            </a:r>
            <a:r>
              <a:rPr spc="-30" dirty="0"/>
              <a:t> </a:t>
            </a:r>
            <a:r>
              <a:rPr dirty="0"/>
              <a:t>classification</a:t>
            </a:r>
            <a:r>
              <a:rPr spc="-50" dirty="0"/>
              <a:t> </a:t>
            </a:r>
            <a:r>
              <a:rPr spc="-10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844" y="1749551"/>
            <a:ext cx="7676388" cy="23212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08492" y="2073646"/>
            <a:ext cx="3559197" cy="19881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483" y="4199654"/>
            <a:ext cx="2517762" cy="12998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59479" y="4672584"/>
            <a:ext cx="4290060" cy="138557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22860" rIns="0" bIns="0" rtlCol="0">
            <a:spAutoFit/>
          </a:bodyPr>
          <a:lstStyle/>
          <a:p>
            <a:pPr marL="91440" marR="130175">
              <a:lnSpc>
                <a:spcPct val="100000"/>
              </a:lnSpc>
              <a:spcBef>
                <a:spcPts val="180"/>
              </a:spcBef>
            </a:pPr>
            <a:r>
              <a:rPr sz="2800" dirty="0">
                <a:latin typeface="Calibri"/>
                <a:cs typeface="Calibri"/>
              </a:rPr>
              <a:t>Only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end </a:t>
            </a: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[1,0] </a:t>
            </a:r>
            <a:r>
              <a:rPr sz="2800" dirty="0">
                <a:latin typeface="Calibri"/>
                <a:cs typeface="Calibri"/>
              </a:rPr>
              <a:t>Y[i]=0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hence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log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yc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964691"/>
            <a:ext cx="11041380" cy="52532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0240" y="-63042"/>
            <a:ext cx="994156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Back</a:t>
            </a:r>
            <a:r>
              <a:rPr spc="-55" dirty="0"/>
              <a:t> </a:t>
            </a:r>
            <a:r>
              <a:rPr dirty="0"/>
              <a:t>propagation</a:t>
            </a:r>
            <a:r>
              <a:rPr spc="-65" dirty="0"/>
              <a:t> </a:t>
            </a:r>
            <a:r>
              <a:rPr dirty="0"/>
              <a:t>through</a:t>
            </a:r>
            <a:r>
              <a:rPr spc="-25" dirty="0"/>
              <a:t> </a:t>
            </a:r>
            <a:r>
              <a:rPr dirty="0"/>
              <a:t>time</a:t>
            </a:r>
            <a:r>
              <a:rPr spc="-25" dirty="0"/>
              <a:t> </a:t>
            </a:r>
            <a:r>
              <a:rPr dirty="0"/>
              <a:t>(</a:t>
            </a:r>
            <a:r>
              <a:rPr spc="-25" dirty="0"/>
              <a:t> </a:t>
            </a:r>
            <a:r>
              <a:rPr spc="-10" dirty="0"/>
              <a:t>BPTT)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6400" y="582526"/>
            <a:ext cx="9585960" cy="33845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301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9"/>
              </a:spcBef>
            </a:pPr>
            <a:r>
              <a:rPr sz="1600" dirty="0">
                <a:latin typeface="Calibri"/>
                <a:cs typeface="Calibri"/>
              </a:rPr>
              <a:t>Every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output.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(T)for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average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964691"/>
            <a:ext cx="11041380" cy="52532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0240" y="-63042"/>
            <a:ext cx="971296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Back</a:t>
            </a:r>
            <a:r>
              <a:rPr spc="-55" dirty="0"/>
              <a:t> </a:t>
            </a:r>
            <a:r>
              <a:rPr dirty="0"/>
              <a:t>propagation</a:t>
            </a:r>
            <a:r>
              <a:rPr spc="-65" dirty="0"/>
              <a:t> </a:t>
            </a:r>
            <a:r>
              <a:rPr dirty="0"/>
              <a:t>through</a:t>
            </a:r>
            <a:r>
              <a:rPr spc="-25" dirty="0"/>
              <a:t> </a:t>
            </a:r>
            <a:r>
              <a:rPr dirty="0"/>
              <a:t>time</a:t>
            </a:r>
            <a:r>
              <a:rPr spc="-25" dirty="0"/>
              <a:t> </a:t>
            </a:r>
            <a:r>
              <a:rPr dirty="0"/>
              <a:t>(</a:t>
            </a:r>
            <a:r>
              <a:rPr spc="-25" dirty="0"/>
              <a:t> </a:t>
            </a:r>
            <a:r>
              <a:rPr spc="-10" dirty="0"/>
              <a:t>BPTT)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06040" y="640081"/>
            <a:ext cx="9585960" cy="33845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301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9"/>
              </a:spcBef>
            </a:pPr>
            <a:r>
              <a:rPr sz="1600" dirty="0">
                <a:latin typeface="Calibri"/>
                <a:cs typeface="Calibri"/>
              </a:rPr>
              <a:t>Every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output.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(T)for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average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24999" y="153622"/>
            <a:ext cx="330200" cy="342900"/>
            <a:chOff x="7824999" y="153622"/>
            <a:chExt cx="330200" cy="342900"/>
          </a:xfrm>
        </p:grpSpPr>
        <p:sp>
          <p:nvSpPr>
            <p:cNvPr id="3" name="object 3"/>
            <p:cNvSpPr/>
            <p:nvPr/>
          </p:nvSpPr>
          <p:spPr>
            <a:xfrm>
              <a:off x="7824999" y="153622"/>
              <a:ext cx="240665" cy="288925"/>
            </a:xfrm>
            <a:custGeom>
              <a:avLst/>
              <a:gdLst/>
              <a:ahLst/>
              <a:cxnLst/>
              <a:rect l="l" t="t" r="r" b="b"/>
              <a:pathLst>
                <a:path w="240665" h="288925">
                  <a:moveTo>
                    <a:pt x="239451" y="0"/>
                  </a:moveTo>
                  <a:lnTo>
                    <a:pt x="233761" y="0"/>
                  </a:lnTo>
                  <a:lnTo>
                    <a:pt x="209066" y="28601"/>
                  </a:lnTo>
                  <a:lnTo>
                    <a:pt x="199267" y="16252"/>
                  </a:lnTo>
                  <a:lnTo>
                    <a:pt x="186012" y="7296"/>
                  </a:lnTo>
                  <a:lnTo>
                    <a:pt x="169797" y="1842"/>
                  </a:lnTo>
                  <a:lnTo>
                    <a:pt x="151119" y="0"/>
                  </a:lnTo>
                  <a:lnTo>
                    <a:pt x="113776" y="7888"/>
                  </a:lnTo>
                  <a:lnTo>
                    <a:pt x="81788" y="28846"/>
                  </a:lnTo>
                  <a:lnTo>
                    <a:pt x="59448" y="58816"/>
                  </a:lnTo>
                  <a:lnTo>
                    <a:pt x="51048" y="93736"/>
                  </a:lnTo>
                  <a:lnTo>
                    <a:pt x="54726" y="115284"/>
                  </a:lnTo>
                  <a:lnTo>
                    <a:pt x="64367" y="131771"/>
                  </a:lnTo>
                  <a:lnTo>
                    <a:pt x="77882" y="143341"/>
                  </a:lnTo>
                  <a:lnTo>
                    <a:pt x="93182" y="150138"/>
                  </a:lnTo>
                  <a:lnTo>
                    <a:pt x="148682" y="164775"/>
                  </a:lnTo>
                  <a:lnTo>
                    <a:pt x="160792" y="171446"/>
                  </a:lnTo>
                  <a:lnTo>
                    <a:pt x="170091" y="183552"/>
                  </a:lnTo>
                  <a:lnTo>
                    <a:pt x="173807" y="203362"/>
                  </a:lnTo>
                  <a:lnTo>
                    <a:pt x="167996" y="229868"/>
                  </a:lnTo>
                  <a:lnTo>
                    <a:pt x="152233" y="253317"/>
                  </a:lnTo>
                  <a:lnTo>
                    <a:pt x="129027" y="270061"/>
                  </a:lnTo>
                  <a:lnTo>
                    <a:pt x="100882" y="276454"/>
                  </a:lnTo>
                  <a:lnTo>
                    <a:pt x="78864" y="274319"/>
                  </a:lnTo>
                  <a:lnTo>
                    <a:pt x="55708" y="265928"/>
                  </a:lnTo>
                  <a:lnTo>
                    <a:pt x="37413" y="248300"/>
                  </a:lnTo>
                  <a:lnTo>
                    <a:pt x="29981" y="218451"/>
                  </a:lnTo>
                  <a:lnTo>
                    <a:pt x="29981" y="208918"/>
                  </a:lnTo>
                  <a:lnTo>
                    <a:pt x="32817" y="195429"/>
                  </a:lnTo>
                  <a:lnTo>
                    <a:pt x="33223" y="194240"/>
                  </a:lnTo>
                  <a:lnTo>
                    <a:pt x="33223" y="190262"/>
                  </a:lnTo>
                  <a:lnTo>
                    <a:pt x="26334" y="189850"/>
                  </a:lnTo>
                  <a:lnTo>
                    <a:pt x="24308" y="191451"/>
                  </a:lnTo>
                  <a:lnTo>
                    <a:pt x="19826" y="206535"/>
                  </a:lnTo>
                  <a:lnTo>
                    <a:pt x="0" y="284799"/>
                  </a:lnTo>
                  <a:lnTo>
                    <a:pt x="0" y="287176"/>
                  </a:lnTo>
                  <a:lnTo>
                    <a:pt x="2026" y="288777"/>
                  </a:lnTo>
                  <a:lnTo>
                    <a:pt x="6482" y="288777"/>
                  </a:lnTo>
                  <a:lnTo>
                    <a:pt x="31602" y="260176"/>
                  </a:lnTo>
                  <a:lnTo>
                    <a:pt x="46345" y="274357"/>
                  </a:lnTo>
                  <a:lnTo>
                    <a:pt x="63557" y="283110"/>
                  </a:lnTo>
                  <a:lnTo>
                    <a:pt x="81908" y="287545"/>
                  </a:lnTo>
                  <a:lnTo>
                    <a:pt x="100071" y="288777"/>
                  </a:lnTo>
                  <a:lnTo>
                    <a:pt x="139395" y="279751"/>
                  </a:lnTo>
                  <a:lnTo>
                    <a:pt x="172187" y="256200"/>
                  </a:lnTo>
                  <a:lnTo>
                    <a:pt x="194648" y="223411"/>
                  </a:lnTo>
                  <a:lnTo>
                    <a:pt x="202980" y="186672"/>
                  </a:lnTo>
                  <a:lnTo>
                    <a:pt x="200731" y="168640"/>
                  </a:lnTo>
                  <a:lnTo>
                    <a:pt x="176229" y="134539"/>
                  </a:lnTo>
                  <a:lnTo>
                    <a:pt x="104527" y="113192"/>
                  </a:lnTo>
                  <a:lnTo>
                    <a:pt x="96050" y="109001"/>
                  </a:lnTo>
                  <a:lnTo>
                    <a:pt x="88068" y="101678"/>
                  </a:lnTo>
                  <a:lnTo>
                    <a:pt x="82136" y="91076"/>
                  </a:lnTo>
                  <a:lnTo>
                    <a:pt x="79813" y="77046"/>
                  </a:lnTo>
                  <a:lnTo>
                    <a:pt x="85479" y="53173"/>
                  </a:lnTo>
                  <a:lnTo>
                    <a:pt x="100830" y="32016"/>
                  </a:lnTo>
                  <a:lnTo>
                    <a:pt x="123398" y="16890"/>
                  </a:lnTo>
                  <a:lnTo>
                    <a:pt x="150713" y="11111"/>
                  </a:lnTo>
                  <a:lnTo>
                    <a:pt x="174020" y="14474"/>
                  </a:lnTo>
                  <a:lnTo>
                    <a:pt x="192502" y="25211"/>
                  </a:lnTo>
                  <a:lnTo>
                    <a:pt x="204678" y="44290"/>
                  </a:lnTo>
                  <a:lnTo>
                    <a:pt x="209066" y="72680"/>
                  </a:lnTo>
                  <a:lnTo>
                    <a:pt x="209066" y="85391"/>
                  </a:lnTo>
                  <a:lnTo>
                    <a:pt x="207434" y="92547"/>
                  </a:lnTo>
                  <a:lnTo>
                    <a:pt x="207434" y="98903"/>
                  </a:lnTo>
                  <a:lnTo>
                    <a:pt x="216342" y="98903"/>
                  </a:lnTo>
                  <a:lnTo>
                    <a:pt x="240244" y="3978"/>
                  </a:lnTo>
                  <a:lnTo>
                    <a:pt x="2394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8855" y="311854"/>
              <a:ext cx="96193" cy="184272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8318751" y="287871"/>
            <a:ext cx="269875" cy="16510"/>
          </a:xfrm>
          <a:custGeom>
            <a:avLst/>
            <a:gdLst/>
            <a:ahLst/>
            <a:cxnLst/>
            <a:rect l="l" t="t" r="r" b="b"/>
            <a:pathLst>
              <a:path w="269875" h="16510">
                <a:moveTo>
                  <a:pt x="269410" y="0"/>
                </a:moveTo>
                <a:lnTo>
                  <a:pt x="0" y="0"/>
                </a:lnTo>
                <a:lnTo>
                  <a:pt x="0" y="15889"/>
                </a:lnTo>
                <a:lnTo>
                  <a:pt x="269410" y="15889"/>
                </a:lnTo>
                <a:lnTo>
                  <a:pt x="2694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18751" y="364941"/>
            <a:ext cx="269875" cy="16510"/>
          </a:xfrm>
          <a:custGeom>
            <a:avLst/>
            <a:gdLst/>
            <a:ahLst/>
            <a:cxnLst/>
            <a:rect l="l" t="t" r="r" b="b"/>
            <a:pathLst>
              <a:path w="269875" h="16510">
                <a:moveTo>
                  <a:pt x="269410" y="0"/>
                </a:moveTo>
                <a:lnTo>
                  <a:pt x="0" y="0"/>
                </a:lnTo>
                <a:lnTo>
                  <a:pt x="0" y="15889"/>
                </a:lnTo>
                <a:lnTo>
                  <a:pt x="269410" y="15889"/>
                </a:lnTo>
                <a:lnTo>
                  <a:pt x="2694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728592" y="258082"/>
            <a:ext cx="318770" cy="257175"/>
            <a:chOff x="8728592" y="258082"/>
            <a:chExt cx="318770" cy="257175"/>
          </a:xfrm>
        </p:grpSpPr>
        <p:sp>
          <p:nvSpPr>
            <p:cNvPr id="8" name="object 8"/>
            <p:cNvSpPr/>
            <p:nvPr/>
          </p:nvSpPr>
          <p:spPr>
            <a:xfrm>
              <a:off x="8728592" y="258082"/>
              <a:ext cx="186055" cy="257175"/>
            </a:xfrm>
            <a:custGeom>
              <a:avLst/>
              <a:gdLst/>
              <a:ahLst/>
              <a:cxnLst/>
              <a:rect l="l" t="t" r="r" b="b"/>
              <a:pathLst>
                <a:path w="186054" h="257175">
                  <a:moveTo>
                    <a:pt x="32810" y="209718"/>
                  </a:moveTo>
                  <a:lnTo>
                    <a:pt x="0" y="232763"/>
                  </a:lnTo>
                  <a:lnTo>
                    <a:pt x="2950" y="243417"/>
                  </a:lnTo>
                  <a:lnTo>
                    <a:pt x="12359" y="250985"/>
                  </a:lnTo>
                  <a:lnTo>
                    <a:pt x="29061" y="255500"/>
                  </a:lnTo>
                  <a:lnTo>
                    <a:pt x="53891" y="256998"/>
                  </a:lnTo>
                  <a:lnTo>
                    <a:pt x="87813" y="251785"/>
                  </a:lnTo>
                  <a:lnTo>
                    <a:pt x="94644" y="248264"/>
                  </a:lnTo>
                  <a:lnTo>
                    <a:pt x="48192" y="248264"/>
                  </a:lnTo>
                  <a:lnTo>
                    <a:pt x="38232" y="247613"/>
                  </a:lnTo>
                  <a:lnTo>
                    <a:pt x="29424" y="246412"/>
                  </a:lnTo>
                  <a:lnTo>
                    <a:pt x="20661" y="244286"/>
                  </a:lnTo>
                  <a:lnTo>
                    <a:pt x="28380" y="240504"/>
                  </a:lnTo>
                  <a:lnTo>
                    <a:pt x="33518" y="235155"/>
                  </a:lnTo>
                  <a:lnTo>
                    <a:pt x="36378" y="229211"/>
                  </a:lnTo>
                  <a:lnTo>
                    <a:pt x="37264" y="223641"/>
                  </a:lnTo>
                  <a:lnTo>
                    <a:pt x="37264" y="217285"/>
                  </a:lnTo>
                  <a:lnTo>
                    <a:pt x="32810" y="209718"/>
                  </a:lnTo>
                  <a:close/>
                </a:path>
                <a:path w="186054" h="257175">
                  <a:moveTo>
                    <a:pt x="152430" y="152539"/>
                  </a:moveTo>
                  <a:lnTo>
                    <a:pt x="124386" y="152539"/>
                  </a:lnTo>
                  <a:lnTo>
                    <a:pt x="124782" y="152927"/>
                  </a:lnTo>
                  <a:lnTo>
                    <a:pt x="119192" y="175561"/>
                  </a:lnTo>
                  <a:lnTo>
                    <a:pt x="114909" y="192102"/>
                  </a:lnTo>
                  <a:lnTo>
                    <a:pt x="112311" y="201802"/>
                  </a:lnTo>
                  <a:lnTo>
                    <a:pt x="111420" y="205351"/>
                  </a:lnTo>
                  <a:lnTo>
                    <a:pt x="107652" y="213571"/>
                  </a:lnTo>
                  <a:lnTo>
                    <a:pt x="97735" y="228154"/>
                  </a:lnTo>
                  <a:lnTo>
                    <a:pt x="80073" y="242064"/>
                  </a:lnTo>
                  <a:lnTo>
                    <a:pt x="53075" y="248264"/>
                  </a:lnTo>
                  <a:lnTo>
                    <a:pt x="94644" y="248264"/>
                  </a:lnTo>
                  <a:lnTo>
                    <a:pt x="113536" y="238528"/>
                  </a:lnTo>
                  <a:lnTo>
                    <a:pt x="130909" y="220799"/>
                  </a:lnTo>
                  <a:lnTo>
                    <a:pt x="139777" y="202173"/>
                  </a:lnTo>
                  <a:lnTo>
                    <a:pt x="152331" y="152927"/>
                  </a:lnTo>
                  <a:lnTo>
                    <a:pt x="152430" y="152539"/>
                  </a:lnTo>
                  <a:close/>
                </a:path>
                <a:path w="186054" h="257175">
                  <a:moveTo>
                    <a:pt x="119908" y="0"/>
                  </a:moveTo>
                  <a:lnTo>
                    <a:pt x="85366" y="9581"/>
                  </a:lnTo>
                  <a:lnTo>
                    <a:pt x="54392" y="34951"/>
                  </a:lnTo>
                  <a:lnTo>
                    <a:pt x="32075" y="71046"/>
                  </a:lnTo>
                  <a:lnTo>
                    <a:pt x="23506" y="112803"/>
                  </a:lnTo>
                  <a:lnTo>
                    <a:pt x="27820" y="139199"/>
                  </a:lnTo>
                  <a:lnTo>
                    <a:pt x="39500" y="158929"/>
                  </a:lnTo>
                  <a:lnTo>
                    <a:pt x="56650" y="171285"/>
                  </a:lnTo>
                  <a:lnTo>
                    <a:pt x="77374" y="175561"/>
                  </a:lnTo>
                  <a:lnTo>
                    <a:pt x="94233" y="172578"/>
                  </a:lnTo>
                  <a:lnTo>
                    <a:pt x="105990" y="166828"/>
                  </a:lnTo>
                  <a:lnTo>
                    <a:pt x="78586" y="166828"/>
                  </a:lnTo>
                  <a:lnTo>
                    <a:pt x="65933" y="163354"/>
                  </a:lnTo>
                  <a:lnTo>
                    <a:pt x="57832" y="154519"/>
                  </a:lnTo>
                  <a:lnTo>
                    <a:pt x="53526" y="142705"/>
                  </a:lnTo>
                  <a:lnTo>
                    <a:pt x="52258" y="130293"/>
                  </a:lnTo>
                  <a:lnTo>
                    <a:pt x="54140" y="112803"/>
                  </a:lnTo>
                  <a:lnTo>
                    <a:pt x="54266" y="111630"/>
                  </a:lnTo>
                  <a:lnTo>
                    <a:pt x="66789" y="63433"/>
                  </a:lnTo>
                  <a:lnTo>
                    <a:pt x="95356" y="19113"/>
                  </a:lnTo>
                  <a:lnTo>
                    <a:pt x="120328" y="8733"/>
                  </a:lnTo>
                  <a:lnTo>
                    <a:pt x="144016" y="8733"/>
                  </a:lnTo>
                  <a:lnTo>
                    <a:pt x="142091" y="7004"/>
                  </a:lnTo>
                  <a:lnTo>
                    <a:pt x="131607" y="1844"/>
                  </a:lnTo>
                  <a:lnTo>
                    <a:pt x="119908" y="0"/>
                  </a:lnTo>
                  <a:close/>
                </a:path>
                <a:path w="186054" h="257175">
                  <a:moveTo>
                    <a:pt x="144016" y="8733"/>
                  </a:moveTo>
                  <a:lnTo>
                    <a:pt x="120328" y="8733"/>
                  </a:lnTo>
                  <a:lnTo>
                    <a:pt x="136667" y="13793"/>
                  </a:lnTo>
                  <a:lnTo>
                    <a:pt x="146557" y="25074"/>
                  </a:lnTo>
                  <a:lnTo>
                    <a:pt x="151436" y="36723"/>
                  </a:lnTo>
                  <a:lnTo>
                    <a:pt x="152742" y="42890"/>
                  </a:lnTo>
                  <a:lnTo>
                    <a:pt x="152742" y="44879"/>
                  </a:lnTo>
                  <a:lnTo>
                    <a:pt x="151926" y="47279"/>
                  </a:lnTo>
                  <a:lnTo>
                    <a:pt x="132081" y="124715"/>
                  </a:lnTo>
                  <a:lnTo>
                    <a:pt x="104352" y="157781"/>
                  </a:lnTo>
                  <a:lnTo>
                    <a:pt x="87237" y="165687"/>
                  </a:lnTo>
                  <a:lnTo>
                    <a:pt x="86832" y="165687"/>
                  </a:lnTo>
                  <a:lnTo>
                    <a:pt x="78586" y="166828"/>
                  </a:lnTo>
                  <a:lnTo>
                    <a:pt x="105990" y="166828"/>
                  </a:lnTo>
                  <a:lnTo>
                    <a:pt x="108322" y="165687"/>
                  </a:lnTo>
                  <a:lnTo>
                    <a:pt x="118690" y="157978"/>
                  </a:lnTo>
                  <a:lnTo>
                    <a:pt x="124386" y="152539"/>
                  </a:lnTo>
                  <a:lnTo>
                    <a:pt x="152430" y="152539"/>
                  </a:lnTo>
                  <a:lnTo>
                    <a:pt x="184737" y="25811"/>
                  </a:lnTo>
                  <a:lnTo>
                    <a:pt x="184867" y="25074"/>
                  </a:lnTo>
                  <a:lnTo>
                    <a:pt x="157619" y="25074"/>
                  </a:lnTo>
                  <a:lnTo>
                    <a:pt x="150904" y="14921"/>
                  </a:lnTo>
                  <a:lnTo>
                    <a:pt x="144016" y="8733"/>
                  </a:lnTo>
                  <a:close/>
                </a:path>
                <a:path w="186054" h="257175">
                  <a:moveTo>
                    <a:pt x="181099" y="7956"/>
                  </a:moveTo>
                  <a:lnTo>
                    <a:pt x="170162" y="7956"/>
                  </a:lnTo>
                  <a:lnTo>
                    <a:pt x="159225" y="10722"/>
                  </a:lnTo>
                  <a:lnTo>
                    <a:pt x="157588" y="25074"/>
                  </a:lnTo>
                  <a:lnTo>
                    <a:pt x="184867" y="25074"/>
                  </a:lnTo>
                  <a:lnTo>
                    <a:pt x="185156" y="23434"/>
                  </a:lnTo>
                  <a:lnTo>
                    <a:pt x="185949" y="21445"/>
                  </a:lnTo>
                  <a:lnTo>
                    <a:pt x="185949" y="11911"/>
                  </a:lnTo>
                  <a:lnTo>
                    <a:pt x="181099" y="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3458" y="300263"/>
              <a:ext cx="103888" cy="192960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9130924" y="135744"/>
            <a:ext cx="94615" cy="397510"/>
          </a:xfrm>
          <a:custGeom>
            <a:avLst/>
            <a:gdLst/>
            <a:ahLst/>
            <a:cxnLst/>
            <a:rect l="l" t="t" r="r" b="b"/>
            <a:pathLst>
              <a:path w="94615" h="397509">
                <a:moveTo>
                  <a:pt x="92368" y="0"/>
                </a:moveTo>
                <a:lnTo>
                  <a:pt x="45092" y="44068"/>
                </a:lnTo>
                <a:lnTo>
                  <a:pt x="25511" y="77458"/>
                </a:lnTo>
                <a:lnTo>
                  <a:pt x="5007" y="141899"/>
                </a:lnTo>
                <a:lnTo>
                  <a:pt x="0" y="198607"/>
                </a:lnTo>
                <a:lnTo>
                  <a:pt x="1044" y="224726"/>
                </a:lnTo>
                <a:lnTo>
                  <a:pt x="13163" y="288583"/>
                </a:lnTo>
                <a:lnTo>
                  <a:pt x="46302" y="354804"/>
                </a:lnTo>
                <a:lnTo>
                  <a:pt x="81774" y="392414"/>
                </a:lnTo>
                <a:lnTo>
                  <a:pt x="92368" y="397214"/>
                </a:lnTo>
                <a:lnTo>
                  <a:pt x="94001" y="396025"/>
                </a:lnTo>
                <a:lnTo>
                  <a:pt x="94001" y="393236"/>
                </a:lnTo>
                <a:lnTo>
                  <a:pt x="94001" y="391247"/>
                </a:lnTo>
                <a:lnTo>
                  <a:pt x="87098" y="384502"/>
                </a:lnTo>
                <a:lnTo>
                  <a:pt x="55804" y="342888"/>
                </a:lnTo>
                <a:lnTo>
                  <a:pt x="36317" y="295575"/>
                </a:lnTo>
                <a:lnTo>
                  <a:pt x="26323" y="246252"/>
                </a:lnTo>
                <a:lnTo>
                  <a:pt x="23506" y="198607"/>
                </a:lnTo>
                <a:lnTo>
                  <a:pt x="26689" y="147075"/>
                </a:lnTo>
                <a:lnTo>
                  <a:pt x="37430" y="97368"/>
                </a:lnTo>
                <a:lnTo>
                  <a:pt x="57515" y="51309"/>
                </a:lnTo>
                <a:lnTo>
                  <a:pt x="88730" y="10722"/>
                </a:lnTo>
                <a:lnTo>
                  <a:pt x="94000" y="5967"/>
                </a:lnTo>
                <a:lnTo>
                  <a:pt x="94000" y="1188"/>
                </a:lnTo>
                <a:lnTo>
                  <a:pt x="923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9270048" y="162356"/>
            <a:ext cx="521970" cy="334010"/>
            <a:chOff x="9270048" y="162356"/>
            <a:chExt cx="521970" cy="334010"/>
          </a:xfrm>
        </p:grpSpPr>
        <p:sp>
          <p:nvSpPr>
            <p:cNvPr id="12" name="object 12"/>
            <p:cNvSpPr/>
            <p:nvPr/>
          </p:nvSpPr>
          <p:spPr>
            <a:xfrm>
              <a:off x="9270048" y="162356"/>
              <a:ext cx="402590" cy="280670"/>
            </a:xfrm>
            <a:custGeom>
              <a:avLst/>
              <a:gdLst/>
              <a:ahLst/>
              <a:cxnLst/>
              <a:rect l="l" t="t" r="r" b="b"/>
              <a:pathLst>
                <a:path w="402590" h="280670">
                  <a:moveTo>
                    <a:pt x="400676" y="0"/>
                  </a:moveTo>
                  <a:lnTo>
                    <a:pt x="366233" y="1188"/>
                  </a:lnTo>
                  <a:lnTo>
                    <a:pt x="316422" y="0"/>
                  </a:lnTo>
                  <a:lnTo>
                    <a:pt x="316422" y="11911"/>
                  </a:lnTo>
                  <a:lnTo>
                    <a:pt x="346388" y="32167"/>
                  </a:lnTo>
                  <a:lnTo>
                    <a:pt x="231726" y="228008"/>
                  </a:lnTo>
                  <a:lnTo>
                    <a:pt x="216755" y="30978"/>
                  </a:lnTo>
                  <a:lnTo>
                    <a:pt x="216847" y="24771"/>
                  </a:lnTo>
                  <a:lnTo>
                    <a:pt x="219678" y="18821"/>
                  </a:lnTo>
                  <a:lnTo>
                    <a:pt x="228137" y="14286"/>
                  </a:lnTo>
                  <a:lnTo>
                    <a:pt x="245111" y="12322"/>
                  </a:lnTo>
                  <a:lnTo>
                    <a:pt x="256048" y="12322"/>
                  </a:lnTo>
                  <a:lnTo>
                    <a:pt x="256048" y="388"/>
                  </a:lnTo>
                  <a:lnTo>
                    <a:pt x="191274" y="1003"/>
                  </a:lnTo>
                  <a:lnTo>
                    <a:pt x="150294" y="0"/>
                  </a:lnTo>
                  <a:lnTo>
                    <a:pt x="150294" y="12322"/>
                  </a:lnTo>
                  <a:lnTo>
                    <a:pt x="177858" y="12322"/>
                  </a:lnTo>
                  <a:lnTo>
                    <a:pt x="180679" y="14700"/>
                  </a:lnTo>
                  <a:lnTo>
                    <a:pt x="183921" y="52835"/>
                  </a:lnTo>
                  <a:lnTo>
                    <a:pt x="81431" y="228008"/>
                  </a:lnTo>
                  <a:lnTo>
                    <a:pt x="66040" y="26612"/>
                  </a:lnTo>
                  <a:lnTo>
                    <a:pt x="66521" y="22427"/>
                  </a:lnTo>
                  <a:lnTo>
                    <a:pt x="69888" y="17829"/>
                  </a:lnTo>
                  <a:lnTo>
                    <a:pt x="79026" y="14050"/>
                  </a:lnTo>
                  <a:lnTo>
                    <a:pt x="105334" y="12322"/>
                  </a:lnTo>
                  <a:lnTo>
                    <a:pt x="105334" y="0"/>
                  </a:lnTo>
                  <a:lnTo>
                    <a:pt x="39140" y="1003"/>
                  </a:lnTo>
                  <a:lnTo>
                    <a:pt x="0" y="0"/>
                  </a:lnTo>
                  <a:lnTo>
                    <a:pt x="0" y="12322"/>
                  </a:lnTo>
                  <a:lnTo>
                    <a:pt x="21910" y="13054"/>
                  </a:lnTo>
                  <a:lnTo>
                    <a:pt x="28152" y="15497"/>
                  </a:lnTo>
                  <a:lnTo>
                    <a:pt x="30747" y="20029"/>
                  </a:lnTo>
                  <a:lnTo>
                    <a:pt x="50626" y="280043"/>
                  </a:lnTo>
                  <a:lnTo>
                    <a:pt x="61167" y="280043"/>
                  </a:lnTo>
                  <a:lnTo>
                    <a:pt x="185133" y="69113"/>
                  </a:lnTo>
                  <a:lnTo>
                    <a:pt x="200944" y="278054"/>
                  </a:lnTo>
                  <a:lnTo>
                    <a:pt x="201760" y="280043"/>
                  </a:lnTo>
                  <a:lnTo>
                    <a:pt x="211881" y="280043"/>
                  </a:lnTo>
                  <a:lnTo>
                    <a:pt x="349233" y="46068"/>
                  </a:lnTo>
                  <a:lnTo>
                    <a:pt x="357002" y="33706"/>
                  </a:lnTo>
                  <a:lnTo>
                    <a:pt x="366142" y="23391"/>
                  </a:lnTo>
                  <a:lnTo>
                    <a:pt x="378173" y="15978"/>
                  </a:lnTo>
                  <a:lnTo>
                    <a:pt x="398250" y="11911"/>
                  </a:lnTo>
                  <a:lnTo>
                    <a:pt x="402308" y="11911"/>
                  </a:lnTo>
                  <a:lnTo>
                    <a:pt x="402308" y="2789"/>
                  </a:lnTo>
                  <a:lnTo>
                    <a:pt x="400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8450" y="365261"/>
              <a:ext cx="153325" cy="13086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836269" y="258082"/>
            <a:ext cx="322580" cy="238125"/>
            <a:chOff x="9836269" y="258082"/>
            <a:chExt cx="322580" cy="23812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36269" y="258082"/>
              <a:ext cx="201760" cy="1799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62585" y="311854"/>
              <a:ext cx="96193" cy="184272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0300094" y="202068"/>
            <a:ext cx="269875" cy="264795"/>
          </a:xfrm>
          <a:custGeom>
            <a:avLst/>
            <a:gdLst/>
            <a:ahLst/>
            <a:cxnLst/>
            <a:rect l="l" t="t" r="r" b="b"/>
            <a:pathLst>
              <a:path w="269875" h="264795">
                <a:moveTo>
                  <a:pt x="142948" y="0"/>
                </a:moveTo>
                <a:lnTo>
                  <a:pt x="126624" y="0"/>
                </a:lnTo>
                <a:lnTo>
                  <a:pt x="126625" y="124326"/>
                </a:lnTo>
                <a:lnTo>
                  <a:pt x="0" y="124326"/>
                </a:lnTo>
                <a:lnTo>
                  <a:pt x="0" y="140216"/>
                </a:lnTo>
                <a:lnTo>
                  <a:pt x="126625" y="140216"/>
                </a:lnTo>
                <a:lnTo>
                  <a:pt x="126625" y="264542"/>
                </a:lnTo>
                <a:lnTo>
                  <a:pt x="142948" y="264542"/>
                </a:lnTo>
                <a:lnTo>
                  <a:pt x="142948" y="140216"/>
                </a:lnTo>
                <a:lnTo>
                  <a:pt x="269340" y="140216"/>
                </a:lnTo>
                <a:lnTo>
                  <a:pt x="269340" y="124326"/>
                </a:lnTo>
                <a:lnTo>
                  <a:pt x="142948" y="124326"/>
                </a:lnTo>
                <a:lnTo>
                  <a:pt x="1429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0703522" y="162356"/>
            <a:ext cx="489584" cy="334010"/>
            <a:chOff x="10703522" y="162356"/>
            <a:chExt cx="489584" cy="334010"/>
          </a:xfrm>
        </p:grpSpPr>
        <p:sp>
          <p:nvSpPr>
            <p:cNvPr id="19" name="object 19"/>
            <p:cNvSpPr/>
            <p:nvPr/>
          </p:nvSpPr>
          <p:spPr>
            <a:xfrm>
              <a:off x="10703522" y="162356"/>
              <a:ext cx="402590" cy="280670"/>
            </a:xfrm>
            <a:custGeom>
              <a:avLst/>
              <a:gdLst/>
              <a:ahLst/>
              <a:cxnLst/>
              <a:rect l="l" t="t" r="r" b="b"/>
              <a:pathLst>
                <a:path w="402590" h="280670">
                  <a:moveTo>
                    <a:pt x="400629" y="0"/>
                  </a:moveTo>
                  <a:lnTo>
                    <a:pt x="366349" y="1188"/>
                  </a:lnTo>
                  <a:lnTo>
                    <a:pt x="316445" y="0"/>
                  </a:lnTo>
                  <a:lnTo>
                    <a:pt x="316445" y="11911"/>
                  </a:lnTo>
                  <a:lnTo>
                    <a:pt x="346528" y="32167"/>
                  </a:lnTo>
                  <a:lnTo>
                    <a:pt x="231796" y="228008"/>
                  </a:lnTo>
                  <a:lnTo>
                    <a:pt x="216871" y="30978"/>
                  </a:lnTo>
                  <a:lnTo>
                    <a:pt x="216918" y="24771"/>
                  </a:lnTo>
                  <a:lnTo>
                    <a:pt x="219699" y="18821"/>
                  </a:lnTo>
                  <a:lnTo>
                    <a:pt x="228119" y="14286"/>
                  </a:lnTo>
                  <a:lnTo>
                    <a:pt x="245088" y="12322"/>
                  </a:lnTo>
                  <a:lnTo>
                    <a:pt x="256048" y="12322"/>
                  </a:lnTo>
                  <a:lnTo>
                    <a:pt x="256048" y="388"/>
                  </a:lnTo>
                  <a:lnTo>
                    <a:pt x="191292" y="1003"/>
                  </a:lnTo>
                  <a:lnTo>
                    <a:pt x="150410" y="0"/>
                  </a:lnTo>
                  <a:lnTo>
                    <a:pt x="150410" y="12322"/>
                  </a:lnTo>
                  <a:lnTo>
                    <a:pt x="177927" y="12322"/>
                  </a:lnTo>
                  <a:lnTo>
                    <a:pt x="180726" y="14700"/>
                  </a:lnTo>
                  <a:lnTo>
                    <a:pt x="183991" y="52835"/>
                  </a:lnTo>
                  <a:lnTo>
                    <a:pt x="81385" y="228008"/>
                  </a:lnTo>
                  <a:lnTo>
                    <a:pt x="65994" y="26612"/>
                  </a:lnTo>
                  <a:lnTo>
                    <a:pt x="66475" y="22427"/>
                  </a:lnTo>
                  <a:lnTo>
                    <a:pt x="69841" y="17829"/>
                  </a:lnTo>
                  <a:lnTo>
                    <a:pt x="78980" y="14050"/>
                  </a:lnTo>
                  <a:lnTo>
                    <a:pt x="105404" y="12322"/>
                  </a:lnTo>
                  <a:lnTo>
                    <a:pt x="105404" y="0"/>
                  </a:lnTo>
                  <a:lnTo>
                    <a:pt x="39169" y="1003"/>
                  </a:lnTo>
                  <a:lnTo>
                    <a:pt x="0" y="0"/>
                  </a:lnTo>
                  <a:lnTo>
                    <a:pt x="0" y="12322"/>
                  </a:lnTo>
                  <a:lnTo>
                    <a:pt x="21942" y="13054"/>
                  </a:lnTo>
                  <a:lnTo>
                    <a:pt x="28158" y="15497"/>
                  </a:lnTo>
                  <a:lnTo>
                    <a:pt x="30789" y="20029"/>
                  </a:lnTo>
                  <a:lnTo>
                    <a:pt x="50603" y="280043"/>
                  </a:lnTo>
                  <a:lnTo>
                    <a:pt x="61097" y="280043"/>
                  </a:lnTo>
                  <a:lnTo>
                    <a:pt x="185157" y="69113"/>
                  </a:lnTo>
                  <a:lnTo>
                    <a:pt x="201014" y="278054"/>
                  </a:lnTo>
                  <a:lnTo>
                    <a:pt x="201714" y="280043"/>
                  </a:lnTo>
                  <a:lnTo>
                    <a:pt x="211974" y="280043"/>
                  </a:lnTo>
                  <a:lnTo>
                    <a:pt x="349326" y="46068"/>
                  </a:lnTo>
                  <a:lnTo>
                    <a:pt x="357051" y="33706"/>
                  </a:lnTo>
                  <a:lnTo>
                    <a:pt x="366174" y="23391"/>
                  </a:lnTo>
                  <a:lnTo>
                    <a:pt x="378184" y="15978"/>
                  </a:lnTo>
                  <a:lnTo>
                    <a:pt x="398297" y="11911"/>
                  </a:lnTo>
                  <a:lnTo>
                    <a:pt x="402261" y="11911"/>
                  </a:lnTo>
                  <a:lnTo>
                    <a:pt x="402261" y="2789"/>
                  </a:lnTo>
                  <a:lnTo>
                    <a:pt x="400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78267" y="365261"/>
              <a:ext cx="114265" cy="130865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1247566" y="153623"/>
            <a:ext cx="558165" cy="342900"/>
            <a:chOff x="11247566" y="153623"/>
            <a:chExt cx="558165" cy="342900"/>
          </a:xfrm>
        </p:grpSpPr>
        <p:sp>
          <p:nvSpPr>
            <p:cNvPr id="22" name="object 22"/>
            <p:cNvSpPr/>
            <p:nvPr/>
          </p:nvSpPr>
          <p:spPr>
            <a:xfrm>
              <a:off x="11247566" y="153623"/>
              <a:ext cx="240665" cy="288925"/>
            </a:xfrm>
            <a:custGeom>
              <a:avLst/>
              <a:gdLst/>
              <a:ahLst/>
              <a:cxnLst/>
              <a:rect l="l" t="t" r="r" b="b"/>
              <a:pathLst>
                <a:path w="240665" h="288925">
                  <a:moveTo>
                    <a:pt x="239258" y="0"/>
                  </a:moveTo>
                  <a:lnTo>
                    <a:pt x="233661" y="0"/>
                  </a:lnTo>
                  <a:lnTo>
                    <a:pt x="208942" y="28601"/>
                  </a:lnTo>
                  <a:lnTo>
                    <a:pt x="199185" y="16252"/>
                  </a:lnTo>
                  <a:lnTo>
                    <a:pt x="185973" y="7296"/>
                  </a:lnTo>
                  <a:lnTo>
                    <a:pt x="169787" y="1842"/>
                  </a:lnTo>
                  <a:lnTo>
                    <a:pt x="151110" y="0"/>
                  </a:lnTo>
                  <a:lnTo>
                    <a:pt x="113737" y="7888"/>
                  </a:lnTo>
                  <a:lnTo>
                    <a:pt x="81763" y="28846"/>
                  </a:lnTo>
                  <a:lnTo>
                    <a:pt x="59453" y="58816"/>
                  </a:lnTo>
                  <a:lnTo>
                    <a:pt x="51069" y="93736"/>
                  </a:lnTo>
                  <a:lnTo>
                    <a:pt x="54742" y="115284"/>
                  </a:lnTo>
                  <a:lnTo>
                    <a:pt x="64361" y="131771"/>
                  </a:lnTo>
                  <a:lnTo>
                    <a:pt x="77828" y="143341"/>
                  </a:lnTo>
                  <a:lnTo>
                    <a:pt x="93044" y="150138"/>
                  </a:lnTo>
                  <a:lnTo>
                    <a:pt x="136419" y="161272"/>
                  </a:lnTo>
                  <a:lnTo>
                    <a:pt x="148545" y="164775"/>
                  </a:lnTo>
                  <a:lnTo>
                    <a:pt x="160671" y="171446"/>
                  </a:lnTo>
                  <a:lnTo>
                    <a:pt x="169999" y="183552"/>
                  </a:lnTo>
                  <a:lnTo>
                    <a:pt x="173730" y="203362"/>
                  </a:lnTo>
                  <a:lnTo>
                    <a:pt x="167900" y="229868"/>
                  </a:lnTo>
                  <a:lnTo>
                    <a:pt x="152101" y="253317"/>
                  </a:lnTo>
                  <a:lnTo>
                    <a:pt x="128869" y="270061"/>
                  </a:lnTo>
                  <a:lnTo>
                    <a:pt x="100740" y="276454"/>
                  </a:lnTo>
                  <a:lnTo>
                    <a:pt x="78743" y="274319"/>
                  </a:lnTo>
                  <a:lnTo>
                    <a:pt x="55587" y="265928"/>
                  </a:lnTo>
                  <a:lnTo>
                    <a:pt x="37285" y="248300"/>
                  </a:lnTo>
                  <a:lnTo>
                    <a:pt x="29848" y="218451"/>
                  </a:lnTo>
                  <a:lnTo>
                    <a:pt x="29848" y="208918"/>
                  </a:lnTo>
                  <a:lnTo>
                    <a:pt x="32647" y="195429"/>
                  </a:lnTo>
                  <a:lnTo>
                    <a:pt x="33113" y="194240"/>
                  </a:lnTo>
                  <a:lnTo>
                    <a:pt x="33113" y="190262"/>
                  </a:lnTo>
                  <a:lnTo>
                    <a:pt x="26351" y="189850"/>
                  </a:lnTo>
                  <a:lnTo>
                    <a:pt x="24252" y="191451"/>
                  </a:lnTo>
                  <a:lnTo>
                    <a:pt x="19774" y="206535"/>
                  </a:lnTo>
                  <a:lnTo>
                    <a:pt x="0" y="284799"/>
                  </a:lnTo>
                  <a:lnTo>
                    <a:pt x="0" y="287176"/>
                  </a:lnTo>
                  <a:lnTo>
                    <a:pt x="1865" y="288777"/>
                  </a:lnTo>
                  <a:lnTo>
                    <a:pt x="6296" y="288777"/>
                  </a:lnTo>
                  <a:lnTo>
                    <a:pt x="31481" y="260176"/>
                  </a:lnTo>
                  <a:lnTo>
                    <a:pt x="46260" y="274357"/>
                  </a:lnTo>
                  <a:lnTo>
                    <a:pt x="63487" y="283110"/>
                  </a:lnTo>
                  <a:lnTo>
                    <a:pt x="81851" y="287545"/>
                  </a:lnTo>
                  <a:lnTo>
                    <a:pt x="100040" y="288777"/>
                  </a:lnTo>
                  <a:lnTo>
                    <a:pt x="139326" y="279751"/>
                  </a:lnTo>
                  <a:lnTo>
                    <a:pt x="172098" y="256200"/>
                  </a:lnTo>
                  <a:lnTo>
                    <a:pt x="194550" y="223411"/>
                  </a:lnTo>
                  <a:lnTo>
                    <a:pt x="202879" y="186672"/>
                  </a:lnTo>
                  <a:lnTo>
                    <a:pt x="200635" y="168640"/>
                  </a:lnTo>
                  <a:lnTo>
                    <a:pt x="176153" y="134539"/>
                  </a:lnTo>
                  <a:lnTo>
                    <a:pt x="104471" y="113192"/>
                  </a:lnTo>
                  <a:lnTo>
                    <a:pt x="95985" y="109001"/>
                  </a:lnTo>
                  <a:lnTo>
                    <a:pt x="88001" y="101678"/>
                  </a:lnTo>
                  <a:lnTo>
                    <a:pt x="82073" y="91076"/>
                  </a:lnTo>
                  <a:lnTo>
                    <a:pt x="79752" y="77046"/>
                  </a:lnTo>
                  <a:lnTo>
                    <a:pt x="85418" y="53173"/>
                  </a:lnTo>
                  <a:lnTo>
                    <a:pt x="100769" y="32016"/>
                  </a:lnTo>
                  <a:lnTo>
                    <a:pt x="123334" y="16890"/>
                  </a:lnTo>
                  <a:lnTo>
                    <a:pt x="150643" y="11111"/>
                  </a:lnTo>
                  <a:lnTo>
                    <a:pt x="173919" y="14474"/>
                  </a:lnTo>
                  <a:lnTo>
                    <a:pt x="192385" y="25211"/>
                  </a:lnTo>
                  <a:lnTo>
                    <a:pt x="204555" y="44290"/>
                  </a:lnTo>
                  <a:lnTo>
                    <a:pt x="208942" y="72680"/>
                  </a:lnTo>
                  <a:lnTo>
                    <a:pt x="208942" y="85391"/>
                  </a:lnTo>
                  <a:lnTo>
                    <a:pt x="207310" y="92547"/>
                  </a:lnTo>
                  <a:lnTo>
                    <a:pt x="207310" y="98903"/>
                  </a:lnTo>
                  <a:lnTo>
                    <a:pt x="216171" y="98903"/>
                  </a:lnTo>
                  <a:lnTo>
                    <a:pt x="240190" y="3978"/>
                  </a:lnTo>
                  <a:lnTo>
                    <a:pt x="2392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81228" y="311854"/>
              <a:ext cx="96309" cy="18427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613217" y="414004"/>
              <a:ext cx="192405" cy="13970"/>
            </a:xfrm>
            <a:custGeom>
              <a:avLst/>
              <a:gdLst/>
              <a:ahLst/>
              <a:cxnLst/>
              <a:rect l="l" t="t" r="r" b="b"/>
              <a:pathLst>
                <a:path w="192404" h="13970">
                  <a:moveTo>
                    <a:pt x="191919" y="0"/>
                  </a:moveTo>
                  <a:lnTo>
                    <a:pt x="0" y="0"/>
                  </a:lnTo>
                  <a:lnTo>
                    <a:pt x="0" y="13351"/>
                  </a:lnTo>
                  <a:lnTo>
                    <a:pt x="180726" y="13351"/>
                  </a:lnTo>
                  <a:lnTo>
                    <a:pt x="191919" y="13351"/>
                  </a:lnTo>
                  <a:lnTo>
                    <a:pt x="1919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859238" y="300263"/>
            <a:ext cx="103771" cy="192960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12030869" y="135744"/>
            <a:ext cx="93980" cy="397510"/>
          </a:xfrm>
          <a:custGeom>
            <a:avLst/>
            <a:gdLst/>
            <a:ahLst/>
            <a:cxnLst/>
            <a:rect l="l" t="t" r="r" b="b"/>
            <a:pathLst>
              <a:path w="93979" h="397509">
                <a:moveTo>
                  <a:pt x="4197" y="0"/>
                </a:moveTo>
                <a:lnTo>
                  <a:pt x="1632" y="0"/>
                </a:lnTo>
                <a:lnTo>
                  <a:pt x="0" y="1600"/>
                </a:lnTo>
                <a:lnTo>
                  <a:pt x="0" y="5967"/>
                </a:lnTo>
                <a:lnTo>
                  <a:pt x="7695" y="13100"/>
                </a:lnTo>
                <a:lnTo>
                  <a:pt x="34356" y="47001"/>
                </a:lnTo>
                <a:lnTo>
                  <a:pt x="54130" y="89469"/>
                </a:lnTo>
                <a:lnTo>
                  <a:pt x="66427" y="140130"/>
                </a:lnTo>
                <a:lnTo>
                  <a:pt x="70658" y="198607"/>
                </a:lnTo>
                <a:lnTo>
                  <a:pt x="67506" y="249582"/>
                </a:lnTo>
                <a:lnTo>
                  <a:pt x="56812" y="299253"/>
                </a:lnTo>
                <a:lnTo>
                  <a:pt x="36717" y="345573"/>
                </a:lnTo>
                <a:lnTo>
                  <a:pt x="5363" y="386491"/>
                </a:lnTo>
                <a:lnTo>
                  <a:pt x="0" y="391247"/>
                </a:lnTo>
                <a:lnTo>
                  <a:pt x="0" y="395613"/>
                </a:lnTo>
                <a:lnTo>
                  <a:pt x="1632" y="397214"/>
                </a:lnTo>
                <a:lnTo>
                  <a:pt x="4197" y="397214"/>
                </a:lnTo>
                <a:lnTo>
                  <a:pt x="12549" y="392203"/>
                </a:lnTo>
                <a:lnTo>
                  <a:pt x="48927" y="353136"/>
                </a:lnTo>
                <a:lnTo>
                  <a:pt x="68559" y="319755"/>
                </a:lnTo>
                <a:lnTo>
                  <a:pt x="88964" y="255306"/>
                </a:lnTo>
                <a:lnTo>
                  <a:pt x="93977" y="198607"/>
                </a:lnTo>
                <a:lnTo>
                  <a:pt x="92939" y="172487"/>
                </a:lnTo>
                <a:lnTo>
                  <a:pt x="80893" y="108621"/>
                </a:lnTo>
                <a:lnTo>
                  <a:pt x="47746" y="42390"/>
                </a:lnTo>
                <a:lnTo>
                  <a:pt x="12301" y="4796"/>
                </a:lnTo>
                <a:lnTo>
                  <a:pt x="41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8690791" y="891466"/>
            <a:ext cx="323850" cy="334010"/>
            <a:chOff x="8690791" y="891466"/>
            <a:chExt cx="323850" cy="334010"/>
          </a:xfrm>
        </p:grpSpPr>
        <p:sp>
          <p:nvSpPr>
            <p:cNvPr id="28" name="object 28"/>
            <p:cNvSpPr/>
            <p:nvPr/>
          </p:nvSpPr>
          <p:spPr>
            <a:xfrm>
              <a:off x="8690791" y="891466"/>
              <a:ext cx="294640" cy="271780"/>
            </a:xfrm>
            <a:custGeom>
              <a:avLst/>
              <a:gdLst/>
              <a:ahLst/>
              <a:cxnLst/>
              <a:rect l="l" t="t" r="r" b="b"/>
              <a:pathLst>
                <a:path w="294640" h="271780">
                  <a:moveTo>
                    <a:pt x="292520" y="0"/>
                  </a:moveTo>
                  <a:lnTo>
                    <a:pt x="256048" y="1188"/>
                  </a:lnTo>
                  <a:lnTo>
                    <a:pt x="207846" y="0"/>
                  </a:lnTo>
                  <a:lnTo>
                    <a:pt x="207846" y="11911"/>
                  </a:lnTo>
                  <a:lnTo>
                    <a:pt x="228508" y="13100"/>
                  </a:lnTo>
                  <a:lnTo>
                    <a:pt x="228508" y="28189"/>
                  </a:lnTo>
                  <a:lnTo>
                    <a:pt x="123570" y="146571"/>
                  </a:lnTo>
                  <a:lnTo>
                    <a:pt x="76581" y="21833"/>
                  </a:lnTo>
                  <a:lnTo>
                    <a:pt x="79745" y="16335"/>
                  </a:lnTo>
                  <a:lnTo>
                    <a:pt x="87010" y="13511"/>
                  </a:lnTo>
                  <a:lnTo>
                    <a:pt x="95037" y="12471"/>
                  </a:lnTo>
                  <a:lnTo>
                    <a:pt x="110208" y="12322"/>
                  </a:lnTo>
                  <a:lnTo>
                    <a:pt x="110208" y="0"/>
                  </a:lnTo>
                  <a:lnTo>
                    <a:pt x="53075" y="1188"/>
                  </a:lnTo>
                  <a:lnTo>
                    <a:pt x="0" y="0"/>
                  </a:lnTo>
                  <a:lnTo>
                    <a:pt x="0" y="12322"/>
                  </a:lnTo>
                  <a:lnTo>
                    <a:pt x="38896" y="25811"/>
                  </a:lnTo>
                  <a:lnTo>
                    <a:pt x="89127" y="157690"/>
                  </a:lnTo>
                  <a:lnTo>
                    <a:pt x="90339" y="163250"/>
                  </a:lnTo>
                  <a:lnTo>
                    <a:pt x="72104" y="235541"/>
                  </a:lnTo>
                  <a:lnTo>
                    <a:pt x="68498" y="248364"/>
                  </a:lnTo>
                  <a:lnTo>
                    <a:pt x="63251" y="255303"/>
                  </a:lnTo>
                  <a:lnTo>
                    <a:pt x="52910" y="258220"/>
                  </a:lnTo>
                  <a:lnTo>
                    <a:pt x="23086" y="258978"/>
                  </a:lnTo>
                  <a:lnTo>
                    <a:pt x="23086" y="271289"/>
                  </a:lnTo>
                  <a:lnTo>
                    <a:pt x="79799" y="270098"/>
                  </a:lnTo>
                  <a:lnTo>
                    <a:pt x="139357" y="271289"/>
                  </a:lnTo>
                  <a:lnTo>
                    <a:pt x="139357" y="258978"/>
                  </a:lnTo>
                  <a:lnTo>
                    <a:pt x="119512" y="258978"/>
                  </a:lnTo>
                  <a:lnTo>
                    <a:pt x="104121" y="257389"/>
                  </a:lnTo>
                  <a:lnTo>
                    <a:pt x="101696" y="256593"/>
                  </a:lnTo>
                  <a:lnTo>
                    <a:pt x="101696" y="251826"/>
                  </a:lnTo>
                  <a:lnTo>
                    <a:pt x="107363" y="226803"/>
                  </a:lnTo>
                  <a:lnTo>
                    <a:pt x="123966" y="162059"/>
                  </a:lnTo>
                  <a:lnTo>
                    <a:pt x="227691" y="45290"/>
                  </a:lnTo>
                  <a:lnTo>
                    <a:pt x="268230" y="15756"/>
                  </a:lnTo>
                  <a:lnTo>
                    <a:pt x="294548" y="11911"/>
                  </a:lnTo>
                  <a:lnTo>
                    <a:pt x="294548" y="1577"/>
                  </a:lnTo>
                  <a:lnTo>
                    <a:pt x="292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18319" y="1040987"/>
              <a:ext cx="96193" cy="184274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9178239" y="1016982"/>
            <a:ext cx="269875" cy="16510"/>
          </a:xfrm>
          <a:custGeom>
            <a:avLst/>
            <a:gdLst/>
            <a:ahLst/>
            <a:cxnLst/>
            <a:rect l="l" t="t" r="r" b="b"/>
            <a:pathLst>
              <a:path w="269875" h="16509">
                <a:moveTo>
                  <a:pt x="269410" y="0"/>
                </a:moveTo>
                <a:lnTo>
                  <a:pt x="0" y="0"/>
                </a:lnTo>
                <a:lnTo>
                  <a:pt x="0" y="15889"/>
                </a:lnTo>
                <a:lnTo>
                  <a:pt x="269410" y="15889"/>
                </a:lnTo>
                <a:lnTo>
                  <a:pt x="2694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78239" y="1094040"/>
            <a:ext cx="269875" cy="16510"/>
          </a:xfrm>
          <a:custGeom>
            <a:avLst/>
            <a:gdLst/>
            <a:ahLst/>
            <a:cxnLst/>
            <a:rect l="l" t="t" r="r" b="b"/>
            <a:pathLst>
              <a:path w="269875" h="16509">
                <a:moveTo>
                  <a:pt x="269410" y="0"/>
                </a:moveTo>
                <a:lnTo>
                  <a:pt x="0" y="0"/>
                </a:lnTo>
                <a:lnTo>
                  <a:pt x="0" y="15887"/>
                </a:lnTo>
                <a:lnTo>
                  <a:pt x="269410" y="15887"/>
                </a:lnTo>
                <a:lnTo>
                  <a:pt x="2694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9588079" y="987192"/>
            <a:ext cx="327660" cy="257175"/>
            <a:chOff x="9588079" y="987192"/>
            <a:chExt cx="327660" cy="257175"/>
          </a:xfrm>
        </p:grpSpPr>
        <p:sp>
          <p:nvSpPr>
            <p:cNvPr id="33" name="object 33"/>
            <p:cNvSpPr/>
            <p:nvPr/>
          </p:nvSpPr>
          <p:spPr>
            <a:xfrm>
              <a:off x="9588079" y="987192"/>
              <a:ext cx="186055" cy="257175"/>
            </a:xfrm>
            <a:custGeom>
              <a:avLst/>
              <a:gdLst/>
              <a:ahLst/>
              <a:cxnLst/>
              <a:rect l="l" t="t" r="r" b="b"/>
              <a:pathLst>
                <a:path w="186054" h="257175">
                  <a:moveTo>
                    <a:pt x="32810" y="209725"/>
                  </a:moveTo>
                  <a:lnTo>
                    <a:pt x="0" y="232761"/>
                  </a:lnTo>
                  <a:lnTo>
                    <a:pt x="2950" y="243418"/>
                  </a:lnTo>
                  <a:lnTo>
                    <a:pt x="12359" y="250984"/>
                  </a:lnTo>
                  <a:lnTo>
                    <a:pt x="29061" y="255495"/>
                  </a:lnTo>
                  <a:lnTo>
                    <a:pt x="53891" y="256991"/>
                  </a:lnTo>
                  <a:lnTo>
                    <a:pt x="87813" y="251778"/>
                  </a:lnTo>
                  <a:lnTo>
                    <a:pt x="94653" y="248253"/>
                  </a:lnTo>
                  <a:lnTo>
                    <a:pt x="48177" y="248253"/>
                  </a:lnTo>
                  <a:lnTo>
                    <a:pt x="38241" y="247607"/>
                  </a:lnTo>
                  <a:lnTo>
                    <a:pt x="29434" y="246410"/>
                  </a:lnTo>
                  <a:lnTo>
                    <a:pt x="20661" y="244282"/>
                  </a:lnTo>
                  <a:lnTo>
                    <a:pt x="28380" y="240495"/>
                  </a:lnTo>
                  <a:lnTo>
                    <a:pt x="33518" y="235145"/>
                  </a:lnTo>
                  <a:lnTo>
                    <a:pt x="36378" y="229199"/>
                  </a:lnTo>
                  <a:lnTo>
                    <a:pt x="37264" y="223625"/>
                  </a:lnTo>
                  <a:lnTo>
                    <a:pt x="37264" y="217272"/>
                  </a:lnTo>
                  <a:lnTo>
                    <a:pt x="32810" y="209725"/>
                  </a:lnTo>
                  <a:close/>
                </a:path>
                <a:path w="186054" h="257175">
                  <a:moveTo>
                    <a:pt x="152434" y="152527"/>
                  </a:moveTo>
                  <a:lnTo>
                    <a:pt x="124386" y="152527"/>
                  </a:lnTo>
                  <a:lnTo>
                    <a:pt x="124782" y="152923"/>
                  </a:lnTo>
                  <a:lnTo>
                    <a:pt x="119191" y="175563"/>
                  </a:lnTo>
                  <a:lnTo>
                    <a:pt x="114909" y="192098"/>
                  </a:lnTo>
                  <a:lnTo>
                    <a:pt x="112311" y="201799"/>
                  </a:lnTo>
                  <a:lnTo>
                    <a:pt x="111420" y="205356"/>
                  </a:lnTo>
                  <a:lnTo>
                    <a:pt x="107656" y="213566"/>
                  </a:lnTo>
                  <a:lnTo>
                    <a:pt x="97743" y="228144"/>
                  </a:lnTo>
                  <a:lnTo>
                    <a:pt x="80083" y="242053"/>
                  </a:lnTo>
                  <a:lnTo>
                    <a:pt x="53075" y="248253"/>
                  </a:lnTo>
                  <a:lnTo>
                    <a:pt x="94653" y="248253"/>
                  </a:lnTo>
                  <a:lnTo>
                    <a:pt x="113536" y="238521"/>
                  </a:lnTo>
                  <a:lnTo>
                    <a:pt x="130909" y="220796"/>
                  </a:lnTo>
                  <a:lnTo>
                    <a:pt x="139777" y="202178"/>
                  </a:lnTo>
                  <a:lnTo>
                    <a:pt x="152333" y="152923"/>
                  </a:lnTo>
                  <a:lnTo>
                    <a:pt x="152434" y="152527"/>
                  </a:lnTo>
                  <a:close/>
                </a:path>
                <a:path w="186054" h="257175">
                  <a:moveTo>
                    <a:pt x="119932" y="0"/>
                  </a:moveTo>
                  <a:lnTo>
                    <a:pt x="85376" y="9581"/>
                  </a:lnTo>
                  <a:lnTo>
                    <a:pt x="54395" y="34951"/>
                  </a:lnTo>
                  <a:lnTo>
                    <a:pt x="32076" y="71047"/>
                  </a:lnTo>
                  <a:lnTo>
                    <a:pt x="23506" y="112806"/>
                  </a:lnTo>
                  <a:lnTo>
                    <a:pt x="27820" y="139201"/>
                  </a:lnTo>
                  <a:lnTo>
                    <a:pt x="39500" y="158931"/>
                  </a:lnTo>
                  <a:lnTo>
                    <a:pt x="56650" y="171287"/>
                  </a:lnTo>
                  <a:lnTo>
                    <a:pt x="77374" y="175563"/>
                  </a:lnTo>
                  <a:lnTo>
                    <a:pt x="94233" y="172578"/>
                  </a:lnTo>
                  <a:lnTo>
                    <a:pt x="105989" y="166825"/>
                  </a:lnTo>
                  <a:lnTo>
                    <a:pt x="78586" y="166825"/>
                  </a:lnTo>
                  <a:lnTo>
                    <a:pt x="65933" y="163350"/>
                  </a:lnTo>
                  <a:lnTo>
                    <a:pt x="57832" y="154512"/>
                  </a:lnTo>
                  <a:lnTo>
                    <a:pt x="53526" y="142695"/>
                  </a:lnTo>
                  <a:lnTo>
                    <a:pt x="52258" y="130282"/>
                  </a:lnTo>
                  <a:lnTo>
                    <a:pt x="54266" y="111620"/>
                  </a:lnTo>
                  <a:lnTo>
                    <a:pt x="66789" y="63417"/>
                  </a:lnTo>
                  <a:lnTo>
                    <a:pt x="95356" y="19110"/>
                  </a:lnTo>
                  <a:lnTo>
                    <a:pt x="120328" y="8733"/>
                  </a:lnTo>
                  <a:lnTo>
                    <a:pt x="144035" y="8733"/>
                  </a:lnTo>
                  <a:lnTo>
                    <a:pt x="142111" y="7004"/>
                  </a:lnTo>
                  <a:lnTo>
                    <a:pt x="131630" y="1844"/>
                  </a:lnTo>
                  <a:lnTo>
                    <a:pt x="119932" y="0"/>
                  </a:lnTo>
                  <a:close/>
                </a:path>
                <a:path w="186054" h="257175">
                  <a:moveTo>
                    <a:pt x="144035" y="8733"/>
                  </a:moveTo>
                  <a:lnTo>
                    <a:pt x="120328" y="8733"/>
                  </a:lnTo>
                  <a:lnTo>
                    <a:pt x="136677" y="13790"/>
                  </a:lnTo>
                  <a:lnTo>
                    <a:pt x="146566" y="25065"/>
                  </a:lnTo>
                  <a:lnTo>
                    <a:pt x="151439" y="36714"/>
                  </a:lnTo>
                  <a:lnTo>
                    <a:pt x="152742" y="42890"/>
                  </a:lnTo>
                  <a:lnTo>
                    <a:pt x="152742" y="44879"/>
                  </a:lnTo>
                  <a:lnTo>
                    <a:pt x="151926" y="47256"/>
                  </a:lnTo>
                  <a:lnTo>
                    <a:pt x="151530" y="48857"/>
                  </a:lnTo>
                  <a:lnTo>
                    <a:pt x="132081" y="124722"/>
                  </a:lnTo>
                  <a:lnTo>
                    <a:pt x="104352" y="157777"/>
                  </a:lnTo>
                  <a:lnTo>
                    <a:pt x="87243" y="165684"/>
                  </a:lnTo>
                  <a:lnTo>
                    <a:pt x="86848" y="165684"/>
                  </a:lnTo>
                  <a:lnTo>
                    <a:pt x="78586" y="166825"/>
                  </a:lnTo>
                  <a:lnTo>
                    <a:pt x="105989" y="166825"/>
                  </a:lnTo>
                  <a:lnTo>
                    <a:pt x="108322" y="165684"/>
                  </a:lnTo>
                  <a:lnTo>
                    <a:pt x="118690" y="157970"/>
                  </a:lnTo>
                  <a:lnTo>
                    <a:pt x="124386" y="152527"/>
                  </a:lnTo>
                  <a:lnTo>
                    <a:pt x="152434" y="152527"/>
                  </a:lnTo>
                  <a:lnTo>
                    <a:pt x="184737" y="25811"/>
                  </a:lnTo>
                  <a:lnTo>
                    <a:pt x="184868" y="25065"/>
                  </a:lnTo>
                  <a:lnTo>
                    <a:pt x="157613" y="25065"/>
                  </a:lnTo>
                  <a:lnTo>
                    <a:pt x="150918" y="14921"/>
                  </a:lnTo>
                  <a:lnTo>
                    <a:pt x="144035" y="8733"/>
                  </a:lnTo>
                  <a:close/>
                </a:path>
                <a:path w="186054" h="257175">
                  <a:moveTo>
                    <a:pt x="181099" y="7933"/>
                  </a:moveTo>
                  <a:lnTo>
                    <a:pt x="170162" y="7933"/>
                  </a:lnTo>
                  <a:lnTo>
                    <a:pt x="159225" y="10722"/>
                  </a:lnTo>
                  <a:lnTo>
                    <a:pt x="157589" y="25065"/>
                  </a:lnTo>
                  <a:lnTo>
                    <a:pt x="184868" y="25065"/>
                  </a:lnTo>
                  <a:lnTo>
                    <a:pt x="185156" y="23434"/>
                  </a:lnTo>
                  <a:lnTo>
                    <a:pt x="185949" y="21445"/>
                  </a:lnTo>
                  <a:lnTo>
                    <a:pt x="185949" y="11911"/>
                  </a:lnTo>
                  <a:lnTo>
                    <a:pt x="181099" y="79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90213" y="1029373"/>
              <a:ext cx="125505" cy="192987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9990365" y="864854"/>
            <a:ext cx="94615" cy="397510"/>
          </a:xfrm>
          <a:custGeom>
            <a:avLst/>
            <a:gdLst/>
            <a:ahLst/>
            <a:cxnLst/>
            <a:rect l="l" t="t" r="r" b="b"/>
            <a:pathLst>
              <a:path w="94615" h="397509">
                <a:moveTo>
                  <a:pt x="92391" y="0"/>
                </a:moveTo>
                <a:lnTo>
                  <a:pt x="45115" y="44068"/>
                </a:lnTo>
                <a:lnTo>
                  <a:pt x="25534" y="77458"/>
                </a:lnTo>
                <a:lnTo>
                  <a:pt x="5019" y="141898"/>
                </a:lnTo>
                <a:lnTo>
                  <a:pt x="0" y="198600"/>
                </a:lnTo>
                <a:lnTo>
                  <a:pt x="1047" y="224723"/>
                </a:lnTo>
                <a:lnTo>
                  <a:pt x="13173" y="288586"/>
                </a:lnTo>
                <a:lnTo>
                  <a:pt x="46315" y="354808"/>
                </a:lnTo>
                <a:lnTo>
                  <a:pt x="81787" y="392406"/>
                </a:lnTo>
                <a:lnTo>
                  <a:pt x="92392" y="397203"/>
                </a:lnTo>
                <a:lnTo>
                  <a:pt x="94001" y="396012"/>
                </a:lnTo>
                <a:lnTo>
                  <a:pt x="94001" y="393231"/>
                </a:lnTo>
                <a:lnTo>
                  <a:pt x="94001" y="391245"/>
                </a:lnTo>
                <a:lnTo>
                  <a:pt x="55813" y="342879"/>
                </a:lnTo>
                <a:lnTo>
                  <a:pt x="36320" y="295568"/>
                </a:lnTo>
                <a:lnTo>
                  <a:pt x="26323" y="246246"/>
                </a:lnTo>
                <a:lnTo>
                  <a:pt x="23506" y="198600"/>
                </a:lnTo>
                <a:lnTo>
                  <a:pt x="26689" y="147073"/>
                </a:lnTo>
                <a:lnTo>
                  <a:pt x="37430" y="97367"/>
                </a:lnTo>
                <a:lnTo>
                  <a:pt x="57515" y="51309"/>
                </a:lnTo>
                <a:lnTo>
                  <a:pt x="88730" y="10722"/>
                </a:lnTo>
                <a:lnTo>
                  <a:pt x="94000" y="5967"/>
                </a:lnTo>
                <a:lnTo>
                  <a:pt x="94000" y="1188"/>
                </a:lnTo>
                <a:lnTo>
                  <a:pt x="923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10129629" y="891466"/>
            <a:ext cx="597535" cy="333375"/>
            <a:chOff x="10129629" y="891466"/>
            <a:chExt cx="597535" cy="333375"/>
          </a:xfrm>
        </p:grpSpPr>
        <p:sp>
          <p:nvSpPr>
            <p:cNvPr id="37" name="object 37"/>
            <p:cNvSpPr/>
            <p:nvPr/>
          </p:nvSpPr>
          <p:spPr>
            <a:xfrm>
              <a:off x="10129629" y="891466"/>
              <a:ext cx="402590" cy="280035"/>
            </a:xfrm>
            <a:custGeom>
              <a:avLst/>
              <a:gdLst/>
              <a:ahLst/>
              <a:cxnLst/>
              <a:rect l="l" t="t" r="r" b="b"/>
              <a:pathLst>
                <a:path w="402590" h="280034">
                  <a:moveTo>
                    <a:pt x="400629" y="0"/>
                  </a:moveTo>
                  <a:lnTo>
                    <a:pt x="366116" y="1188"/>
                  </a:lnTo>
                  <a:lnTo>
                    <a:pt x="316212" y="0"/>
                  </a:lnTo>
                  <a:lnTo>
                    <a:pt x="316212" y="11911"/>
                  </a:lnTo>
                  <a:lnTo>
                    <a:pt x="346294" y="32167"/>
                  </a:lnTo>
                  <a:lnTo>
                    <a:pt x="231563" y="227994"/>
                  </a:lnTo>
                  <a:lnTo>
                    <a:pt x="216638" y="30978"/>
                  </a:lnTo>
                  <a:lnTo>
                    <a:pt x="216722" y="24771"/>
                  </a:lnTo>
                  <a:lnTo>
                    <a:pt x="219582" y="18821"/>
                  </a:lnTo>
                  <a:lnTo>
                    <a:pt x="228083" y="14286"/>
                  </a:lnTo>
                  <a:lnTo>
                    <a:pt x="245088" y="12322"/>
                  </a:lnTo>
                  <a:lnTo>
                    <a:pt x="256048" y="12322"/>
                  </a:lnTo>
                  <a:lnTo>
                    <a:pt x="256048" y="388"/>
                  </a:lnTo>
                  <a:lnTo>
                    <a:pt x="191256" y="1003"/>
                  </a:lnTo>
                  <a:lnTo>
                    <a:pt x="150177" y="0"/>
                  </a:lnTo>
                  <a:lnTo>
                    <a:pt x="150177" y="12322"/>
                  </a:lnTo>
                  <a:lnTo>
                    <a:pt x="177694" y="12322"/>
                  </a:lnTo>
                  <a:lnTo>
                    <a:pt x="180493" y="14700"/>
                  </a:lnTo>
                  <a:lnTo>
                    <a:pt x="183757" y="52835"/>
                  </a:lnTo>
                  <a:lnTo>
                    <a:pt x="81385" y="227994"/>
                  </a:lnTo>
                  <a:lnTo>
                    <a:pt x="65994" y="26612"/>
                  </a:lnTo>
                  <a:lnTo>
                    <a:pt x="66475" y="22418"/>
                  </a:lnTo>
                  <a:lnTo>
                    <a:pt x="69841" y="17821"/>
                  </a:lnTo>
                  <a:lnTo>
                    <a:pt x="78980" y="14047"/>
                  </a:lnTo>
                  <a:lnTo>
                    <a:pt x="105171" y="12322"/>
                  </a:lnTo>
                  <a:lnTo>
                    <a:pt x="105171" y="0"/>
                  </a:lnTo>
                  <a:lnTo>
                    <a:pt x="38972" y="1003"/>
                  </a:lnTo>
                  <a:lnTo>
                    <a:pt x="0" y="0"/>
                  </a:lnTo>
                  <a:lnTo>
                    <a:pt x="0" y="12322"/>
                  </a:lnTo>
                  <a:lnTo>
                    <a:pt x="21840" y="13053"/>
                  </a:lnTo>
                  <a:lnTo>
                    <a:pt x="28100" y="15495"/>
                  </a:lnTo>
                  <a:lnTo>
                    <a:pt x="30687" y="20019"/>
                  </a:lnTo>
                  <a:lnTo>
                    <a:pt x="50603" y="280029"/>
                  </a:lnTo>
                  <a:lnTo>
                    <a:pt x="61097" y="280029"/>
                  </a:lnTo>
                  <a:lnTo>
                    <a:pt x="185157" y="69113"/>
                  </a:lnTo>
                  <a:lnTo>
                    <a:pt x="200781" y="278043"/>
                  </a:lnTo>
                  <a:lnTo>
                    <a:pt x="201714" y="280029"/>
                  </a:lnTo>
                  <a:lnTo>
                    <a:pt x="211741" y="280029"/>
                  </a:lnTo>
                  <a:lnTo>
                    <a:pt x="349093" y="46068"/>
                  </a:lnTo>
                  <a:lnTo>
                    <a:pt x="356919" y="33703"/>
                  </a:lnTo>
                  <a:lnTo>
                    <a:pt x="366058" y="23382"/>
                  </a:lnTo>
                  <a:lnTo>
                    <a:pt x="378082" y="15968"/>
                  </a:lnTo>
                  <a:lnTo>
                    <a:pt x="398064" y="11911"/>
                  </a:lnTo>
                  <a:lnTo>
                    <a:pt x="402261" y="11911"/>
                  </a:lnTo>
                  <a:lnTo>
                    <a:pt x="402261" y="2789"/>
                  </a:lnTo>
                  <a:lnTo>
                    <a:pt x="400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00643" y="1026058"/>
              <a:ext cx="226432" cy="198195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10780244" y="882733"/>
            <a:ext cx="330200" cy="342900"/>
            <a:chOff x="10780244" y="882733"/>
            <a:chExt cx="330200" cy="342900"/>
          </a:xfrm>
        </p:grpSpPr>
        <p:sp>
          <p:nvSpPr>
            <p:cNvPr id="40" name="object 40"/>
            <p:cNvSpPr/>
            <p:nvPr/>
          </p:nvSpPr>
          <p:spPr>
            <a:xfrm>
              <a:off x="10780244" y="882733"/>
              <a:ext cx="240665" cy="288925"/>
            </a:xfrm>
            <a:custGeom>
              <a:avLst/>
              <a:gdLst/>
              <a:ahLst/>
              <a:cxnLst/>
              <a:rect l="l" t="t" r="r" b="b"/>
              <a:pathLst>
                <a:path w="240665" h="288925">
                  <a:moveTo>
                    <a:pt x="239491" y="0"/>
                  </a:moveTo>
                  <a:lnTo>
                    <a:pt x="233661" y="0"/>
                  </a:lnTo>
                  <a:lnTo>
                    <a:pt x="208942" y="28601"/>
                  </a:lnTo>
                  <a:lnTo>
                    <a:pt x="199185" y="16252"/>
                  </a:lnTo>
                  <a:lnTo>
                    <a:pt x="185973" y="7296"/>
                  </a:lnTo>
                  <a:lnTo>
                    <a:pt x="169787" y="1842"/>
                  </a:lnTo>
                  <a:lnTo>
                    <a:pt x="151110" y="0"/>
                  </a:lnTo>
                  <a:lnTo>
                    <a:pt x="113737" y="7888"/>
                  </a:lnTo>
                  <a:lnTo>
                    <a:pt x="81763" y="28846"/>
                  </a:lnTo>
                  <a:lnTo>
                    <a:pt x="59453" y="58816"/>
                  </a:lnTo>
                  <a:lnTo>
                    <a:pt x="51069" y="93736"/>
                  </a:lnTo>
                  <a:lnTo>
                    <a:pt x="54742" y="115280"/>
                  </a:lnTo>
                  <a:lnTo>
                    <a:pt x="64361" y="131762"/>
                  </a:lnTo>
                  <a:lnTo>
                    <a:pt x="77828" y="143331"/>
                  </a:lnTo>
                  <a:lnTo>
                    <a:pt x="93044" y="150138"/>
                  </a:lnTo>
                  <a:lnTo>
                    <a:pt x="148643" y="164765"/>
                  </a:lnTo>
                  <a:lnTo>
                    <a:pt x="160758" y="171437"/>
                  </a:lnTo>
                  <a:lnTo>
                    <a:pt x="170032" y="183546"/>
                  </a:lnTo>
                  <a:lnTo>
                    <a:pt x="173730" y="203362"/>
                  </a:lnTo>
                  <a:lnTo>
                    <a:pt x="167933" y="229863"/>
                  </a:lnTo>
                  <a:lnTo>
                    <a:pt x="152189" y="253311"/>
                  </a:lnTo>
                  <a:lnTo>
                    <a:pt x="128967" y="270056"/>
                  </a:lnTo>
                  <a:lnTo>
                    <a:pt x="100740" y="276449"/>
                  </a:lnTo>
                  <a:lnTo>
                    <a:pt x="78743" y="274314"/>
                  </a:lnTo>
                  <a:lnTo>
                    <a:pt x="55587" y="265923"/>
                  </a:lnTo>
                  <a:lnTo>
                    <a:pt x="37285" y="248297"/>
                  </a:lnTo>
                  <a:lnTo>
                    <a:pt x="29848" y="218456"/>
                  </a:lnTo>
                  <a:lnTo>
                    <a:pt x="29848" y="208925"/>
                  </a:lnTo>
                  <a:lnTo>
                    <a:pt x="33113" y="194226"/>
                  </a:lnTo>
                  <a:lnTo>
                    <a:pt x="33113" y="190255"/>
                  </a:lnTo>
                  <a:lnTo>
                    <a:pt x="26351" y="189857"/>
                  </a:lnTo>
                  <a:lnTo>
                    <a:pt x="24252" y="191446"/>
                  </a:lnTo>
                  <a:lnTo>
                    <a:pt x="19774" y="206534"/>
                  </a:lnTo>
                  <a:lnTo>
                    <a:pt x="0" y="284789"/>
                  </a:lnTo>
                  <a:lnTo>
                    <a:pt x="0" y="287174"/>
                  </a:lnTo>
                  <a:lnTo>
                    <a:pt x="2098" y="288763"/>
                  </a:lnTo>
                  <a:lnTo>
                    <a:pt x="6529" y="288763"/>
                  </a:lnTo>
                  <a:lnTo>
                    <a:pt x="31481" y="260164"/>
                  </a:lnTo>
                  <a:lnTo>
                    <a:pt x="46260" y="274351"/>
                  </a:lnTo>
                  <a:lnTo>
                    <a:pt x="63487" y="283102"/>
                  </a:lnTo>
                  <a:lnTo>
                    <a:pt x="81851" y="287534"/>
                  </a:lnTo>
                  <a:lnTo>
                    <a:pt x="100040" y="288763"/>
                  </a:lnTo>
                  <a:lnTo>
                    <a:pt x="139326" y="279739"/>
                  </a:lnTo>
                  <a:lnTo>
                    <a:pt x="172098" y="256192"/>
                  </a:lnTo>
                  <a:lnTo>
                    <a:pt x="194550" y="223409"/>
                  </a:lnTo>
                  <a:lnTo>
                    <a:pt x="202879" y="186679"/>
                  </a:lnTo>
                  <a:lnTo>
                    <a:pt x="200635" y="168643"/>
                  </a:lnTo>
                  <a:lnTo>
                    <a:pt x="176153" y="134539"/>
                  </a:lnTo>
                  <a:lnTo>
                    <a:pt x="104471" y="113192"/>
                  </a:lnTo>
                  <a:lnTo>
                    <a:pt x="95985" y="109001"/>
                  </a:lnTo>
                  <a:lnTo>
                    <a:pt x="88001" y="101678"/>
                  </a:lnTo>
                  <a:lnTo>
                    <a:pt x="82073" y="91076"/>
                  </a:lnTo>
                  <a:lnTo>
                    <a:pt x="79752" y="77046"/>
                  </a:lnTo>
                  <a:lnTo>
                    <a:pt x="85418" y="53173"/>
                  </a:lnTo>
                  <a:lnTo>
                    <a:pt x="100769" y="32016"/>
                  </a:lnTo>
                  <a:lnTo>
                    <a:pt x="123334" y="16890"/>
                  </a:lnTo>
                  <a:lnTo>
                    <a:pt x="150643" y="11111"/>
                  </a:lnTo>
                  <a:lnTo>
                    <a:pt x="173919" y="14474"/>
                  </a:lnTo>
                  <a:lnTo>
                    <a:pt x="192385" y="25211"/>
                  </a:lnTo>
                  <a:lnTo>
                    <a:pt x="204555" y="44290"/>
                  </a:lnTo>
                  <a:lnTo>
                    <a:pt x="208942" y="72680"/>
                  </a:lnTo>
                  <a:lnTo>
                    <a:pt x="208942" y="85391"/>
                  </a:lnTo>
                  <a:lnTo>
                    <a:pt x="207310" y="92547"/>
                  </a:lnTo>
                  <a:lnTo>
                    <a:pt x="207310" y="98903"/>
                  </a:lnTo>
                  <a:lnTo>
                    <a:pt x="216405" y="98903"/>
                  </a:lnTo>
                  <a:lnTo>
                    <a:pt x="240190" y="3955"/>
                  </a:lnTo>
                  <a:lnTo>
                    <a:pt x="2394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14139" y="1040988"/>
              <a:ext cx="96076" cy="184274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4771644" y="864854"/>
            <a:ext cx="6849109" cy="4405630"/>
            <a:chOff x="4771644" y="864854"/>
            <a:chExt cx="6849109" cy="4405630"/>
          </a:xfrm>
        </p:grpSpPr>
        <p:sp>
          <p:nvSpPr>
            <p:cNvPr id="43" name="object 43"/>
            <p:cNvSpPr/>
            <p:nvPr/>
          </p:nvSpPr>
          <p:spPr>
            <a:xfrm>
              <a:off x="11161751" y="864854"/>
              <a:ext cx="93980" cy="397510"/>
            </a:xfrm>
            <a:custGeom>
              <a:avLst/>
              <a:gdLst/>
              <a:ahLst/>
              <a:cxnLst/>
              <a:rect l="l" t="t" r="r" b="b"/>
              <a:pathLst>
                <a:path w="93979" h="397509">
                  <a:moveTo>
                    <a:pt x="4197" y="0"/>
                  </a:moveTo>
                  <a:lnTo>
                    <a:pt x="1632" y="0"/>
                  </a:lnTo>
                  <a:lnTo>
                    <a:pt x="0" y="1577"/>
                  </a:lnTo>
                  <a:lnTo>
                    <a:pt x="0" y="5967"/>
                  </a:lnTo>
                  <a:lnTo>
                    <a:pt x="7695" y="13100"/>
                  </a:lnTo>
                  <a:lnTo>
                    <a:pt x="34221" y="47001"/>
                  </a:lnTo>
                  <a:lnTo>
                    <a:pt x="53926" y="89468"/>
                  </a:lnTo>
                  <a:lnTo>
                    <a:pt x="66198" y="140127"/>
                  </a:lnTo>
                  <a:lnTo>
                    <a:pt x="70425" y="198600"/>
                  </a:lnTo>
                  <a:lnTo>
                    <a:pt x="67309" y="249573"/>
                  </a:lnTo>
                  <a:lnTo>
                    <a:pt x="56695" y="299242"/>
                  </a:lnTo>
                  <a:lnTo>
                    <a:pt x="36681" y="345561"/>
                  </a:lnTo>
                  <a:lnTo>
                    <a:pt x="5363" y="386479"/>
                  </a:lnTo>
                  <a:lnTo>
                    <a:pt x="0" y="391245"/>
                  </a:lnTo>
                  <a:lnTo>
                    <a:pt x="0" y="395615"/>
                  </a:lnTo>
                  <a:lnTo>
                    <a:pt x="1632" y="397203"/>
                  </a:lnTo>
                  <a:lnTo>
                    <a:pt x="4197" y="397203"/>
                  </a:lnTo>
                  <a:lnTo>
                    <a:pt x="12549" y="392195"/>
                  </a:lnTo>
                  <a:lnTo>
                    <a:pt x="48927" y="353132"/>
                  </a:lnTo>
                  <a:lnTo>
                    <a:pt x="68559" y="319749"/>
                  </a:lnTo>
                  <a:lnTo>
                    <a:pt x="88964" y="255302"/>
                  </a:lnTo>
                  <a:lnTo>
                    <a:pt x="93977" y="198600"/>
                  </a:lnTo>
                  <a:lnTo>
                    <a:pt x="92939" y="172480"/>
                  </a:lnTo>
                  <a:lnTo>
                    <a:pt x="80893" y="108611"/>
                  </a:lnTo>
                  <a:lnTo>
                    <a:pt x="47746" y="42390"/>
                  </a:lnTo>
                  <a:lnTo>
                    <a:pt x="12301" y="4796"/>
                  </a:lnTo>
                  <a:lnTo>
                    <a:pt x="4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71644" y="1059179"/>
              <a:ext cx="6848856" cy="4210812"/>
            </a:xfrm>
            <a:prstGeom prst="rect">
              <a:avLst/>
            </a:prstGeom>
          </p:spPr>
        </p:pic>
      </p:grp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146775" y="93145"/>
            <a:ext cx="7141092" cy="734867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Back</a:t>
            </a:r>
            <a:r>
              <a:rPr sz="2400" spc="-45" dirty="0"/>
              <a:t> </a:t>
            </a:r>
            <a:r>
              <a:rPr sz="2400" dirty="0"/>
              <a:t>propagation</a:t>
            </a:r>
            <a:r>
              <a:rPr sz="2400" spc="-55" dirty="0"/>
              <a:t> </a:t>
            </a:r>
            <a:r>
              <a:rPr sz="2400" dirty="0"/>
              <a:t>through</a:t>
            </a:r>
            <a:r>
              <a:rPr sz="2400" spc="-10" dirty="0"/>
              <a:t> </a:t>
            </a:r>
            <a:r>
              <a:rPr sz="2400" dirty="0"/>
              <a:t>time</a:t>
            </a:r>
            <a:r>
              <a:rPr sz="2400" spc="-10" dirty="0"/>
              <a:t> </a:t>
            </a:r>
            <a:r>
              <a:rPr sz="2400" dirty="0"/>
              <a:t>(</a:t>
            </a:r>
            <a:r>
              <a:rPr sz="2400" spc="-5" dirty="0"/>
              <a:t> </a:t>
            </a:r>
            <a:r>
              <a:rPr sz="2400" spc="-10" dirty="0"/>
              <a:t>BPTT)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29590" y="1854784"/>
            <a:ext cx="9743440" cy="425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279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S1,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S2,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S3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are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hidden 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states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or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memory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units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at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time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t1,</a:t>
            </a:r>
            <a:r>
              <a:rPr sz="18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t2,</a:t>
            </a:r>
            <a:r>
              <a:rPr sz="18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t3</a:t>
            </a:r>
            <a:r>
              <a:rPr sz="1800" spc="-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respectively,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and </a:t>
            </a: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Ws</a:t>
            </a:r>
            <a:r>
              <a:rPr sz="1800" i="1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is</a:t>
            </a:r>
            <a:r>
              <a:rPr sz="18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weight</a:t>
            </a:r>
            <a:r>
              <a:rPr sz="1800" spc="-7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matrix</a:t>
            </a:r>
            <a:r>
              <a:rPr sz="1800" spc="-6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associated</a:t>
            </a:r>
            <a:r>
              <a:rPr sz="18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with</a:t>
            </a:r>
            <a:r>
              <a:rPr sz="1800" spc="-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it.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X1,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X2,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X3</a:t>
            </a:r>
            <a:r>
              <a:rPr sz="18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are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inputs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at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time </a:t>
            </a: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t1,</a:t>
            </a:r>
            <a:r>
              <a:rPr sz="1800" i="1" spc="-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273139"/>
                </a:solidFill>
                <a:latin typeface="Calibri"/>
                <a:cs typeface="Calibri"/>
              </a:rPr>
              <a:t>t2,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t3</a:t>
            </a:r>
            <a:r>
              <a:rPr sz="1800" i="1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respectively,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and</a:t>
            </a:r>
            <a:r>
              <a:rPr sz="1800" spc="-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Wx</a:t>
            </a:r>
            <a:r>
              <a:rPr sz="1800" i="1" spc="-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weight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matrix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associated</a:t>
            </a:r>
            <a:r>
              <a:rPr sz="1800" spc="-7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with</a:t>
            </a:r>
            <a:r>
              <a:rPr sz="18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it.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Y1,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Y2,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Y3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are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outputs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at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time </a:t>
            </a: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t1,</a:t>
            </a:r>
            <a:r>
              <a:rPr sz="1800" i="1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273139"/>
                </a:solidFill>
                <a:latin typeface="Calibri"/>
                <a:cs typeface="Calibri"/>
              </a:rPr>
              <a:t>t2,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t3</a:t>
            </a:r>
            <a:r>
              <a:rPr sz="1800" i="1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respectively,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Wy</a:t>
            </a:r>
            <a:r>
              <a:rPr sz="1800" i="1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weight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matrix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associated</a:t>
            </a:r>
            <a:r>
              <a:rPr sz="18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with</a:t>
            </a:r>
            <a:r>
              <a:rPr sz="1800" spc="-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it.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don’t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independently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train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system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at</a:t>
            </a:r>
            <a:r>
              <a:rPr sz="1800" spc="-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specific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time</a:t>
            </a:r>
            <a:r>
              <a:rPr sz="1800" spc="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“t”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.</a:t>
            </a:r>
            <a:r>
              <a:rPr sz="1800" spc="-4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train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it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at</a:t>
            </a:r>
            <a:r>
              <a:rPr sz="1800" spc="-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</a:t>
            </a:r>
            <a:r>
              <a:rPr sz="18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specific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time </a:t>
            </a: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“t”</a:t>
            </a:r>
            <a:r>
              <a:rPr sz="1800" i="1" spc="-4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as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well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as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all</a:t>
            </a:r>
            <a:r>
              <a:rPr sz="18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that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has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happened</a:t>
            </a:r>
            <a:r>
              <a:rPr sz="18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before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time</a:t>
            </a:r>
            <a:r>
              <a:rPr sz="18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73139"/>
                </a:solidFill>
                <a:latin typeface="Calibri"/>
                <a:cs typeface="Calibri"/>
              </a:rPr>
              <a:t>“t”</a:t>
            </a:r>
            <a:r>
              <a:rPr sz="1800" i="1" spc="-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like</a:t>
            </a:r>
            <a:r>
              <a:rPr sz="18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t-1,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t-</a:t>
            </a:r>
            <a:r>
              <a:rPr sz="1800" dirty="0">
                <a:solidFill>
                  <a:srgbClr val="273139"/>
                </a:solidFill>
                <a:latin typeface="Calibri"/>
                <a:cs typeface="Calibri"/>
              </a:rPr>
              <a:t>2,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73139"/>
                </a:solidFill>
                <a:latin typeface="Calibri"/>
                <a:cs typeface="Calibri"/>
              </a:rPr>
              <a:t>t-</a:t>
            </a:r>
            <a:r>
              <a:rPr sz="1800" spc="-25" dirty="0">
                <a:solidFill>
                  <a:srgbClr val="273139"/>
                </a:solidFill>
                <a:latin typeface="Calibri"/>
                <a:cs typeface="Calibri"/>
              </a:rPr>
              <a:t>3.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734" y="1512899"/>
            <a:ext cx="509270" cy="259715"/>
          </a:xfrm>
          <a:custGeom>
            <a:avLst/>
            <a:gdLst/>
            <a:ahLst/>
            <a:cxnLst/>
            <a:rect l="l" t="t" r="r" b="b"/>
            <a:pathLst>
              <a:path w="509269" h="259714">
                <a:moveTo>
                  <a:pt x="163639" y="71043"/>
                </a:moveTo>
                <a:lnTo>
                  <a:pt x="158521" y="38506"/>
                </a:lnTo>
                <a:lnTo>
                  <a:pt x="144399" y="13830"/>
                </a:lnTo>
                <a:lnTo>
                  <a:pt x="125945" y="266"/>
                </a:lnTo>
                <a:lnTo>
                  <a:pt x="125577" y="0"/>
                </a:lnTo>
                <a:lnTo>
                  <a:pt x="66827" y="0"/>
                </a:lnTo>
                <a:lnTo>
                  <a:pt x="49822" y="13411"/>
                </a:lnTo>
                <a:lnTo>
                  <a:pt x="39966" y="29451"/>
                </a:lnTo>
                <a:lnTo>
                  <a:pt x="37020" y="40487"/>
                </a:lnTo>
                <a:lnTo>
                  <a:pt x="37020" y="44729"/>
                </a:lnTo>
                <a:lnTo>
                  <a:pt x="51028" y="24460"/>
                </a:lnTo>
                <a:lnTo>
                  <a:pt x="62534" y="11226"/>
                </a:lnTo>
                <a:lnTo>
                  <a:pt x="75184" y="3962"/>
                </a:lnTo>
                <a:lnTo>
                  <a:pt x="86944" y="889"/>
                </a:lnTo>
                <a:lnTo>
                  <a:pt x="95821" y="266"/>
                </a:lnTo>
                <a:lnTo>
                  <a:pt x="112356" y="3327"/>
                </a:lnTo>
                <a:lnTo>
                  <a:pt x="126593" y="13004"/>
                </a:lnTo>
                <a:lnTo>
                  <a:pt x="136563" y="29997"/>
                </a:lnTo>
                <a:lnTo>
                  <a:pt x="140322" y="55016"/>
                </a:lnTo>
                <a:lnTo>
                  <a:pt x="139928" y="64630"/>
                </a:lnTo>
                <a:lnTo>
                  <a:pt x="138557" y="76123"/>
                </a:lnTo>
                <a:lnTo>
                  <a:pt x="135978" y="89979"/>
                </a:lnTo>
                <a:lnTo>
                  <a:pt x="131902" y="106743"/>
                </a:lnTo>
                <a:lnTo>
                  <a:pt x="131597" y="106743"/>
                </a:lnTo>
                <a:lnTo>
                  <a:pt x="127431" y="93256"/>
                </a:lnTo>
                <a:lnTo>
                  <a:pt x="125996" y="91211"/>
                </a:lnTo>
                <a:lnTo>
                  <a:pt x="125996" y="117640"/>
                </a:lnTo>
                <a:lnTo>
                  <a:pt x="122148" y="140881"/>
                </a:lnTo>
                <a:lnTo>
                  <a:pt x="110058" y="170738"/>
                </a:lnTo>
                <a:lnTo>
                  <a:pt x="88988" y="196532"/>
                </a:lnTo>
                <a:lnTo>
                  <a:pt x="58178" y="207505"/>
                </a:lnTo>
                <a:lnTo>
                  <a:pt x="38392" y="202590"/>
                </a:lnTo>
                <a:lnTo>
                  <a:pt x="28232" y="191541"/>
                </a:lnTo>
                <a:lnTo>
                  <a:pt x="24498" y="179920"/>
                </a:lnTo>
                <a:lnTo>
                  <a:pt x="23964" y="173304"/>
                </a:lnTo>
                <a:lnTo>
                  <a:pt x="25323" y="162115"/>
                </a:lnTo>
                <a:lnTo>
                  <a:pt x="25374" y="161683"/>
                </a:lnTo>
                <a:lnTo>
                  <a:pt x="35902" y="121881"/>
                </a:lnTo>
                <a:lnTo>
                  <a:pt x="65417" y="84709"/>
                </a:lnTo>
                <a:lnTo>
                  <a:pt x="91478" y="77711"/>
                </a:lnTo>
                <a:lnTo>
                  <a:pt x="111175" y="83096"/>
                </a:lnTo>
                <a:lnTo>
                  <a:pt x="121450" y="95402"/>
                </a:lnTo>
                <a:lnTo>
                  <a:pt x="125374" y="108851"/>
                </a:lnTo>
                <a:lnTo>
                  <a:pt x="125996" y="117640"/>
                </a:lnTo>
                <a:lnTo>
                  <a:pt x="125996" y="91211"/>
                </a:lnTo>
                <a:lnTo>
                  <a:pt x="119468" y="81864"/>
                </a:lnTo>
                <a:lnTo>
                  <a:pt x="113182" y="77711"/>
                </a:lnTo>
                <a:lnTo>
                  <a:pt x="107543" y="73990"/>
                </a:lnTo>
                <a:lnTo>
                  <a:pt x="91478" y="71043"/>
                </a:lnTo>
                <a:lnTo>
                  <a:pt x="76962" y="72174"/>
                </a:lnTo>
                <a:lnTo>
                  <a:pt x="28003" y="99491"/>
                </a:lnTo>
                <a:lnTo>
                  <a:pt x="4318" y="136702"/>
                </a:lnTo>
                <a:lnTo>
                  <a:pt x="38" y="161683"/>
                </a:lnTo>
                <a:lnTo>
                  <a:pt x="0" y="162115"/>
                </a:lnTo>
                <a:lnTo>
                  <a:pt x="2819" y="178447"/>
                </a:lnTo>
                <a:lnTo>
                  <a:pt x="12293" y="196075"/>
                </a:lnTo>
                <a:lnTo>
                  <a:pt x="29933" y="210185"/>
                </a:lnTo>
                <a:lnTo>
                  <a:pt x="57251" y="215963"/>
                </a:lnTo>
                <a:lnTo>
                  <a:pt x="81699" y="207505"/>
                </a:lnTo>
                <a:lnTo>
                  <a:pt x="105105" y="199402"/>
                </a:lnTo>
                <a:lnTo>
                  <a:pt x="138214" y="159727"/>
                </a:lnTo>
                <a:lnTo>
                  <a:pt x="157429" y="111950"/>
                </a:lnTo>
                <a:lnTo>
                  <a:pt x="158216" y="106743"/>
                </a:lnTo>
                <a:lnTo>
                  <a:pt x="163639" y="71043"/>
                </a:lnTo>
                <a:close/>
              </a:path>
              <a:path w="509269" h="259714">
                <a:moveTo>
                  <a:pt x="407695" y="3581"/>
                </a:moveTo>
                <a:lnTo>
                  <a:pt x="231914" y="3581"/>
                </a:lnTo>
                <a:lnTo>
                  <a:pt x="231914" y="12966"/>
                </a:lnTo>
                <a:lnTo>
                  <a:pt x="260858" y="12966"/>
                </a:lnTo>
                <a:lnTo>
                  <a:pt x="260858" y="20231"/>
                </a:lnTo>
                <a:lnTo>
                  <a:pt x="218224" y="185712"/>
                </a:lnTo>
                <a:lnTo>
                  <a:pt x="181216" y="199936"/>
                </a:lnTo>
                <a:lnTo>
                  <a:pt x="181216" y="209308"/>
                </a:lnTo>
                <a:lnTo>
                  <a:pt x="358546" y="209308"/>
                </a:lnTo>
                <a:lnTo>
                  <a:pt x="389648" y="138823"/>
                </a:lnTo>
                <a:lnTo>
                  <a:pt x="391210" y="134277"/>
                </a:lnTo>
                <a:lnTo>
                  <a:pt x="391210" y="131254"/>
                </a:lnTo>
                <a:lnTo>
                  <a:pt x="384670" y="131254"/>
                </a:lnTo>
                <a:lnTo>
                  <a:pt x="383438" y="134886"/>
                </a:lnTo>
                <a:lnTo>
                  <a:pt x="369112" y="163944"/>
                </a:lnTo>
                <a:lnTo>
                  <a:pt x="353339" y="184200"/>
                </a:lnTo>
                <a:lnTo>
                  <a:pt x="331368" y="196062"/>
                </a:lnTo>
                <a:lnTo>
                  <a:pt x="298500" y="199936"/>
                </a:lnTo>
                <a:lnTo>
                  <a:pt x="248094" y="199936"/>
                </a:lnTo>
                <a:lnTo>
                  <a:pt x="242189" y="199034"/>
                </a:lnTo>
                <a:lnTo>
                  <a:pt x="242189" y="195097"/>
                </a:lnTo>
                <a:lnTo>
                  <a:pt x="264909" y="107061"/>
                </a:lnTo>
                <a:lnTo>
                  <a:pt x="295706" y="107061"/>
                </a:lnTo>
                <a:lnTo>
                  <a:pt x="319024" y="139115"/>
                </a:lnTo>
                <a:lnTo>
                  <a:pt x="319024" y="140639"/>
                </a:lnTo>
                <a:lnTo>
                  <a:pt x="320281" y="142443"/>
                </a:lnTo>
                <a:lnTo>
                  <a:pt x="325564" y="142443"/>
                </a:lnTo>
                <a:lnTo>
                  <a:pt x="326504" y="140931"/>
                </a:lnTo>
                <a:lnTo>
                  <a:pt x="345478" y="65595"/>
                </a:lnTo>
                <a:lnTo>
                  <a:pt x="345478" y="63792"/>
                </a:lnTo>
                <a:lnTo>
                  <a:pt x="343916" y="62280"/>
                </a:lnTo>
                <a:lnTo>
                  <a:pt x="338950" y="62280"/>
                </a:lnTo>
                <a:lnTo>
                  <a:pt x="337388" y="67729"/>
                </a:lnTo>
                <a:lnTo>
                  <a:pt x="332295" y="82105"/>
                </a:lnTo>
                <a:lnTo>
                  <a:pt x="325297" y="91325"/>
                </a:lnTo>
                <a:lnTo>
                  <a:pt x="314159" y="96227"/>
                </a:lnTo>
                <a:lnTo>
                  <a:pt x="296633" y="97675"/>
                </a:lnTo>
                <a:lnTo>
                  <a:pt x="267385" y="97675"/>
                </a:lnTo>
                <a:lnTo>
                  <a:pt x="289179" y="12966"/>
                </a:lnTo>
                <a:lnTo>
                  <a:pt x="346710" y="12966"/>
                </a:lnTo>
                <a:lnTo>
                  <a:pt x="370116" y="14732"/>
                </a:lnTo>
                <a:lnTo>
                  <a:pt x="384594" y="20459"/>
                </a:lnTo>
                <a:lnTo>
                  <a:pt x="391960" y="30835"/>
                </a:lnTo>
                <a:lnTo>
                  <a:pt x="394017" y="46545"/>
                </a:lnTo>
                <a:lnTo>
                  <a:pt x="394017" y="54406"/>
                </a:lnTo>
                <a:lnTo>
                  <a:pt x="392760" y="62572"/>
                </a:lnTo>
                <a:lnTo>
                  <a:pt x="392455" y="69532"/>
                </a:lnTo>
                <a:lnTo>
                  <a:pt x="393395" y="71653"/>
                </a:lnTo>
                <a:lnTo>
                  <a:pt x="399618" y="71653"/>
                </a:lnTo>
                <a:lnTo>
                  <a:pt x="407695" y="3581"/>
                </a:lnTo>
                <a:close/>
              </a:path>
              <a:path w="509269" h="259714">
                <a:moveTo>
                  <a:pt x="508647" y="216903"/>
                </a:moveTo>
                <a:lnTo>
                  <a:pt x="505942" y="203593"/>
                </a:lnTo>
                <a:lnTo>
                  <a:pt x="498259" y="191846"/>
                </a:lnTo>
                <a:lnTo>
                  <a:pt x="486219" y="182613"/>
                </a:lnTo>
                <a:lnTo>
                  <a:pt x="470471" y="176885"/>
                </a:lnTo>
                <a:lnTo>
                  <a:pt x="482942" y="170688"/>
                </a:lnTo>
                <a:lnTo>
                  <a:pt x="492887" y="161747"/>
                </a:lnTo>
                <a:lnTo>
                  <a:pt x="499452" y="150660"/>
                </a:lnTo>
                <a:lnTo>
                  <a:pt x="501827" y="137985"/>
                </a:lnTo>
                <a:lnTo>
                  <a:pt x="498271" y="125793"/>
                </a:lnTo>
                <a:lnTo>
                  <a:pt x="488645" y="116217"/>
                </a:lnTo>
                <a:lnTo>
                  <a:pt x="474599" y="109943"/>
                </a:lnTo>
                <a:lnTo>
                  <a:pt x="457746" y="107708"/>
                </a:lnTo>
                <a:lnTo>
                  <a:pt x="440817" y="109969"/>
                </a:lnTo>
                <a:lnTo>
                  <a:pt x="427253" y="116217"/>
                </a:lnTo>
                <a:lnTo>
                  <a:pt x="418274" y="125615"/>
                </a:lnTo>
                <a:lnTo>
                  <a:pt x="415010" y="137325"/>
                </a:lnTo>
                <a:lnTo>
                  <a:pt x="415010" y="145503"/>
                </a:lnTo>
                <a:lnTo>
                  <a:pt x="425932" y="126276"/>
                </a:lnTo>
                <a:lnTo>
                  <a:pt x="434238" y="119138"/>
                </a:lnTo>
                <a:lnTo>
                  <a:pt x="443534" y="115303"/>
                </a:lnTo>
                <a:lnTo>
                  <a:pt x="451815" y="113741"/>
                </a:lnTo>
                <a:lnTo>
                  <a:pt x="457073" y="113449"/>
                </a:lnTo>
                <a:lnTo>
                  <a:pt x="463181" y="114084"/>
                </a:lnTo>
                <a:lnTo>
                  <a:pt x="470877" y="117182"/>
                </a:lnTo>
                <a:lnTo>
                  <a:pt x="477456" y="124548"/>
                </a:lnTo>
                <a:lnTo>
                  <a:pt x="480250" y="137985"/>
                </a:lnTo>
                <a:lnTo>
                  <a:pt x="479171" y="148437"/>
                </a:lnTo>
                <a:lnTo>
                  <a:pt x="438416" y="174904"/>
                </a:lnTo>
                <a:lnTo>
                  <a:pt x="438416" y="180873"/>
                </a:lnTo>
                <a:lnTo>
                  <a:pt x="455688" y="180873"/>
                </a:lnTo>
                <a:lnTo>
                  <a:pt x="467855" y="183235"/>
                </a:lnTo>
                <a:lnTo>
                  <a:pt x="477100" y="190182"/>
                </a:lnTo>
                <a:lnTo>
                  <a:pt x="482968" y="201472"/>
                </a:lnTo>
                <a:lnTo>
                  <a:pt x="485025" y="216903"/>
                </a:lnTo>
                <a:lnTo>
                  <a:pt x="482320" y="234149"/>
                </a:lnTo>
                <a:lnTo>
                  <a:pt x="475449" y="245160"/>
                </a:lnTo>
                <a:lnTo>
                  <a:pt x="466318" y="250990"/>
                </a:lnTo>
                <a:lnTo>
                  <a:pt x="456831" y="252704"/>
                </a:lnTo>
                <a:lnTo>
                  <a:pt x="446824" y="251828"/>
                </a:lnTo>
                <a:lnTo>
                  <a:pt x="436372" y="249034"/>
                </a:lnTo>
                <a:lnTo>
                  <a:pt x="426783" y="244030"/>
                </a:lnTo>
                <a:lnTo>
                  <a:pt x="419328" y="236575"/>
                </a:lnTo>
                <a:lnTo>
                  <a:pt x="427520" y="236575"/>
                </a:lnTo>
                <a:lnTo>
                  <a:pt x="433197" y="231482"/>
                </a:lnTo>
                <a:lnTo>
                  <a:pt x="433197" y="217106"/>
                </a:lnTo>
                <a:lnTo>
                  <a:pt x="427964" y="212026"/>
                </a:lnTo>
                <a:lnTo>
                  <a:pt x="414566" y="212026"/>
                </a:lnTo>
                <a:lnTo>
                  <a:pt x="408190" y="215785"/>
                </a:lnTo>
                <a:lnTo>
                  <a:pt x="408190" y="224624"/>
                </a:lnTo>
                <a:lnTo>
                  <a:pt x="412216" y="238912"/>
                </a:lnTo>
                <a:lnTo>
                  <a:pt x="423024" y="249859"/>
                </a:lnTo>
                <a:lnTo>
                  <a:pt x="438683" y="256870"/>
                </a:lnTo>
                <a:lnTo>
                  <a:pt x="457288" y="259334"/>
                </a:lnTo>
                <a:lnTo>
                  <a:pt x="478066" y="255816"/>
                </a:lnTo>
                <a:lnTo>
                  <a:pt x="494309" y="246405"/>
                </a:lnTo>
                <a:lnTo>
                  <a:pt x="504875" y="232854"/>
                </a:lnTo>
                <a:lnTo>
                  <a:pt x="508647" y="216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35391" y="1845192"/>
            <a:ext cx="707390" cy="12700"/>
          </a:xfrm>
          <a:custGeom>
            <a:avLst/>
            <a:gdLst/>
            <a:ahLst/>
            <a:cxnLst/>
            <a:rect l="l" t="t" r="r" b="b"/>
            <a:pathLst>
              <a:path w="707389" h="12700">
                <a:moveTo>
                  <a:pt x="706846" y="0"/>
                </a:moveTo>
                <a:lnTo>
                  <a:pt x="0" y="0"/>
                </a:lnTo>
                <a:lnTo>
                  <a:pt x="0" y="12096"/>
                </a:lnTo>
                <a:lnTo>
                  <a:pt x="706846" y="12096"/>
                </a:lnTo>
                <a:lnTo>
                  <a:pt x="7068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47837" y="1917789"/>
            <a:ext cx="664210" cy="263525"/>
            <a:chOff x="1047837" y="1917789"/>
            <a:chExt cx="664210" cy="263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837" y="1917789"/>
              <a:ext cx="163648" cy="2232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34340" y="1927780"/>
              <a:ext cx="309245" cy="213360"/>
            </a:xfrm>
            <a:custGeom>
              <a:avLst/>
              <a:gdLst/>
              <a:ahLst/>
              <a:cxnLst/>
              <a:rect l="l" t="t" r="r" b="b"/>
              <a:pathLst>
                <a:path w="309244" h="213360">
                  <a:moveTo>
                    <a:pt x="307676" y="0"/>
                  </a:moveTo>
                  <a:lnTo>
                    <a:pt x="297725" y="0"/>
                  </a:lnTo>
                  <a:lnTo>
                    <a:pt x="289009" y="905"/>
                  </a:lnTo>
                  <a:lnTo>
                    <a:pt x="242977" y="0"/>
                  </a:lnTo>
                  <a:lnTo>
                    <a:pt x="242977" y="9068"/>
                  </a:lnTo>
                  <a:lnTo>
                    <a:pt x="255093" y="9677"/>
                  </a:lnTo>
                  <a:lnTo>
                    <a:pt x="265993" y="12096"/>
                  </a:lnTo>
                  <a:lnTo>
                    <a:pt x="265993" y="24506"/>
                  </a:lnTo>
                  <a:lnTo>
                    <a:pt x="177955" y="173657"/>
                  </a:lnTo>
                  <a:lnTo>
                    <a:pt x="166429" y="23601"/>
                  </a:lnTo>
                  <a:lnTo>
                    <a:pt x="166510" y="18865"/>
                  </a:lnTo>
                  <a:lnTo>
                    <a:pt x="168688" y="14330"/>
                  </a:lnTo>
                  <a:lnTo>
                    <a:pt x="175183" y="10876"/>
                  </a:lnTo>
                  <a:lnTo>
                    <a:pt x="188210" y="9381"/>
                  </a:lnTo>
                  <a:lnTo>
                    <a:pt x="196622" y="9381"/>
                  </a:lnTo>
                  <a:lnTo>
                    <a:pt x="196622" y="295"/>
                  </a:lnTo>
                  <a:lnTo>
                    <a:pt x="146873" y="763"/>
                  </a:lnTo>
                  <a:lnTo>
                    <a:pt x="115421" y="0"/>
                  </a:lnTo>
                  <a:lnTo>
                    <a:pt x="115421" y="9381"/>
                  </a:lnTo>
                  <a:lnTo>
                    <a:pt x="136576" y="9381"/>
                  </a:lnTo>
                  <a:lnTo>
                    <a:pt x="138741" y="11191"/>
                  </a:lnTo>
                  <a:lnTo>
                    <a:pt x="141229" y="40240"/>
                  </a:lnTo>
                  <a:lnTo>
                    <a:pt x="62534" y="173657"/>
                  </a:lnTo>
                  <a:lnTo>
                    <a:pt x="50703" y="20259"/>
                  </a:lnTo>
                  <a:lnTo>
                    <a:pt x="51073" y="17074"/>
                  </a:lnTo>
                  <a:lnTo>
                    <a:pt x="53659" y="13573"/>
                  </a:lnTo>
                  <a:lnTo>
                    <a:pt x="60678" y="10696"/>
                  </a:lnTo>
                  <a:lnTo>
                    <a:pt x="80879" y="9381"/>
                  </a:lnTo>
                  <a:lnTo>
                    <a:pt x="80879" y="0"/>
                  </a:lnTo>
                  <a:lnTo>
                    <a:pt x="30050" y="763"/>
                  </a:lnTo>
                  <a:lnTo>
                    <a:pt x="0" y="0"/>
                  </a:lnTo>
                  <a:lnTo>
                    <a:pt x="0" y="9381"/>
                  </a:lnTo>
                  <a:lnTo>
                    <a:pt x="23320" y="9381"/>
                  </a:lnTo>
                  <a:lnTo>
                    <a:pt x="38891" y="213290"/>
                  </a:lnTo>
                  <a:lnTo>
                    <a:pt x="46963" y="213290"/>
                  </a:lnTo>
                  <a:lnTo>
                    <a:pt x="142178" y="52633"/>
                  </a:lnTo>
                  <a:lnTo>
                    <a:pt x="154294" y="211778"/>
                  </a:lnTo>
                  <a:lnTo>
                    <a:pt x="154921" y="213290"/>
                  </a:lnTo>
                  <a:lnTo>
                    <a:pt x="162706" y="213290"/>
                  </a:lnTo>
                  <a:lnTo>
                    <a:pt x="268159" y="35088"/>
                  </a:lnTo>
                  <a:lnTo>
                    <a:pt x="274132" y="25667"/>
                  </a:lnTo>
                  <a:lnTo>
                    <a:pt x="281152" y="17809"/>
                  </a:lnTo>
                  <a:lnTo>
                    <a:pt x="290387" y="12164"/>
                  </a:lnTo>
                  <a:lnTo>
                    <a:pt x="305815" y="9068"/>
                  </a:lnTo>
                  <a:lnTo>
                    <a:pt x="308929" y="9068"/>
                  </a:lnTo>
                  <a:lnTo>
                    <a:pt x="308929" y="2106"/>
                  </a:lnTo>
                  <a:lnTo>
                    <a:pt x="307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7229" y="2030278"/>
              <a:ext cx="194797" cy="15096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880174" y="1815847"/>
            <a:ext cx="207010" cy="12700"/>
          </a:xfrm>
          <a:custGeom>
            <a:avLst/>
            <a:gdLst/>
            <a:ahLst/>
            <a:cxnLst/>
            <a:rect l="l" t="t" r="r" b="b"/>
            <a:pathLst>
              <a:path w="207010" h="12700">
                <a:moveTo>
                  <a:pt x="206895" y="0"/>
                </a:moveTo>
                <a:lnTo>
                  <a:pt x="0" y="0"/>
                </a:lnTo>
                <a:lnTo>
                  <a:pt x="0" y="12096"/>
                </a:lnTo>
                <a:lnTo>
                  <a:pt x="206895" y="12096"/>
                </a:lnTo>
                <a:lnTo>
                  <a:pt x="2068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0174" y="1874537"/>
            <a:ext cx="207010" cy="12700"/>
          </a:xfrm>
          <a:custGeom>
            <a:avLst/>
            <a:gdLst/>
            <a:ahLst/>
            <a:cxnLst/>
            <a:rect l="l" t="t" r="r" b="b"/>
            <a:pathLst>
              <a:path w="207010" h="12700">
                <a:moveTo>
                  <a:pt x="206895" y="0"/>
                </a:moveTo>
                <a:lnTo>
                  <a:pt x="0" y="0"/>
                </a:lnTo>
                <a:lnTo>
                  <a:pt x="0" y="12113"/>
                </a:lnTo>
                <a:lnTo>
                  <a:pt x="206895" y="12113"/>
                </a:lnTo>
                <a:lnTo>
                  <a:pt x="2068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21033" y="1699964"/>
            <a:ext cx="72390" cy="302895"/>
          </a:xfrm>
          <a:custGeom>
            <a:avLst/>
            <a:gdLst/>
            <a:ahLst/>
            <a:cxnLst/>
            <a:rect l="l" t="t" r="r" b="b"/>
            <a:pathLst>
              <a:path w="72389" h="302894">
                <a:moveTo>
                  <a:pt x="70928" y="0"/>
                </a:moveTo>
                <a:lnTo>
                  <a:pt x="34636" y="33571"/>
                </a:lnTo>
                <a:lnTo>
                  <a:pt x="9845" y="83888"/>
                </a:lnTo>
                <a:lnTo>
                  <a:pt x="832" y="130825"/>
                </a:lnTo>
                <a:lnTo>
                  <a:pt x="0" y="151285"/>
                </a:lnTo>
                <a:lnTo>
                  <a:pt x="801" y="171182"/>
                </a:lnTo>
                <a:lnTo>
                  <a:pt x="10102" y="219822"/>
                </a:lnTo>
                <a:lnTo>
                  <a:pt x="35549" y="270259"/>
                </a:lnTo>
                <a:lnTo>
                  <a:pt x="62793" y="298898"/>
                </a:lnTo>
                <a:lnTo>
                  <a:pt x="70928" y="302552"/>
                </a:lnTo>
                <a:lnTo>
                  <a:pt x="72180" y="301647"/>
                </a:lnTo>
                <a:lnTo>
                  <a:pt x="72180" y="299524"/>
                </a:lnTo>
                <a:lnTo>
                  <a:pt x="72180" y="298010"/>
                </a:lnTo>
                <a:lnTo>
                  <a:pt x="42844" y="261179"/>
                </a:lnTo>
                <a:lnTo>
                  <a:pt x="27877" y="225141"/>
                </a:lnTo>
                <a:lnTo>
                  <a:pt x="20203" y="187572"/>
                </a:lnTo>
                <a:lnTo>
                  <a:pt x="18040" y="151285"/>
                </a:lnTo>
                <a:lnTo>
                  <a:pt x="20487" y="112031"/>
                </a:lnTo>
                <a:lnTo>
                  <a:pt x="28739" y="74171"/>
                </a:lnTo>
                <a:lnTo>
                  <a:pt x="44165" y="39092"/>
                </a:lnTo>
                <a:lnTo>
                  <a:pt x="68136" y="8180"/>
                </a:lnTo>
                <a:lnTo>
                  <a:pt x="72180" y="4542"/>
                </a:lnTo>
                <a:lnTo>
                  <a:pt x="72180" y="922"/>
                </a:lnTo>
                <a:lnTo>
                  <a:pt x="709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57297" y="1512899"/>
            <a:ext cx="509270" cy="259715"/>
          </a:xfrm>
          <a:custGeom>
            <a:avLst/>
            <a:gdLst/>
            <a:ahLst/>
            <a:cxnLst/>
            <a:rect l="l" t="t" r="r" b="b"/>
            <a:pathLst>
              <a:path w="509269" h="259714">
                <a:moveTo>
                  <a:pt x="163639" y="71043"/>
                </a:moveTo>
                <a:lnTo>
                  <a:pt x="158521" y="38506"/>
                </a:lnTo>
                <a:lnTo>
                  <a:pt x="144386" y="13830"/>
                </a:lnTo>
                <a:lnTo>
                  <a:pt x="125933" y="266"/>
                </a:lnTo>
                <a:lnTo>
                  <a:pt x="125577" y="0"/>
                </a:lnTo>
                <a:lnTo>
                  <a:pt x="66814" y="0"/>
                </a:lnTo>
                <a:lnTo>
                  <a:pt x="49809" y="13411"/>
                </a:lnTo>
                <a:lnTo>
                  <a:pt x="39954" y="29451"/>
                </a:lnTo>
                <a:lnTo>
                  <a:pt x="37007" y="40487"/>
                </a:lnTo>
                <a:lnTo>
                  <a:pt x="37007" y="44729"/>
                </a:lnTo>
                <a:lnTo>
                  <a:pt x="39497" y="51079"/>
                </a:lnTo>
                <a:lnTo>
                  <a:pt x="59118" y="51079"/>
                </a:lnTo>
                <a:lnTo>
                  <a:pt x="65646" y="41998"/>
                </a:lnTo>
                <a:lnTo>
                  <a:pt x="65646" y="24460"/>
                </a:lnTo>
                <a:lnTo>
                  <a:pt x="51028" y="24460"/>
                </a:lnTo>
                <a:lnTo>
                  <a:pt x="62522" y="11226"/>
                </a:lnTo>
                <a:lnTo>
                  <a:pt x="75171" y="3962"/>
                </a:lnTo>
                <a:lnTo>
                  <a:pt x="86944" y="889"/>
                </a:lnTo>
                <a:lnTo>
                  <a:pt x="95821" y="266"/>
                </a:lnTo>
                <a:lnTo>
                  <a:pt x="112356" y="3327"/>
                </a:lnTo>
                <a:lnTo>
                  <a:pt x="126580" y="13004"/>
                </a:lnTo>
                <a:lnTo>
                  <a:pt x="136550" y="29997"/>
                </a:lnTo>
                <a:lnTo>
                  <a:pt x="140296" y="55016"/>
                </a:lnTo>
                <a:lnTo>
                  <a:pt x="139903" y="64630"/>
                </a:lnTo>
                <a:lnTo>
                  <a:pt x="138557" y="76123"/>
                </a:lnTo>
                <a:lnTo>
                  <a:pt x="135978" y="89979"/>
                </a:lnTo>
                <a:lnTo>
                  <a:pt x="131902" y="106743"/>
                </a:lnTo>
                <a:lnTo>
                  <a:pt x="131597" y="106743"/>
                </a:lnTo>
                <a:lnTo>
                  <a:pt x="127431" y="93256"/>
                </a:lnTo>
                <a:lnTo>
                  <a:pt x="125996" y="91211"/>
                </a:lnTo>
                <a:lnTo>
                  <a:pt x="125996" y="117640"/>
                </a:lnTo>
                <a:lnTo>
                  <a:pt x="122135" y="140881"/>
                </a:lnTo>
                <a:lnTo>
                  <a:pt x="110045" y="170738"/>
                </a:lnTo>
                <a:lnTo>
                  <a:pt x="88976" y="196532"/>
                </a:lnTo>
                <a:lnTo>
                  <a:pt x="58166" y="207505"/>
                </a:lnTo>
                <a:lnTo>
                  <a:pt x="38379" y="202590"/>
                </a:lnTo>
                <a:lnTo>
                  <a:pt x="28232" y="191541"/>
                </a:lnTo>
                <a:lnTo>
                  <a:pt x="24485" y="179920"/>
                </a:lnTo>
                <a:lnTo>
                  <a:pt x="23952" y="173304"/>
                </a:lnTo>
                <a:lnTo>
                  <a:pt x="25311" y="162115"/>
                </a:lnTo>
                <a:lnTo>
                  <a:pt x="25361" y="161683"/>
                </a:lnTo>
                <a:lnTo>
                  <a:pt x="35902" y="121881"/>
                </a:lnTo>
                <a:lnTo>
                  <a:pt x="65417" y="84709"/>
                </a:lnTo>
                <a:lnTo>
                  <a:pt x="91452" y="77711"/>
                </a:lnTo>
                <a:lnTo>
                  <a:pt x="111163" y="83096"/>
                </a:lnTo>
                <a:lnTo>
                  <a:pt x="121450" y="95402"/>
                </a:lnTo>
                <a:lnTo>
                  <a:pt x="125374" y="108851"/>
                </a:lnTo>
                <a:lnTo>
                  <a:pt x="125996" y="117640"/>
                </a:lnTo>
                <a:lnTo>
                  <a:pt x="125996" y="91211"/>
                </a:lnTo>
                <a:lnTo>
                  <a:pt x="119468" y="81864"/>
                </a:lnTo>
                <a:lnTo>
                  <a:pt x="113169" y="77711"/>
                </a:lnTo>
                <a:lnTo>
                  <a:pt x="107530" y="73990"/>
                </a:lnTo>
                <a:lnTo>
                  <a:pt x="91452" y="71043"/>
                </a:lnTo>
                <a:lnTo>
                  <a:pt x="76949" y="72174"/>
                </a:lnTo>
                <a:lnTo>
                  <a:pt x="61709" y="76415"/>
                </a:lnTo>
                <a:lnTo>
                  <a:pt x="27990" y="99491"/>
                </a:lnTo>
                <a:lnTo>
                  <a:pt x="4318" y="136702"/>
                </a:lnTo>
                <a:lnTo>
                  <a:pt x="38" y="161683"/>
                </a:lnTo>
                <a:lnTo>
                  <a:pt x="0" y="162115"/>
                </a:lnTo>
                <a:lnTo>
                  <a:pt x="2819" y="178447"/>
                </a:lnTo>
                <a:lnTo>
                  <a:pt x="12293" y="196075"/>
                </a:lnTo>
                <a:lnTo>
                  <a:pt x="29921" y="210185"/>
                </a:lnTo>
                <a:lnTo>
                  <a:pt x="57238" y="215963"/>
                </a:lnTo>
                <a:lnTo>
                  <a:pt x="81686" y="207505"/>
                </a:lnTo>
                <a:lnTo>
                  <a:pt x="105105" y="199402"/>
                </a:lnTo>
                <a:lnTo>
                  <a:pt x="138201" y="159727"/>
                </a:lnTo>
                <a:lnTo>
                  <a:pt x="157429" y="111950"/>
                </a:lnTo>
                <a:lnTo>
                  <a:pt x="158216" y="106743"/>
                </a:lnTo>
                <a:lnTo>
                  <a:pt x="163639" y="71043"/>
                </a:lnTo>
                <a:close/>
              </a:path>
              <a:path w="509269" h="259714">
                <a:moveTo>
                  <a:pt x="407720" y="3581"/>
                </a:moveTo>
                <a:lnTo>
                  <a:pt x="231952" y="3581"/>
                </a:lnTo>
                <a:lnTo>
                  <a:pt x="231952" y="12966"/>
                </a:lnTo>
                <a:lnTo>
                  <a:pt x="260870" y="12966"/>
                </a:lnTo>
                <a:lnTo>
                  <a:pt x="260870" y="20231"/>
                </a:lnTo>
                <a:lnTo>
                  <a:pt x="218262" y="185712"/>
                </a:lnTo>
                <a:lnTo>
                  <a:pt x="181229" y="199936"/>
                </a:lnTo>
                <a:lnTo>
                  <a:pt x="181229" y="209308"/>
                </a:lnTo>
                <a:lnTo>
                  <a:pt x="358559" y="209308"/>
                </a:lnTo>
                <a:lnTo>
                  <a:pt x="389686" y="138823"/>
                </a:lnTo>
                <a:lnTo>
                  <a:pt x="391236" y="134277"/>
                </a:lnTo>
                <a:lnTo>
                  <a:pt x="391236" y="131254"/>
                </a:lnTo>
                <a:lnTo>
                  <a:pt x="384695" y="131254"/>
                </a:lnTo>
                <a:lnTo>
                  <a:pt x="383451" y="134886"/>
                </a:lnTo>
                <a:lnTo>
                  <a:pt x="369138" y="163944"/>
                </a:lnTo>
                <a:lnTo>
                  <a:pt x="353352" y="184200"/>
                </a:lnTo>
                <a:lnTo>
                  <a:pt x="331393" y="196062"/>
                </a:lnTo>
                <a:lnTo>
                  <a:pt x="298538" y="199936"/>
                </a:lnTo>
                <a:lnTo>
                  <a:pt x="248132" y="199936"/>
                </a:lnTo>
                <a:lnTo>
                  <a:pt x="242214" y="199034"/>
                </a:lnTo>
                <a:lnTo>
                  <a:pt x="242214" y="195097"/>
                </a:lnTo>
                <a:lnTo>
                  <a:pt x="264922" y="107061"/>
                </a:lnTo>
                <a:lnTo>
                  <a:pt x="295719" y="107061"/>
                </a:lnTo>
                <a:lnTo>
                  <a:pt x="319062" y="139115"/>
                </a:lnTo>
                <a:lnTo>
                  <a:pt x="319062" y="140639"/>
                </a:lnTo>
                <a:lnTo>
                  <a:pt x="320294" y="142443"/>
                </a:lnTo>
                <a:lnTo>
                  <a:pt x="325589" y="142443"/>
                </a:lnTo>
                <a:lnTo>
                  <a:pt x="326529" y="140931"/>
                </a:lnTo>
                <a:lnTo>
                  <a:pt x="345490" y="65595"/>
                </a:lnTo>
                <a:lnTo>
                  <a:pt x="345490" y="63792"/>
                </a:lnTo>
                <a:lnTo>
                  <a:pt x="343941" y="62280"/>
                </a:lnTo>
                <a:lnTo>
                  <a:pt x="338963" y="62280"/>
                </a:lnTo>
                <a:lnTo>
                  <a:pt x="337400" y="67729"/>
                </a:lnTo>
                <a:lnTo>
                  <a:pt x="332308" y="82105"/>
                </a:lnTo>
                <a:lnTo>
                  <a:pt x="325310" y="91325"/>
                </a:lnTo>
                <a:lnTo>
                  <a:pt x="314172" y="96227"/>
                </a:lnTo>
                <a:lnTo>
                  <a:pt x="296659" y="97675"/>
                </a:lnTo>
                <a:lnTo>
                  <a:pt x="267411" y="97675"/>
                </a:lnTo>
                <a:lnTo>
                  <a:pt x="289191" y="12966"/>
                </a:lnTo>
                <a:lnTo>
                  <a:pt x="346748" y="12966"/>
                </a:lnTo>
                <a:lnTo>
                  <a:pt x="370141" y="14732"/>
                </a:lnTo>
                <a:lnTo>
                  <a:pt x="384619" y="20459"/>
                </a:lnTo>
                <a:lnTo>
                  <a:pt x="391985" y="30835"/>
                </a:lnTo>
                <a:lnTo>
                  <a:pt x="394030" y="46545"/>
                </a:lnTo>
                <a:lnTo>
                  <a:pt x="394030" y="54406"/>
                </a:lnTo>
                <a:lnTo>
                  <a:pt x="392785" y="62572"/>
                </a:lnTo>
                <a:lnTo>
                  <a:pt x="392480" y="69532"/>
                </a:lnTo>
                <a:lnTo>
                  <a:pt x="393407" y="71653"/>
                </a:lnTo>
                <a:lnTo>
                  <a:pt x="399630" y="71653"/>
                </a:lnTo>
                <a:lnTo>
                  <a:pt x="407720" y="3581"/>
                </a:lnTo>
                <a:close/>
              </a:path>
              <a:path w="509269" h="259714">
                <a:moveTo>
                  <a:pt x="508723" y="216903"/>
                </a:moveTo>
                <a:lnTo>
                  <a:pt x="506006" y="203593"/>
                </a:lnTo>
                <a:lnTo>
                  <a:pt x="498297" y="191846"/>
                </a:lnTo>
                <a:lnTo>
                  <a:pt x="486219" y="182613"/>
                </a:lnTo>
                <a:lnTo>
                  <a:pt x="470420" y="176885"/>
                </a:lnTo>
                <a:lnTo>
                  <a:pt x="482968" y="170688"/>
                </a:lnTo>
                <a:lnTo>
                  <a:pt x="492950" y="161747"/>
                </a:lnTo>
                <a:lnTo>
                  <a:pt x="499541" y="150660"/>
                </a:lnTo>
                <a:lnTo>
                  <a:pt x="501916" y="137985"/>
                </a:lnTo>
                <a:lnTo>
                  <a:pt x="498335" y="125793"/>
                </a:lnTo>
                <a:lnTo>
                  <a:pt x="488670" y="116217"/>
                </a:lnTo>
                <a:lnTo>
                  <a:pt x="474586" y="109943"/>
                </a:lnTo>
                <a:lnTo>
                  <a:pt x="457708" y="107708"/>
                </a:lnTo>
                <a:lnTo>
                  <a:pt x="440791" y="109969"/>
                </a:lnTo>
                <a:lnTo>
                  <a:pt x="427253" y="116217"/>
                </a:lnTo>
                <a:lnTo>
                  <a:pt x="418261" y="125615"/>
                </a:lnTo>
                <a:lnTo>
                  <a:pt x="415010" y="137325"/>
                </a:lnTo>
                <a:lnTo>
                  <a:pt x="415010" y="145503"/>
                </a:lnTo>
                <a:lnTo>
                  <a:pt x="425907" y="126276"/>
                </a:lnTo>
                <a:lnTo>
                  <a:pt x="434225" y="119138"/>
                </a:lnTo>
                <a:lnTo>
                  <a:pt x="443496" y="115303"/>
                </a:lnTo>
                <a:lnTo>
                  <a:pt x="451751" y="113741"/>
                </a:lnTo>
                <a:lnTo>
                  <a:pt x="456996" y="113449"/>
                </a:lnTo>
                <a:lnTo>
                  <a:pt x="463130" y="114084"/>
                </a:lnTo>
                <a:lnTo>
                  <a:pt x="470839" y="117182"/>
                </a:lnTo>
                <a:lnTo>
                  <a:pt x="477456" y="124548"/>
                </a:lnTo>
                <a:lnTo>
                  <a:pt x="480263" y="137985"/>
                </a:lnTo>
                <a:lnTo>
                  <a:pt x="479183" y="148437"/>
                </a:lnTo>
                <a:lnTo>
                  <a:pt x="438416" y="174904"/>
                </a:lnTo>
                <a:lnTo>
                  <a:pt x="438416" y="180873"/>
                </a:lnTo>
                <a:lnTo>
                  <a:pt x="455739" y="180873"/>
                </a:lnTo>
                <a:lnTo>
                  <a:pt x="467880" y="183235"/>
                </a:lnTo>
                <a:lnTo>
                  <a:pt x="477126" y="190182"/>
                </a:lnTo>
                <a:lnTo>
                  <a:pt x="483031" y="201472"/>
                </a:lnTo>
                <a:lnTo>
                  <a:pt x="485101" y="216903"/>
                </a:lnTo>
                <a:lnTo>
                  <a:pt x="482358" y="234149"/>
                </a:lnTo>
                <a:lnTo>
                  <a:pt x="475449" y="245160"/>
                </a:lnTo>
                <a:lnTo>
                  <a:pt x="466293" y="250990"/>
                </a:lnTo>
                <a:lnTo>
                  <a:pt x="456819" y="252704"/>
                </a:lnTo>
                <a:lnTo>
                  <a:pt x="446798" y="251828"/>
                </a:lnTo>
                <a:lnTo>
                  <a:pt x="436359" y="249034"/>
                </a:lnTo>
                <a:lnTo>
                  <a:pt x="426783" y="244030"/>
                </a:lnTo>
                <a:lnTo>
                  <a:pt x="419328" y="236575"/>
                </a:lnTo>
                <a:lnTo>
                  <a:pt x="427507" y="236575"/>
                </a:lnTo>
                <a:lnTo>
                  <a:pt x="433197" y="231482"/>
                </a:lnTo>
                <a:lnTo>
                  <a:pt x="433197" y="217106"/>
                </a:lnTo>
                <a:lnTo>
                  <a:pt x="427964" y="212026"/>
                </a:lnTo>
                <a:lnTo>
                  <a:pt x="414540" y="212026"/>
                </a:lnTo>
                <a:lnTo>
                  <a:pt x="408190" y="215785"/>
                </a:lnTo>
                <a:lnTo>
                  <a:pt x="408190" y="224624"/>
                </a:lnTo>
                <a:lnTo>
                  <a:pt x="412216" y="238912"/>
                </a:lnTo>
                <a:lnTo>
                  <a:pt x="423024" y="249859"/>
                </a:lnTo>
                <a:lnTo>
                  <a:pt x="438708" y="256870"/>
                </a:lnTo>
                <a:lnTo>
                  <a:pt x="457352" y="259334"/>
                </a:lnTo>
                <a:lnTo>
                  <a:pt x="478066" y="255816"/>
                </a:lnTo>
                <a:lnTo>
                  <a:pt x="494309" y="246405"/>
                </a:lnTo>
                <a:lnTo>
                  <a:pt x="504926" y="232854"/>
                </a:lnTo>
                <a:lnTo>
                  <a:pt x="508723" y="216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44866" y="1845187"/>
            <a:ext cx="547370" cy="12700"/>
          </a:xfrm>
          <a:custGeom>
            <a:avLst/>
            <a:gdLst/>
            <a:ahLst/>
            <a:cxnLst/>
            <a:rect l="l" t="t" r="r" b="b"/>
            <a:pathLst>
              <a:path w="547369" h="12700">
                <a:moveTo>
                  <a:pt x="547056" y="0"/>
                </a:moveTo>
                <a:lnTo>
                  <a:pt x="0" y="0"/>
                </a:lnTo>
                <a:lnTo>
                  <a:pt x="0" y="12101"/>
                </a:lnTo>
                <a:lnTo>
                  <a:pt x="547056" y="12101"/>
                </a:lnTo>
                <a:lnTo>
                  <a:pt x="54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1825" y="1917789"/>
            <a:ext cx="459859" cy="26345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952828" y="1894814"/>
            <a:ext cx="33020" cy="32384"/>
          </a:xfrm>
          <a:custGeom>
            <a:avLst/>
            <a:gdLst/>
            <a:ahLst/>
            <a:cxnLst/>
            <a:rect l="l" t="t" r="r" b="b"/>
            <a:pathLst>
              <a:path w="33019" h="32385">
                <a:moveTo>
                  <a:pt x="25414" y="0"/>
                </a:moveTo>
                <a:lnTo>
                  <a:pt x="7337" y="0"/>
                </a:lnTo>
                <a:lnTo>
                  <a:pt x="0" y="7257"/>
                </a:lnTo>
                <a:lnTo>
                  <a:pt x="0" y="24802"/>
                </a:lnTo>
                <a:lnTo>
                  <a:pt x="7338" y="32060"/>
                </a:lnTo>
                <a:lnTo>
                  <a:pt x="25414" y="32060"/>
                </a:lnTo>
                <a:lnTo>
                  <a:pt x="32931" y="24802"/>
                </a:lnTo>
                <a:lnTo>
                  <a:pt x="32931" y="16030"/>
                </a:lnTo>
                <a:lnTo>
                  <a:pt x="32931" y="7257"/>
                </a:lnTo>
                <a:lnTo>
                  <a:pt x="254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3793" y="1512892"/>
            <a:ext cx="459788" cy="25933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046254" y="1845192"/>
            <a:ext cx="508634" cy="12700"/>
          </a:xfrm>
          <a:custGeom>
            <a:avLst/>
            <a:gdLst/>
            <a:ahLst/>
            <a:cxnLst/>
            <a:rect l="l" t="t" r="r" b="b"/>
            <a:pathLst>
              <a:path w="508635" h="12700">
                <a:moveTo>
                  <a:pt x="508111" y="0"/>
                </a:moveTo>
                <a:lnTo>
                  <a:pt x="0" y="0"/>
                </a:lnTo>
                <a:lnTo>
                  <a:pt x="0" y="12096"/>
                </a:lnTo>
                <a:lnTo>
                  <a:pt x="508111" y="12096"/>
                </a:lnTo>
                <a:lnTo>
                  <a:pt x="508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058603" y="1917789"/>
            <a:ext cx="470534" cy="263525"/>
            <a:chOff x="3058603" y="1917789"/>
            <a:chExt cx="470534" cy="26352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58603" y="1917789"/>
              <a:ext cx="163762" cy="22328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44201" y="1921114"/>
              <a:ext cx="284392" cy="260134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3615217" y="1894815"/>
            <a:ext cx="33020" cy="32384"/>
          </a:xfrm>
          <a:custGeom>
            <a:avLst/>
            <a:gdLst/>
            <a:ahLst/>
            <a:cxnLst/>
            <a:rect l="l" t="t" r="r" b="b"/>
            <a:pathLst>
              <a:path w="33020" h="32385">
                <a:moveTo>
                  <a:pt x="25593" y="0"/>
                </a:moveTo>
                <a:lnTo>
                  <a:pt x="7516" y="0"/>
                </a:lnTo>
                <a:lnTo>
                  <a:pt x="0" y="7257"/>
                </a:lnTo>
                <a:lnTo>
                  <a:pt x="0" y="24802"/>
                </a:lnTo>
                <a:lnTo>
                  <a:pt x="7516" y="32060"/>
                </a:lnTo>
                <a:lnTo>
                  <a:pt x="25593" y="32060"/>
                </a:lnTo>
                <a:lnTo>
                  <a:pt x="32931" y="24802"/>
                </a:lnTo>
                <a:lnTo>
                  <a:pt x="32931" y="16030"/>
                </a:lnTo>
                <a:lnTo>
                  <a:pt x="32931" y="7257"/>
                </a:lnTo>
                <a:lnTo>
                  <a:pt x="255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3820502" y="1512892"/>
            <a:ext cx="469900" cy="259715"/>
            <a:chOff x="3820502" y="1512892"/>
            <a:chExt cx="469900" cy="25971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20502" y="1512892"/>
              <a:ext cx="163583" cy="21596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06100" y="1512892"/>
              <a:ext cx="284213" cy="259338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3708643" y="1845193"/>
            <a:ext cx="707390" cy="12700"/>
          </a:xfrm>
          <a:custGeom>
            <a:avLst/>
            <a:gdLst/>
            <a:ahLst/>
            <a:cxnLst/>
            <a:rect l="l" t="t" r="r" b="b"/>
            <a:pathLst>
              <a:path w="707389" h="12700">
                <a:moveTo>
                  <a:pt x="706953" y="0"/>
                </a:moveTo>
                <a:lnTo>
                  <a:pt x="0" y="0"/>
                </a:lnTo>
                <a:lnTo>
                  <a:pt x="0" y="12096"/>
                </a:lnTo>
                <a:lnTo>
                  <a:pt x="706953" y="12096"/>
                </a:lnTo>
                <a:lnTo>
                  <a:pt x="7069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721171" y="1917789"/>
            <a:ext cx="664210" cy="263525"/>
            <a:chOff x="3721171" y="1917789"/>
            <a:chExt cx="664210" cy="263525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21171" y="1917789"/>
              <a:ext cx="163583" cy="22328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907663" y="1927780"/>
              <a:ext cx="309245" cy="213360"/>
            </a:xfrm>
            <a:custGeom>
              <a:avLst/>
              <a:gdLst/>
              <a:ahLst/>
              <a:cxnLst/>
              <a:rect l="l" t="t" r="r" b="b"/>
              <a:pathLst>
                <a:path w="309245" h="213360">
                  <a:moveTo>
                    <a:pt x="307659" y="0"/>
                  </a:moveTo>
                  <a:lnTo>
                    <a:pt x="297636" y="0"/>
                  </a:lnTo>
                  <a:lnTo>
                    <a:pt x="289045" y="905"/>
                  </a:lnTo>
                  <a:lnTo>
                    <a:pt x="242869" y="0"/>
                  </a:lnTo>
                  <a:lnTo>
                    <a:pt x="242869" y="9068"/>
                  </a:lnTo>
                  <a:lnTo>
                    <a:pt x="255040" y="9677"/>
                  </a:lnTo>
                  <a:lnTo>
                    <a:pt x="265957" y="12096"/>
                  </a:lnTo>
                  <a:lnTo>
                    <a:pt x="265957" y="24506"/>
                  </a:lnTo>
                  <a:lnTo>
                    <a:pt x="177901" y="173657"/>
                  </a:lnTo>
                  <a:lnTo>
                    <a:pt x="166447" y="23601"/>
                  </a:lnTo>
                  <a:lnTo>
                    <a:pt x="166508" y="18865"/>
                  </a:lnTo>
                  <a:lnTo>
                    <a:pt x="168684" y="14330"/>
                  </a:lnTo>
                  <a:lnTo>
                    <a:pt x="175155" y="10876"/>
                  </a:lnTo>
                  <a:lnTo>
                    <a:pt x="188103" y="9381"/>
                  </a:lnTo>
                  <a:lnTo>
                    <a:pt x="196515" y="9381"/>
                  </a:lnTo>
                  <a:lnTo>
                    <a:pt x="196515" y="295"/>
                  </a:lnTo>
                  <a:lnTo>
                    <a:pt x="146815" y="763"/>
                  </a:lnTo>
                  <a:lnTo>
                    <a:pt x="115439" y="0"/>
                  </a:lnTo>
                  <a:lnTo>
                    <a:pt x="115439" y="9381"/>
                  </a:lnTo>
                  <a:lnTo>
                    <a:pt x="136558" y="9381"/>
                  </a:lnTo>
                  <a:lnTo>
                    <a:pt x="138706" y="11191"/>
                  </a:lnTo>
                  <a:lnTo>
                    <a:pt x="141211" y="40240"/>
                  </a:lnTo>
                  <a:lnTo>
                    <a:pt x="62462" y="173657"/>
                  </a:lnTo>
                  <a:lnTo>
                    <a:pt x="50650" y="20259"/>
                  </a:lnTo>
                  <a:lnTo>
                    <a:pt x="51019" y="17074"/>
                  </a:lnTo>
                  <a:lnTo>
                    <a:pt x="53603" y="13573"/>
                  </a:lnTo>
                  <a:lnTo>
                    <a:pt x="60616" y="10696"/>
                  </a:lnTo>
                  <a:lnTo>
                    <a:pt x="80896" y="9381"/>
                  </a:lnTo>
                  <a:lnTo>
                    <a:pt x="80896" y="0"/>
                  </a:lnTo>
                  <a:lnTo>
                    <a:pt x="30062" y="763"/>
                  </a:lnTo>
                  <a:lnTo>
                    <a:pt x="0" y="0"/>
                  </a:lnTo>
                  <a:lnTo>
                    <a:pt x="0" y="9381"/>
                  </a:lnTo>
                  <a:lnTo>
                    <a:pt x="23266" y="9381"/>
                  </a:lnTo>
                  <a:lnTo>
                    <a:pt x="38837" y="213290"/>
                  </a:lnTo>
                  <a:lnTo>
                    <a:pt x="46891" y="213290"/>
                  </a:lnTo>
                  <a:lnTo>
                    <a:pt x="142106" y="52633"/>
                  </a:lnTo>
                  <a:lnTo>
                    <a:pt x="154277" y="211778"/>
                  </a:lnTo>
                  <a:lnTo>
                    <a:pt x="154813" y="213290"/>
                  </a:lnTo>
                  <a:lnTo>
                    <a:pt x="162688" y="213290"/>
                  </a:lnTo>
                  <a:lnTo>
                    <a:pt x="268105" y="35088"/>
                  </a:lnTo>
                  <a:lnTo>
                    <a:pt x="274112" y="25667"/>
                  </a:lnTo>
                  <a:lnTo>
                    <a:pt x="281125" y="17809"/>
                  </a:lnTo>
                  <a:lnTo>
                    <a:pt x="290354" y="12164"/>
                  </a:lnTo>
                  <a:lnTo>
                    <a:pt x="305690" y="9068"/>
                  </a:lnTo>
                  <a:lnTo>
                    <a:pt x="308911" y="9068"/>
                  </a:lnTo>
                  <a:lnTo>
                    <a:pt x="308911" y="2106"/>
                  </a:lnTo>
                  <a:lnTo>
                    <a:pt x="307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0445" y="2030279"/>
              <a:ext cx="194904" cy="150969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4467320" y="1699965"/>
            <a:ext cx="72390" cy="302895"/>
          </a:xfrm>
          <a:custGeom>
            <a:avLst/>
            <a:gdLst/>
            <a:ahLst/>
            <a:cxnLst/>
            <a:rect l="l" t="t" r="r" b="b"/>
            <a:pathLst>
              <a:path w="72389" h="302894">
                <a:moveTo>
                  <a:pt x="3221" y="0"/>
                </a:moveTo>
                <a:lnTo>
                  <a:pt x="1252" y="0"/>
                </a:lnTo>
                <a:lnTo>
                  <a:pt x="0" y="1218"/>
                </a:lnTo>
                <a:lnTo>
                  <a:pt x="0" y="4542"/>
                </a:lnTo>
                <a:lnTo>
                  <a:pt x="5906" y="9990"/>
                </a:lnTo>
                <a:lnTo>
                  <a:pt x="26292" y="35812"/>
                </a:lnTo>
                <a:lnTo>
                  <a:pt x="41477" y="68158"/>
                </a:lnTo>
                <a:lnTo>
                  <a:pt x="50957" y="106743"/>
                </a:lnTo>
                <a:lnTo>
                  <a:pt x="54229" y="151285"/>
                </a:lnTo>
                <a:lnTo>
                  <a:pt x="51810" y="190107"/>
                </a:lnTo>
                <a:lnTo>
                  <a:pt x="43602" y="227941"/>
                </a:lnTo>
                <a:lnTo>
                  <a:pt x="28180" y="263223"/>
                </a:lnTo>
                <a:lnTo>
                  <a:pt x="4116" y="294389"/>
                </a:lnTo>
                <a:lnTo>
                  <a:pt x="0" y="298010"/>
                </a:lnTo>
                <a:lnTo>
                  <a:pt x="0" y="301351"/>
                </a:lnTo>
                <a:lnTo>
                  <a:pt x="1252" y="302552"/>
                </a:lnTo>
                <a:lnTo>
                  <a:pt x="3221" y="302552"/>
                </a:lnTo>
                <a:lnTo>
                  <a:pt x="9631" y="298737"/>
                </a:lnTo>
                <a:lnTo>
                  <a:pt x="37551" y="268981"/>
                </a:lnTo>
                <a:lnTo>
                  <a:pt x="62387" y="218667"/>
                </a:lnTo>
                <a:lnTo>
                  <a:pt x="71319" y="171742"/>
                </a:lnTo>
                <a:lnTo>
                  <a:pt x="72127" y="151285"/>
                </a:lnTo>
                <a:lnTo>
                  <a:pt x="71330" y="131387"/>
                </a:lnTo>
                <a:lnTo>
                  <a:pt x="62084" y="82740"/>
                </a:lnTo>
                <a:lnTo>
                  <a:pt x="36645" y="32293"/>
                </a:lnTo>
                <a:lnTo>
                  <a:pt x="9440" y="3654"/>
                </a:lnTo>
                <a:lnTo>
                  <a:pt x="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87592" y="1750491"/>
            <a:ext cx="206895" cy="20149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80076" y="1607458"/>
            <a:ext cx="6694957" cy="376271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737521" y="2730188"/>
            <a:ext cx="72390" cy="302895"/>
          </a:xfrm>
          <a:custGeom>
            <a:avLst/>
            <a:gdLst/>
            <a:ahLst/>
            <a:cxnLst/>
            <a:rect l="l" t="t" r="r" b="b"/>
            <a:pathLst>
              <a:path w="72389" h="302894">
                <a:moveTo>
                  <a:pt x="70972" y="0"/>
                </a:moveTo>
                <a:lnTo>
                  <a:pt x="34654" y="33571"/>
                </a:lnTo>
                <a:lnTo>
                  <a:pt x="9849" y="83888"/>
                </a:lnTo>
                <a:lnTo>
                  <a:pt x="831" y="130825"/>
                </a:lnTo>
                <a:lnTo>
                  <a:pt x="0" y="151285"/>
                </a:lnTo>
                <a:lnTo>
                  <a:pt x="802" y="171182"/>
                </a:lnTo>
                <a:lnTo>
                  <a:pt x="10111" y="219822"/>
                </a:lnTo>
                <a:lnTo>
                  <a:pt x="35573" y="270259"/>
                </a:lnTo>
                <a:lnTo>
                  <a:pt x="62830" y="298898"/>
                </a:lnTo>
                <a:lnTo>
                  <a:pt x="70972" y="302552"/>
                </a:lnTo>
                <a:lnTo>
                  <a:pt x="72216" y="301647"/>
                </a:lnTo>
                <a:lnTo>
                  <a:pt x="72216" y="299524"/>
                </a:lnTo>
                <a:lnTo>
                  <a:pt x="72216" y="298010"/>
                </a:lnTo>
                <a:lnTo>
                  <a:pt x="66925" y="292875"/>
                </a:lnTo>
                <a:lnTo>
                  <a:pt x="42873" y="261179"/>
                </a:lnTo>
                <a:lnTo>
                  <a:pt x="27898" y="225141"/>
                </a:lnTo>
                <a:lnTo>
                  <a:pt x="20218" y="187572"/>
                </a:lnTo>
                <a:lnTo>
                  <a:pt x="18054" y="151285"/>
                </a:lnTo>
                <a:lnTo>
                  <a:pt x="20501" y="112031"/>
                </a:lnTo>
                <a:lnTo>
                  <a:pt x="28754" y="74171"/>
                </a:lnTo>
                <a:lnTo>
                  <a:pt x="44187" y="39092"/>
                </a:lnTo>
                <a:lnTo>
                  <a:pt x="68171" y="8180"/>
                </a:lnTo>
                <a:lnTo>
                  <a:pt x="72216" y="4542"/>
                </a:lnTo>
                <a:lnTo>
                  <a:pt x="72216" y="922"/>
                </a:lnTo>
                <a:lnTo>
                  <a:pt x="70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73872" y="2543124"/>
            <a:ext cx="509270" cy="259715"/>
          </a:xfrm>
          <a:custGeom>
            <a:avLst/>
            <a:gdLst/>
            <a:ahLst/>
            <a:cxnLst/>
            <a:rect l="l" t="t" r="r" b="b"/>
            <a:pathLst>
              <a:path w="509269" h="259714">
                <a:moveTo>
                  <a:pt x="163728" y="71043"/>
                </a:moveTo>
                <a:lnTo>
                  <a:pt x="158597" y="38506"/>
                </a:lnTo>
                <a:lnTo>
                  <a:pt x="144462" y="13830"/>
                </a:lnTo>
                <a:lnTo>
                  <a:pt x="125996" y="266"/>
                </a:lnTo>
                <a:lnTo>
                  <a:pt x="125628" y="0"/>
                </a:lnTo>
                <a:lnTo>
                  <a:pt x="66852" y="0"/>
                </a:lnTo>
                <a:lnTo>
                  <a:pt x="49834" y="13411"/>
                </a:lnTo>
                <a:lnTo>
                  <a:pt x="39966" y="29451"/>
                </a:lnTo>
                <a:lnTo>
                  <a:pt x="37033" y="40487"/>
                </a:lnTo>
                <a:lnTo>
                  <a:pt x="37033" y="44729"/>
                </a:lnTo>
                <a:lnTo>
                  <a:pt x="51028" y="24460"/>
                </a:lnTo>
                <a:lnTo>
                  <a:pt x="62547" y="11226"/>
                </a:lnTo>
                <a:lnTo>
                  <a:pt x="75196" y="3962"/>
                </a:lnTo>
                <a:lnTo>
                  <a:pt x="86982" y="889"/>
                </a:lnTo>
                <a:lnTo>
                  <a:pt x="95872" y="266"/>
                </a:lnTo>
                <a:lnTo>
                  <a:pt x="112407" y="3327"/>
                </a:lnTo>
                <a:lnTo>
                  <a:pt x="126644" y="13004"/>
                </a:lnTo>
                <a:lnTo>
                  <a:pt x="136613" y="29997"/>
                </a:lnTo>
                <a:lnTo>
                  <a:pt x="140373" y="55016"/>
                </a:lnTo>
                <a:lnTo>
                  <a:pt x="139979" y="64630"/>
                </a:lnTo>
                <a:lnTo>
                  <a:pt x="138620" y="76123"/>
                </a:lnTo>
                <a:lnTo>
                  <a:pt x="136042" y="89979"/>
                </a:lnTo>
                <a:lnTo>
                  <a:pt x="131978" y="106743"/>
                </a:lnTo>
                <a:lnTo>
                  <a:pt x="131673" y="106743"/>
                </a:lnTo>
                <a:lnTo>
                  <a:pt x="127495" y="93256"/>
                </a:lnTo>
                <a:lnTo>
                  <a:pt x="126060" y="91211"/>
                </a:lnTo>
                <a:lnTo>
                  <a:pt x="126060" y="117640"/>
                </a:lnTo>
                <a:lnTo>
                  <a:pt x="122199" y="140881"/>
                </a:lnTo>
                <a:lnTo>
                  <a:pt x="110109" y="170738"/>
                </a:lnTo>
                <a:lnTo>
                  <a:pt x="89027" y="196532"/>
                </a:lnTo>
                <a:lnTo>
                  <a:pt x="58191" y="207505"/>
                </a:lnTo>
                <a:lnTo>
                  <a:pt x="38404" y="202590"/>
                </a:lnTo>
                <a:lnTo>
                  <a:pt x="28232" y="191541"/>
                </a:lnTo>
                <a:lnTo>
                  <a:pt x="24485" y="179920"/>
                </a:lnTo>
                <a:lnTo>
                  <a:pt x="23952" y="173304"/>
                </a:lnTo>
                <a:lnTo>
                  <a:pt x="25323" y="162115"/>
                </a:lnTo>
                <a:lnTo>
                  <a:pt x="25374" y="161683"/>
                </a:lnTo>
                <a:lnTo>
                  <a:pt x="35902" y="121881"/>
                </a:lnTo>
                <a:lnTo>
                  <a:pt x="65443" y="84709"/>
                </a:lnTo>
                <a:lnTo>
                  <a:pt x="91503" y="77711"/>
                </a:lnTo>
                <a:lnTo>
                  <a:pt x="111226" y="83096"/>
                </a:lnTo>
                <a:lnTo>
                  <a:pt x="121513" y="95402"/>
                </a:lnTo>
                <a:lnTo>
                  <a:pt x="125437" y="108851"/>
                </a:lnTo>
                <a:lnTo>
                  <a:pt x="126060" y="117640"/>
                </a:lnTo>
                <a:lnTo>
                  <a:pt x="126060" y="91211"/>
                </a:lnTo>
                <a:lnTo>
                  <a:pt x="119519" y="81864"/>
                </a:lnTo>
                <a:lnTo>
                  <a:pt x="113233" y="77711"/>
                </a:lnTo>
                <a:lnTo>
                  <a:pt x="107581" y="73990"/>
                </a:lnTo>
                <a:lnTo>
                  <a:pt x="91503" y="71043"/>
                </a:lnTo>
                <a:lnTo>
                  <a:pt x="76987" y="72174"/>
                </a:lnTo>
                <a:lnTo>
                  <a:pt x="28003" y="99491"/>
                </a:lnTo>
                <a:lnTo>
                  <a:pt x="4305" y="136702"/>
                </a:lnTo>
                <a:lnTo>
                  <a:pt x="0" y="162115"/>
                </a:lnTo>
                <a:lnTo>
                  <a:pt x="2819" y="178447"/>
                </a:lnTo>
                <a:lnTo>
                  <a:pt x="12293" y="196075"/>
                </a:lnTo>
                <a:lnTo>
                  <a:pt x="29933" y="210185"/>
                </a:lnTo>
                <a:lnTo>
                  <a:pt x="57264" y="215963"/>
                </a:lnTo>
                <a:lnTo>
                  <a:pt x="81724" y="207505"/>
                </a:lnTo>
                <a:lnTo>
                  <a:pt x="105156" y="199402"/>
                </a:lnTo>
                <a:lnTo>
                  <a:pt x="138277" y="159727"/>
                </a:lnTo>
                <a:lnTo>
                  <a:pt x="157505" y="111950"/>
                </a:lnTo>
                <a:lnTo>
                  <a:pt x="158305" y="106743"/>
                </a:lnTo>
                <a:lnTo>
                  <a:pt x="163728" y="71043"/>
                </a:lnTo>
                <a:close/>
              </a:path>
              <a:path w="509269" h="259714">
                <a:moveTo>
                  <a:pt x="407911" y="3581"/>
                </a:moveTo>
                <a:lnTo>
                  <a:pt x="232041" y="3581"/>
                </a:lnTo>
                <a:lnTo>
                  <a:pt x="232041" y="12966"/>
                </a:lnTo>
                <a:lnTo>
                  <a:pt x="260985" y="12966"/>
                </a:lnTo>
                <a:lnTo>
                  <a:pt x="260985" y="20231"/>
                </a:lnTo>
                <a:lnTo>
                  <a:pt x="218351" y="185712"/>
                </a:lnTo>
                <a:lnTo>
                  <a:pt x="181317" y="199936"/>
                </a:lnTo>
                <a:lnTo>
                  <a:pt x="181317" y="209308"/>
                </a:lnTo>
                <a:lnTo>
                  <a:pt x="358736" y="209308"/>
                </a:lnTo>
                <a:lnTo>
                  <a:pt x="389864" y="138823"/>
                </a:lnTo>
                <a:lnTo>
                  <a:pt x="391426" y="134277"/>
                </a:lnTo>
                <a:lnTo>
                  <a:pt x="391426" y="131254"/>
                </a:lnTo>
                <a:lnTo>
                  <a:pt x="384886" y="131254"/>
                </a:lnTo>
                <a:lnTo>
                  <a:pt x="383628" y="134886"/>
                </a:lnTo>
                <a:lnTo>
                  <a:pt x="369303" y="163944"/>
                </a:lnTo>
                <a:lnTo>
                  <a:pt x="353517" y="184200"/>
                </a:lnTo>
                <a:lnTo>
                  <a:pt x="331546" y="196062"/>
                </a:lnTo>
                <a:lnTo>
                  <a:pt x="298665" y="199936"/>
                </a:lnTo>
                <a:lnTo>
                  <a:pt x="248234" y="199936"/>
                </a:lnTo>
                <a:lnTo>
                  <a:pt x="242328" y="199034"/>
                </a:lnTo>
                <a:lnTo>
                  <a:pt x="242328" y="195097"/>
                </a:lnTo>
                <a:lnTo>
                  <a:pt x="265036" y="107061"/>
                </a:lnTo>
                <a:lnTo>
                  <a:pt x="295846" y="107061"/>
                </a:lnTo>
                <a:lnTo>
                  <a:pt x="319201" y="139115"/>
                </a:lnTo>
                <a:lnTo>
                  <a:pt x="319201" y="140639"/>
                </a:lnTo>
                <a:lnTo>
                  <a:pt x="320459" y="142443"/>
                </a:lnTo>
                <a:lnTo>
                  <a:pt x="325742" y="142443"/>
                </a:lnTo>
                <a:lnTo>
                  <a:pt x="326669" y="140931"/>
                </a:lnTo>
                <a:lnTo>
                  <a:pt x="345668" y="65595"/>
                </a:lnTo>
                <a:lnTo>
                  <a:pt x="345668" y="63792"/>
                </a:lnTo>
                <a:lnTo>
                  <a:pt x="344106" y="62280"/>
                </a:lnTo>
                <a:lnTo>
                  <a:pt x="339128" y="62280"/>
                </a:lnTo>
                <a:lnTo>
                  <a:pt x="337578" y="67729"/>
                </a:lnTo>
                <a:lnTo>
                  <a:pt x="332473" y="82105"/>
                </a:lnTo>
                <a:lnTo>
                  <a:pt x="325475" y="91325"/>
                </a:lnTo>
                <a:lnTo>
                  <a:pt x="314325" y="96227"/>
                </a:lnTo>
                <a:lnTo>
                  <a:pt x="296786" y="97675"/>
                </a:lnTo>
                <a:lnTo>
                  <a:pt x="267538" y="97675"/>
                </a:lnTo>
                <a:lnTo>
                  <a:pt x="289318" y="12966"/>
                </a:lnTo>
                <a:lnTo>
                  <a:pt x="346900" y="12966"/>
                </a:lnTo>
                <a:lnTo>
                  <a:pt x="370319" y="14732"/>
                </a:lnTo>
                <a:lnTo>
                  <a:pt x="384810" y="20459"/>
                </a:lnTo>
                <a:lnTo>
                  <a:pt x="392163" y="30835"/>
                </a:lnTo>
                <a:lnTo>
                  <a:pt x="394220" y="46545"/>
                </a:lnTo>
                <a:lnTo>
                  <a:pt x="394220" y="54406"/>
                </a:lnTo>
                <a:lnTo>
                  <a:pt x="392658" y="69532"/>
                </a:lnTo>
                <a:lnTo>
                  <a:pt x="393585" y="71653"/>
                </a:lnTo>
                <a:lnTo>
                  <a:pt x="399821" y="71653"/>
                </a:lnTo>
                <a:lnTo>
                  <a:pt x="407911" y="3581"/>
                </a:lnTo>
                <a:close/>
              </a:path>
              <a:path w="509269" h="259714">
                <a:moveTo>
                  <a:pt x="508939" y="216903"/>
                </a:moveTo>
                <a:lnTo>
                  <a:pt x="506222" y="203593"/>
                </a:lnTo>
                <a:lnTo>
                  <a:pt x="498525" y="191846"/>
                </a:lnTo>
                <a:lnTo>
                  <a:pt x="486486" y="182613"/>
                </a:lnTo>
                <a:lnTo>
                  <a:pt x="470725" y="176885"/>
                </a:lnTo>
                <a:lnTo>
                  <a:pt x="483209" y="170688"/>
                </a:lnTo>
                <a:lnTo>
                  <a:pt x="493153" y="161747"/>
                </a:lnTo>
                <a:lnTo>
                  <a:pt x="499732" y="150660"/>
                </a:lnTo>
                <a:lnTo>
                  <a:pt x="502107" y="137985"/>
                </a:lnTo>
                <a:lnTo>
                  <a:pt x="498538" y="125793"/>
                </a:lnTo>
                <a:lnTo>
                  <a:pt x="488924" y="116217"/>
                </a:lnTo>
                <a:lnTo>
                  <a:pt x="474865" y="109943"/>
                </a:lnTo>
                <a:lnTo>
                  <a:pt x="457987" y="107708"/>
                </a:lnTo>
                <a:lnTo>
                  <a:pt x="441045" y="109969"/>
                </a:lnTo>
                <a:lnTo>
                  <a:pt x="427494" y="116217"/>
                </a:lnTo>
                <a:lnTo>
                  <a:pt x="418503" y="125615"/>
                </a:lnTo>
                <a:lnTo>
                  <a:pt x="415239" y="137325"/>
                </a:lnTo>
                <a:lnTo>
                  <a:pt x="415239" y="145503"/>
                </a:lnTo>
                <a:lnTo>
                  <a:pt x="426148" y="126276"/>
                </a:lnTo>
                <a:lnTo>
                  <a:pt x="434479" y="119138"/>
                </a:lnTo>
                <a:lnTo>
                  <a:pt x="443776" y="115303"/>
                </a:lnTo>
                <a:lnTo>
                  <a:pt x="452056" y="113741"/>
                </a:lnTo>
                <a:lnTo>
                  <a:pt x="457301" y="113449"/>
                </a:lnTo>
                <a:lnTo>
                  <a:pt x="463423" y="114084"/>
                </a:lnTo>
                <a:lnTo>
                  <a:pt x="471119" y="117182"/>
                </a:lnTo>
                <a:lnTo>
                  <a:pt x="477710" y="124548"/>
                </a:lnTo>
                <a:lnTo>
                  <a:pt x="480491" y="137985"/>
                </a:lnTo>
                <a:lnTo>
                  <a:pt x="479412" y="148437"/>
                </a:lnTo>
                <a:lnTo>
                  <a:pt x="438670" y="174904"/>
                </a:lnTo>
                <a:lnTo>
                  <a:pt x="438670" y="180873"/>
                </a:lnTo>
                <a:lnTo>
                  <a:pt x="455942" y="180873"/>
                </a:lnTo>
                <a:lnTo>
                  <a:pt x="468109" y="183235"/>
                </a:lnTo>
                <a:lnTo>
                  <a:pt x="477342" y="190182"/>
                </a:lnTo>
                <a:lnTo>
                  <a:pt x="483222" y="201472"/>
                </a:lnTo>
                <a:lnTo>
                  <a:pt x="485279" y="216903"/>
                </a:lnTo>
                <a:lnTo>
                  <a:pt x="482561" y="234149"/>
                </a:lnTo>
                <a:lnTo>
                  <a:pt x="475691" y="245160"/>
                </a:lnTo>
                <a:lnTo>
                  <a:pt x="466559" y="250990"/>
                </a:lnTo>
                <a:lnTo>
                  <a:pt x="457073" y="252704"/>
                </a:lnTo>
                <a:lnTo>
                  <a:pt x="447052" y="251828"/>
                </a:lnTo>
                <a:lnTo>
                  <a:pt x="436613" y="249034"/>
                </a:lnTo>
                <a:lnTo>
                  <a:pt x="427012" y="244030"/>
                </a:lnTo>
                <a:lnTo>
                  <a:pt x="419557" y="236575"/>
                </a:lnTo>
                <a:lnTo>
                  <a:pt x="427736" y="236575"/>
                </a:lnTo>
                <a:lnTo>
                  <a:pt x="433438" y="231482"/>
                </a:lnTo>
                <a:lnTo>
                  <a:pt x="433438" y="217106"/>
                </a:lnTo>
                <a:lnTo>
                  <a:pt x="428205" y="212026"/>
                </a:lnTo>
                <a:lnTo>
                  <a:pt x="414782" y="212026"/>
                </a:lnTo>
                <a:lnTo>
                  <a:pt x="408419" y="215785"/>
                </a:lnTo>
                <a:lnTo>
                  <a:pt x="408419" y="224624"/>
                </a:lnTo>
                <a:lnTo>
                  <a:pt x="412445" y="238912"/>
                </a:lnTo>
                <a:lnTo>
                  <a:pt x="423252" y="249859"/>
                </a:lnTo>
                <a:lnTo>
                  <a:pt x="438924" y="256870"/>
                </a:lnTo>
                <a:lnTo>
                  <a:pt x="457542" y="259334"/>
                </a:lnTo>
                <a:lnTo>
                  <a:pt x="478332" y="255816"/>
                </a:lnTo>
                <a:lnTo>
                  <a:pt x="494576" y="246405"/>
                </a:lnTo>
                <a:lnTo>
                  <a:pt x="505155" y="232854"/>
                </a:lnTo>
                <a:lnTo>
                  <a:pt x="508939" y="216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61409" y="2875416"/>
            <a:ext cx="548005" cy="12700"/>
          </a:xfrm>
          <a:custGeom>
            <a:avLst/>
            <a:gdLst/>
            <a:ahLst/>
            <a:cxnLst/>
            <a:rect l="l" t="t" r="r" b="b"/>
            <a:pathLst>
              <a:path w="548005" h="12700">
                <a:moveTo>
                  <a:pt x="547389" y="0"/>
                </a:moveTo>
                <a:lnTo>
                  <a:pt x="0" y="0"/>
                </a:lnTo>
                <a:lnTo>
                  <a:pt x="0" y="12096"/>
                </a:lnTo>
                <a:lnTo>
                  <a:pt x="547389" y="12096"/>
                </a:lnTo>
                <a:lnTo>
                  <a:pt x="547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98371" y="2948013"/>
            <a:ext cx="460070" cy="263458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2469667" y="2925038"/>
            <a:ext cx="33020" cy="32384"/>
          </a:xfrm>
          <a:custGeom>
            <a:avLst/>
            <a:gdLst/>
            <a:ahLst/>
            <a:cxnLst/>
            <a:rect l="l" t="t" r="r" b="b"/>
            <a:pathLst>
              <a:path w="33019" h="32385">
                <a:moveTo>
                  <a:pt x="25518" y="0"/>
                </a:moveTo>
                <a:lnTo>
                  <a:pt x="7467" y="0"/>
                </a:lnTo>
                <a:lnTo>
                  <a:pt x="0" y="7257"/>
                </a:lnTo>
                <a:lnTo>
                  <a:pt x="0" y="24802"/>
                </a:lnTo>
                <a:lnTo>
                  <a:pt x="7467" y="32060"/>
                </a:lnTo>
                <a:lnTo>
                  <a:pt x="25518" y="32060"/>
                </a:lnTo>
                <a:lnTo>
                  <a:pt x="32986" y="24802"/>
                </a:lnTo>
                <a:lnTo>
                  <a:pt x="32986" y="16030"/>
                </a:lnTo>
                <a:lnTo>
                  <a:pt x="32986" y="7257"/>
                </a:lnTo>
                <a:lnTo>
                  <a:pt x="25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80695" y="2543116"/>
            <a:ext cx="460070" cy="259338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2563164" y="2875411"/>
            <a:ext cx="508634" cy="12700"/>
          </a:xfrm>
          <a:custGeom>
            <a:avLst/>
            <a:gdLst/>
            <a:ahLst/>
            <a:cxnLst/>
            <a:rect l="l" t="t" r="r" b="b"/>
            <a:pathLst>
              <a:path w="508635" h="12700">
                <a:moveTo>
                  <a:pt x="508475" y="0"/>
                </a:moveTo>
                <a:lnTo>
                  <a:pt x="0" y="0"/>
                </a:lnTo>
                <a:lnTo>
                  <a:pt x="0" y="12101"/>
                </a:lnTo>
                <a:lnTo>
                  <a:pt x="508475" y="12101"/>
                </a:lnTo>
                <a:lnTo>
                  <a:pt x="508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2575610" y="2948013"/>
            <a:ext cx="470534" cy="263525"/>
            <a:chOff x="2575610" y="2948013"/>
            <a:chExt cx="470534" cy="263525"/>
          </a:xfrm>
        </p:grpSpPr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75610" y="2948013"/>
              <a:ext cx="163749" cy="22328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61296" y="2951338"/>
              <a:ext cx="284483" cy="260134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3132526" y="2925038"/>
            <a:ext cx="33020" cy="32384"/>
          </a:xfrm>
          <a:custGeom>
            <a:avLst/>
            <a:gdLst/>
            <a:ahLst/>
            <a:cxnLst/>
            <a:rect l="l" t="t" r="r" b="b"/>
            <a:pathLst>
              <a:path w="33019" h="32385">
                <a:moveTo>
                  <a:pt x="25518" y="0"/>
                </a:moveTo>
                <a:lnTo>
                  <a:pt x="7467" y="0"/>
                </a:lnTo>
                <a:lnTo>
                  <a:pt x="0" y="7257"/>
                </a:lnTo>
                <a:lnTo>
                  <a:pt x="0" y="24802"/>
                </a:lnTo>
                <a:lnTo>
                  <a:pt x="7467" y="32060"/>
                </a:lnTo>
                <a:lnTo>
                  <a:pt x="25518" y="32060"/>
                </a:lnTo>
                <a:lnTo>
                  <a:pt x="32986" y="24802"/>
                </a:lnTo>
                <a:lnTo>
                  <a:pt x="32986" y="16030"/>
                </a:lnTo>
                <a:lnTo>
                  <a:pt x="32986" y="7257"/>
                </a:lnTo>
                <a:lnTo>
                  <a:pt x="25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3238450" y="2543116"/>
            <a:ext cx="470534" cy="259715"/>
            <a:chOff x="3238450" y="2543116"/>
            <a:chExt cx="470534" cy="259715"/>
          </a:xfrm>
        </p:grpSpPr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38450" y="2543116"/>
              <a:ext cx="163731" cy="21596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24119" y="2543116"/>
              <a:ext cx="284466" cy="259338"/>
            </a:xfrm>
            <a:prstGeom prst="rect">
              <a:avLst/>
            </a:prstGeom>
          </p:spPr>
        </p:pic>
      </p:grpSp>
      <p:sp>
        <p:nvSpPr>
          <p:cNvPr id="46" name="object 46"/>
          <p:cNvSpPr/>
          <p:nvPr/>
        </p:nvSpPr>
        <p:spPr>
          <a:xfrm>
            <a:off x="3225987" y="2875417"/>
            <a:ext cx="508634" cy="12700"/>
          </a:xfrm>
          <a:custGeom>
            <a:avLst/>
            <a:gdLst/>
            <a:ahLst/>
            <a:cxnLst/>
            <a:rect l="l" t="t" r="r" b="b"/>
            <a:pathLst>
              <a:path w="508635" h="12700">
                <a:moveTo>
                  <a:pt x="508385" y="0"/>
                </a:moveTo>
                <a:lnTo>
                  <a:pt x="0" y="0"/>
                </a:lnTo>
                <a:lnTo>
                  <a:pt x="0" y="12096"/>
                </a:lnTo>
                <a:lnTo>
                  <a:pt x="508385" y="12096"/>
                </a:lnTo>
                <a:lnTo>
                  <a:pt x="508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3238450" y="2948013"/>
            <a:ext cx="468630" cy="262255"/>
            <a:chOff x="3238450" y="2948013"/>
            <a:chExt cx="468630" cy="262255"/>
          </a:xfrm>
        </p:grpSpPr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38450" y="2948013"/>
              <a:ext cx="163731" cy="22328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24119" y="2951338"/>
              <a:ext cx="282496" cy="258681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3795259" y="2925039"/>
            <a:ext cx="33655" cy="32384"/>
          </a:xfrm>
          <a:custGeom>
            <a:avLst/>
            <a:gdLst/>
            <a:ahLst/>
            <a:cxnLst/>
            <a:rect l="l" t="t" r="r" b="b"/>
            <a:pathLst>
              <a:path w="33654" h="32385">
                <a:moveTo>
                  <a:pt x="25608" y="0"/>
                </a:moveTo>
                <a:lnTo>
                  <a:pt x="7521" y="0"/>
                </a:lnTo>
                <a:lnTo>
                  <a:pt x="0" y="7257"/>
                </a:lnTo>
                <a:lnTo>
                  <a:pt x="0" y="24802"/>
                </a:lnTo>
                <a:lnTo>
                  <a:pt x="7521" y="32060"/>
                </a:lnTo>
                <a:lnTo>
                  <a:pt x="25608" y="32060"/>
                </a:lnTo>
                <a:lnTo>
                  <a:pt x="33129" y="24802"/>
                </a:lnTo>
                <a:lnTo>
                  <a:pt x="33129" y="16030"/>
                </a:lnTo>
                <a:lnTo>
                  <a:pt x="33129" y="7257"/>
                </a:lnTo>
                <a:lnTo>
                  <a:pt x="25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4000662" y="2543116"/>
            <a:ext cx="468630" cy="255270"/>
            <a:chOff x="4000662" y="2543116"/>
            <a:chExt cx="468630" cy="255270"/>
          </a:xfrm>
        </p:grpSpPr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00662" y="2543116"/>
              <a:ext cx="163677" cy="21596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86366" y="2543116"/>
              <a:ext cx="282407" cy="254691"/>
            </a:xfrm>
            <a:prstGeom prst="rect">
              <a:avLst/>
            </a:prstGeom>
          </p:spPr>
        </p:pic>
      </p:grpSp>
      <p:sp>
        <p:nvSpPr>
          <p:cNvPr id="54" name="object 54"/>
          <p:cNvSpPr/>
          <p:nvPr/>
        </p:nvSpPr>
        <p:spPr>
          <a:xfrm>
            <a:off x="3888917" y="2875417"/>
            <a:ext cx="707390" cy="12700"/>
          </a:xfrm>
          <a:custGeom>
            <a:avLst/>
            <a:gdLst/>
            <a:ahLst/>
            <a:cxnLst/>
            <a:rect l="l" t="t" r="r" b="b"/>
            <a:pathLst>
              <a:path w="707389" h="12700">
                <a:moveTo>
                  <a:pt x="707180" y="0"/>
                </a:moveTo>
                <a:lnTo>
                  <a:pt x="0" y="0"/>
                </a:lnTo>
                <a:lnTo>
                  <a:pt x="0" y="12096"/>
                </a:lnTo>
                <a:lnTo>
                  <a:pt x="707180" y="12096"/>
                </a:lnTo>
                <a:lnTo>
                  <a:pt x="7071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3901273" y="2948013"/>
            <a:ext cx="664845" cy="263525"/>
            <a:chOff x="3901273" y="2948013"/>
            <a:chExt cx="664845" cy="263525"/>
          </a:xfrm>
        </p:grpSpPr>
        <p:pic>
          <p:nvPicPr>
            <p:cNvPr id="56" name="object 5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01273" y="2948013"/>
              <a:ext cx="163677" cy="22328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087873" y="2958004"/>
              <a:ext cx="309245" cy="213360"/>
            </a:xfrm>
            <a:custGeom>
              <a:avLst/>
              <a:gdLst/>
              <a:ahLst/>
              <a:cxnLst/>
              <a:rect l="l" t="t" r="r" b="b"/>
              <a:pathLst>
                <a:path w="309245" h="213360">
                  <a:moveTo>
                    <a:pt x="307835" y="0"/>
                  </a:moveTo>
                  <a:lnTo>
                    <a:pt x="297986" y="0"/>
                  </a:lnTo>
                  <a:lnTo>
                    <a:pt x="289211" y="905"/>
                  </a:lnTo>
                  <a:lnTo>
                    <a:pt x="243188" y="0"/>
                  </a:lnTo>
                  <a:lnTo>
                    <a:pt x="243188" y="9068"/>
                  </a:lnTo>
                  <a:lnTo>
                    <a:pt x="255365" y="9677"/>
                  </a:lnTo>
                  <a:lnTo>
                    <a:pt x="266110" y="12096"/>
                  </a:lnTo>
                  <a:lnTo>
                    <a:pt x="266110" y="24506"/>
                  </a:lnTo>
                  <a:lnTo>
                    <a:pt x="178004" y="173657"/>
                  </a:lnTo>
                  <a:lnTo>
                    <a:pt x="166542" y="23601"/>
                  </a:lnTo>
                  <a:lnTo>
                    <a:pt x="166607" y="18865"/>
                  </a:lnTo>
                  <a:lnTo>
                    <a:pt x="168803" y="14330"/>
                  </a:lnTo>
                  <a:lnTo>
                    <a:pt x="175331" y="10876"/>
                  </a:lnTo>
                  <a:lnTo>
                    <a:pt x="188390" y="9381"/>
                  </a:lnTo>
                  <a:lnTo>
                    <a:pt x="196807" y="9381"/>
                  </a:lnTo>
                  <a:lnTo>
                    <a:pt x="196807" y="295"/>
                  </a:lnTo>
                  <a:lnTo>
                    <a:pt x="147051" y="763"/>
                  </a:lnTo>
                  <a:lnTo>
                    <a:pt x="115505" y="0"/>
                  </a:lnTo>
                  <a:lnTo>
                    <a:pt x="115505" y="9381"/>
                  </a:lnTo>
                  <a:lnTo>
                    <a:pt x="136636" y="9381"/>
                  </a:lnTo>
                  <a:lnTo>
                    <a:pt x="138785" y="11191"/>
                  </a:lnTo>
                  <a:lnTo>
                    <a:pt x="141292" y="40240"/>
                  </a:lnTo>
                  <a:lnTo>
                    <a:pt x="62677" y="173657"/>
                  </a:lnTo>
                  <a:lnTo>
                    <a:pt x="50858" y="20259"/>
                  </a:lnTo>
                  <a:lnTo>
                    <a:pt x="51227" y="17074"/>
                  </a:lnTo>
                  <a:lnTo>
                    <a:pt x="53813" y="13573"/>
                  </a:lnTo>
                  <a:lnTo>
                    <a:pt x="60830" y="10696"/>
                  </a:lnTo>
                  <a:lnTo>
                    <a:pt x="80943" y="9381"/>
                  </a:lnTo>
                  <a:lnTo>
                    <a:pt x="80943" y="0"/>
                  </a:lnTo>
                  <a:lnTo>
                    <a:pt x="30104" y="763"/>
                  </a:lnTo>
                  <a:lnTo>
                    <a:pt x="0" y="0"/>
                  </a:lnTo>
                  <a:lnTo>
                    <a:pt x="0" y="9381"/>
                  </a:lnTo>
                  <a:lnTo>
                    <a:pt x="23459" y="9381"/>
                  </a:lnTo>
                  <a:lnTo>
                    <a:pt x="38860" y="213290"/>
                  </a:lnTo>
                  <a:lnTo>
                    <a:pt x="47097" y="213290"/>
                  </a:lnTo>
                  <a:lnTo>
                    <a:pt x="142367" y="52633"/>
                  </a:lnTo>
                  <a:lnTo>
                    <a:pt x="154365" y="211778"/>
                  </a:lnTo>
                  <a:lnTo>
                    <a:pt x="155081" y="213290"/>
                  </a:lnTo>
                  <a:lnTo>
                    <a:pt x="162782" y="213290"/>
                  </a:lnTo>
                  <a:lnTo>
                    <a:pt x="268438" y="35088"/>
                  </a:lnTo>
                  <a:lnTo>
                    <a:pt x="274370" y="25667"/>
                  </a:lnTo>
                  <a:lnTo>
                    <a:pt x="281376" y="17809"/>
                  </a:lnTo>
                  <a:lnTo>
                    <a:pt x="290599" y="12164"/>
                  </a:lnTo>
                  <a:lnTo>
                    <a:pt x="306045" y="9068"/>
                  </a:lnTo>
                  <a:lnTo>
                    <a:pt x="309089" y="9068"/>
                  </a:lnTo>
                  <a:lnTo>
                    <a:pt x="309089" y="2106"/>
                  </a:lnTo>
                  <a:lnTo>
                    <a:pt x="30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70996" y="3060503"/>
              <a:ext cx="194837" cy="150969"/>
            </a:xfrm>
            <a:prstGeom prst="rect">
              <a:avLst/>
            </a:prstGeom>
          </p:spPr>
        </p:pic>
      </p:grpSp>
      <p:sp>
        <p:nvSpPr>
          <p:cNvPr id="59" name="object 59"/>
          <p:cNvSpPr/>
          <p:nvPr/>
        </p:nvSpPr>
        <p:spPr>
          <a:xfrm>
            <a:off x="4648031" y="2730188"/>
            <a:ext cx="72390" cy="302895"/>
          </a:xfrm>
          <a:custGeom>
            <a:avLst/>
            <a:gdLst/>
            <a:ahLst/>
            <a:cxnLst/>
            <a:rect l="l" t="t" r="r" b="b"/>
            <a:pathLst>
              <a:path w="72389" h="302894">
                <a:moveTo>
                  <a:pt x="3044" y="0"/>
                </a:moveTo>
                <a:lnTo>
                  <a:pt x="1074" y="0"/>
                </a:lnTo>
                <a:lnTo>
                  <a:pt x="0" y="1218"/>
                </a:lnTo>
                <a:lnTo>
                  <a:pt x="0" y="4542"/>
                </a:lnTo>
                <a:lnTo>
                  <a:pt x="5909" y="9990"/>
                </a:lnTo>
                <a:lnTo>
                  <a:pt x="26279" y="35812"/>
                </a:lnTo>
                <a:lnTo>
                  <a:pt x="41411" y="68158"/>
                </a:lnTo>
                <a:lnTo>
                  <a:pt x="50835" y="106743"/>
                </a:lnTo>
                <a:lnTo>
                  <a:pt x="54081" y="151285"/>
                </a:lnTo>
                <a:lnTo>
                  <a:pt x="51686" y="190107"/>
                </a:lnTo>
                <a:lnTo>
                  <a:pt x="43516" y="227941"/>
                </a:lnTo>
                <a:lnTo>
                  <a:pt x="28092" y="263223"/>
                </a:lnTo>
                <a:lnTo>
                  <a:pt x="3939" y="294389"/>
                </a:lnTo>
                <a:lnTo>
                  <a:pt x="0" y="298010"/>
                </a:lnTo>
                <a:lnTo>
                  <a:pt x="0" y="301351"/>
                </a:lnTo>
                <a:lnTo>
                  <a:pt x="1074" y="302552"/>
                </a:lnTo>
                <a:lnTo>
                  <a:pt x="3044" y="302552"/>
                </a:lnTo>
                <a:lnTo>
                  <a:pt x="9482" y="298737"/>
                </a:lnTo>
                <a:lnTo>
                  <a:pt x="37469" y="268981"/>
                </a:lnTo>
                <a:lnTo>
                  <a:pt x="62271" y="218667"/>
                </a:lnTo>
                <a:lnTo>
                  <a:pt x="71332" y="171742"/>
                </a:lnTo>
                <a:lnTo>
                  <a:pt x="72168" y="151285"/>
                </a:lnTo>
                <a:lnTo>
                  <a:pt x="71368" y="131387"/>
                </a:lnTo>
                <a:lnTo>
                  <a:pt x="62045" y="82740"/>
                </a:lnTo>
                <a:lnTo>
                  <a:pt x="36562" y="32293"/>
                </a:lnTo>
                <a:lnTo>
                  <a:pt x="9292" y="3654"/>
                </a:lnTo>
                <a:lnTo>
                  <a:pt x="3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68192" y="2780716"/>
            <a:ext cx="207014" cy="201498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1880846" y="3817874"/>
            <a:ext cx="64769" cy="270510"/>
          </a:xfrm>
          <a:custGeom>
            <a:avLst/>
            <a:gdLst/>
            <a:ahLst/>
            <a:cxnLst/>
            <a:rect l="l" t="t" r="r" b="b"/>
            <a:pathLst>
              <a:path w="64769" h="270510">
                <a:moveTo>
                  <a:pt x="63435" y="0"/>
                </a:moveTo>
                <a:lnTo>
                  <a:pt x="30974" y="29947"/>
                </a:lnTo>
                <a:lnTo>
                  <a:pt x="8803" y="74833"/>
                </a:lnTo>
                <a:lnTo>
                  <a:pt x="743" y="116705"/>
                </a:lnTo>
                <a:lnTo>
                  <a:pt x="0" y="134956"/>
                </a:lnTo>
                <a:lnTo>
                  <a:pt x="717" y="152706"/>
                </a:lnTo>
                <a:lnTo>
                  <a:pt x="9037" y="196096"/>
                </a:lnTo>
                <a:lnTo>
                  <a:pt x="31795" y="241089"/>
                </a:lnTo>
                <a:lnTo>
                  <a:pt x="61765" y="269897"/>
                </a:lnTo>
                <a:lnTo>
                  <a:pt x="63435" y="269897"/>
                </a:lnTo>
                <a:lnTo>
                  <a:pt x="64547" y="269089"/>
                </a:lnTo>
                <a:lnTo>
                  <a:pt x="64547" y="267195"/>
                </a:lnTo>
                <a:lnTo>
                  <a:pt x="64547" y="265844"/>
                </a:lnTo>
                <a:lnTo>
                  <a:pt x="38320" y="232989"/>
                </a:lnTo>
                <a:lnTo>
                  <a:pt x="18071" y="167327"/>
                </a:lnTo>
                <a:lnTo>
                  <a:pt x="16137" y="134956"/>
                </a:lnTo>
                <a:lnTo>
                  <a:pt x="18323" y="99939"/>
                </a:lnTo>
                <a:lnTo>
                  <a:pt x="25701" y="66166"/>
                </a:lnTo>
                <a:lnTo>
                  <a:pt x="39495" y="34873"/>
                </a:lnTo>
                <a:lnTo>
                  <a:pt x="60931" y="7297"/>
                </a:lnTo>
                <a:lnTo>
                  <a:pt x="64547" y="4052"/>
                </a:lnTo>
                <a:lnTo>
                  <a:pt x="64547" y="822"/>
                </a:lnTo>
                <a:lnTo>
                  <a:pt x="63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object 6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002719" y="3650993"/>
            <a:ext cx="454892" cy="231347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1991582" y="3947427"/>
            <a:ext cx="489584" cy="10795"/>
          </a:xfrm>
          <a:custGeom>
            <a:avLst/>
            <a:gdLst/>
            <a:ahLst/>
            <a:cxnLst/>
            <a:rect l="l" t="t" r="r" b="b"/>
            <a:pathLst>
              <a:path w="489585" h="10795">
                <a:moveTo>
                  <a:pt x="489254" y="0"/>
                </a:moveTo>
                <a:lnTo>
                  <a:pt x="1" y="0"/>
                </a:lnTo>
                <a:lnTo>
                  <a:pt x="0" y="10790"/>
                </a:lnTo>
                <a:lnTo>
                  <a:pt x="489254" y="10790"/>
                </a:lnTo>
                <a:lnTo>
                  <a:pt x="489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024648" y="4012188"/>
            <a:ext cx="411180" cy="235022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2535241" y="3991693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10">
                <a:moveTo>
                  <a:pt x="22808" y="0"/>
                </a:moveTo>
                <a:lnTo>
                  <a:pt x="6674" y="0"/>
                </a:lnTo>
                <a:lnTo>
                  <a:pt x="0" y="6474"/>
                </a:lnTo>
                <a:lnTo>
                  <a:pt x="0" y="22125"/>
                </a:lnTo>
                <a:lnTo>
                  <a:pt x="6674" y="28599"/>
                </a:lnTo>
                <a:lnTo>
                  <a:pt x="22808" y="28599"/>
                </a:lnTo>
                <a:lnTo>
                  <a:pt x="29483" y="22125"/>
                </a:lnTo>
                <a:lnTo>
                  <a:pt x="29483" y="14299"/>
                </a:lnTo>
                <a:lnTo>
                  <a:pt x="29483" y="6474"/>
                </a:lnTo>
                <a:lnTo>
                  <a:pt x="228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34479" y="3650993"/>
            <a:ext cx="411212" cy="231347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2618809" y="3947428"/>
            <a:ext cx="454659" cy="10795"/>
          </a:xfrm>
          <a:custGeom>
            <a:avLst/>
            <a:gdLst/>
            <a:ahLst/>
            <a:cxnLst/>
            <a:rect l="l" t="t" r="r" b="b"/>
            <a:pathLst>
              <a:path w="454660" h="10795">
                <a:moveTo>
                  <a:pt x="454460" y="0"/>
                </a:moveTo>
                <a:lnTo>
                  <a:pt x="0" y="0"/>
                </a:lnTo>
                <a:lnTo>
                  <a:pt x="0" y="10790"/>
                </a:lnTo>
                <a:lnTo>
                  <a:pt x="454460" y="10790"/>
                </a:lnTo>
                <a:lnTo>
                  <a:pt x="454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2629933" y="4012188"/>
            <a:ext cx="420370" cy="235585"/>
            <a:chOff x="2629933" y="4012188"/>
            <a:chExt cx="420370" cy="235585"/>
          </a:xfrm>
        </p:grpSpPr>
        <p:pic>
          <p:nvPicPr>
            <p:cNvPr id="69" name="object 6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29933" y="4012188"/>
              <a:ext cx="146359" cy="19918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95884" y="4015154"/>
              <a:ext cx="254288" cy="232057"/>
            </a:xfrm>
            <a:prstGeom prst="rect">
              <a:avLst/>
            </a:prstGeom>
          </p:spPr>
        </p:pic>
      </p:grpSp>
      <p:sp>
        <p:nvSpPr>
          <p:cNvPr id="71" name="object 71"/>
          <p:cNvSpPr/>
          <p:nvPr/>
        </p:nvSpPr>
        <p:spPr>
          <a:xfrm>
            <a:off x="3127706" y="3991693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4" h="29210">
                <a:moveTo>
                  <a:pt x="22808" y="0"/>
                </a:moveTo>
                <a:lnTo>
                  <a:pt x="6674" y="0"/>
                </a:lnTo>
                <a:lnTo>
                  <a:pt x="0" y="6474"/>
                </a:lnTo>
                <a:lnTo>
                  <a:pt x="0" y="22125"/>
                </a:lnTo>
                <a:lnTo>
                  <a:pt x="6674" y="28599"/>
                </a:lnTo>
                <a:lnTo>
                  <a:pt x="22808" y="28599"/>
                </a:lnTo>
                <a:lnTo>
                  <a:pt x="29483" y="22125"/>
                </a:lnTo>
                <a:lnTo>
                  <a:pt x="29483" y="14299"/>
                </a:lnTo>
                <a:lnTo>
                  <a:pt x="29483" y="6474"/>
                </a:lnTo>
                <a:lnTo>
                  <a:pt x="228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object 72"/>
          <p:cNvGrpSpPr/>
          <p:nvPr/>
        </p:nvGrpSpPr>
        <p:grpSpPr>
          <a:xfrm>
            <a:off x="3222382" y="3650993"/>
            <a:ext cx="420370" cy="231775"/>
            <a:chOff x="3222382" y="3650993"/>
            <a:chExt cx="420370" cy="231775"/>
          </a:xfrm>
        </p:grpSpPr>
        <p:pic>
          <p:nvPicPr>
            <p:cNvPr id="73" name="object 7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222382" y="3650993"/>
              <a:ext cx="146343" cy="19265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388333" y="3650993"/>
              <a:ext cx="254288" cy="231347"/>
            </a:xfrm>
            <a:prstGeom prst="rect">
              <a:avLst/>
            </a:prstGeom>
          </p:spPr>
        </p:pic>
      </p:grpSp>
      <p:sp>
        <p:nvSpPr>
          <p:cNvPr id="75" name="object 75"/>
          <p:cNvSpPr/>
          <p:nvPr/>
        </p:nvSpPr>
        <p:spPr>
          <a:xfrm>
            <a:off x="3211242" y="3947428"/>
            <a:ext cx="454659" cy="10795"/>
          </a:xfrm>
          <a:custGeom>
            <a:avLst/>
            <a:gdLst/>
            <a:ahLst/>
            <a:cxnLst/>
            <a:rect l="l" t="t" r="r" b="b"/>
            <a:pathLst>
              <a:path w="454660" h="10795">
                <a:moveTo>
                  <a:pt x="454428" y="0"/>
                </a:moveTo>
                <a:lnTo>
                  <a:pt x="0" y="0"/>
                </a:lnTo>
                <a:lnTo>
                  <a:pt x="0" y="10790"/>
                </a:lnTo>
                <a:lnTo>
                  <a:pt x="454428" y="10790"/>
                </a:lnTo>
                <a:lnTo>
                  <a:pt x="4544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6" name="object 76"/>
          <p:cNvGrpSpPr/>
          <p:nvPr/>
        </p:nvGrpSpPr>
        <p:grpSpPr>
          <a:xfrm>
            <a:off x="3222382" y="4012188"/>
            <a:ext cx="419100" cy="234315"/>
            <a:chOff x="3222382" y="4012188"/>
            <a:chExt cx="419100" cy="234315"/>
          </a:xfrm>
        </p:grpSpPr>
        <p:pic>
          <p:nvPicPr>
            <p:cNvPr id="77" name="object 7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222382" y="4012188"/>
              <a:ext cx="146343" cy="19918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388333" y="4015154"/>
              <a:ext cx="252527" cy="230760"/>
            </a:xfrm>
            <a:prstGeom prst="rect">
              <a:avLst/>
            </a:prstGeom>
          </p:spPr>
        </p:pic>
      </p:grpSp>
      <p:sp>
        <p:nvSpPr>
          <p:cNvPr id="79" name="object 79"/>
          <p:cNvSpPr/>
          <p:nvPr/>
        </p:nvSpPr>
        <p:spPr>
          <a:xfrm>
            <a:off x="3720091" y="3991693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5" h="29210">
                <a:moveTo>
                  <a:pt x="22888" y="0"/>
                </a:moveTo>
                <a:lnTo>
                  <a:pt x="6722" y="0"/>
                </a:lnTo>
                <a:lnTo>
                  <a:pt x="0" y="6474"/>
                </a:lnTo>
                <a:lnTo>
                  <a:pt x="0" y="22125"/>
                </a:lnTo>
                <a:lnTo>
                  <a:pt x="6722" y="28599"/>
                </a:lnTo>
                <a:lnTo>
                  <a:pt x="22888" y="28599"/>
                </a:lnTo>
                <a:lnTo>
                  <a:pt x="29611" y="22125"/>
                </a:lnTo>
                <a:lnTo>
                  <a:pt x="29611" y="14299"/>
                </a:lnTo>
                <a:lnTo>
                  <a:pt x="29611" y="6474"/>
                </a:lnTo>
                <a:lnTo>
                  <a:pt x="22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object 80"/>
          <p:cNvGrpSpPr/>
          <p:nvPr/>
        </p:nvGrpSpPr>
        <p:grpSpPr>
          <a:xfrm>
            <a:off x="3814847" y="3650993"/>
            <a:ext cx="418465" cy="227329"/>
            <a:chOff x="3814847" y="3650993"/>
            <a:chExt cx="418465" cy="227329"/>
          </a:xfrm>
        </p:grpSpPr>
        <p:pic>
          <p:nvPicPr>
            <p:cNvPr id="81" name="object 8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14847" y="3650993"/>
              <a:ext cx="146295" cy="19265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80830" y="3650993"/>
              <a:ext cx="252415" cy="227201"/>
            </a:xfrm>
            <a:prstGeom prst="rect">
              <a:avLst/>
            </a:prstGeom>
          </p:spPr>
        </p:pic>
      </p:grpSp>
      <p:sp>
        <p:nvSpPr>
          <p:cNvPr id="83" name="object 83"/>
          <p:cNvSpPr/>
          <p:nvPr/>
        </p:nvSpPr>
        <p:spPr>
          <a:xfrm>
            <a:off x="3803643" y="3947428"/>
            <a:ext cx="454659" cy="10795"/>
          </a:xfrm>
          <a:custGeom>
            <a:avLst/>
            <a:gdLst/>
            <a:ahLst/>
            <a:cxnLst/>
            <a:rect l="l" t="t" r="r" b="b"/>
            <a:pathLst>
              <a:path w="454660" h="10795">
                <a:moveTo>
                  <a:pt x="454572" y="0"/>
                </a:moveTo>
                <a:lnTo>
                  <a:pt x="0" y="0"/>
                </a:lnTo>
                <a:lnTo>
                  <a:pt x="0" y="10790"/>
                </a:lnTo>
                <a:lnTo>
                  <a:pt x="454572" y="10790"/>
                </a:lnTo>
                <a:lnTo>
                  <a:pt x="454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4" name="object 84"/>
          <p:cNvGrpSpPr/>
          <p:nvPr/>
        </p:nvGrpSpPr>
        <p:grpSpPr>
          <a:xfrm>
            <a:off x="3814847" y="4012188"/>
            <a:ext cx="412750" cy="234315"/>
            <a:chOff x="3814847" y="4012188"/>
            <a:chExt cx="412750" cy="234315"/>
          </a:xfrm>
        </p:grpSpPr>
        <p:pic>
          <p:nvPicPr>
            <p:cNvPr id="85" name="object 8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14847" y="4012188"/>
              <a:ext cx="146295" cy="19918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980830" y="4015154"/>
              <a:ext cx="246333" cy="230760"/>
            </a:xfrm>
            <a:prstGeom prst="rect">
              <a:avLst/>
            </a:prstGeom>
          </p:spPr>
        </p:pic>
      </p:grpSp>
      <p:sp>
        <p:nvSpPr>
          <p:cNvPr id="87" name="object 87"/>
          <p:cNvSpPr/>
          <p:nvPr/>
        </p:nvSpPr>
        <p:spPr>
          <a:xfrm>
            <a:off x="4312636" y="3991693"/>
            <a:ext cx="29845" cy="29209"/>
          </a:xfrm>
          <a:custGeom>
            <a:avLst/>
            <a:gdLst/>
            <a:ahLst/>
            <a:cxnLst/>
            <a:rect l="l" t="t" r="r" b="b"/>
            <a:pathLst>
              <a:path w="29845" h="29210">
                <a:moveTo>
                  <a:pt x="22728" y="0"/>
                </a:moveTo>
                <a:lnTo>
                  <a:pt x="6562" y="0"/>
                </a:lnTo>
                <a:lnTo>
                  <a:pt x="0" y="6474"/>
                </a:lnTo>
                <a:lnTo>
                  <a:pt x="0" y="22125"/>
                </a:lnTo>
                <a:lnTo>
                  <a:pt x="6562" y="28599"/>
                </a:lnTo>
                <a:lnTo>
                  <a:pt x="22728" y="28599"/>
                </a:lnTo>
                <a:lnTo>
                  <a:pt x="29451" y="22125"/>
                </a:lnTo>
                <a:lnTo>
                  <a:pt x="29451" y="14299"/>
                </a:lnTo>
                <a:lnTo>
                  <a:pt x="29451" y="6474"/>
                </a:lnTo>
                <a:lnTo>
                  <a:pt x="227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8" name="object 88"/>
          <p:cNvGrpSpPr/>
          <p:nvPr/>
        </p:nvGrpSpPr>
        <p:grpSpPr>
          <a:xfrm>
            <a:off x="4496066" y="3650993"/>
            <a:ext cx="412750" cy="227329"/>
            <a:chOff x="4496066" y="3650993"/>
            <a:chExt cx="412750" cy="227329"/>
          </a:xfrm>
        </p:grpSpPr>
        <p:pic>
          <p:nvPicPr>
            <p:cNvPr id="89" name="object 8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496066" y="3650993"/>
              <a:ext cx="146455" cy="19265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662049" y="3650993"/>
              <a:ext cx="246333" cy="227201"/>
            </a:xfrm>
            <a:prstGeom prst="rect">
              <a:avLst/>
            </a:prstGeom>
          </p:spPr>
        </p:pic>
      </p:grpSp>
      <p:sp>
        <p:nvSpPr>
          <p:cNvPr id="91" name="object 91"/>
          <p:cNvSpPr/>
          <p:nvPr/>
        </p:nvSpPr>
        <p:spPr>
          <a:xfrm>
            <a:off x="4396188" y="3947428"/>
            <a:ext cx="632460" cy="10795"/>
          </a:xfrm>
          <a:custGeom>
            <a:avLst/>
            <a:gdLst/>
            <a:ahLst/>
            <a:cxnLst/>
            <a:rect l="l" t="t" r="r" b="b"/>
            <a:pathLst>
              <a:path w="632460" h="10795">
                <a:moveTo>
                  <a:pt x="632079" y="0"/>
                </a:moveTo>
                <a:lnTo>
                  <a:pt x="0" y="0"/>
                </a:lnTo>
                <a:lnTo>
                  <a:pt x="0" y="10790"/>
                </a:lnTo>
                <a:lnTo>
                  <a:pt x="632079" y="10790"/>
                </a:lnTo>
                <a:lnTo>
                  <a:pt x="63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2" name="object 92"/>
          <p:cNvGrpSpPr/>
          <p:nvPr/>
        </p:nvGrpSpPr>
        <p:grpSpPr>
          <a:xfrm>
            <a:off x="4407232" y="4012189"/>
            <a:ext cx="594360" cy="235585"/>
            <a:chOff x="4407232" y="4012189"/>
            <a:chExt cx="594360" cy="235585"/>
          </a:xfrm>
        </p:grpSpPr>
        <p:pic>
          <p:nvPicPr>
            <p:cNvPr id="93" name="object 9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407232" y="4012189"/>
              <a:ext cx="146455" cy="199181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574015" y="4021101"/>
              <a:ext cx="276860" cy="190500"/>
            </a:xfrm>
            <a:custGeom>
              <a:avLst/>
              <a:gdLst/>
              <a:ahLst/>
              <a:cxnLst/>
              <a:rect l="l" t="t" r="r" b="b"/>
              <a:pathLst>
                <a:path w="276860" h="190500">
                  <a:moveTo>
                    <a:pt x="275144" y="0"/>
                  </a:moveTo>
                  <a:lnTo>
                    <a:pt x="266341" y="0"/>
                  </a:lnTo>
                  <a:lnTo>
                    <a:pt x="258498" y="807"/>
                  </a:lnTo>
                  <a:lnTo>
                    <a:pt x="217362" y="0"/>
                  </a:lnTo>
                  <a:lnTo>
                    <a:pt x="217362" y="8089"/>
                  </a:lnTo>
                  <a:lnTo>
                    <a:pt x="228246" y="8632"/>
                  </a:lnTo>
                  <a:lnTo>
                    <a:pt x="238010" y="10790"/>
                  </a:lnTo>
                  <a:lnTo>
                    <a:pt x="238010" y="21861"/>
                  </a:lnTo>
                  <a:lnTo>
                    <a:pt x="159260" y="154914"/>
                  </a:lnTo>
                  <a:lnTo>
                    <a:pt x="148056" y="8632"/>
                  </a:lnTo>
                  <a:lnTo>
                    <a:pt x="175906" y="8368"/>
                  </a:lnTo>
                  <a:lnTo>
                    <a:pt x="175906" y="263"/>
                  </a:lnTo>
                  <a:lnTo>
                    <a:pt x="131434" y="681"/>
                  </a:lnTo>
                  <a:lnTo>
                    <a:pt x="103239" y="0"/>
                  </a:lnTo>
                  <a:lnTo>
                    <a:pt x="103239" y="8368"/>
                  </a:lnTo>
                  <a:lnTo>
                    <a:pt x="122126" y="8368"/>
                  </a:lnTo>
                  <a:lnTo>
                    <a:pt x="124207" y="9983"/>
                  </a:lnTo>
                  <a:lnTo>
                    <a:pt x="126287" y="35897"/>
                  </a:lnTo>
                  <a:lnTo>
                    <a:pt x="56021" y="154914"/>
                  </a:lnTo>
                  <a:lnTo>
                    <a:pt x="45457" y="14843"/>
                  </a:lnTo>
                  <a:lnTo>
                    <a:pt x="45457" y="8632"/>
                  </a:lnTo>
                  <a:lnTo>
                    <a:pt x="72347" y="8368"/>
                  </a:lnTo>
                  <a:lnTo>
                    <a:pt x="72347" y="0"/>
                  </a:lnTo>
                  <a:lnTo>
                    <a:pt x="26910" y="681"/>
                  </a:lnTo>
                  <a:lnTo>
                    <a:pt x="0" y="0"/>
                  </a:lnTo>
                  <a:lnTo>
                    <a:pt x="0" y="8368"/>
                  </a:lnTo>
                  <a:lnTo>
                    <a:pt x="20967" y="8368"/>
                  </a:lnTo>
                  <a:lnTo>
                    <a:pt x="34893" y="190269"/>
                  </a:lnTo>
                  <a:lnTo>
                    <a:pt x="42095" y="190269"/>
                  </a:lnTo>
                  <a:lnTo>
                    <a:pt x="127248" y="46952"/>
                  </a:lnTo>
                  <a:lnTo>
                    <a:pt x="137972" y="188920"/>
                  </a:lnTo>
                  <a:lnTo>
                    <a:pt x="138612" y="190269"/>
                  </a:lnTo>
                  <a:lnTo>
                    <a:pt x="145495" y="190269"/>
                  </a:lnTo>
                  <a:lnTo>
                    <a:pt x="239931" y="31301"/>
                  </a:lnTo>
                  <a:lnTo>
                    <a:pt x="245233" y="22897"/>
                  </a:lnTo>
                  <a:lnTo>
                    <a:pt x="251495" y="15887"/>
                  </a:lnTo>
                  <a:lnTo>
                    <a:pt x="259738" y="10851"/>
                  </a:lnTo>
                  <a:lnTo>
                    <a:pt x="273543" y="8089"/>
                  </a:lnTo>
                  <a:lnTo>
                    <a:pt x="276264" y="8089"/>
                  </a:lnTo>
                  <a:lnTo>
                    <a:pt x="276264" y="1878"/>
                  </a:lnTo>
                  <a:lnTo>
                    <a:pt x="275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827071" y="4112537"/>
              <a:ext cx="174146" cy="134674"/>
            </a:xfrm>
            <a:prstGeom prst="rect">
              <a:avLst/>
            </a:prstGeom>
          </p:spPr>
        </p:pic>
      </p:grpSp>
      <p:sp>
        <p:nvSpPr>
          <p:cNvPr id="96" name="object 96"/>
          <p:cNvSpPr/>
          <p:nvPr/>
        </p:nvSpPr>
        <p:spPr>
          <a:xfrm>
            <a:off x="5074685" y="3817874"/>
            <a:ext cx="64769" cy="270510"/>
          </a:xfrm>
          <a:custGeom>
            <a:avLst/>
            <a:gdLst/>
            <a:ahLst/>
            <a:cxnLst/>
            <a:rect l="l" t="t" r="r" b="b"/>
            <a:pathLst>
              <a:path w="64770" h="270510">
                <a:moveTo>
                  <a:pt x="2721" y="0"/>
                </a:moveTo>
                <a:lnTo>
                  <a:pt x="1120" y="0"/>
                </a:lnTo>
                <a:lnTo>
                  <a:pt x="0" y="1086"/>
                </a:lnTo>
                <a:lnTo>
                  <a:pt x="0" y="4052"/>
                </a:lnTo>
                <a:lnTo>
                  <a:pt x="5282" y="8912"/>
                </a:lnTo>
                <a:lnTo>
                  <a:pt x="23488" y="31947"/>
                </a:lnTo>
                <a:lnTo>
                  <a:pt x="37014" y="60801"/>
                </a:lnTo>
                <a:lnTo>
                  <a:pt x="45437" y="95222"/>
                </a:lnTo>
                <a:lnTo>
                  <a:pt x="48338" y="134956"/>
                </a:lnTo>
                <a:lnTo>
                  <a:pt x="46197" y="169588"/>
                </a:lnTo>
                <a:lnTo>
                  <a:pt x="38894" y="203339"/>
                </a:lnTo>
                <a:lnTo>
                  <a:pt x="25109" y="234812"/>
                </a:lnTo>
                <a:lnTo>
                  <a:pt x="3521" y="262615"/>
                </a:lnTo>
                <a:lnTo>
                  <a:pt x="0" y="265844"/>
                </a:lnTo>
                <a:lnTo>
                  <a:pt x="0" y="268826"/>
                </a:lnTo>
                <a:lnTo>
                  <a:pt x="1120" y="269897"/>
                </a:lnTo>
                <a:lnTo>
                  <a:pt x="2721" y="269897"/>
                </a:lnTo>
                <a:lnTo>
                  <a:pt x="8475" y="266494"/>
                </a:lnTo>
                <a:lnTo>
                  <a:pt x="46897" y="217262"/>
                </a:lnTo>
                <a:lnTo>
                  <a:pt x="61043" y="173477"/>
                </a:lnTo>
                <a:lnTo>
                  <a:pt x="64504" y="134956"/>
                </a:lnTo>
                <a:lnTo>
                  <a:pt x="63789" y="117205"/>
                </a:lnTo>
                <a:lnTo>
                  <a:pt x="55456" y="73809"/>
                </a:lnTo>
                <a:lnTo>
                  <a:pt x="32679" y="28807"/>
                </a:lnTo>
                <a:lnTo>
                  <a:pt x="8305" y="3260"/>
                </a:lnTo>
                <a:lnTo>
                  <a:pt x="27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7" name="object 97"/>
          <p:cNvGrpSpPr/>
          <p:nvPr/>
        </p:nvGrpSpPr>
        <p:grpSpPr>
          <a:xfrm>
            <a:off x="679847" y="4983258"/>
            <a:ext cx="677545" cy="297815"/>
            <a:chOff x="679847" y="4983258"/>
            <a:chExt cx="677545" cy="297815"/>
          </a:xfrm>
        </p:grpSpPr>
        <p:pic>
          <p:nvPicPr>
            <p:cNvPr id="98" name="object 9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79847" y="4983258"/>
              <a:ext cx="182812" cy="252273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82289" y="4995550"/>
              <a:ext cx="474977" cy="285378"/>
            </a:xfrm>
            <a:prstGeom prst="rect">
              <a:avLst/>
            </a:prstGeom>
          </p:spPr>
        </p:pic>
      </p:grpSp>
      <p:sp>
        <p:nvSpPr>
          <p:cNvPr id="100" name="object 100"/>
          <p:cNvSpPr/>
          <p:nvPr/>
        </p:nvSpPr>
        <p:spPr>
          <a:xfrm>
            <a:off x="661546" y="5366994"/>
            <a:ext cx="726440" cy="13970"/>
          </a:xfrm>
          <a:custGeom>
            <a:avLst/>
            <a:gdLst/>
            <a:ahLst/>
            <a:cxnLst/>
            <a:rect l="l" t="t" r="r" b="b"/>
            <a:pathLst>
              <a:path w="726440" h="13970">
                <a:moveTo>
                  <a:pt x="726196" y="0"/>
                </a:moveTo>
                <a:lnTo>
                  <a:pt x="0" y="0"/>
                </a:lnTo>
                <a:lnTo>
                  <a:pt x="0" y="13660"/>
                </a:lnTo>
                <a:lnTo>
                  <a:pt x="726196" y="13660"/>
                </a:lnTo>
                <a:lnTo>
                  <a:pt x="726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1" name="object 101"/>
          <p:cNvGrpSpPr/>
          <p:nvPr/>
        </p:nvGrpSpPr>
        <p:grpSpPr>
          <a:xfrm>
            <a:off x="675450" y="5449013"/>
            <a:ext cx="687705" cy="303530"/>
            <a:chOff x="675450" y="5449013"/>
            <a:chExt cx="687705" cy="303530"/>
          </a:xfrm>
        </p:grpSpPr>
        <p:pic>
          <p:nvPicPr>
            <p:cNvPr id="102" name="object 10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75450" y="5449013"/>
              <a:ext cx="182798" cy="252289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883799" y="5460289"/>
              <a:ext cx="345440" cy="241300"/>
            </a:xfrm>
            <a:custGeom>
              <a:avLst/>
              <a:gdLst/>
              <a:ahLst/>
              <a:cxnLst/>
              <a:rect l="l" t="t" r="r" b="b"/>
              <a:pathLst>
                <a:path w="345440" h="241300">
                  <a:moveTo>
                    <a:pt x="343711" y="0"/>
                  </a:moveTo>
                  <a:lnTo>
                    <a:pt x="314167" y="1035"/>
                  </a:lnTo>
                  <a:lnTo>
                    <a:pt x="271432" y="0"/>
                  </a:lnTo>
                  <a:lnTo>
                    <a:pt x="271432" y="10259"/>
                  </a:lnTo>
                  <a:lnTo>
                    <a:pt x="284982" y="10943"/>
                  </a:lnTo>
                  <a:lnTo>
                    <a:pt x="297141" y="13679"/>
                  </a:lnTo>
                  <a:lnTo>
                    <a:pt x="297141" y="27691"/>
                  </a:lnTo>
                  <a:lnTo>
                    <a:pt x="198796" y="196225"/>
                  </a:lnTo>
                  <a:lnTo>
                    <a:pt x="185921" y="26675"/>
                  </a:lnTo>
                  <a:lnTo>
                    <a:pt x="186014" y="21326"/>
                  </a:lnTo>
                  <a:lnTo>
                    <a:pt x="188450" y="16203"/>
                  </a:lnTo>
                  <a:lnTo>
                    <a:pt x="195706" y="12299"/>
                  </a:lnTo>
                  <a:lnTo>
                    <a:pt x="210259" y="10611"/>
                  </a:lnTo>
                  <a:lnTo>
                    <a:pt x="219637" y="10611"/>
                  </a:lnTo>
                  <a:lnTo>
                    <a:pt x="219637" y="351"/>
                  </a:lnTo>
                  <a:lnTo>
                    <a:pt x="164077" y="873"/>
                  </a:lnTo>
                  <a:lnTo>
                    <a:pt x="128941" y="0"/>
                  </a:lnTo>
                  <a:lnTo>
                    <a:pt x="128941" y="10611"/>
                  </a:lnTo>
                  <a:lnTo>
                    <a:pt x="152564" y="10611"/>
                  </a:lnTo>
                  <a:lnTo>
                    <a:pt x="155007" y="12643"/>
                  </a:lnTo>
                  <a:lnTo>
                    <a:pt x="157769" y="45475"/>
                  </a:lnTo>
                  <a:lnTo>
                    <a:pt x="69854" y="196225"/>
                  </a:lnTo>
                  <a:lnTo>
                    <a:pt x="56642" y="22903"/>
                  </a:lnTo>
                  <a:lnTo>
                    <a:pt x="57055" y="19298"/>
                  </a:lnTo>
                  <a:lnTo>
                    <a:pt x="59943" y="15343"/>
                  </a:lnTo>
                  <a:lnTo>
                    <a:pt x="67782" y="12095"/>
                  </a:lnTo>
                  <a:lnTo>
                    <a:pt x="90358" y="10611"/>
                  </a:lnTo>
                  <a:lnTo>
                    <a:pt x="90358" y="0"/>
                  </a:lnTo>
                  <a:lnTo>
                    <a:pt x="33565" y="873"/>
                  </a:lnTo>
                  <a:lnTo>
                    <a:pt x="0" y="0"/>
                  </a:lnTo>
                  <a:lnTo>
                    <a:pt x="0" y="10611"/>
                  </a:lnTo>
                  <a:lnTo>
                    <a:pt x="26066" y="10611"/>
                  </a:lnTo>
                  <a:lnTo>
                    <a:pt x="43430" y="241013"/>
                  </a:lnTo>
                  <a:lnTo>
                    <a:pt x="52470" y="241013"/>
                  </a:lnTo>
                  <a:lnTo>
                    <a:pt x="158822" y="59487"/>
                  </a:lnTo>
                  <a:lnTo>
                    <a:pt x="172372" y="239303"/>
                  </a:lnTo>
                  <a:lnTo>
                    <a:pt x="173067" y="241013"/>
                  </a:lnTo>
                  <a:lnTo>
                    <a:pt x="181749" y="241013"/>
                  </a:lnTo>
                  <a:lnTo>
                    <a:pt x="299584" y="39651"/>
                  </a:lnTo>
                  <a:lnTo>
                    <a:pt x="306250" y="29013"/>
                  </a:lnTo>
                  <a:lnTo>
                    <a:pt x="314090" y="20133"/>
                  </a:lnTo>
                  <a:lnTo>
                    <a:pt x="324408" y="13753"/>
                  </a:lnTo>
                  <a:lnTo>
                    <a:pt x="341625" y="10259"/>
                  </a:lnTo>
                  <a:lnTo>
                    <a:pt x="345101" y="10259"/>
                  </a:lnTo>
                  <a:lnTo>
                    <a:pt x="345101" y="2403"/>
                  </a:lnTo>
                  <a:lnTo>
                    <a:pt x="3437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06152" y="5570880"/>
              <a:ext cx="156656" cy="181064"/>
            </a:xfrm>
            <a:prstGeom prst="rect">
              <a:avLst/>
            </a:prstGeom>
          </p:spPr>
        </p:pic>
      </p:grpSp>
      <p:sp>
        <p:nvSpPr>
          <p:cNvPr id="105" name="object 105"/>
          <p:cNvSpPr/>
          <p:nvPr/>
        </p:nvSpPr>
        <p:spPr>
          <a:xfrm>
            <a:off x="1541817" y="5333830"/>
            <a:ext cx="231140" cy="13970"/>
          </a:xfrm>
          <a:custGeom>
            <a:avLst/>
            <a:gdLst/>
            <a:ahLst/>
            <a:cxnLst/>
            <a:rect l="l" t="t" r="r" b="b"/>
            <a:pathLst>
              <a:path w="231139" h="13970">
                <a:moveTo>
                  <a:pt x="231120" y="0"/>
                </a:moveTo>
                <a:lnTo>
                  <a:pt x="0" y="0"/>
                </a:lnTo>
                <a:lnTo>
                  <a:pt x="0" y="13660"/>
                </a:lnTo>
                <a:lnTo>
                  <a:pt x="231120" y="13660"/>
                </a:lnTo>
                <a:lnTo>
                  <a:pt x="2311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541817" y="5400138"/>
            <a:ext cx="231140" cy="13970"/>
          </a:xfrm>
          <a:custGeom>
            <a:avLst/>
            <a:gdLst/>
            <a:ahLst/>
            <a:cxnLst/>
            <a:rect l="l" t="t" r="r" b="b"/>
            <a:pathLst>
              <a:path w="231139" h="13970">
                <a:moveTo>
                  <a:pt x="231120" y="0"/>
                </a:moveTo>
                <a:lnTo>
                  <a:pt x="0" y="0"/>
                </a:lnTo>
                <a:lnTo>
                  <a:pt x="0" y="13679"/>
                </a:lnTo>
                <a:lnTo>
                  <a:pt x="231120" y="13679"/>
                </a:lnTo>
                <a:lnTo>
                  <a:pt x="2311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7" name="object 10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031317" y="4861372"/>
            <a:ext cx="219875" cy="170586"/>
          </a:xfrm>
          <a:prstGeom prst="rect">
            <a:avLst/>
          </a:prstGeom>
        </p:spPr>
      </p:pic>
      <p:sp>
        <p:nvSpPr>
          <p:cNvPr id="108" name="object 108"/>
          <p:cNvSpPr/>
          <p:nvPr/>
        </p:nvSpPr>
        <p:spPr>
          <a:xfrm>
            <a:off x="1907681" y="5134517"/>
            <a:ext cx="462915" cy="478790"/>
          </a:xfrm>
          <a:custGeom>
            <a:avLst/>
            <a:gdLst/>
            <a:ahLst/>
            <a:cxnLst/>
            <a:rect l="l" t="t" r="r" b="b"/>
            <a:pathLst>
              <a:path w="462914" h="478789">
                <a:moveTo>
                  <a:pt x="420539" y="0"/>
                </a:moveTo>
                <a:lnTo>
                  <a:pt x="1390" y="351"/>
                </a:lnTo>
                <a:lnTo>
                  <a:pt x="0" y="3419"/>
                </a:lnTo>
                <a:lnTo>
                  <a:pt x="0" y="13679"/>
                </a:lnTo>
                <a:lnTo>
                  <a:pt x="183855" y="261184"/>
                </a:lnTo>
                <a:lnTo>
                  <a:pt x="357" y="472790"/>
                </a:lnTo>
                <a:lnTo>
                  <a:pt x="357" y="478594"/>
                </a:lnTo>
                <a:lnTo>
                  <a:pt x="420539" y="478594"/>
                </a:lnTo>
                <a:lnTo>
                  <a:pt x="462579" y="369215"/>
                </a:lnTo>
                <a:lnTo>
                  <a:pt x="453897" y="369215"/>
                </a:lnTo>
                <a:lnTo>
                  <a:pt x="439683" y="393557"/>
                </a:lnTo>
                <a:lnTo>
                  <a:pt x="418627" y="413220"/>
                </a:lnTo>
                <a:lnTo>
                  <a:pt x="363539" y="438258"/>
                </a:lnTo>
                <a:lnTo>
                  <a:pt x="299455" y="447437"/>
                </a:lnTo>
                <a:lnTo>
                  <a:pt x="255438" y="448850"/>
                </a:lnTo>
                <a:lnTo>
                  <a:pt x="45874" y="448850"/>
                </a:lnTo>
                <a:lnTo>
                  <a:pt x="225915" y="241017"/>
                </a:lnTo>
                <a:lnTo>
                  <a:pt x="225915" y="237597"/>
                </a:lnTo>
                <a:lnTo>
                  <a:pt x="61510" y="16415"/>
                </a:lnTo>
                <a:lnTo>
                  <a:pt x="251981" y="16415"/>
                </a:lnTo>
                <a:lnTo>
                  <a:pt x="283893" y="17174"/>
                </a:lnTo>
                <a:lnTo>
                  <a:pt x="333300" y="21887"/>
                </a:lnTo>
                <a:lnTo>
                  <a:pt x="388862" y="36691"/>
                </a:lnTo>
                <a:lnTo>
                  <a:pt x="430654" y="63466"/>
                </a:lnTo>
                <a:lnTo>
                  <a:pt x="453897" y="96070"/>
                </a:lnTo>
                <a:lnTo>
                  <a:pt x="462579" y="96070"/>
                </a:lnTo>
                <a:lnTo>
                  <a:pt x="420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9" name="object 109"/>
          <p:cNvGrpSpPr/>
          <p:nvPr/>
        </p:nvGrpSpPr>
        <p:grpSpPr>
          <a:xfrm>
            <a:off x="1928562" y="5703302"/>
            <a:ext cx="407034" cy="168910"/>
            <a:chOff x="1928562" y="5703302"/>
            <a:chExt cx="407034" cy="168910"/>
          </a:xfrm>
        </p:grpSpPr>
        <p:pic>
          <p:nvPicPr>
            <p:cNvPr id="110" name="object 11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928562" y="5704050"/>
              <a:ext cx="72874" cy="16783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2027415" y="5774740"/>
              <a:ext cx="179705" cy="64769"/>
            </a:xfrm>
            <a:custGeom>
              <a:avLst/>
              <a:gdLst/>
              <a:ahLst/>
              <a:cxnLst/>
              <a:rect l="l" t="t" r="r" b="b"/>
              <a:pathLst>
                <a:path w="179705" h="64770">
                  <a:moveTo>
                    <a:pt x="179501" y="52946"/>
                  </a:moveTo>
                  <a:lnTo>
                    <a:pt x="0" y="52946"/>
                  </a:lnTo>
                  <a:lnTo>
                    <a:pt x="0" y="64439"/>
                  </a:lnTo>
                  <a:lnTo>
                    <a:pt x="179501" y="64439"/>
                  </a:lnTo>
                  <a:lnTo>
                    <a:pt x="179501" y="52946"/>
                  </a:lnTo>
                  <a:close/>
                </a:path>
                <a:path w="179705" h="64770">
                  <a:moveTo>
                    <a:pt x="179501" y="0"/>
                  </a:moveTo>
                  <a:lnTo>
                    <a:pt x="0" y="0"/>
                  </a:lnTo>
                  <a:lnTo>
                    <a:pt x="0" y="11480"/>
                  </a:lnTo>
                  <a:lnTo>
                    <a:pt x="179501" y="11480"/>
                  </a:lnTo>
                  <a:lnTo>
                    <a:pt x="1795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245869" y="5703302"/>
              <a:ext cx="89126" cy="166088"/>
            </a:xfrm>
            <a:prstGeom prst="rect">
              <a:avLst/>
            </a:prstGeom>
          </p:spPr>
        </p:pic>
      </p:grpSp>
      <p:grpSp>
        <p:nvGrpSpPr>
          <p:cNvPr id="113" name="object 113"/>
          <p:cNvGrpSpPr/>
          <p:nvPr/>
        </p:nvGrpSpPr>
        <p:grpSpPr>
          <a:xfrm>
            <a:off x="2500135" y="4983258"/>
            <a:ext cx="677545" cy="297815"/>
            <a:chOff x="2500135" y="4983258"/>
            <a:chExt cx="677545" cy="297815"/>
          </a:xfrm>
        </p:grpSpPr>
        <p:pic>
          <p:nvPicPr>
            <p:cNvPr id="114" name="object 11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500135" y="4983258"/>
              <a:ext cx="182743" cy="252273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702547" y="4995550"/>
              <a:ext cx="475036" cy="285378"/>
            </a:xfrm>
            <a:prstGeom prst="rect">
              <a:avLst/>
            </a:prstGeom>
          </p:spPr>
        </p:pic>
      </p:grpSp>
      <p:sp>
        <p:nvSpPr>
          <p:cNvPr id="116" name="object 116"/>
          <p:cNvSpPr/>
          <p:nvPr/>
        </p:nvSpPr>
        <p:spPr>
          <a:xfrm>
            <a:off x="2486228" y="5366994"/>
            <a:ext cx="717550" cy="13970"/>
          </a:xfrm>
          <a:custGeom>
            <a:avLst/>
            <a:gdLst/>
            <a:ahLst/>
            <a:cxnLst/>
            <a:rect l="l" t="t" r="r" b="b"/>
            <a:pathLst>
              <a:path w="717550" h="13970">
                <a:moveTo>
                  <a:pt x="717382" y="0"/>
                </a:moveTo>
                <a:lnTo>
                  <a:pt x="0" y="0"/>
                </a:lnTo>
                <a:lnTo>
                  <a:pt x="0" y="13660"/>
                </a:lnTo>
                <a:lnTo>
                  <a:pt x="717382" y="13660"/>
                </a:lnTo>
                <a:lnTo>
                  <a:pt x="717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527528" y="5449023"/>
            <a:ext cx="622935" cy="297815"/>
          </a:xfrm>
          <a:custGeom>
            <a:avLst/>
            <a:gdLst/>
            <a:ahLst/>
            <a:cxnLst/>
            <a:rect l="l" t="t" r="r" b="b"/>
            <a:pathLst>
              <a:path w="622935" h="297814">
                <a:moveTo>
                  <a:pt x="182765" y="88544"/>
                </a:moveTo>
                <a:lnTo>
                  <a:pt x="161302" y="23876"/>
                </a:lnTo>
                <a:lnTo>
                  <a:pt x="107657" y="0"/>
                </a:lnTo>
                <a:lnTo>
                  <a:pt x="76073" y="7086"/>
                </a:lnTo>
                <a:lnTo>
                  <a:pt x="55638" y="23418"/>
                </a:lnTo>
                <a:lnTo>
                  <a:pt x="44640" y="41529"/>
                </a:lnTo>
                <a:lnTo>
                  <a:pt x="41363" y="54013"/>
                </a:lnTo>
                <a:lnTo>
                  <a:pt x="41363" y="58801"/>
                </a:lnTo>
                <a:lnTo>
                  <a:pt x="73329" y="35890"/>
                </a:lnTo>
                <a:lnTo>
                  <a:pt x="56997" y="35890"/>
                </a:lnTo>
                <a:lnTo>
                  <a:pt x="69850" y="20942"/>
                </a:lnTo>
                <a:lnTo>
                  <a:pt x="83985" y="12725"/>
                </a:lnTo>
                <a:lnTo>
                  <a:pt x="97129" y="9258"/>
                </a:lnTo>
                <a:lnTo>
                  <a:pt x="107061" y="8534"/>
                </a:lnTo>
                <a:lnTo>
                  <a:pt x="125552" y="12001"/>
                </a:lnTo>
                <a:lnTo>
                  <a:pt x="141439" y="22936"/>
                </a:lnTo>
                <a:lnTo>
                  <a:pt x="152552" y="42151"/>
                </a:lnTo>
                <a:lnTo>
                  <a:pt x="156730" y="70421"/>
                </a:lnTo>
                <a:lnTo>
                  <a:pt x="156311" y="81292"/>
                </a:lnTo>
                <a:lnTo>
                  <a:pt x="154825" y="94272"/>
                </a:lnTo>
                <a:lnTo>
                  <a:pt x="151955" y="109943"/>
                </a:lnTo>
                <a:lnTo>
                  <a:pt x="147396" y="128879"/>
                </a:lnTo>
                <a:lnTo>
                  <a:pt x="147002" y="128879"/>
                </a:lnTo>
                <a:lnTo>
                  <a:pt x="142392" y="113626"/>
                </a:lnTo>
                <a:lnTo>
                  <a:pt x="140843" y="111391"/>
                </a:lnTo>
                <a:lnTo>
                  <a:pt x="140843" y="141185"/>
                </a:lnTo>
                <a:lnTo>
                  <a:pt x="136550" y="167297"/>
                </a:lnTo>
                <a:lnTo>
                  <a:pt x="136525" y="167436"/>
                </a:lnTo>
                <a:lnTo>
                  <a:pt x="123012" y="201180"/>
                </a:lnTo>
                <a:lnTo>
                  <a:pt x="99453" y="230314"/>
                </a:lnTo>
                <a:lnTo>
                  <a:pt x="64985" y="242709"/>
                </a:lnTo>
                <a:lnTo>
                  <a:pt x="42887" y="237159"/>
                </a:lnTo>
                <a:lnTo>
                  <a:pt x="31534" y="224675"/>
                </a:lnTo>
                <a:lnTo>
                  <a:pt x="27355" y="211556"/>
                </a:lnTo>
                <a:lnTo>
                  <a:pt x="26758" y="204076"/>
                </a:lnTo>
                <a:lnTo>
                  <a:pt x="28282" y="191439"/>
                </a:lnTo>
                <a:lnTo>
                  <a:pt x="28333" y="190944"/>
                </a:lnTo>
                <a:lnTo>
                  <a:pt x="32880" y="169506"/>
                </a:lnTo>
                <a:lnTo>
                  <a:pt x="40106" y="145961"/>
                </a:lnTo>
                <a:lnTo>
                  <a:pt x="49707" y="126479"/>
                </a:lnTo>
                <a:lnTo>
                  <a:pt x="60629" y="113626"/>
                </a:lnTo>
                <a:lnTo>
                  <a:pt x="60731" y="113499"/>
                </a:lnTo>
                <a:lnTo>
                  <a:pt x="73063" y="103962"/>
                </a:lnTo>
                <a:lnTo>
                  <a:pt x="86842" y="98082"/>
                </a:lnTo>
                <a:lnTo>
                  <a:pt x="102184" y="96062"/>
                </a:lnTo>
                <a:lnTo>
                  <a:pt x="124193" y="102158"/>
                </a:lnTo>
                <a:lnTo>
                  <a:pt x="135712" y="116065"/>
                </a:lnTo>
                <a:lnTo>
                  <a:pt x="140119" y="131254"/>
                </a:lnTo>
                <a:lnTo>
                  <a:pt x="140843" y="141185"/>
                </a:lnTo>
                <a:lnTo>
                  <a:pt x="140843" y="111391"/>
                </a:lnTo>
                <a:lnTo>
                  <a:pt x="133502" y="100761"/>
                </a:lnTo>
                <a:lnTo>
                  <a:pt x="126466" y="96062"/>
                </a:lnTo>
                <a:lnTo>
                  <a:pt x="120154" y="91859"/>
                </a:lnTo>
                <a:lnTo>
                  <a:pt x="102184" y="88544"/>
                </a:lnTo>
                <a:lnTo>
                  <a:pt x="85966" y="89814"/>
                </a:lnTo>
                <a:lnTo>
                  <a:pt x="31267" y="120675"/>
                </a:lnTo>
                <a:lnTo>
                  <a:pt x="4813" y="162725"/>
                </a:lnTo>
                <a:lnTo>
                  <a:pt x="38" y="190944"/>
                </a:lnTo>
                <a:lnTo>
                  <a:pt x="0" y="191439"/>
                </a:lnTo>
                <a:lnTo>
                  <a:pt x="3149" y="209892"/>
                </a:lnTo>
                <a:lnTo>
                  <a:pt x="13728" y="229806"/>
                </a:lnTo>
                <a:lnTo>
                  <a:pt x="33439" y="245757"/>
                </a:lnTo>
                <a:lnTo>
                  <a:pt x="63957" y="252285"/>
                </a:lnTo>
                <a:lnTo>
                  <a:pt x="98158" y="242709"/>
                </a:lnTo>
                <a:lnTo>
                  <a:pt x="108051" y="239953"/>
                </a:lnTo>
                <a:lnTo>
                  <a:pt x="141478" y="208724"/>
                </a:lnTo>
                <a:lnTo>
                  <a:pt x="164668" y="167436"/>
                </a:lnTo>
                <a:lnTo>
                  <a:pt x="164744" y="167297"/>
                </a:lnTo>
                <a:lnTo>
                  <a:pt x="176898" y="128879"/>
                </a:lnTo>
                <a:lnTo>
                  <a:pt x="178333" y="124345"/>
                </a:lnTo>
                <a:lnTo>
                  <a:pt x="182765" y="88544"/>
                </a:lnTo>
                <a:close/>
              </a:path>
              <a:path w="622935" h="297814">
                <a:moveTo>
                  <a:pt x="454152" y="12636"/>
                </a:moveTo>
                <a:lnTo>
                  <a:pt x="452361" y="11277"/>
                </a:lnTo>
                <a:lnTo>
                  <a:pt x="420979" y="12306"/>
                </a:lnTo>
                <a:lnTo>
                  <a:pt x="379653" y="11277"/>
                </a:lnTo>
                <a:lnTo>
                  <a:pt x="379653" y="21526"/>
                </a:lnTo>
                <a:lnTo>
                  <a:pt x="397332" y="22567"/>
                </a:lnTo>
                <a:lnTo>
                  <a:pt x="397332" y="35547"/>
                </a:lnTo>
                <a:lnTo>
                  <a:pt x="307327" y="137414"/>
                </a:lnTo>
                <a:lnTo>
                  <a:pt x="269189" y="35890"/>
                </a:lnTo>
                <a:lnTo>
                  <a:pt x="267004" y="31102"/>
                </a:lnTo>
                <a:lnTo>
                  <a:pt x="267004" y="21882"/>
                </a:lnTo>
                <a:lnTo>
                  <a:pt x="296011" y="21882"/>
                </a:lnTo>
                <a:lnTo>
                  <a:pt x="296011" y="11277"/>
                </a:lnTo>
                <a:lnTo>
                  <a:pt x="246938" y="12306"/>
                </a:lnTo>
                <a:lnTo>
                  <a:pt x="201434" y="11277"/>
                </a:lnTo>
                <a:lnTo>
                  <a:pt x="201434" y="21882"/>
                </a:lnTo>
                <a:lnTo>
                  <a:pt x="277926" y="146989"/>
                </a:lnTo>
                <a:lnTo>
                  <a:pt x="278917" y="151777"/>
                </a:lnTo>
                <a:lnTo>
                  <a:pt x="263220" y="214007"/>
                </a:lnTo>
                <a:lnTo>
                  <a:pt x="260121" y="225031"/>
                </a:lnTo>
                <a:lnTo>
                  <a:pt x="255651" y="231000"/>
                </a:lnTo>
                <a:lnTo>
                  <a:pt x="246824" y="233514"/>
                </a:lnTo>
                <a:lnTo>
                  <a:pt x="221107" y="234162"/>
                </a:lnTo>
                <a:lnTo>
                  <a:pt x="221107" y="244767"/>
                </a:lnTo>
                <a:lnTo>
                  <a:pt x="269786" y="243738"/>
                </a:lnTo>
                <a:lnTo>
                  <a:pt x="321043" y="244767"/>
                </a:lnTo>
                <a:lnTo>
                  <a:pt x="321043" y="234162"/>
                </a:lnTo>
                <a:lnTo>
                  <a:pt x="303949" y="234162"/>
                </a:lnTo>
                <a:lnTo>
                  <a:pt x="290639" y="232803"/>
                </a:lnTo>
                <a:lnTo>
                  <a:pt x="288658" y="232117"/>
                </a:lnTo>
                <a:lnTo>
                  <a:pt x="288658" y="225615"/>
                </a:lnTo>
                <a:lnTo>
                  <a:pt x="307733" y="150749"/>
                </a:lnTo>
                <a:lnTo>
                  <a:pt x="396735" y="50241"/>
                </a:lnTo>
                <a:lnTo>
                  <a:pt x="431571" y="24841"/>
                </a:lnTo>
                <a:lnTo>
                  <a:pt x="454152" y="21526"/>
                </a:lnTo>
                <a:lnTo>
                  <a:pt x="454152" y="12636"/>
                </a:lnTo>
                <a:close/>
              </a:path>
              <a:path w="622935" h="297814">
                <a:moveTo>
                  <a:pt x="622833" y="129095"/>
                </a:moveTo>
                <a:lnTo>
                  <a:pt x="621639" y="127101"/>
                </a:lnTo>
                <a:lnTo>
                  <a:pt x="593623" y="127838"/>
                </a:lnTo>
                <a:lnTo>
                  <a:pt x="563626" y="127101"/>
                </a:lnTo>
                <a:lnTo>
                  <a:pt x="562825" y="129832"/>
                </a:lnTo>
                <a:lnTo>
                  <a:pt x="562825" y="135089"/>
                </a:lnTo>
                <a:lnTo>
                  <a:pt x="583895" y="135839"/>
                </a:lnTo>
                <a:lnTo>
                  <a:pt x="583895" y="148577"/>
                </a:lnTo>
                <a:lnTo>
                  <a:pt x="555078" y="261962"/>
                </a:lnTo>
                <a:lnTo>
                  <a:pt x="491909" y="127101"/>
                </a:lnTo>
                <a:lnTo>
                  <a:pt x="444423" y="127101"/>
                </a:lnTo>
                <a:lnTo>
                  <a:pt x="444423" y="135343"/>
                </a:lnTo>
                <a:lnTo>
                  <a:pt x="462305" y="135343"/>
                </a:lnTo>
                <a:lnTo>
                  <a:pt x="468261" y="136829"/>
                </a:lnTo>
                <a:lnTo>
                  <a:pt x="434086" y="270954"/>
                </a:lnTo>
                <a:lnTo>
                  <a:pt x="402894" y="289687"/>
                </a:lnTo>
                <a:lnTo>
                  <a:pt x="402894" y="295681"/>
                </a:lnTo>
                <a:lnTo>
                  <a:pt x="404291" y="297688"/>
                </a:lnTo>
                <a:lnTo>
                  <a:pt x="407860" y="297688"/>
                </a:lnTo>
                <a:lnTo>
                  <a:pt x="413626" y="296938"/>
                </a:lnTo>
                <a:lnTo>
                  <a:pt x="462902" y="297688"/>
                </a:lnTo>
                <a:lnTo>
                  <a:pt x="462902" y="289941"/>
                </a:lnTo>
                <a:lnTo>
                  <a:pt x="458330" y="289445"/>
                </a:lnTo>
                <a:lnTo>
                  <a:pt x="449186" y="289191"/>
                </a:lnTo>
                <a:lnTo>
                  <a:pt x="441642" y="287693"/>
                </a:lnTo>
                <a:lnTo>
                  <a:pt x="441642" y="277698"/>
                </a:lnTo>
                <a:lnTo>
                  <a:pt x="442239" y="273951"/>
                </a:lnTo>
                <a:lnTo>
                  <a:pt x="475805" y="143573"/>
                </a:lnTo>
                <a:lnTo>
                  <a:pt x="548525" y="297688"/>
                </a:lnTo>
                <a:lnTo>
                  <a:pt x="554888" y="297688"/>
                </a:lnTo>
                <a:lnTo>
                  <a:pt x="591439" y="154317"/>
                </a:lnTo>
                <a:lnTo>
                  <a:pt x="618261" y="135343"/>
                </a:lnTo>
                <a:lnTo>
                  <a:pt x="620839" y="135343"/>
                </a:lnTo>
                <a:lnTo>
                  <a:pt x="622833" y="133845"/>
                </a:lnTo>
                <a:lnTo>
                  <a:pt x="622833" y="129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271558" y="5423041"/>
            <a:ext cx="37465" cy="36830"/>
          </a:xfrm>
          <a:custGeom>
            <a:avLst/>
            <a:gdLst/>
            <a:ahLst/>
            <a:cxnLst/>
            <a:rect l="l" t="t" r="r" b="b"/>
            <a:pathLst>
              <a:path w="37464" h="36829">
                <a:moveTo>
                  <a:pt x="18476" y="0"/>
                </a:moveTo>
                <a:lnTo>
                  <a:pt x="11315" y="1437"/>
                </a:lnTo>
                <a:lnTo>
                  <a:pt x="5438" y="5344"/>
                </a:lnTo>
                <a:lnTo>
                  <a:pt x="1462" y="11113"/>
                </a:lnTo>
                <a:lnTo>
                  <a:pt x="0" y="18135"/>
                </a:lnTo>
                <a:lnTo>
                  <a:pt x="1462" y="25145"/>
                </a:lnTo>
                <a:lnTo>
                  <a:pt x="5438" y="30908"/>
                </a:lnTo>
                <a:lnTo>
                  <a:pt x="11315" y="34813"/>
                </a:lnTo>
                <a:lnTo>
                  <a:pt x="18476" y="36251"/>
                </a:lnTo>
                <a:lnTo>
                  <a:pt x="25638" y="34813"/>
                </a:lnTo>
                <a:lnTo>
                  <a:pt x="31515" y="30908"/>
                </a:lnTo>
                <a:lnTo>
                  <a:pt x="35491" y="25145"/>
                </a:lnTo>
                <a:lnTo>
                  <a:pt x="36953" y="18135"/>
                </a:lnTo>
                <a:lnTo>
                  <a:pt x="35491" y="11113"/>
                </a:lnTo>
                <a:lnTo>
                  <a:pt x="31515" y="5344"/>
                </a:lnTo>
                <a:lnTo>
                  <a:pt x="25638" y="1437"/>
                </a:lnTo>
                <a:lnTo>
                  <a:pt x="184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389960" y="4983264"/>
            <a:ext cx="622935" cy="297815"/>
          </a:xfrm>
          <a:custGeom>
            <a:avLst/>
            <a:gdLst/>
            <a:ahLst/>
            <a:cxnLst/>
            <a:rect l="l" t="t" r="r" b="b"/>
            <a:pathLst>
              <a:path w="622935" h="297814">
                <a:moveTo>
                  <a:pt x="182791" y="88531"/>
                </a:moveTo>
                <a:lnTo>
                  <a:pt x="177063" y="51765"/>
                </a:lnTo>
                <a:lnTo>
                  <a:pt x="161251" y="23888"/>
                </a:lnTo>
                <a:lnTo>
                  <a:pt x="140601" y="8547"/>
                </a:lnTo>
                <a:lnTo>
                  <a:pt x="137439" y="6184"/>
                </a:lnTo>
                <a:lnTo>
                  <a:pt x="76034" y="7099"/>
                </a:lnTo>
                <a:lnTo>
                  <a:pt x="44602" y="41541"/>
                </a:lnTo>
                <a:lnTo>
                  <a:pt x="41325" y="54013"/>
                </a:lnTo>
                <a:lnTo>
                  <a:pt x="41325" y="58788"/>
                </a:lnTo>
                <a:lnTo>
                  <a:pt x="44107" y="65976"/>
                </a:lnTo>
                <a:lnTo>
                  <a:pt x="54444" y="65976"/>
                </a:lnTo>
                <a:lnTo>
                  <a:pt x="57023" y="35877"/>
                </a:lnTo>
                <a:lnTo>
                  <a:pt x="69875" y="20942"/>
                </a:lnTo>
                <a:lnTo>
                  <a:pt x="83972" y="12725"/>
                </a:lnTo>
                <a:lnTo>
                  <a:pt x="97066" y="9258"/>
                </a:lnTo>
                <a:lnTo>
                  <a:pt x="106895" y="8547"/>
                </a:lnTo>
                <a:lnTo>
                  <a:pt x="125412" y="12014"/>
                </a:lnTo>
                <a:lnTo>
                  <a:pt x="141363" y="22948"/>
                </a:lnTo>
                <a:lnTo>
                  <a:pt x="152539" y="42151"/>
                </a:lnTo>
                <a:lnTo>
                  <a:pt x="156756" y="70408"/>
                </a:lnTo>
                <a:lnTo>
                  <a:pt x="156298" y="81280"/>
                </a:lnTo>
                <a:lnTo>
                  <a:pt x="154749" y="94259"/>
                </a:lnTo>
                <a:lnTo>
                  <a:pt x="151815" y="109943"/>
                </a:lnTo>
                <a:lnTo>
                  <a:pt x="147218" y="128879"/>
                </a:lnTo>
                <a:lnTo>
                  <a:pt x="147027" y="128879"/>
                </a:lnTo>
                <a:lnTo>
                  <a:pt x="142303" y="113626"/>
                </a:lnTo>
                <a:lnTo>
                  <a:pt x="140665" y="111277"/>
                </a:lnTo>
                <a:lnTo>
                  <a:pt x="140665" y="141173"/>
                </a:lnTo>
                <a:lnTo>
                  <a:pt x="136372" y="167284"/>
                </a:lnTo>
                <a:lnTo>
                  <a:pt x="136359" y="167424"/>
                </a:lnTo>
                <a:lnTo>
                  <a:pt x="122859" y="201180"/>
                </a:lnTo>
                <a:lnTo>
                  <a:pt x="99339" y="230314"/>
                </a:lnTo>
                <a:lnTo>
                  <a:pt x="64973" y="242722"/>
                </a:lnTo>
                <a:lnTo>
                  <a:pt x="42799" y="237159"/>
                </a:lnTo>
                <a:lnTo>
                  <a:pt x="31419" y="224688"/>
                </a:lnTo>
                <a:lnTo>
                  <a:pt x="27228" y="211556"/>
                </a:lnTo>
                <a:lnTo>
                  <a:pt x="26631" y="204089"/>
                </a:lnTo>
                <a:lnTo>
                  <a:pt x="28155" y="191439"/>
                </a:lnTo>
                <a:lnTo>
                  <a:pt x="40043" y="145961"/>
                </a:lnTo>
                <a:lnTo>
                  <a:pt x="60604" y="113626"/>
                </a:lnTo>
                <a:lnTo>
                  <a:pt x="102120" y="96050"/>
                </a:lnTo>
                <a:lnTo>
                  <a:pt x="124155" y="102146"/>
                </a:lnTo>
                <a:lnTo>
                  <a:pt x="135623" y="116052"/>
                </a:lnTo>
                <a:lnTo>
                  <a:pt x="139979" y="131241"/>
                </a:lnTo>
                <a:lnTo>
                  <a:pt x="140665" y="141173"/>
                </a:lnTo>
                <a:lnTo>
                  <a:pt x="140665" y="111277"/>
                </a:lnTo>
                <a:lnTo>
                  <a:pt x="133362" y="100749"/>
                </a:lnTo>
                <a:lnTo>
                  <a:pt x="126326" y="96050"/>
                </a:lnTo>
                <a:lnTo>
                  <a:pt x="120040" y="91846"/>
                </a:lnTo>
                <a:lnTo>
                  <a:pt x="102120" y="88531"/>
                </a:lnTo>
                <a:lnTo>
                  <a:pt x="85902" y="89801"/>
                </a:lnTo>
                <a:lnTo>
                  <a:pt x="68897" y="94602"/>
                </a:lnTo>
                <a:lnTo>
                  <a:pt x="31191" y="120675"/>
                </a:lnTo>
                <a:lnTo>
                  <a:pt x="4800" y="162712"/>
                </a:lnTo>
                <a:lnTo>
                  <a:pt x="38" y="190957"/>
                </a:lnTo>
                <a:lnTo>
                  <a:pt x="0" y="191439"/>
                </a:lnTo>
                <a:lnTo>
                  <a:pt x="3149" y="209880"/>
                </a:lnTo>
                <a:lnTo>
                  <a:pt x="13741" y="229806"/>
                </a:lnTo>
                <a:lnTo>
                  <a:pt x="33451" y="245745"/>
                </a:lnTo>
                <a:lnTo>
                  <a:pt x="63982" y="252272"/>
                </a:lnTo>
                <a:lnTo>
                  <a:pt x="98132" y="242722"/>
                </a:lnTo>
                <a:lnTo>
                  <a:pt x="141503" y="208711"/>
                </a:lnTo>
                <a:lnTo>
                  <a:pt x="164693" y="167424"/>
                </a:lnTo>
                <a:lnTo>
                  <a:pt x="176923" y="128879"/>
                </a:lnTo>
                <a:lnTo>
                  <a:pt x="178358" y="124333"/>
                </a:lnTo>
                <a:lnTo>
                  <a:pt x="182791" y="88531"/>
                </a:lnTo>
                <a:close/>
              </a:path>
              <a:path w="622935" h="297814">
                <a:moveTo>
                  <a:pt x="453986" y="12649"/>
                </a:moveTo>
                <a:lnTo>
                  <a:pt x="452196" y="11277"/>
                </a:lnTo>
                <a:lnTo>
                  <a:pt x="421005" y="12293"/>
                </a:lnTo>
                <a:lnTo>
                  <a:pt x="379679" y="11277"/>
                </a:lnTo>
                <a:lnTo>
                  <a:pt x="379679" y="21539"/>
                </a:lnTo>
                <a:lnTo>
                  <a:pt x="397357" y="22555"/>
                </a:lnTo>
                <a:lnTo>
                  <a:pt x="397357" y="35547"/>
                </a:lnTo>
                <a:lnTo>
                  <a:pt x="307352" y="137426"/>
                </a:lnTo>
                <a:lnTo>
                  <a:pt x="267030" y="30073"/>
                </a:lnTo>
                <a:lnTo>
                  <a:pt x="267030" y="21869"/>
                </a:lnTo>
                <a:lnTo>
                  <a:pt x="295833" y="21869"/>
                </a:lnTo>
                <a:lnTo>
                  <a:pt x="295833" y="11277"/>
                </a:lnTo>
                <a:lnTo>
                  <a:pt x="246964" y="12293"/>
                </a:lnTo>
                <a:lnTo>
                  <a:pt x="201269" y="11277"/>
                </a:lnTo>
                <a:lnTo>
                  <a:pt x="201269" y="21869"/>
                </a:lnTo>
                <a:lnTo>
                  <a:pt x="277749" y="147002"/>
                </a:lnTo>
                <a:lnTo>
                  <a:pt x="278752" y="151790"/>
                </a:lnTo>
                <a:lnTo>
                  <a:pt x="263245" y="213995"/>
                </a:lnTo>
                <a:lnTo>
                  <a:pt x="260108" y="225031"/>
                </a:lnTo>
                <a:lnTo>
                  <a:pt x="255574" y="231000"/>
                </a:lnTo>
                <a:lnTo>
                  <a:pt x="246684" y="233514"/>
                </a:lnTo>
                <a:lnTo>
                  <a:pt x="221132" y="234162"/>
                </a:lnTo>
                <a:lnTo>
                  <a:pt x="221132" y="244767"/>
                </a:lnTo>
                <a:lnTo>
                  <a:pt x="269811" y="243738"/>
                </a:lnTo>
                <a:lnTo>
                  <a:pt x="320865" y="244767"/>
                </a:lnTo>
                <a:lnTo>
                  <a:pt x="320865" y="234162"/>
                </a:lnTo>
                <a:lnTo>
                  <a:pt x="303784" y="234162"/>
                </a:lnTo>
                <a:lnTo>
                  <a:pt x="290664" y="232791"/>
                </a:lnTo>
                <a:lnTo>
                  <a:pt x="288480" y="232105"/>
                </a:lnTo>
                <a:lnTo>
                  <a:pt x="288480" y="225615"/>
                </a:lnTo>
                <a:lnTo>
                  <a:pt x="307759" y="150749"/>
                </a:lnTo>
                <a:lnTo>
                  <a:pt x="396557" y="50241"/>
                </a:lnTo>
                <a:lnTo>
                  <a:pt x="431393" y="24841"/>
                </a:lnTo>
                <a:lnTo>
                  <a:pt x="453986" y="21539"/>
                </a:lnTo>
                <a:lnTo>
                  <a:pt x="453986" y="12649"/>
                </a:lnTo>
                <a:close/>
              </a:path>
              <a:path w="622935" h="297814">
                <a:moveTo>
                  <a:pt x="622858" y="129095"/>
                </a:moveTo>
                <a:lnTo>
                  <a:pt x="621461" y="127088"/>
                </a:lnTo>
                <a:lnTo>
                  <a:pt x="617093" y="127088"/>
                </a:lnTo>
                <a:lnTo>
                  <a:pt x="612330" y="127850"/>
                </a:lnTo>
                <a:lnTo>
                  <a:pt x="563651" y="127088"/>
                </a:lnTo>
                <a:lnTo>
                  <a:pt x="562851" y="129844"/>
                </a:lnTo>
                <a:lnTo>
                  <a:pt x="562851" y="135077"/>
                </a:lnTo>
                <a:lnTo>
                  <a:pt x="583920" y="135839"/>
                </a:lnTo>
                <a:lnTo>
                  <a:pt x="583920" y="148577"/>
                </a:lnTo>
                <a:lnTo>
                  <a:pt x="554913" y="261962"/>
                </a:lnTo>
                <a:lnTo>
                  <a:pt x="491731" y="127088"/>
                </a:lnTo>
                <a:lnTo>
                  <a:pt x="444246" y="127088"/>
                </a:lnTo>
                <a:lnTo>
                  <a:pt x="444246" y="135331"/>
                </a:lnTo>
                <a:lnTo>
                  <a:pt x="462330" y="135331"/>
                </a:lnTo>
                <a:lnTo>
                  <a:pt x="468083" y="136842"/>
                </a:lnTo>
                <a:lnTo>
                  <a:pt x="434111" y="270954"/>
                </a:lnTo>
                <a:lnTo>
                  <a:pt x="402920" y="289674"/>
                </a:lnTo>
                <a:lnTo>
                  <a:pt x="402920" y="295681"/>
                </a:lnTo>
                <a:lnTo>
                  <a:pt x="404114" y="297675"/>
                </a:lnTo>
                <a:lnTo>
                  <a:pt x="407682" y="297675"/>
                </a:lnTo>
                <a:lnTo>
                  <a:pt x="413651" y="296926"/>
                </a:lnTo>
                <a:lnTo>
                  <a:pt x="462724" y="297675"/>
                </a:lnTo>
                <a:lnTo>
                  <a:pt x="462724" y="289928"/>
                </a:lnTo>
                <a:lnTo>
                  <a:pt x="458152" y="289445"/>
                </a:lnTo>
                <a:lnTo>
                  <a:pt x="449008" y="289191"/>
                </a:lnTo>
                <a:lnTo>
                  <a:pt x="441464" y="287680"/>
                </a:lnTo>
                <a:lnTo>
                  <a:pt x="441464" y="277698"/>
                </a:lnTo>
                <a:lnTo>
                  <a:pt x="475437" y="143573"/>
                </a:lnTo>
                <a:lnTo>
                  <a:pt x="475830" y="143573"/>
                </a:lnTo>
                <a:lnTo>
                  <a:pt x="548347" y="297675"/>
                </a:lnTo>
                <a:lnTo>
                  <a:pt x="554710" y="297675"/>
                </a:lnTo>
                <a:lnTo>
                  <a:pt x="591261" y="154305"/>
                </a:lnTo>
                <a:lnTo>
                  <a:pt x="618286" y="135331"/>
                </a:lnTo>
                <a:lnTo>
                  <a:pt x="620674" y="135331"/>
                </a:lnTo>
                <a:lnTo>
                  <a:pt x="622858" y="133832"/>
                </a:lnTo>
                <a:lnTo>
                  <a:pt x="622858" y="129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376062" y="5366994"/>
            <a:ext cx="662940" cy="13970"/>
          </a:xfrm>
          <a:custGeom>
            <a:avLst/>
            <a:gdLst/>
            <a:ahLst/>
            <a:cxnLst/>
            <a:rect l="l" t="t" r="r" b="b"/>
            <a:pathLst>
              <a:path w="662939" h="13970">
                <a:moveTo>
                  <a:pt x="662587" y="0"/>
                </a:moveTo>
                <a:lnTo>
                  <a:pt x="0" y="0"/>
                </a:lnTo>
                <a:lnTo>
                  <a:pt x="0" y="13660"/>
                </a:lnTo>
                <a:lnTo>
                  <a:pt x="662587" y="13660"/>
                </a:lnTo>
                <a:lnTo>
                  <a:pt x="662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1" name="object 121"/>
          <p:cNvGrpSpPr/>
          <p:nvPr/>
        </p:nvGrpSpPr>
        <p:grpSpPr>
          <a:xfrm>
            <a:off x="3458910" y="5449013"/>
            <a:ext cx="482600" cy="299085"/>
            <a:chOff x="3458910" y="5449013"/>
            <a:chExt cx="482600" cy="299085"/>
          </a:xfrm>
        </p:grpSpPr>
        <p:pic>
          <p:nvPicPr>
            <p:cNvPr id="122" name="object 12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458910" y="5449013"/>
              <a:ext cx="182782" cy="252289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666131" y="5452766"/>
              <a:ext cx="274770" cy="294793"/>
            </a:xfrm>
            <a:prstGeom prst="rect">
              <a:avLst/>
            </a:prstGeom>
          </p:spPr>
        </p:pic>
      </p:grpSp>
      <p:sp>
        <p:nvSpPr>
          <p:cNvPr id="124" name="object 124"/>
          <p:cNvSpPr/>
          <p:nvPr/>
        </p:nvSpPr>
        <p:spPr>
          <a:xfrm>
            <a:off x="4106598" y="5423041"/>
            <a:ext cx="37465" cy="36830"/>
          </a:xfrm>
          <a:custGeom>
            <a:avLst/>
            <a:gdLst/>
            <a:ahLst/>
            <a:cxnLst/>
            <a:rect l="l" t="t" r="r" b="b"/>
            <a:pathLst>
              <a:path w="37464" h="36829">
                <a:moveTo>
                  <a:pt x="18476" y="0"/>
                </a:moveTo>
                <a:lnTo>
                  <a:pt x="11315" y="1437"/>
                </a:lnTo>
                <a:lnTo>
                  <a:pt x="5438" y="5344"/>
                </a:lnTo>
                <a:lnTo>
                  <a:pt x="1462" y="11113"/>
                </a:lnTo>
                <a:lnTo>
                  <a:pt x="0" y="18135"/>
                </a:lnTo>
                <a:lnTo>
                  <a:pt x="1462" y="25145"/>
                </a:lnTo>
                <a:lnTo>
                  <a:pt x="5438" y="30908"/>
                </a:lnTo>
                <a:lnTo>
                  <a:pt x="11315" y="34813"/>
                </a:lnTo>
                <a:lnTo>
                  <a:pt x="18476" y="36251"/>
                </a:lnTo>
                <a:lnTo>
                  <a:pt x="25638" y="34813"/>
                </a:lnTo>
                <a:lnTo>
                  <a:pt x="31515" y="30908"/>
                </a:lnTo>
                <a:lnTo>
                  <a:pt x="35491" y="25145"/>
                </a:lnTo>
                <a:lnTo>
                  <a:pt x="36953" y="18135"/>
                </a:lnTo>
                <a:lnTo>
                  <a:pt x="35491" y="11113"/>
                </a:lnTo>
                <a:lnTo>
                  <a:pt x="31515" y="5344"/>
                </a:lnTo>
                <a:lnTo>
                  <a:pt x="25638" y="1437"/>
                </a:lnTo>
                <a:lnTo>
                  <a:pt x="184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5" name="object 125"/>
          <p:cNvGrpSpPr/>
          <p:nvPr/>
        </p:nvGrpSpPr>
        <p:grpSpPr>
          <a:xfrm>
            <a:off x="4357328" y="4983258"/>
            <a:ext cx="482600" cy="299085"/>
            <a:chOff x="4357328" y="4983258"/>
            <a:chExt cx="482600" cy="299085"/>
          </a:xfrm>
        </p:grpSpPr>
        <p:pic>
          <p:nvPicPr>
            <p:cNvPr id="126" name="object 12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357328" y="4983258"/>
              <a:ext cx="182782" cy="252273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564747" y="4987010"/>
              <a:ext cx="274770" cy="294778"/>
            </a:xfrm>
            <a:prstGeom prst="rect">
              <a:avLst/>
            </a:prstGeom>
          </p:spPr>
        </p:pic>
      </p:grpSp>
      <p:sp>
        <p:nvSpPr>
          <p:cNvPr id="128" name="object 128"/>
          <p:cNvSpPr/>
          <p:nvPr/>
        </p:nvSpPr>
        <p:spPr>
          <a:xfrm>
            <a:off x="4211102" y="5366994"/>
            <a:ext cx="789940" cy="13970"/>
          </a:xfrm>
          <a:custGeom>
            <a:avLst/>
            <a:gdLst/>
            <a:ahLst/>
            <a:cxnLst/>
            <a:rect l="l" t="t" r="r" b="b"/>
            <a:pathLst>
              <a:path w="789939" h="13970">
                <a:moveTo>
                  <a:pt x="789542" y="0"/>
                </a:moveTo>
                <a:lnTo>
                  <a:pt x="0" y="0"/>
                </a:lnTo>
                <a:lnTo>
                  <a:pt x="0" y="13660"/>
                </a:lnTo>
                <a:lnTo>
                  <a:pt x="789542" y="13660"/>
                </a:lnTo>
                <a:lnTo>
                  <a:pt x="7895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9" name="object 129"/>
          <p:cNvGrpSpPr/>
          <p:nvPr/>
        </p:nvGrpSpPr>
        <p:grpSpPr>
          <a:xfrm>
            <a:off x="4225009" y="5449013"/>
            <a:ext cx="742315" cy="297815"/>
            <a:chOff x="4225009" y="5449013"/>
            <a:chExt cx="742315" cy="297815"/>
          </a:xfrm>
        </p:grpSpPr>
        <p:pic>
          <p:nvPicPr>
            <p:cNvPr id="130" name="object 13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225009" y="5449013"/>
              <a:ext cx="182782" cy="252289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433222" y="5460289"/>
              <a:ext cx="345440" cy="241300"/>
            </a:xfrm>
            <a:custGeom>
              <a:avLst/>
              <a:gdLst/>
              <a:ahLst/>
              <a:cxnLst/>
              <a:rect l="l" t="t" r="r" b="b"/>
              <a:pathLst>
                <a:path w="345439" h="241300">
                  <a:moveTo>
                    <a:pt x="343711" y="0"/>
                  </a:moveTo>
                  <a:lnTo>
                    <a:pt x="314306" y="1035"/>
                  </a:lnTo>
                  <a:lnTo>
                    <a:pt x="271392" y="0"/>
                  </a:lnTo>
                  <a:lnTo>
                    <a:pt x="271392" y="10259"/>
                  </a:lnTo>
                  <a:lnTo>
                    <a:pt x="285101" y="10943"/>
                  </a:lnTo>
                  <a:lnTo>
                    <a:pt x="297220" y="13679"/>
                  </a:lnTo>
                  <a:lnTo>
                    <a:pt x="297220" y="27691"/>
                  </a:lnTo>
                  <a:lnTo>
                    <a:pt x="198875" y="196225"/>
                  </a:lnTo>
                  <a:lnTo>
                    <a:pt x="185961" y="26675"/>
                  </a:lnTo>
                  <a:lnTo>
                    <a:pt x="186033" y="21326"/>
                  </a:lnTo>
                  <a:lnTo>
                    <a:pt x="188469" y="16203"/>
                  </a:lnTo>
                  <a:lnTo>
                    <a:pt x="195712" y="12299"/>
                  </a:lnTo>
                  <a:lnTo>
                    <a:pt x="210200" y="10611"/>
                  </a:lnTo>
                  <a:lnTo>
                    <a:pt x="219736" y="10611"/>
                  </a:lnTo>
                  <a:lnTo>
                    <a:pt x="219736" y="351"/>
                  </a:lnTo>
                  <a:lnTo>
                    <a:pt x="164135" y="873"/>
                  </a:lnTo>
                  <a:lnTo>
                    <a:pt x="128941" y="0"/>
                  </a:lnTo>
                  <a:lnTo>
                    <a:pt x="128941" y="10611"/>
                  </a:lnTo>
                  <a:lnTo>
                    <a:pt x="152583" y="10611"/>
                  </a:lnTo>
                  <a:lnTo>
                    <a:pt x="154968" y="12643"/>
                  </a:lnTo>
                  <a:lnTo>
                    <a:pt x="157749" y="45475"/>
                  </a:lnTo>
                  <a:lnTo>
                    <a:pt x="69934" y="196225"/>
                  </a:lnTo>
                  <a:lnTo>
                    <a:pt x="56622" y="22903"/>
                  </a:lnTo>
                  <a:lnTo>
                    <a:pt x="57035" y="19298"/>
                  </a:lnTo>
                  <a:lnTo>
                    <a:pt x="59925" y="15343"/>
                  </a:lnTo>
                  <a:lnTo>
                    <a:pt x="67770" y="12095"/>
                  </a:lnTo>
                  <a:lnTo>
                    <a:pt x="90398" y="10611"/>
                  </a:lnTo>
                  <a:lnTo>
                    <a:pt x="90398" y="0"/>
                  </a:lnTo>
                  <a:lnTo>
                    <a:pt x="33570" y="873"/>
                  </a:lnTo>
                  <a:lnTo>
                    <a:pt x="0" y="0"/>
                  </a:lnTo>
                  <a:lnTo>
                    <a:pt x="0" y="10611"/>
                  </a:lnTo>
                  <a:lnTo>
                    <a:pt x="26026" y="10611"/>
                  </a:lnTo>
                  <a:lnTo>
                    <a:pt x="43510" y="241013"/>
                  </a:lnTo>
                  <a:lnTo>
                    <a:pt x="52450" y="241013"/>
                  </a:lnTo>
                  <a:lnTo>
                    <a:pt x="158941" y="59487"/>
                  </a:lnTo>
                  <a:lnTo>
                    <a:pt x="172451" y="239303"/>
                  </a:lnTo>
                  <a:lnTo>
                    <a:pt x="173047" y="241013"/>
                  </a:lnTo>
                  <a:lnTo>
                    <a:pt x="181789" y="241013"/>
                  </a:lnTo>
                  <a:lnTo>
                    <a:pt x="299604" y="39651"/>
                  </a:lnTo>
                  <a:lnTo>
                    <a:pt x="306303" y="29013"/>
                  </a:lnTo>
                  <a:lnTo>
                    <a:pt x="314157" y="20133"/>
                  </a:lnTo>
                  <a:lnTo>
                    <a:pt x="324470" y="13753"/>
                  </a:lnTo>
                  <a:lnTo>
                    <a:pt x="341724" y="10259"/>
                  </a:lnTo>
                  <a:lnTo>
                    <a:pt x="345101" y="10259"/>
                  </a:lnTo>
                  <a:lnTo>
                    <a:pt x="345101" y="2403"/>
                  </a:lnTo>
                  <a:lnTo>
                    <a:pt x="3437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749317" y="5576118"/>
              <a:ext cx="217551" cy="170582"/>
            </a:xfrm>
            <a:prstGeom prst="rect">
              <a:avLst/>
            </a:prstGeom>
          </p:spPr>
        </p:pic>
      </p:grpSp>
      <p:sp>
        <p:nvSpPr>
          <p:cNvPr id="133" name="object 133"/>
          <p:cNvSpPr txBox="1">
            <a:spLocks noGrp="1"/>
          </p:cNvSpPr>
          <p:nvPr>
            <p:ph type="title"/>
          </p:nvPr>
        </p:nvSpPr>
        <p:spPr>
          <a:xfrm>
            <a:off x="146100" y="210058"/>
            <a:ext cx="7023154" cy="796422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Back</a:t>
            </a:r>
            <a:r>
              <a:rPr sz="2800" spc="-45" dirty="0"/>
              <a:t> </a:t>
            </a:r>
            <a:r>
              <a:rPr sz="2800" dirty="0"/>
              <a:t>propagation</a:t>
            </a:r>
            <a:r>
              <a:rPr sz="2800" spc="-55" dirty="0"/>
              <a:t> </a:t>
            </a:r>
            <a:r>
              <a:rPr sz="2800" dirty="0"/>
              <a:t>through</a:t>
            </a:r>
            <a:r>
              <a:rPr sz="2800" spc="-10" dirty="0"/>
              <a:t> </a:t>
            </a:r>
            <a:r>
              <a:rPr sz="2800" dirty="0"/>
              <a:t>time</a:t>
            </a:r>
            <a:r>
              <a:rPr sz="2800" spc="-10" dirty="0"/>
              <a:t> </a:t>
            </a:r>
            <a:r>
              <a:rPr sz="2800" dirty="0"/>
              <a:t>(</a:t>
            </a:r>
            <a:r>
              <a:rPr sz="2800" spc="-5" dirty="0"/>
              <a:t> </a:t>
            </a:r>
            <a:r>
              <a:rPr sz="2800" spc="-10" dirty="0"/>
              <a:t>BPTT)</a:t>
            </a:r>
          </a:p>
        </p:txBody>
      </p:sp>
      <p:grpSp>
        <p:nvGrpSpPr>
          <p:cNvPr id="134" name="object 134"/>
          <p:cNvGrpSpPr/>
          <p:nvPr/>
        </p:nvGrpSpPr>
        <p:grpSpPr>
          <a:xfrm>
            <a:off x="7661912" y="528526"/>
            <a:ext cx="330200" cy="342900"/>
            <a:chOff x="7661912" y="528526"/>
            <a:chExt cx="330200" cy="342900"/>
          </a:xfrm>
        </p:grpSpPr>
        <p:sp>
          <p:nvSpPr>
            <p:cNvPr id="135" name="object 135"/>
            <p:cNvSpPr/>
            <p:nvPr/>
          </p:nvSpPr>
          <p:spPr>
            <a:xfrm>
              <a:off x="7661912" y="528526"/>
              <a:ext cx="240665" cy="288925"/>
            </a:xfrm>
            <a:custGeom>
              <a:avLst/>
              <a:gdLst/>
              <a:ahLst/>
              <a:cxnLst/>
              <a:rect l="l" t="t" r="r" b="b"/>
              <a:pathLst>
                <a:path w="240665" h="288925">
                  <a:moveTo>
                    <a:pt x="239372" y="0"/>
                  </a:moveTo>
                  <a:lnTo>
                    <a:pt x="233684" y="0"/>
                  </a:lnTo>
                  <a:lnTo>
                    <a:pt x="208997" y="28601"/>
                  </a:lnTo>
                  <a:lnTo>
                    <a:pt x="199201" y="16252"/>
                  </a:lnTo>
                  <a:lnTo>
                    <a:pt x="185950" y="7296"/>
                  </a:lnTo>
                  <a:lnTo>
                    <a:pt x="169741" y="1842"/>
                  </a:lnTo>
                  <a:lnTo>
                    <a:pt x="151069" y="0"/>
                  </a:lnTo>
                  <a:lnTo>
                    <a:pt x="113738" y="7888"/>
                  </a:lnTo>
                  <a:lnTo>
                    <a:pt x="81761" y="28846"/>
                  </a:lnTo>
                  <a:lnTo>
                    <a:pt x="59429" y="58816"/>
                  </a:lnTo>
                  <a:lnTo>
                    <a:pt x="51031" y="93736"/>
                  </a:lnTo>
                  <a:lnTo>
                    <a:pt x="54708" y="115284"/>
                  </a:lnTo>
                  <a:lnTo>
                    <a:pt x="64346" y="131771"/>
                  </a:lnTo>
                  <a:lnTo>
                    <a:pt x="77856" y="143341"/>
                  </a:lnTo>
                  <a:lnTo>
                    <a:pt x="93151" y="150138"/>
                  </a:lnTo>
                  <a:lnTo>
                    <a:pt x="148633" y="164775"/>
                  </a:lnTo>
                  <a:lnTo>
                    <a:pt x="160739" y="171446"/>
                  </a:lnTo>
                  <a:lnTo>
                    <a:pt x="170035" y="183552"/>
                  </a:lnTo>
                  <a:lnTo>
                    <a:pt x="173749" y="203362"/>
                  </a:lnTo>
                  <a:lnTo>
                    <a:pt x="167940" y="229868"/>
                  </a:lnTo>
                  <a:lnTo>
                    <a:pt x="152183" y="253317"/>
                  </a:lnTo>
                  <a:lnTo>
                    <a:pt x="128984" y="270061"/>
                  </a:lnTo>
                  <a:lnTo>
                    <a:pt x="100849" y="276454"/>
                  </a:lnTo>
                  <a:lnTo>
                    <a:pt x="78838" y="274319"/>
                  </a:lnTo>
                  <a:lnTo>
                    <a:pt x="55689" y="265928"/>
                  </a:lnTo>
                  <a:lnTo>
                    <a:pt x="37401" y="248300"/>
                  </a:lnTo>
                  <a:lnTo>
                    <a:pt x="29971" y="218451"/>
                  </a:lnTo>
                  <a:lnTo>
                    <a:pt x="29971" y="208918"/>
                  </a:lnTo>
                  <a:lnTo>
                    <a:pt x="32806" y="195429"/>
                  </a:lnTo>
                  <a:lnTo>
                    <a:pt x="33212" y="194240"/>
                  </a:lnTo>
                  <a:lnTo>
                    <a:pt x="33212" y="190262"/>
                  </a:lnTo>
                  <a:lnTo>
                    <a:pt x="26325" y="189850"/>
                  </a:lnTo>
                  <a:lnTo>
                    <a:pt x="24300" y="191451"/>
                  </a:lnTo>
                  <a:lnTo>
                    <a:pt x="19819" y="206535"/>
                  </a:lnTo>
                  <a:lnTo>
                    <a:pt x="0" y="284799"/>
                  </a:lnTo>
                  <a:lnTo>
                    <a:pt x="0" y="287176"/>
                  </a:lnTo>
                  <a:lnTo>
                    <a:pt x="2025" y="288777"/>
                  </a:lnTo>
                  <a:lnTo>
                    <a:pt x="6480" y="288777"/>
                  </a:lnTo>
                  <a:lnTo>
                    <a:pt x="31592" y="260176"/>
                  </a:lnTo>
                  <a:lnTo>
                    <a:pt x="46329" y="274357"/>
                  </a:lnTo>
                  <a:lnTo>
                    <a:pt x="63536" y="283110"/>
                  </a:lnTo>
                  <a:lnTo>
                    <a:pt x="81881" y="287545"/>
                  </a:lnTo>
                  <a:lnTo>
                    <a:pt x="100037" y="288777"/>
                  </a:lnTo>
                  <a:lnTo>
                    <a:pt x="139349" y="279751"/>
                  </a:lnTo>
                  <a:lnTo>
                    <a:pt x="172130" y="256200"/>
                  </a:lnTo>
                  <a:lnTo>
                    <a:pt x="194584" y="223411"/>
                  </a:lnTo>
                  <a:lnTo>
                    <a:pt x="202912" y="186672"/>
                  </a:lnTo>
                  <a:lnTo>
                    <a:pt x="200665" y="168640"/>
                  </a:lnTo>
                  <a:lnTo>
                    <a:pt x="176171" y="134539"/>
                  </a:lnTo>
                  <a:lnTo>
                    <a:pt x="104492" y="113192"/>
                  </a:lnTo>
                  <a:lnTo>
                    <a:pt x="96019" y="109001"/>
                  </a:lnTo>
                  <a:lnTo>
                    <a:pt x="88039" y="101678"/>
                  </a:lnTo>
                  <a:lnTo>
                    <a:pt x="82109" y="91076"/>
                  </a:lnTo>
                  <a:lnTo>
                    <a:pt x="79786" y="77046"/>
                  </a:lnTo>
                  <a:lnTo>
                    <a:pt x="85450" y="53173"/>
                  </a:lnTo>
                  <a:lnTo>
                    <a:pt x="100796" y="32016"/>
                  </a:lnTo>
                  <a:lnTo>
                    <a:pt x="123357" y="16890"/>
                  </a:lnTo>
                  <a:lnTo>
                    <a:pt x="150664" y="11111"/>
                  </a:lnTo>
                  <a:lnTo>
                    <a:pt x="173963" y="14474"/>
                  </a:lnTo>
                  <a:lnTo>
                    <a:pt x="192439" y="25211"/>
                  </a:lnTo>
                  <a:lnTo>
                    <a:pt x="204610" y="44290"/>
                  </a:lnTo>
                  <a:lnTo>
                    <a:pt x="208997" y="72680"/>
                  </a:lnTo>
                  <a:lnTo>
                    <a:pt x="208997" y="85391"/>
                  </a:lnTo>
                  <a:lnTo>
                    <a:pt x="207365" y="92547"/>
                  </a:lnTo>
                  <a:lnTo>
                    <a:pt x="207365" y="98903"/>
                  </a:lnTo>
                  <a:lnTo>
                    <a:pt x="216270" y="98903"/>
                  </a:lnTo>
                  <a:lnTo>
                    <a:pt x="240165" y="3978"/>
                  </a:lnTo>
                  <a:lnTo>
                    <a:pt x="2393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895690" y="686758"/>
              <a:ext cx="96161" cy="184272"/>
            </a:xfrm>
            <a:prstGeom prst="rect">
              <a:avLst/>
            </a:prstGeom>
          </p:spPr>
        </p:pic>
      </p:grpSp>
      <p:sp>
        <p:nvSpPr>
          <p:cNvPr id="137" name="object 137"/>
          <p:cNvSpPr/>
          <p:nvPr/>
        </p:nvSpPr>
        <p:spPr>
          <a:xfrm>
            <a:off x="8155501" y="662775"/>
            <a:ext cx="269875" cy="16510"/>
          </a:xfrm>
          <a:custGeom>
            <a:avLst/>
            <a:gdLst/>
            <a:ahLst/>
            <a:cxnLst/>
            <a:rect l="l" t="t" r="r" b="b"/>
            <a:pathLst>
              <a:path w="269875" h="16509">
                <a:moveTo>
                  <a:pt x="269321" y="0"/>
                </a:moveTo>
                <a:lnTo>
                  <a:pt x="0" y="0"/>
                </a:lnTo>
                <a:lnTo>
                  <a:pt x="0" y="15889"/>
                </a:lnTo>
                <a:lnTo>
                  <a:pt x="269321" y="15889"/>
                </a:lnTo>
                <a:lnTo>
                  <a:pt x="2693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155501" y="739845"/>
            <a:ext cx="269875" cy="16510"/>
          </a:xfrm>
          <a:custGeom>
            <a:avLst/>
            <a:gdLst/>
            <a:ahLst/>
            <a:cxnLst/>
            <a:rect l="l" t="t" r="r" b="b"/>
            <a:pathLst>
              <a:path w="269875" h="16509">
                <a:moveTo>
                  <a:pt x="269321" y="0"/>
                </a:moveTo>
                <a:lnTo>
                  <a:pt x="0" y="0"/>
                </a:lnTo>
                <a:lnTo>
                  <a:pt x="0" y="15889"/>
                </a:lnTo>
                <a:lnTo>
                  <a:pt x="269321" y="15889"/>
                </a:lnTo>
                <a:lnTo>
                  <a:pt x="2693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9" name="object 139"/>
          <p:cNvGrpSpPr/>
          <p:nvPr/>
        </p:nvGrpSpPr>
        <p:grpSpPr>
          <a:xfrm>
            <a:off x="8565206" y="632985"/>
            <a:ext cx="318770" cy="257175"/>
            <a:chOff x="8565206" y="632985"/>
            <a:chExt cx="318770" cy="257175"/>
          </a:xfrm>
        </p:grpSpPr>
        <p:sp>
          <p:nvSpPr>
            <p:cNvPr id="140" name="object 140"/>
            <p:cNvSpPr/>
            <p:nvPr/>
          </p:nvSpPr>
          <p:spPr>
            <a:xfrm>
              <a:off x="8565206" y="632985"/>
              <a:ext cx="186055" cy="257175"/>
            </a:xfrm>
            <a:custGeom>
              <a:avLst/>
              <a:gdLst/>
              <a:ahLst/>
              <a:cxnLst/>
              <a:rect l="l" t="t" r="r" b="b"/>
              <a:pathLst>
                <a:path w="186054" h="257175">
                  <a:moveTo>
                    <a:pt x="32799" y="209718"/>
                  </a:moveTo>
                  <a:lnTo>
                    <a:pt x="21866" y="209718"/>
                  </a:lnTo>
                  <a:lnTo>
                    <a:pt x="14692" y="211084"/>
                  </a:lnTo>
                  <a:lnTo>
                    <a:pt x="7593" y="215282"/>
                  </a:lnTo>
                  <a:lnTo>
                    <a:pt x="2164" y="222459"/>
                  </a:lnTo>
                  <a:lnTo>
                    <a:pt x="0" y="232763"/>
                  </a:lnTo>
                  <a:lnTo>
                    <a:pt x="2949" y="243417"/>
                  </a:lnTo>
                  <a:lnTo>
                    <a:pt x="12355" y="250985"/>
                  </a:lnTo>
                  <a:lnTo>
                    <a:pt x="29051" y="255500"/>
                  </a:lnTo>
                  <a:lnTo>
                    <a:pt x="53873" y="256998"/>
                  </a:lnTo>
                  <a:lnTo>
                    <a:pt x="87784" y="251785"/>
                  </a:lnTo>
                  <a:lnTo>
                    <a:pt x="94613" y="248264"/>
                  </a:lnTo>
                  <a:lnTo>
                    <a:pt x="48176" y="248264"/>
                  </a:lnTo>
                  <a:lnTo>
                    <a:pt x="38219" y="247613"/>
                  </a:lnTo>
                  <a:lnTo>
                    <a:pt x="29415" y="246412"/>
                  </a:lnTo>
                  <a:lnTo>
                    <a:pt x="20654" y="244286"/>
                  </a:lnTo>
                  <a:lnTo>
                    <a:pt x="28371" y="240504"/>
                  </a:lnTo>
                  <a:lnTo>
                    <a:pt x="33507" y="235155"/>
                  </a:lnTo>
                  <a:lnTo>
                    <a:pt x="36366" y="229211"/>
                  </a:lnTo>
                  <a:lnTo>
                    <a:pt x="37252" y="223641"/>
                  </a:lnTo>
                  <a:lnTo>
                    <a:pt x="37252" y="217285"/>
                  </a:lnTo>
                  <a:lnTo>
                    <a:pt x="32799" y="209718"/>
                  </a:lnTo>
                  <a:close/>
                </a:path>
                <a:path w="186054" h="257175">
                  <a:moveTo>
                    <a:pt x="152380" y="152539"/>
                  </a:moveTo>
                  <a:lnTo>
                    <a:pt x="124345" y="152539"/>
                  </a:lnTo>
                  <a:lnTo>
                    <a:pt x="124741" y="152927"/>
                  </a:lnTo>
                  <a:lnTo>
                    <a:pt x="119153" y="175561"/>
                  </a:lnTo>
                  <a:lnTo>
                    <a:pt x="114871" y="192102"/>
                  </a:lnTo>
                  <a:lnTo>
                    <a:pt x="112274" y="201802"/>
                  </a:lnTo>
                  <a:lnTo>
                    <a:pt x="111383" y="205351"/>
                  </a:lnTo>
                  <a:lnTo>
                    <a:pt x="107617" y="213571"/>
                  </a:lnTo>
                  <a:lnTo>
                    <a:pt x="97702" y="228154"/>
                  </a:lnTo>
                  <a:lnTo>
                    <a:pt x="80047" y="242064"/>
                  </a:lnTo>
                  <a:lnTo>
                    <a:pt x="53057" y="248264"/>
                  </a:lnTo>
                  <a:lnTo>
                    <a:pt x="94613" y="248264"/>
                  </a:lnTo>
                  <a:lnTo>
                    <a:pt x="113499" y="238528"/>
                  </a:lnTo>
                  <a:lnTo>
                    <a:pt x="130865" y="220799"/>
                  </a:lnTo>
                  <a:lnTo>
                    <a:pt x="139731" y="202173"/>
                  </a:lnTo>
                  <a:lnTo>
                    <a:pt x="152281" y="152927"/>
                  </a:lnTo>
                  <a:lnTo>
                    <a:pt x="152380" y="152539"/>
                  </a:lnTo>
                  <a:close/>
                </a:path>
                <a:path w="186054" h="257175">
                  <a:moveTo>
                    <a:pt x="119869" y="0"/>
                  </a:moveTo>
                  <a:lnTo>
                    <a:pt x="85338" y="9581"/>
                  </a:lnTo>
                  <a:lnTo>
                    <a:pt x="54374" y="34951"/>
                  </a:lnTo>
                  <a:lnTo>
                    <a:pt x="32065" y="71046"/>
                  </a:lnTo>
                  <a:lnTo>
                    <a:pt x="23498" y="112803"/>
                  </a:lnTo>
                  <a:lnTo>
                    <a:pt x="27811" y="139199"/>
                  </a:lnTo>
                  <a:lnTo>
                    <a:pt x="39487" y="158929"/>
                  </a:lnTo>
                  <a:lnTo>
                    <a:pt x="56631" y="171285"/>
                  </a:lnTo>
                  <a:lnTo>
                    <a:pt x="77348" y="175561"/>
                  </a:lnTo>
                  <a:lnTo>
                    <a:pt x="94201" y="172578"/>
                  </a:lnTo>
                  <a:lnTo>
                    <a:pt x="105955" y="166828"/>
                  </a:lnTo>
                  <a:lnTo>
                    <a:pt x="78560" y="166828"/>
                  </a:lnTo>
                  <a:lnTo>
                    <a:pt x="65911" y="163354"/>
                  </a:lnTo>
                  <a:lnTo>
                    <a:pt x="57813" y="154519"/>
                  </a:lnTo>
                  <a:lnTo>
                    <a:pt x="53508" y="142705"/>
                  </a:lnTo>
                  <a:lnTo>
                    <a:pt x="52241" y="130293"/>
                  </a:lnTo>
                  <a:lnTo>
                    <a:pt x="54122" y="112803"/>
                  </a:lnTo>
                  <a:lnTo>
                    <a:pt x="66767" y="63433"/>
                  </a:lnTo>
                  <a:lnTo>
                    <a:pt x="95324" y="19113"/>
                  </a:lnTo>
                  <a:lnTo>
                    <a:pt x="120288" y="8733"/>
                  </a:lnTo>
                  <a:lnTo>
                    <a:pt x="143968" y="8733"/>
                  </a:lnTo>
                  <a:lnTo>
                    <a:pt x="142044" y="7004"/>
                  </a:lnTo>
                  <a:lnTo>
                    <a:pt x="131564" y="1844"/>
                  </a:lnTo>
                  <a:lnTo>
                    <a:pt x="119869" y="0"/>
                  </a:lnTo>
                  <a:close/>
                </a:path>
                <a:path w="186054" h="257175">
                  <a:moveTo>
                    <a:pt x="143968" y="8733"/>
                  </a:moveTo>
                  <a:lnTo>
                    <a:pt x="120288" y="8733"/>
                  </a:lnTo>
                  <a:lnTo>
                    <a:pt x="136622" y="13793"/>
                  </a:lnTo>
                  <a:lnTo>
                    <a:pt x="146508" y="25074"/>
                  </a:lnTo>
                  <a:lnTo>
                    <a:pt x="151386" y="36723"/>
                  </a:lnTo>
                  <a:lnTo>
                    <a:pt x="152692" y="42890"/>
                  </a:lnTo>
                  <a:lnTo>
                    <a:pt x="152692" y="44879"/>
                  </a:lnTo>
                  <a:lnTo>
                    <a:pt x="151876" y="47279"/>
                  </a:lnTo>
                  <a:lnTo>
                    <a:pt x="132038" y="124715"/>
                  </a:lnTo>
                  <a:lnTo>
                    <a:pt x="104317" y="157781"/>
                  </a:lnTo>
                  <a:lnTo>
                    <a:pt x="87208" y="165687"/>
                  </a:lnTo>
                  <a:lnTo>
                    <a:pt x="86803" y="165687"/>
                  </a:lnTo>
                  <a:lnTo>
                    <a:pt x="78560" y="166828"/>
                  </a:lnTo>
                  <a:lnTo>
                    <a:pt x="105955" y="166828"/>
                  </a:lnTo>
                  <a:lnTo>
                    <a:pt x="108286" y="165687"/>
                  </a:lnTo>
                  <a:lnTo>
                    <a:pt x="118650" y="157978"/>
                  </a:lnTo>
                  <a:lnTo>
                    <a:pt x="124345" y="152539"/>
                  </a:lnTo>
                  <a:lnTo>
                    <a:pt x="152380" y="152539"/>
                  </a:lnTo>
                  <a:lnTo>
                    <a:pt x="184676" y="25811"/>
                  </a:lnTo>
                  <a:lnTo>
                    <a:pt x="184806" y="25074"/>
                  </a:lnTo>
                  <a:lnTo>
                    <a:pt x="157567" y="25074"/>
                  </a:lnTo>
                  <a:lnTo>
                    <a:pt x="150854" y="14921"/>
                  </a:lnTo>
                  <a:lnTo>
                    <a:pt x="143968" y="8733"/>
                  </a:lnTo>
                  <a:close/>
                </a:path>
                <a:path w="186054" h="257175">
                  <a:moveTo>
                    <a:pt x="181039" y="7956"/>
                  </a:moveTo>
                  <a:lnTo>
                    <a:pt x="170106" y="7956"/>
                  </a:lnTo>
                  <a:lnTo>
                    <a:pt x="159172" y="10722"/>
                  </a:lnTo>
                  <a:lnTo>
                    <a:pt x="157536" y="25074"/>
                  </a:lnTo>
                  <a:lnTo>
                    <a:pt x="184806" y="25074"/>
                  </a:lnTo>
                  <a:lnTo>
                    <a:pt x="185095" y="23434"/>
                  </a:lnTo>
                  <a:lnTo>
                    <a:pt x="185888" y="21445"/>
                  </a:lnTo>
                  <a:lnTo>
                    <a:pt x="185888" y="11911"/>
                  </a:lnTo>
                  <a:lnTo>
                    <a:pt x="181039" y="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780001" y="675167"/>
              <a:ext cx="103854" cy="192960"/>
            </a:xfrm>
            <a:prstGeom prst="rect">
              <a:avLst/>
            </a:prstGeom>
          </p:spPr>
        </p:pic>
      </p:grpSp>
      <p:sp>
        <p:nvSpPr>
          <p:cNvPr id="142" name="object 142"/>
          <p:cNvSpPr/>
          <p:nvPr/>
        </p:nvSpPr>
        <p:spPr>
          <a:xfrm>
            <a:off x="8967405" y="510648"/>
            <a:ext cx="93980" cy="397510"/>
          </a:xfrm>
          <a:custGeom>
            <a:avLst/>
            <a:gdLst/>
            <a:ahLst/>
            <a:cxnLst/>
            <a:rect l="l" t="t" r="r" b="b"/>
            <a:pathLst>
              <a:path w="93979" h="397509">
                <a:moveTo>
                  <a:pt x="92337" y="0"/>
                </a:moveTo>
                <a:lnTo>
                  <a:pt x="89913" y="0"/>
                </a:lnTo>
                <a:lnTo>
                  <a:pt x="81498" y="5007"/>
                </a:lnTo>
                <a:lnTo>
                  <a:pt x="45077" y="44068"/>
                </a:lnTo>
                <a:lnTo>
                  <a:pt x="25503" y="77458"/>
                </a:lnTo>
                <a:lnTo>
                  <a:pt x="5006" y="141899"/>
                </a:lnTo>
                <a:lnTo>
                  <a:pt x="0" y="198607"/>
                </a:lnTo>
                <a:lnTo>
                  <a:pt x="1043" y="224726"/>
                </a:lnTo>
                <a:lnTo>
                  <a:pt x="13158" y="288583"/>
                </a:lnTo>
                <a:lnTo>
                  <a:pt x="46287" y="354804"/>
                </a:lnTo>
                <a:lnTo>
                  <a:pt x="81747" y="392414"/>
                </a:lnTo>
                <a:lnTo>
                  <a:pt x="89913" y="397214"/>
                </a:lnTo>
                <a:lnTo>
                  <a:pt x="92338" y="397214"/>
                </a:lnTo>
                <a:lnTo>
                  <a:pt x="93970" y="396025"/>
                </a:lnTo>
                <a:lnTo>
                  <a:pt x="93970" y="393236"/>
                </a:lnTo>
                <a:lnTo>
                  <a:pt x="93970" y="391247"/>
                </a:lnTo>
                <a:lnTo>
                  <a:pt x="87069" y="384502"/>
                </a:lnTo>
                <a:lnTo>
                  <a:pt x="55785" y="342888"/>
                </a:lnTo>
                <a:lnTo>
                  <a:pt x="36305" y="295575"/>
                </a:lnTo>
                <a:lnTo>
                  <a:pt x="26314" y="246252"/>
                </a:lnTo>
                <a:lnTo>
                  <a:pt x="23498" y="198607"/>
                </a:lnTo>
                <a:lnTo>
                  <a:pt x="26680" y="147076"/>
                </a:lnTo>
                <a:lnTo>
                  <a:pt x="37418" y="97368"/>
                </a:lnTo>
                <a:lnTo>
                  <a:pt x="57496" y="51309"/>
                </a:lnTo>
                <a:lnTo>
                  <a:pt x="88701" y="10722"/>
                </a:lnTo>
                <a:lnTo>
                  <a:pt x="93969" y="5967"/>
                </a:lnTo>
                <a:lnTo>
                  <a:pt x="93969" y="1188"/>
                </a:lnTo>
                <a:lnTo>
                  <a:pt x="923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3" name="object 143"/>
          <p:cNvGrpSpPr/>
          <p:nvPr/>
        </p:nvGrpSpPr>
        <p:grpSpPr>
          <a:xfrm>
            <a:off x="9106482" y="537260"/>
            <a:ext cx="521970" cy="334010"/>
            <a:chOff x="9106482" y="537260"/>
            <a:chExt cx="521970" cy="334010"/>
          </a:xfrm>
        </p:grpSpPr>
        <p:sp>
          <p:nvSpPr>
            <p:cNvPr id="144" name="object 144"/>
            <p:cNvSpPr/>
            <p:nvPr/>
          </p:nvSpPr>
          <p:spPr>
            <a:xfrm>
              <a:off x="9106482" y="537260"/>
              <a:ext cx="402590" cy="280670"/>
            </a:xfrm>
            <a:custGeom>
              <a:avLst/>
              <a:gdLst/>
              <a:ahLst/>
              <a:cxnLst/>
              <a:rect l="l" t="t" r="r" b="b"/>
              <a:pathLst>
                <a:path w="402590" h="280669">
                  <a:moveTo>
                    <a:pt x="400543" y="0"/>
                  </a:moveTo>
                  <a:lnTo>
                    <a:pt x="366112" y="1188"/>
                  </a:lnTo>
                  <a:lnTo>
                    <a:pt x="316318" y="0"/>
                  </a:lnTo>
                  <a:lnTo>
                    <a:pt x="316318" y="11911"/>
                  </a:lnTo>
                  <a:lnTo>
                    <a:pt x="346273" y="32167"/>
                  </a:lnTo>
                  <a:lnTo>
                    <a:pt x="231649" y="228008"/>
                  </a:lnTo>
                  <a:lnTo>
                    <a:pt x="216683" y="30978"/>
                  </a:lnTo>
                  <a:lnTo>
                    <a:pt x="216775" y="24771"/>
                  </a:lnTo>
                  <a:lnTo>
                    <a:pt x="219606" y="18821"/>
                  </a:lnTo>
                  <a:lnTo>
                    <a:pt x="228062" y="14286"/>
                  </a:lnTo>
                  <a:lnTo>
                    <a:pt x="245030" y="12322"/>
                  </a:lnTo>
                  <a:lnTo>
                    <a:pt x="255963" y="12322"/>
                  </a:lnTo>
                  <a:lnTo>
                    <a:pt x="255963" y="388"/>
                  </a:lnTo>
                  <a:lnTo>
                    <a:pt x="191211" y="1003"/>
                  </a:lnTo>
                  <a:lnTo>
                    <a:pt x="150244" y="0"/>
                  </a:lnTo>
                  <a:lnTo>
                    <a:pt x="150244" y="12322"/>
                  </a:lnTo>
                  <a:lnTo>
                    <a:pt x="177799" y="12322"/>
                  </a:lnTo>
                  <a:lnTo>
                    <a:pt x="180619" y="14700"/>
                  </a:lnTo>
                  <a:lnTo>
                    <a:pt x="183860" y="52835"/>
                  </a:lnTo>
                  <a:lnTo>
                    <a:pt x="81404" y="228008"/>
                  </a:lnTo>
                  <a:lnTo>
                    <a:pt x="66019" y="26612"/>
                  </a:lnTo>
                  <a:lnTo>
                    <a:pt x="66499" y="22427"/>
                  </a:lnTo>
                  <a:lnTo>
                    <a:pt x="69865" y="17829"/>
                  </a:lnTo>
                  <a:lnTo>
                    <a:pt x="79000" y="14050"/>
                  </a:lnTo>
                  <a:lnTo>
                    <a:pt x="105299" y="12322"/>
                  </a:lnTo>
                  <a:lnTo>
                    <a:pt x="105299" y="0"/>
                  </a:lnTo>
                  <a:lnTo>
                    <a:pt x="39127" y="1003"/>
                  </a:lnTo>
                  <a:lnTo>
                    <a:pt x="0" y="0"/>
                  </a:lnTo>
                  <a:lnTo>
                    <a:pt x="0" y="12322"/>
                  </a:lnTo>
                  <a:lnTo>
                    <a:pt x="21903" y="13054"/>
                  </a:lnTo>
                  <a:lnTo>
                    <a:pt x="28143" y="15497"/>
                  </a:lnTo>
                  <a:lnTo>
                    <a:pt x="30737" y="20029"/>
                  </a:lnTo>
                  <a:lnTo>
                    <a:pt x="50610" y="280043"/>
                  </a:lnTo>
                  <a:lnTo>
                    <a:pt x="61147" y="280043"/>
                  </a:lnTo>
                  <a:lnTo>
                    <a:pt x="185072" y="69113"/>
                  </a:lnTo>
                  <a:lnTo>
                    <a:pt x="200878" y="278054"/>
                  </a:lnTo>
                  <a:lnTo>
                    <a:pt x="201693" y="280043"/>
                  </a:lnTo>
                  <a:lnTo>
                    <a:pt x="211811" y="280043"/>
                  </a:lnTo>
                  <a:lnTo>
                    <a:pt x="349117" y="46068"/>
                  </a:lnTo>
                  <a:lnTo>
                    <a:pt x="356884" y="33706"/>
                  </a:lnTo>
                  <a:lnTo>
                    <a:pt x="366021" y="23391"/>
                  </a:lnTo>
                  <a:lnTo>
                    <a:pt x="378048" y="15978"/>
                  </a:lnTo>
                  <a:lnTo>
                    <a:pt x="398119" y="11911"/>
                  </a:lnTo>
                  <a:lnTo>
                    <a:pt x="402175" y="11911"/>
                  </a:lnTo>
                  <a:lnTo>
                    <a:pt x="402175" y="2789"/>
                  </a:lnTo>
                  <a:lnTo>
                    <a:pt x="4005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474763" y="740165"/>
              <a:ext cx="153275" cy="130865"/>
            </a:xfrm>
            <a:prstGeom prst="rect">
              <a:avLst/>
            </a:prstGeom>
          </p:spPr>
        </p:pic>
      </p:grpSp>
      <p:grpSp>
        <p:nvGrpSpPr>
          <p:cNvPr id="146" name="object 146"/>
          <p:cNvGrpSpPr/>
          <p:nvPr/>
        </p:nvGrpSpPr>
        <p:grpSpPr>
          <a:xfrm>
            <a:off x="9672517" y="632985"/>
            <a:ext cx="322580" cy="238125"/>
            <a:chOff x="9672517" y="632985"/>
            <a:chExt cx="322580" cy="238125"/>
          </a:xfrm>
        </p:grpSpPr>
        <p:pic>
          <p:nvPicPr>
            <p:cNvPr id="147" name="object 14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672517" y="632985"/>
              <a:ext cx="201693" cy="179928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898758" y="686758"/>
              <a:ext cx="96161" cy="184272"/>
            </a:xfrm>
            <a:prstGeom prst="rect">
              <a:avLst/>
            </a:prstGeom>
          </p:spPr>
        </p:pic>
      </p:grpSp>
      <p:sp>
        <p:nvSpPr>
          <p:cNvPr id="149" name="object 149"/>
          <p:cNvSpPr/>
          <p:nvPr/>
        </p:nvSpPr>
        <p:spPr>
          <a:xfrm>
            <a:off x="10136189" y="576972"/>
            <a:ext cx="269875" cy="264795"/>
          </a:xfrm>
          <a:custGeom>
            <a:avLst/>
            <a:gdLst/>
            <a:ahLst/>
            <a:cxnLst/>
            <a:rect l="l" t="t" r="r" b="b"/>
            <a:pathLst>
              <a:path w="269875" h="264794">
                <a:moveTo>
                  <a:pt x="142901" y="0"/>
                </a:moveTo>
                <a:lnTo>
                  <a:pt x="126583" y="0"/>
                </a:lnTo>
                <a:lnTo>
                  <a:pt x="126583" y="124326"/>
                </a:lnTo>
                <a:lnTo>
                  <a:pt x="0" y="124326"/>
                </a:lnTo>
                <a:lnTo>
                  <a:pt x="0" y="140216"/>
                </a:lnTo>
                <a:lnTo>
                  <a:pt x="126583" y="140216"/>
                </a:lnTo>
                <a:lnTo>
                  <a:pt x="126583" y="264542"/>
                </a:lnTo>
                <a:lnTo>
                  <a:pt x="142901" y="264542"/>
                </a:lnTo>
                <a:lnTo>
                  <a:pt x="142901" y="140216"/>
                </a:lnTo>
                <a:lnTo>
                  <a:pt x="269251" y="140216"/>
                </a:lnTo>
                <a:lnTo>
                  <a:pt x="269251" y="124326"/>
                </a:lnTo>
                <a:lnTo>
                  <a:pt x="142901" y="124326"/>
                </a:lnTo>
                <a:lnTo>
                  <a:pt x="142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0" name="object 150"/>
          <p:cNvGrpSpPr/>
          <p:nvPr/>
        </p:nvGrpSpPr>
        <p:grpSpPr>
          <a:xfrm>
            <a:off x="10539483" y="537260"/>
            <a:ext cx="488950" cy="334010"/>
            <a:chOff x="10539483" y="537260"/>
            <a:chExt cx="488950" cy="334010"/>
          </a:xfrm>
        </p:grpSpPr>
        <p:sp>
          <p:nvSpPr>
            <p:cNvPr id="151" name="object 151"/>
            <p:cNvSpPr/>
            <p:nvPr/>
          </p:nvSpPr>
          <p:spPr>
            <a:xfrm>
              <a:off x="10539483" y="537260"/>
              <a:ext cx="402590" cy="280670"/>
            </a:xfrm>
            <a:custGeom>
              <a:avLst/>
              <a:gdLst/>
              <a:ahLst/>
              <a:cxnLst/>
              <a:rect l="l" t="t" r="r" b="b"/>
              <a:pathLst>
                <a:path w="402590" h="280669">
                  <a:moveTo>
                    <a:pt x="400496" y="0"/>
                  </a:moveTo>
                  <a:lnTo>
                    <a:pt x="366228" y="1188"/>
                  </a:lnTo>
                  <a:lnTo>
                    <a:pt x="316341" y="0"/>
                  </a:lnTo>
                  <a:lnTo>
                    <a:pt x="316341" y="11911"/>
                  </a:lnTo>
                  <a:lnTo>
                    <a:pt x="346413" y="32167"/>
                  </a:lnTo>
                  <a:lnTo>
                    <a:pt x="231719" y="228008"/>
                  </a:lnTo>
                  <a:lnTo>
                    <a:pt x="216799" y="30978"/>
                  </a:lnTo>
                  <a:lnTo>
                    <a:pt x="216847" y="24771"/>
                  </a:lnTo>
                  <a:lnTo>
                    <a:pt x="219626" y="18821"/>
                  </a:lnTo>
                  <a:lnTo>
                    <a:pt x="228044" y="14286"/>
                  </a:lnTo>
                  <a:lnTo>
                    <a:pt x="245007" y="12322"/>
                  </a:lnTo>
                  <a:lnTo>
                    <a:pt x="255963" y="12322"/>
                  </a:lnTo>
                  <a:lnTo>
                    <a:pt x="255963" y="388"/>
                  </a:lnTo>
                  <a:lnTo>
                    <a:pt x="191229" y="1003"/>
                  </a:lnTo>
                  <a:lnTo>
                    <a:pt x="150361" y="0"/>
                  </a:lnTo>
                  <a:lnTo>
                    <a:pt x="150361" y="12322"/>
                  </a:lnTo>
                  <a:lnTo>
                    <a:pt x="177869" y="12322"/>
                  </a:lnTo>
                  <a:lnTo>
                    <a:pt x="180666" y="14700"/>
                  </a:lnTo>
                  <a:lnTo>
                    <a:pt x="183930" y="52835"/>
                  </a:lnTo>
                  <a:lnTo>
                    <a:pt x="81358" y="228008"/>
                  </a:lnTo>
                  <a:lnTo>
                    <a:pt x="65972" y="26612"/>
                  </a:lnTo>
                  <a:lnTo>
                    <a:pt x="66453" y="22427"/>
                  </a:lnTo>
                  <a:lnTo>
                    <a:pt x="69818" y="17829"/>
                  </a:lnTo>
                  <a:lnTo>
                    <a:pt x="78954" y="14050"/>
                  </a:lnTo>
                  <a:lnTo>
                    <a:pt x="105369" y="12322"/>
                  </a:lnTo>
                  <a:lnTo>
                    <a:pt x="105369" y="0"/>
                  </a:lnTo>
                  <a:lnTo>
                    <a:pt x="39156" y="1003"/>
                  </a:lnTo>
                  <a:lnTo>
                    <a:pt x="0" y="0"/>
                  </a:lnTo>
                  <a:lnTo>
                    <a:pt x="0" y="12322"/>
                  </a:lnTo>
                  <a:lnTo>
                    <a:pt x="21934" y="13054"/>
                  </a:lnTo>
                  <a:lnTo>
                    <a:pt x="28149" y="15497"/>
                  </a:lnTo>
                  <a:lnTo>
                    <a:pt x="30778" y="20029"/>
                  </a:lnTo>
                  <a:lnTo>
                    <a:pt x="50586" y="280043"/>
                  </a:lnTo>
                  <a:lnTo>
                    <a:pt x="61077" y="280043"/>
                  </a:lnTo>
                  <a:lnTo>
                    <a:pt x="185095" y="69113"/>
                  </a:lnTo>
                  <a:lnTo>
                    <a:pt x="200948" y="278054"/>
                  </a:lnTo>
                  <a:lnTo>
                    <a:pt x="201647" y="280043"/>
                  </a:lnTo>
                  <a:lnTo>
                    <a:pt x="211904" y="280043"/>
                  </a:lnTo>
                  <a:lnTo>
                    <a:pt x="349211" y="46068"/>
                  </a:lnTo>
                  <a:lnTo>
                    <a:pt x="356933" y="33706"/>
                  </a:lnTo>
                  <a:lnTo>
                    <a:pt x="366053" y="23391"/>
                  </a:lnTo>
                  <a:lnTo>
                    <a:pt x="378059" y="15978"/>
                  </a:lnTo>
                  <a:lnTo>
                    <a:pt x="398165" y="11911"/>
                  </a:lnTo>
                  <a:lnTo>
                    <a:pt x="402128" y="11911"/>
                  </a:lnTo>
                  <a:lnTo>
                    <a:pt x="402128" y="2789"/>
                  </a:lnTo>
                  <a:lnTo>
                    <a:pt x="400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0914104" y="740165"/>
              <a:ext cx="114227" cy="130865"/>
            </a:xfrm>
            <a:prstGeom prst="rect">
              <a:avLst/>
            </a:prstGeom>
          </p:spPr>
        </p:pic>
      </p:grpSp>
      <p:grpSp>
        <p:nvGrpSpPr>
          <p:cNvPr id="153" name="object 153"/>
          <p:cNvGrpSpPr/>
          <p:nvPr/>
        </p:nvGrpSpPr>
        <p:grpSpPr>
          <a:xfrm>
            <a:off x="11083348" y="528526"/>
            <a:ext cx="557530" cy="342900"/>
            <a:chOff x="11083348" y="528526"/>
            <a:chExt cx="557530" cy="342900"/>
          </a:xfrm>
        </p:grpSpPr>
        <p:sp>
          <p:nvSpPr>
            <p:cNvPr id="154" name="object 154"/>
            <p:cNvSpPr/>
            <p:nvPr/>
          </p:nvSpPr>
          <p:spPr>
            <a:xfrm>
              <a:off x="11083348" y="528526"/>
              <a:ext cx="240665" cy="288925"/>
            </a:xfrm>
            <a:custGeom>
              <a:avLst/>
              <a:gdLst/>
              <a:ahLst/>
              <a:cxnLst/>
              <a:rect l="l" t="t" r="r" b="b"/>
              <a:pathLst>
                <a:path w="240665" h="288925">
                  <a:moveTo>
                    <a:pt x="239179" y="0"/>
                  </a:moveTo>
                  <a:lnTo>
                    <a:pt x="233584" y="0"/>
                  </a:lnTo>
                  <a:lnTo>
                    <a:pt x="208873" y="28601"/>
                  </a:lnTo>
                  <a:lnTo>
                    <a:pt x="199119" y="16252"/>
                  </a:lnTo>
                  <a:lnTo>
                    <a:pt x="185911" y="7296"/>
                  </a:lnTo>
                  <a:lnTo>
                    <a:pt x="169731" y="1842"/>
                  </a:lnTo>
                  <a:lnTo>
                    <a:pt x="151060" y="0"/>
                  </a:lnTo>
                  <a:lnTo>
                    <a:pt x="113699" y="7888"/>
                  </a:lnTo>
                  <a:lnTo>
                    <a:pt x="81736" y="28846"/>
                  </a:lnTo>
                  <a:lnTo>
                    <a:pt x="59434" y="58816"/>
                  </a:lnTo>
                  <a:lnTo>
                    <a:pt x="51052" y="93736"/>
                  </a:lnTo>
                  <a:lnTo>
                    <a:pt x="54724" y="115284"/>
                  </a:lnTo>
                  <a:lnTo>
                    <a:pt x="64340" y="131771"/>
                  </a:lnTo>
                  <a:lnTo>
                    <a:pt x="77803" y="143341"/>
                  </a:lnTo>
                  <a:lnTo>
                    <a:pt x="93014" y="150138"/>
                  </a:lnTo>
                  <a:lnTo>
                    <a:pt x="136374" y="161272"/>
                  </a:lnTo>
                  <a:lnTo>
                    <a:pt x="148496" y="164775"/>
                  </a:lnTo>
                  <a:lnTo>
                    <a:pt x="160618" y="171446"/>
                  </a:lnTo>
                  <a:lnTo>
                    <a:pt x="169943" y="183552"/>
                  </a:lnTo>
                  <a:lnTo>
                    <a:pt x="173672" y="203362"/>
                  </a:lnTo>
                  <a:lnTo>
                    <a:pt x="167845" y="229868"/>
                  </a:lnTo>
                  <a:lnTo>
                    <a:pt x="152051" y="253317"/>
                  </a:lnTo>
                  <a:lnTo>
                    <a:pt x="128826" y="270061"/>
                  </a:lnTo>
                  <a:lnTo>
                    <a:pt x="100707" y="276454"/>
                  </a:lnTo>
                  <a:lnTo>
                    <a:pt x="78717" y="274319"/>
                  </a:lnTo>
                  <a:lnTo>
                    <a:pt x="55569" y="265928"/>
                  </a:lnTo>
                  <a:lnTo>
                    <a:pt x="37273" y="248300"/>
                  </a:lnTo>
                  <a:lnTo>
                    <a:pt x="29839" y="218451"/>
                  </a:lnTo>
                  <a:lnTo>
                    <a:pt x="29839" y="208918"/>
                  </a:lnTo>
                  <a:lnTo>
                    <a:pt x="32636" y="195429"/>
                  </a:lnTo>
                  <a:lnTo>
                    <a:pt x="33102" y="194240"/>
                  </a:lnTo>
                  <a:lnTo>
                    <a:pt x="33102" y="190262"/>
                  </a:lnTo>
                  <a:lnTo>
                    <a:pt x="26342" y="189850"/>
                  </a:lnTo>
                  <a:lnTo>
                    <a:pt x="24244" y="191451"/>
                  </a:lnTo>
                  <a:lnTo>
                    <a:pt x="19767" y="206535"/>
                  </a:lnTo>
                  <a:lnTo>
                    <a:pt x="0" y="284799"/>
                  </a:lnTo>
                  <a:lnTo>
                    <a:pt x="0" y="287176"/>
                  </a:lnTo>
                  <a:lnTo>
                    <a:pt x="1864" y="288777"/>
                  </a:lnTo>
                  <a:lnTo>
                    <a:pt x="6294" y="288777"/>
                  </a:lnTo>
                  <a:lnTo>
                    <a:pt x="31470" y="260176"/>
                  </a:lnTo>
                  <a:lnTo>
                    <a:pt x="46244" y="274357"/>
                  </a:lnTo>
                  <a:lnTo>
                    <a:pt x="63466" y="283110"/>
                  </a:lnTo>
                  <a:lnTo>
                    <a:pt x="81824" y="287545"/>
                  </a:lnTo>
                  <a:lnTo>
                    <a:pt x="100007" y="288777"/>
                  </a:lnTo>
                  <a:lnTo>
                    <a:pt x="139280" y="279751"/>
                  </a:lnTo>
                  <a:lnTo>
                    <a:pt x="172041" y="256200"/>
                  </a:lnTo>
                  <a:lnTo>
                    <a:pt x="194486" y="223411"/>
                  </a:lnTo>
                  <a:lnTo>
                    <a:pt x="202812" y="186672"/>
                  </a:lnTo>
                  <a:lnTo>
                    <a:pt x="200568" y="168640"/>
                  </a:lnTo>
                  <a:lnTo>
                    <a:pt x="176095" y="134539"/>
                  </a:lnTo>
                  <a:lnTo>
                    <a:pt x="104436" y="113192"/>
                  </a:lnTo>
                  <a:lnTo>
                    <a:pt x="95953" y="109001"/>
                  </a:lnTo>
                  <a:lnTo>
                    <a:pt x="87972" y="101678"/>
                  </a:lnTo>
                  <a:lnTo>
                    <a:pt x="82046" y="91076"/>
                  </a:lnTo>
                  <a:lnTo>
                    <a:pt x="79726" y="77046"/>
                  </a:lnTo>
                  <a:lnTo>
                    <a:pt x="85390" y="53173"/>
                  </a:lnTo>
                  <a:lnTo>
                    <a:pt x="100736" y="32016"/>
                  </a:lnTo>
                  <a:lnTo>
                    <a:pt x="123293" y="16890"/>
                  </a:lnTo>
                  <a:lnTo>
                    <a:pt x="150594" y="11111"/>
                  </a:lnTo>
                  <a:lnTo>
                    <a:pt x="173862" y="14474"/>
                  </a:lnTo>
                  <a:lnTo>
                    <a:pt x="192322" y="25211"/>
                  </a:lnTo>
                  <a:lnTo>
                    <a:pt x="204488" y="44290"/>
                  </a:lnTo>
                  <a:lnTo>
                    <a:pt x="208873" y="72680"/>
                  </a:lnTo>
                  <a:lnTo>
                    <a:pt x="208873" y="85391"/>
                  </a:lnTo>
                  <a:lnTo>
                    <a:pt x="207241" y="92547"/>
                  </a:lnTo>
                  <a:lnTo>
                    <a:pt x="207241" y="98903"/>
                  </a:lnTo>
                  <a:lnTo>
                    <a:pt x="216100" y="98903"/>
                  </a:lnTo>
                  <a:lnTo>
                    <a:pt x="240111" y="3978"/>
                  </a:lnTo>
                  <a:lnTo>
                    <a:pt x="2391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1316932" y="686758"/>
              <a:ext cx="96277" cy="184272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11448877" y="788908"/>
              <a:ext cx="192405" cy="13970"/>
            </a:xfrm>
            <a:custGeom>
              <a:avLst/>
              <a:gdLst/>
              <a:ahLst/>
              <a:cxnLst/>
              <a:rect l="l" t="t" r="r" b="b"/>
              <a:pathLst>
                <a:path w="192404" h="13970">
                  <a:moveTo>
                    <a:pt x="191856" y="0"/>
                  </a:moveTo>
                  <a:lnTo>
                    <a:pt x="0" y="0"/>
                  </a:lnTo>
                  <a:lnTo>
                    <a:pt x="0" y="13351"/>
                  </a:lnTo>
                  <a:lnTo>
                    <a:pt x="180666" y="13351"/>
                  </a:lnTo>
                  <a:lnTo>
                    <a:pt x="191856" y="13351"/>
                  </a:lnTo>
                  <a:lnTo>
                    <a:pt x="1918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7" name="object 157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1694817" y="675167"/>
            <a:ext cx="103737" cy="192960"/>
          </a:xfrm>
          <a:prstGeom prst="rect">
            <a:avLst/>
          </a:prstGeom>
        </p:spPr>
      </p:pic>
      <p:sp>
        <p:nvSpPr>
          <p:cNvPr id="158" name="object 158"/>
          <p:cNvSpPr/>
          <p:nvPr/>
        </p:nvSpPr>
        <p:spPr>
          <a:xfrm>
            <a:off x="11866392" y="510648"/>
            <a:ext cx="93980" cy="397510"/>
          </a:xfrm>
          <a:custGeom>
            <a:avLst/>
            <a:gdLst/>
            <a:ahLst/>
            <a:cxnLst/>
            <a:rect l="l" t="t" r="r" b="b"/>
            <a:pathLst>
              <a:path w="93979" h="397509">
                <a:moveTo>
                  <a:pt x="4196" y="0"/>
                </a:moveTo>
                <a:lnTo>
                  <a:pt x="1631" y="0"/>
                </a:lnTo>
                <a:lnTo>
                  <a:pt x="0" y="1600"/>
                </a:lnTo>
                <a:lnTo>
                  <a:pt x="0" y="5967"/>
                </a:lnTo>
                <a:lnTo>
                  <a:pt x="7692" y="13100"/>
                </a:lnTo>
                <a:lnTo>
                  <a:pt x="34344" y="47001"/>
                </a:lnTo>
                <a:lnTo>
                  <a:pt x="54112" y="89469"/>
                </a:lnTo>
                <a:lnTo>
                  <a:pt x="66405" y="140130"/>
                </a:lnTo>
                <a:lnTo>
                  <a:pt x="70634" y="198607"/>
                </a:lnTo>
                <a:lnTo>
                  <a:pt x="67484" y="249582"/>
                </a:lnTo>
                <a:lnTo>
                  <a:pt x="56793" y="299253"/>
                </a:lnTo>
                <a:lnTo>
                  <a:pt x="36705" y="345573"/>
                </a:lnTo>
                <a:lnTo>
                  <a:pt x="5361" y="386491"/>
                </a:lnTo>
                <a:lnTo>
                  <a:pt x="0" y="391247"/>
                </a:lnTo>
                <a:lnTo>
                  <a:pt x="0" y="395613"/>
                </a:lnTo>
                <a:lnTo>
                  <a:pt x="1632" y="397214"/>
                </a:lnTo>
                <a:lnTo>
                  <a:pt x="4196" y="397214"/>
                </a:lnTo>
                <a:lnTo>
                  <a:pt x="48911" y="353136"/>
                </a:lnTo>
                <a:lnTo>
                  <a:pt x="68536" y="319755"/>
                </a:lnTo>
                <a:lnTo>
                  <a:pt x="88934" y="255306"/>
                </a:lnTo>
                <a:lnTo>
                  <a:pt x="93946" y="198607"/>
                </a:lnTo>
                <a:lnTo>
                  <a:pt x="92908" y="172487"/>
                </a:lnTo>
                <a:lnTo>
                  <a:pt x="80866" y="108621"/>
                </a:lnTo>
                <a:lnTo>
                  <a:pt x="47730" y="42390"/>
                </a:lnTo>
                <a:lnTo>
                  <a:pt x="12296" y="4796"/>
                </a:lnTo>
                <a:lnTo>
                  <a:pt x="4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9" name="object 159"/>
          <p:cNvGrpSpPr/>
          <p:nvPr/>
        </p:nvGrpSpPr>
        <p:grpSpPr>
          <a:xfrm>
            <a:off x="8527418" y="1266370"/>
            <a:ext cx="323850" cy="334010"/>
            <a:chOff x="8527418" y="1266370"/>
            <a:chExt cx="323850" cy="334010"/>
          </a:xfrm>
        </p:grpSpPr>
        <p:sp>
          <p:nvSpPr>
            <p:cNvPr id="160" name="object 160"/>
            <p:cNvSpPr/>
            <p:nvPr/>
          </p:nvSpPr>
          <p:spPr>
            <a:xfrm>
              <a:off x="8527418" y="1266370"/>
              <a:ext cx="294640" cy="271780"/>
            </a:xfrm>
            <a:custGeom>
              <a:avLst/>
              <a:gdLst/>
              <a:ahLst/>
              <a:cxnLst/>
              <a:rect l="l" t="t" r="r" b="b"/>
              <a:pathLst>
                <a:path w="294640" h="271780">
                  <a:moveTo>
                    <a:pt x="292423" y="0"/>
                  </a:moveTo>
                  <a:lnTo>
                    <a:pt x="255963" y="1188"/>
                  </a:lnTo>
                  <a:lnTo>
                    <a:pt x="207778" y="0"/>
                  </a:lnTo>
                  <a:lnTo>
                    <a:pt x="207778" y="11911"/>
                  </a:lnTo>
                  <a:lnTo>
                    <a:pt x="228432" y="13100"/>
                  </a:lnTo>
                  <a:lnTo>
                    <a:pt x="228432" y="28189"/>
                  </a:lnTo>
                  <a:lnTo>
                    <a:pt x="123529" y="146571"/>
                  </a:lnTo>
                  <a:lnTo>
                    <a:pt x="76556" y="21833"/>
                  </a:lnTo>
                  <a:lnTo>
                    <a:pt x="79719" y="16335"/>
                  </a:lnTo>
                  <a:lnTo>
                    <a:pt x="86982" y="13511"/>
                  </a:lnTo>
                  <a:lnTo>
                    <a:pt x="95005" y="12471"/>
                  </a:lnTo>
                  <a:lnTo>
                    <a:pt x="110171" y="12322"/>
                  </a:lnTo>
                  <a:lnTo>
                    <a:pt x="110171" y="0"/>
                  </a:lnTo>
                  <a:lnTo>
                    <a:pt x="53057" y="1188"/>
                  </a:lnTo>
                  <a:lnTo>
                    <a:pt x="0" y="0"/>
                  </a:lnTo>
                  <a:lnTo>
                    <a:pt x="0" y="12322"/>
                  </a:lnTo>
                  <a:lnTo>
                    <a:pt x="38884" y="25811"/>
                  </a:lnTo>
                  <a:lnTo>
                    <a:pt x="89097" y="157690"/>
                  </a:lnTo>
                  <a:lnTo>
                    <a:pt x="90310" y="163250"/>
                  </a:lnTo>
                  <a:lnTo>
                    <a:pt x="72080" y="235541"/>
                  </a:lnTo>
                  <a:lnTo>
                    <a:pt x="68476" y="248364"/>
                  </a:lnTo>
                  <a:lnTo>
                    <a:pt x="63230" y="255303"/>
                  </a:lnTo>
                  <a:lnTo>
                    <a:pt x="52892" y="258220"/>
                  </a:lnTo>
                  <a:lnTo>
                    <a:pt x="23078" y="258978"/>
                  </a:lnTo>
                  <a:lnTo>
                    <a:pt x="23078" y="271289"/>
                  </a:lnTo>
                  <a:lnTo>
                    <a:pt x="79773" y="270098"/>
                  </a:lnTo>
                  <a:lnTo>
                    <a:pt x="139311" y="271289"/>
                  </a:lnTo>
                  <a:lnTo>
                    <a:pt x="139311" y="258978"/>
                  </a:lnTo>
                  <a:lnTo>
                    <a:pt x="119473" y="258978"/>
                  </a:lnTo>
                  <a:lnTo>
                    <a:pt x="104087" y="257389"/>
                  </a:lnTo>
                  <a:lnTo>
                    <a:pt x="101662" y="256593"/>
                  </a:lnTo>
                  <a:lnTo>
                    <a:pt x="101662" y="251826"/>
                  </a:lnTo>
                  <a:lnTo>
                    <a:pt x="107327" y="226803"/>
                  </a:lnTo>
                  <a:lnTo>
                    <a:pt x="123925" y="162059"/>
                  </a:lnTo>
                  <a:lnTo>
                    <a:pt x="227616" y="45290"/>
                  </a:lnTo>
                  <a:lnTo>
                    <a:pt x="268141" y="15756"/>
                  </a:lnTo>
                  <a:lnTo>
                    <a:pt x="294451" y="11911"/>
                  </a:lnTo>
                  <a:lnTo>
                    <a:pt x="294451" y="1577"/>
                  </a:lnTo>
                  <a:lnTo>
                    <a:pt x="2924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8754871" y="1415891"/>
              <a:ext cx="96161" cy="184274"/>
            </a:xfrm>
            <a:prstGeom prst="rect">
              <a:avLst/>
            </a:prstGeom>
          </p:spPr>
        </p:pic>
      </p:grpSp>
      <p:sp>
        <p:nvSpPr>
          <p:cNvPr id="162" name="object 162"/>
          <p:cNvSpPr/>
          <p:nvPr/>
        </p:nvSpPr>
        <p:spPr>
          <a:xfrm>
            <a:off x="9014704" y="1391886"/>
            <a:ext cx="269875" cy="16510"/>
          </a:xfrm>
          <a:custGeom>
            <a:avLst/>
            <a:gdLst/>
            <a:ahLst/>
            <a:cxnLst/>
            <a:rect l="l" t="t" r="r" b="b"/>
            <a:pathLst>
              <a:path w="269875" h="16509">
                <a:moveTo>
                  <a:pt x="269321" y="0"/>
                </a:moveTo>
                <a:lnTo>
                  <a:pt x="0" y="0"/>
                </a:lnTo>
                <a:lnTo>
                  <a:pt x="0" y="15889"/>
                </a:lnTo>
                <a:lnTo>
                  <a:pt x="269321" y="15889"/>
                </a:lnTo>
                <a:lnTo>
                  <a:pt x="2693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9014704" y="1468944"/>
            <a:ext cx="269875" cy="16510"/>
          </a:xfrm>
          <a:custGeom>
            <a:avLst/>
            <a:gdLst/>
            <a:ahLst/>
            <a:cxnLst/>
            <a:rect l="l" t="t" r="r" b="b"/>
            <a:pathLst>
              <a:path w="269875" h="16509">
                <a:moveTo>
                  <a:pt x="269321" y="0"/>
                </a:moveTo>
                <a:lnTo>
                  <a:pt x="0" y="0"/>
                </a:lnTo>
                <a:lnTo>
                  <a:pt x="0" y="15887"/>
                </a:lnTo>
                <a:lnTo>
                  <a:pt x="269321" y="15887"/>
                </a:lnTo>
                <a:lnTo>
                  <a:pt x="2693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4" name="object 164"/>
          <p:cNvGrpSpPr/>
          <p:nvPr/>
        </p:nvGrpSpPr>
        <p:grpSpPr>
          <a:xfrm>
            <a:off x="9424410" y="1362096"/>
            <a:ext cx="327660" cy="257175"/>
            <a:chOff x="9424410" y="1362096"/>
            <a:chExt cx="327660" cy="257175"/>
          </a:xfrm>
        </p:grpSpPr>
        <p:sp>
          <p:nvSpPr>
            <p:cNvPr id="165" name="object 165"/>
            <p:cNvSpPr/>
            <p:nvPr/>
          </p:nvSpPr>
          <p:spPr>
            <a:xfrm>
              <a:off x="9424410" y="1362096"/>
              <a:ext cx="186055" cy="257175"/>
            </a:xfrm>
            <a:custGeom>
              <a:avLst/>
              <a:gdLst/>
              <a:ahLst/>
              <a:cxnLst/>
              <a:rect l="l" t="t" r="r" b="b"/>
              <a:pathLst>
                <a:path w="186054" h="257175">
                  <a:moveTo>
                    <a:pt x="32799" y="209725"/>
                  </a:moveTo>
                  <a:lnTo>
                    <a:pt x="21866" y="209725"/>
                  </a:lnTo>
                  <a:lnTo>
                    <a:pt x="14692" y="211090"/>
                  </a:lnTo>
                  <a:lnTo>
                    <a:pt x="7593" y="215285"/>
                  </a:lnTo>
                  <a:lnTo>
                    <a:pt x="2164" y="222459"/>
                  </a:lnTo>
                  <a:lnTo>
                    <a:pt x="0" y="232761"/>
                  </a:lnTo>
                  <a:lnTo>
                    <a:pt x="2949" y="243418"/>
                  </a:lnTo>
                  <a:lnTo>
                    <a:pt x="12355" y="250984"/>
                  </a:lnTo>
                  <a:lnTo>
                    <a:pt x="29051" y="255495"/>
                  </a:lnTo>
                  <a:lnTo>
                    <a:pt x="53873" y="256991"/>
                  </a:lnTo>
                  <a:lnTo>
                    <a:pt x="87784" y="251778"/>
                  </a:lnTo>
                  <a:lnTo>
                    <a:pt x="94622" y="248253"/>
                  </a:lnTo>
                  <a:lnTo>
                    <a:pt x="48161" y="248253"/>
                  </a:lnTo>
                  <a:lnTo>
                    <a:pt x="38228" y="247607"/>
                  </a:lnTo>
                  <a:lnTo>
                    <a:pt x="29424" y="246410"/>
                  </a:lnTo>
                  <a:lnTo>
                    <a:pt x="20654" y="244282"/>
                  </a:lnTo>
                  <a:lnTo>
                    <a:pt x="28371" y="240495"/>
                  </a:lnTo>
                  <a:lnTo>
                    <a:pt x="33507" y="235145"/>
                  </a:lnTo>
                  <a:lnTo>
                    <a:pt x="36366" y="229199"/>
                  </a:lnTo>
                  <a:lnTo>
                    <a:pt x="37252" y="223625"/>
                  </a:lnTo>
                  <a:lnTo>
                    <a:pt x="37252" y="217272"/>
                  </a:lnTo>
                  <a:lnTo>
                    <a:pt x="32799" y="209725"/>
                  </a:lnTo>
                  <a:close/>
                </a:path>
                <a:path w="186054" h="257175">
                  <a:moveTo>
                    <a:pt x="152383" y="152527"/>
                  </a:moveTo>
                  <a:lnTo>
                    <a:pt x="124345" y="152527"/>
                  </a:lnTo>
                  <a:lnTo>
                    <a:pt x="124741" y="152923"/>
                  </a:lnTo>
                  <a:lnTo>
                    <a:pt x="119152" y="175563"/>
                  </a:lnTo>
                  <a:lnTo>
                    <a:pt x="114871" y="192098"/>
                  </a:lnTo>
                  <a:lnTo>
                    <a:pt x="112274" y="201799"/>
                  </a:lnTo>
                  <a:lnTo>
                    <a:pt x="111383" y="205356"/>
                  </a:lnTo>
                  <a:lnTo>
                    <a:pt x="107620" y="213566"/>
                  </a:lnTo>
                  <a:lnTo>
                    <a:pt x="97711" y="228144"/>
                  </a:lnTo>
                  <a:lnTo>
                    <a:pt x="80057" y="242053"/>
                  </a:lnTo>
                  <a:lnTo>
                    <a:pt x="53057" y="248253"/>
                  </a:lnTo>
                  <a:lnTo>
                    <a:pt x="94622" y="248253"/>
                  </a:lnTo>
                  <a:lnTo>
                    <a:pt x="113499" y="238521"/>
                  </a:lnTo>
                  <a:lnTo>
                    <a:pt x="130865" y="220796"/>
                  </a:lnTo>
                  <a:lnTo>
                    <a:pt x="139731" y="202178"/>
                  </a:lnTo>
                  <a:lnTo>
                    <a:pt x="152283" y="152923"/>
                  </a:lnTo>
                  <a:lnTo>
                    <a:pt x="152383" y="152527"/>
                  </a:lnTo>
                  <a:close/>
                </a:path>
                <a:path w="186054" h="257175">
                  <a:moveTo>
                    <a:pt x="119892" y="0"/>
                  </a:moveTo>
                  <a:lnTo>
                    <a:pt x="85348" y="9581"/>
                  </a:lnTo>
                  <a:lnTo>
                    <a:pt x="54377" y="34951"/>
                  </a:lnTo>
                  <a:lnTo>
                    <a:pt x="32065" y="71047"/>
                  </a:lnTo>
                  <a:lnTo>
                    <a:pt x="23498" y="112806"/>
                  </a:lnTo>
                  <a:lnTo>
                    <a:pt x="27811" y="139201"/>
                  </a:lnTo>
                  <a:lnTo>
                    <a:pt x="39487" y="158931"/>
                  </a:lnTo>
                  <a:lnTo>
                    <a:pt x="56631" y="171287"/>
                  </a:lnTo>
                  <a:lnTo>
                    <a:pt x="77348" y="175563"/>
                  </a:lnTo>
                  <a:lnTo>
                    <a:pt x="94201" y="172578"/>
                  </a:lnTo>
                  <a:lnTo>
                    <a:pt x="105954" y="166825"/>
                  </a:lnTo>
                  <a:lnTo>
                    <a:pt x="78560" y="166825"/>
                  </a:lnTo>
                  <a:lnTo>
                    <a:pt x="65911" y="163350"/>
                  </a:lnTo>
                  <a:lnTo>
                    <a:pt x="57813" y="154512"/>
                  </a:lnTo>
                  <a:lnTo>
                    <a:pt x="53508" y="142695"/>
                  </a:lnTo>
                  <a:lnTo>
                    <a:pt x="52241" y="130282"/>
                  </a:lnTo>
                  <a:lnTo>
                    <a:pt x="54248" y="111620"/>
                  </a:lnTo>
                  <a:lnTo>
                    <a:pt x="66767" y="63417"/>
                  </a:lnTo>
                  <a:lnTo>
                    <a:pt x="95324" y="19110"/>
                  </a:lnTo>
                  <a:lnTo>
                    <a:pt x="120288" y="8733"/>
                  </a:lnTo>
                  <a:lnTo>
                    <a:pt x="143987" y="8733"/>
                  </a:lnTo>
                  <a:lnTo>
                    <a:pt x="142064" y="7004"/>
                  </a:lnTo>
                  <a:lnTo>
                    <a:pt x="131587" y="1844"/>
                  </a:lnTo>
                  <a:lnTo>
                    <a:pt x="119892" y="0"/>
                  </a:lnTo>
                  <a:close/>
                </a:path>
                <a:path w="186054" h="257175">
                  <a:moveTo>
                    <a:pt x="143987" y="8733"/>
                  </a:moveTo>
                  <a:lnTo>
                    <a:pt x="120288" y="8733"/>
                  </a:lnTo>
                  <a:lnTo>
                    <a:pt x="136632" y="13790"/>
                  </a:lnTo>
                  <a:lnTo>
                    <a:pt x="146517" y="25065"/>
                  </a:lnTo>
                  <a:lnTo>
                    <a:pt x="151389" y="36714"/>
                  </a:lnTo>
                  <a:lnTo>
                    <a:pt x="152692" y="42890"/>
                  </a:lnTo>
                  <a:lnTo>
                    <a:pt x="152692" y="44879"/>
                  </a:lnTo>
                  <a:lnTo>
                    <a:pt x="151876" y="47256"/>
                  </a:lnTo>
                  <a:lnTo>
                    <a:pt x="151480" y="48857"/>
                  </a:lnTo>
                  <a:lnTo>
                    <a:pt x="132038" y="124722"/>
                  </a:lnTo>
                  <a:lnTo>
                    <a:pt x="104317" y="157777"/>
                  </a:lnTo>
                  <a:lnTo>
                    <a:pt x="87214" y="165684"/>
                  </a:lnTo>
                  <a:lnTo>
                    <a:pt x="86819" y="165684"/>
                  </a:lnTo>
                  <a:lnTo>
                    <a:pt x="78560" y="166825"/>
                  </a:lnTo>
                  <a:lnTo>
                    <a:pt x="105954" y="166825"/>
                  </a:lnTo>
                  <a:lnTo>
                    <a:pt x="108286" y="165684"/>
                  </a:lnTo>
                  <a:lnTo>
                    <a:pt x="118650" y="157970"/>
                  </a:lnTo>
                  <a:lnTo>
                    <a:pt x="124345" y="152527"/>
                  </a:lnTo>
                  <a:lnTo>
                    <a:pt x="152383" y="152527"/>
                  </a:lnTo>
                  <a:lnTo>
                    <a:pt x="184676" y="25811"/>
                  </a:lnTo>
                  <a:lnTo>
                    <a:pt x="184807" y="25065"/>
                  </a:lnTo>
                  <a:lnTo>
                    <a:pt x="157561" y="25065"/>
                  </a:lnTo>
                  <a:lnTo>
                    <a:pt x="150868" y="14921"/>
                  </a:lnTo>
                  <a:lnTo>
                    <a:pt x="143987" y="8733"/>
                  </a:lnTo>
                  <a:close/>
                </a:path>
                <a:path w="186054" h="257175">
                  <a:moveTo>
                    <a:pt x="181039" y="7933"/>
                  </a:moveTo>
                  <a:lnTo>
                    <a:pt x="170106" y="7933"/>
                  </a:lnTo>
                  <a:lnTo>
                    <a:pt x="159172" y="10722"/>
                  </a:lnTo>
                  <a:lnTo>
                    <a:pt x="157537" y="25065"/>
                  </a:lnTo>
                  <a:lnTo>
                    <a:pt x="184807" y="25065"/>
                  </a:lnTo>
                  <a:lnTo>
                    <a:pt x="185095" y="23434"/>
                  </a:lnTo>
                  <a:lnTo>
                    <a:pt x="185888" y="21445"/>
                  </a:lnTo>
                  <a:lnTo>
                    <a:pt x="185888" y="11911"/>
                  </a:lnTo>
                  <a:lnTo>
                    <a:pt x="181039" y="79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626476" y="1404277"/>
              <a:ext cx="125464" cy="192987"/>
            </a:xfrm>
            <a:prstGeom prst="rect">
              <a:avLst/>
            </a:prstGeom>
          </p:spPr>
        </p:pic>
      </p:grpSp>
      <p:sp>
        <p:nvSpPr>
          <p:cNvPr id="167" name="object 167"/>
          <p:cNvSpPr/>
          <p:nvPr/>
        </p:nvSpPr>
        <p:spPr>
          <a:xfrm>
            <a:off x="9826562" y="1239758"/>
            <a:ext cx="93980" cy="397510"/>
          </a:xfrm>
          <a:custGeom>
            <a:avLst/>
            <a:gdLst/>
            <a:ahLst/>
            <a:cxnLst/>
            <a:rect l="l" t="t" r="r" b="b"/>
            <a:pathLst>
              <a:path w="93979" h="397510">
                <a:moveTo>
                  <a:pt x="92361" y="0"/>
                </a:moveTo>
                <a:lnTo>
                  <a:pt x="89913" y="0"/>
                </a:lnTo>
                <a:lnTo>
                  <a:pt x="81511" y="5007"/>
                </a:lnTo>
                <a:lnTo>
                  <a:pt x="45100" y="44068"/>
                </a:lnTo>
                <a:lnTo>
                  <a:pt x="25526" y="77458"/>
                </a:lnTo>
                <a:lnTo>
                  <a:pt x="5017" y="141898"/>
                </a:lnTo>
                <a:lnTo>
                  <a:pt x="0" y="198600"/>
                </a:lnTo>
                <a:lnTo>
                  <a:pt x="1047" y="224723"/>
                </a:lnTo>
                <a:lnTo>
                  <a:pt x="13168" y="288586"/>
                </a:lnTo>
                <a:lnTo>
                  <a:pt x="46300" y="354808"/>
                </a:lnTo>
                <a:lnTo>
                  <a:pt x="81760" y="392406"/>
                </a:lnTo>
                <a:lnTo>
                  <a:pt x="89913" y="397203"/>
                </a:lnTo>
                <a:lnTo>
                  <a:pt x="92361" y="397203"/>
                </a:lnTo>
                <a:lnTo>
                  <a:pt x="93970" y="396012"/>
                </a:lnTo>
                <a:lnTo>
                  <a:pt x="93970" y="393231"/>
                </a:lnTo>
                <a:lnTo>
                  <a:pt x="93970" y="391245"/>
                </a:lnTo>
                <a:lnTo>
                  <a:pt x="55795" y="342879"/>
                </a:lnTo>
                <a:lnTo>
                  <a:pt x="36308" y="295568"/>
                </a:lnTo>
                <a:lnTo>
                  <a:pt x="26314" y="246246"/>
                </a:lnTo>
                <a:lnTo>
                  <a:pt x="23498" y="198600"/>
                </a:lnTo>
                <a:lnTo>
                  <a:pt x="26680" y="147073"/>
                </a:lnTo>
                <a:lnTo>
                  <a:pt x="37418" y="97367"/>
                </a:lnTo>
                <a:lnTo>
                  <a:pt x="57496" y="51309"/>
                </a:lnTo>
                <a:lnTo>
                  <a:pt x="88701" y="10722"/>
                </a:lnTo>
                <a:lnTo>
                  <a:pt x="93969" y="5967"/>
                </a:lnTo>
                <a:lnTo>
                  <a:pt x="93969" y="1188"/>
                </a:lnTo>
                <a:lnTo>
                  <a:pt x="923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8" name="object 168"/>
          <p:cNvGrpSpPr/>
          <p:nvPr/>
        </p:nvGrpSpPr>
        <p:grpSpPr>
          <a:xfrm>
            <a:off x="9965780" y="1266370"/>
            <a:ext cx="597535" cy="333375"/>
            <a:chOff x="9965780" y="1266370"/>
            <a:chExt cx="597535" cy="333375"/>
          </a:xfrm>
        </p:grpSpPr>
        <p:sp>
          <p:nvSpPr>
            <p:cNvPr id="169" name="object 169"/>
            <p:cNvSpPr/>
            <p:nvPr/>
          </p:nvSpPr>
          <p:spPr>
            <a:xfrm>
              <a:off x="9965780" y="1266370"/>
              <a:ext cx="402590" cy="280035"/>
            </a:xfrm>
            <a:custGeom>
              <a:avLst/>
              <a:gdLst/>
              <a:ahLst/>
              <a:cxnLst/>
              <a:rect l="l" t="t" r="r" b="b"/>
              <a:pathLst>
                <a:path w="402590" h="280034">
                  <a:moveTo>
                    <a:pt x="400496" y="0"/>
                  </a:moveTo>
                  <a:lnTo>
                    <a:pt x="365995" y="1188"/>
                  </a:lnTo>
                  <a:lnTo>
                    <a:pt x="316108" y="0"/>
                  </a:lnTo>
                  <a:lnTo>
                    <a:pt x="316108" y="11911"/>
                  </a:lnTo>
                  <a:lnTo>
                    <a:pt x="346180" y="32167"/>
                  </a:lnTo>
                  <a:lnTo>
                    <a:pt x="231486" y="227994"/>
                  </a:lnTo>
                  <a:lnTo>
                    <a:pt x="216566" y="30978"/>
                  </a:lnTo>
                  <a:lnTo>
                    <a:pt x="216650" y="24771"/>
                  </a:lnTo>
                  <a:lnTo>
                    <a:pt x="219509" y="18821"/>
                  </a:lnTo>
                  <a:lnTo>
                    <a:pt x="228007" y="14286"/>
                  </a:lnTo>
                  <a:lnTo>
                    <a:pt x="245007" y="12322"/>
                  </a:lnTo>
                  <a:lnTo>
                    <a:pt x="255963" y="12322"/>
                  </a:lnTo>
                  <a:lnTo>
                    <a:pt x="255963" y="388"/>
                  </a:lnTo>
                  <a:lnTo>
                    <a:pt x="191193" y="1003"/>
                  </a:lnTo>
                  <a:lnTo>
                    <a:pt x="150128" y="0"/>
                  </a:lnTo>
                  <a:lnTo>
                    <a:pt x="150128" y="12322"/>
                  </a:lnTo>
                  <a:lnTo>
                    <a:pt x="177636" y="12322"/>
                  </a:lnTo>
                  <a:lnTo>
                    <a:pt x="180433" y="14700"/>
                  </a:lnTo>
                  <a:lnTo>
                    <a:pt x="183697" y="52835"/>
                  </a:lnTo>
                  <a:lnTo>
                    <a:pt x="81358" y="227994"/>
                  </a:lnTo>
                  <a:lnTo>
                    <a:pt x="65972" y="26612"/>
                  </a:lnTo>
                  <a:lnTo>
                    <a:pt x="66453" y="22418"/>
                  </a:lnTo>
                  <a:lnTo>
                    <a:pt x="69818" y="17821"/>
                  </a:lnTo>
                  <a:lnTo>
                    <a:pt x="78954" y="14047"/>
                  </a:lnTo>
                  <a:lnTo>
                    <a:pt x="105136" y="12322"/>
                  </a:lnTo>
                  <a:lnTo>
                    <a:pt x="105136" y="0"/>
                  </a:lnTo>
                  <a:lnTo>
                    <a:pt x="38959" y="1003"/>
                  </a:lnTo>
                  <a:lnTo>
                    <a:pt x="0" y="0"/>
                  </a:lnTo>
                  <a:lnTo>
                    <a:pt x="0" y="12322"/>
                  </a:lnTo>
                  <a:lnTo>
                    <a:pt x="21832" y="13053"/>
                  </a:lnTo>
                  <a:lnTo>
                    <a:pt x="28090" y="15495"/>
                  </a:lnTo>
                  <a:lnTo>
                    <a:pt x="30676" y="20019"/>
                  </a:lnTo>
                  <a:lnTo>
                    <a:pt x="50586" y="280029"/>
                  </a:lnTo>
                  <a:lnTo>
                    <a:pt x="61077" y="280029"/>
                  </a:lnTo>
                  <a:lnTo>
                    <a:pt x="185095" y="69113"/>
                  </a:lnTo>
                  <a:lnTo>
                    <a:pt x="200714" y="278043"/>
                  </a:lnTo>
                  <a:lnTo>
                    <a:pt x="201647" y="280029"/>
                  </a:lnTo>
                  <a:lnTo>
                    <a:pt x="211671" y="280029"/>
                  </a:lnTo>
                  <a:lnTo>
                    <a:pt x="348977" y="46068"/>
                  </a:lnTo>
                  <a:lnTo>
                    <a:pt x="356801" y="33703"/>
                  </a:lnTo>
                  <a:lnTo>
                    <a:pt x="365937" y="23382"/>
                  </a:lnTo>
                  <a:lnTo>
                    <a:pt x="377957" y="15968"/>
                  </a:lnTo>
                  <a:lnTo>
                    <a:pt x="397932" y="11911"/>
                  </a:lnTo>
                  <a:lnTo>
                    <a:pt x="402128" y="11911"/>
                  </a:lnTo>
                  <a:lnTo>
                    <a:pt x="402128" y="2789"/>
                  </a:lnTo>
                  <a:lnTo>
                    <a:pt x="400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336671" y="1400962"/>
              <a:ext cx="226357" cy="198195"/>
            </a:xfrm>
            <a:prstGeom prst="rect">
              <a:avLst/>
            </a:prstGeom>
          </p:spPr>
        </p:pic>
      </p:grpSp>
      <p:grpSp>
        <p:nvGrpSpPr>
          <p:cNvPr id="171" name="object 171"/>
          <p:cNvGrpSpPr/>
          <p:nvPr/>
        </p:nvGrpSpPr>
        <p:grpSpPr>
          <a:xfrm>
            <a:off x="10616180" y="1257637"/>
            <a:ext cx="330200" cy="342900"/>
            <a:chOff x="10616180" y="1257637"/>
            <a:chExt cx="330200" cy="342900"/>
          </a:xfrm>
        </p:grpSpPr>
        <p:sp>
          <p:nvSpPr>
            <p:cNvPr id="172" name="object 172"/>
            <p:cNvSpPr/>
            <p:nvPr/>
          </p:nvSpPr>
          <p:spPr>
            <a:xfrm>
              <a:off x="10616180" y="1257637"/>
              <a:ext cx="240665" cy="288925"/>
            </a:xfrm>
            <a:custGeom>
              <a:avLst/>
              <a:gdLst/>
              <a:ahLst/>
              <a:cxnLst/>
              <a:rect l="l" t="t" r="r" b="b"/>
              <a:pathLst>
                <a:path w="240665" h="288925">
                  <a:moveTo>
                    <a:pt x="239412" y="0"/>
                  </a:moveTo>
                  <a:lnTo>
                    <a:pt x="233584" y="0"/>
                  </a:lnTo>
                  <a:lnTo>
                    <a:pt x="208873" y="28601"/>
                  </a:lnTo>
                  <a:lnTo>
                    <a:pt x="199119" y="16252"/>
                  </a:lnTo>
                  <a:lnTo>
                    <a:pt x="185911" y="7296"/>
                  </a:lnTo>
                  <a:lnTo>
                    <a:pt x="169731" y="1842"/>
                  </a:lnTo>
                  <a:lnTo>
                    <a:pt x="151060" y="0"/>
                  </a:lnTo>
                  <a:lnTo>
                    <a:pt x="113699" y="7888"/>
                  </a:lnTo>
                  <a:lnTo>
                    <a:pt x="81736" y="28846"/>
                  </a:lnTo>
                  <a:lnTo>
                    <a:pt x="59434" y="58816"/>
                  </a:lnTo>
                  <a:lnTo>
                    <a:pt x="51052" y="93736"/>
                  </a:lnTo>
                  <a:lnTo>
                    <a:pt x="54724" y="115280"/>
                  </a:lnTo>
                  <a:lnTo>
                    <a:pt x="64340" y="131762"/>
                  </a:lnTo>
                  <a:lnTo>
                    <a:pt x="77803" y="143331"/>
                  </a:lnTo>
                  <a:lnTo>
                    <a:pt x="93014" y="150138"/>
                  </a:lnTo>
                  <a:lnTo>
                    <a:pt x="148594" y="164765"/>
                  </a:lnTo>
                  <a:lnTo>
                    <a:pt x="160705" y="171437"/>
                  </a:lnTo>
                  <a:lnTo>
                    <a:pt x="169975" y="183546"/>
                  </a:lnTo>
                  <a:lnTo>
                    <a:pt x="173672" y="203362"/>
                  </a:lnTo>
                  <a:lnTo>
                    <a:pt x="167877" y="229863"/>
                  </a:lnTo>
                  <a:lnTo>
                    <a:pt x="152138" y="253311"/>
                  </a:lnTo>
                  <a:lnTo>
                    <a:pt x="128925" y="270056"/>
                  </a:lnTo>
                  <a:lnTo>
                    <a:pt x="100707" y="276449"/>
                  </a:lnTo>
                  <a:lnTo>
                    <a:pt x="78717" y="274314"/>
                  </a:lnTo>
                  <a:lnTo>
                    <a:pt x="55569" y="265923"/>
                  </a:lnTo>
                  <a:lnTo>
                    <a:pt x="37273" y="248297"/>
                  </a:lnTo>
                  <a:lnTo>
                    <a:pt x="29839" y="218456"/>
                  </a:lnTo>
                  <a:lnTo>
                    <a:pt x="29839" y="208925"/>
                  </a:lnTo>
                  <a:lnTo>
                    <a:pt x="33102" y="194226"/>
                  </a:lnTo>
                  <a:lnTo>
                    <a:pt x="33102" y="190255"/>
                  </a:lnTo>
                  <a:lnTo>
                    <a:pt x="26342" y="189857"/>
                  </a:lnTo>
                  <a:lnTo>
                    <a:pt x="24244" y="191446"/>
                  </a:lnTo>
                  <a:lnTo>
                    <a:pt x="19767" y="206534"/>
                  </a:lnTo>
                  <a:lnTo>
                    <a:pt x="0" y="284789"/>
                  </a:lnTo>
                  <a:lnTo>
                    <a:pt x="0" y="287174"/>
                  </a:lnTo>
                  <a:lnTo>
                    <a:pt x="2098" y="288763"/>
                  </a:lnTo>
                  <a:lnTo>
                    <a:pt x="6527" y="288763"/>
                  </a:lnTo>
                  <a:lnTo>
                    <a:pt x="31470" y="260164"/>
                  </a:lnTo>
                  <a:lnTo>
                    <a:pt x="46244" y="274351"/>
                  </a:lnTo>
                  <a:lnTo>
                    <a:pt x="63466" y="283102"/>
                  </a:lnTo>
                  <a:lnTo>
                    <a:pt x="81824" y="287534"/>
                  </a:lnTo>
                  <a:lnTo>
                    <a:pt x="100007" y="288763"/>
                  </a:lnTo>
                  <a:lnTo>
                    <a:pt x="139280" y="279739"/>
                  </a:lnTo>
                  <a:lnTo>
                    <a:pt x="172041" y="256192"/>
                  </a:lnTo>
                  <a:lnTo>
                    <a:pt x="194486" y="223409"/>
                  </a:lnTo>
                  <a:lnTo>
                    <a:pt x="202812" y="186679"/>
                  </a:lnTo>
                  <a:lnTo>
                    <a:pt x="200568" y="168643"/>
                  </a:lnTo>
                  <a:lnTo>
                    <a:pt x="176095" y="134539"/>
                  </a:lnTo>
                  <a:lnTo>
                    <a:pt x="104436" y="113192"/>
                  </a:lnTo>
                  <a:lnTo>
                    <a:pt x="95953" y="109001"/>
                  </a:lnTo>
                  <a:lnTo>
                    <a:pt x="87972" y="101678"/>
                  </a:lnTo>
                  <a:lnTo>
                    <a:pt x="82046" y="91076"/>
                  </a:lnTo>
                  <a:lnTo>
                    <a:pt x="79726" y="77046"/>
                  </a:lnTo>
                  <a:lnTo>
                    <a:pt x="85390" y="53173"/>
                  </a:lnTo>
                  <a:lnTo>
                    <a:pt x="100736" y="32016"/>
                  </a:lnTo>
                  <a:lnTo>
                    <a:pt x="123293" y="16890"/>
                  </a:lnTo>
                  <a:lnTo>
                    <a:pt x="150594" y="11111"/>
                  </a:lnTo>
                  <a:lnTo>
                    <a:pt x="173862" y="14474"/>
                  </a:lnTo>
                  <a:lnTo>
                    <a:pt x="192322" y="25211"/>
                  </a:lnTo>
                  <a:lnTo>
                    <a:pt x="204488" y="44290"/>
                  </a:lnTo>
                  <a:lnTo>
                    <a:pt x="208873" y="72680"/>
                  </a:lnTo>
                  <a:lnTo>
                    <a:pt x="208873" y="85391"/>
                  </a:lnTo>
                  <a:lnTo>
                    <a:pt x="207241" y="92547"/>
                  </a:lnTo>
                  <a:lnTo>
                    <a:pt x="207241" y="98903"/>
                  </a:lnTo>
                  <a:lnTo>
                    <a:pt x="216333" y="98903"/>
                  </a:lnTo>
                  <a:lnTo>
                    <a:pt x="240111" y="3955"/>
                  </a:lnTo>
                  <a:lnTo>
                    <a:pt x="239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0849998" y="1415891"/>
              <a:ext cx="96044" cy="184274"/>
            </a:xfrm>
            <a:prstGeom prst="rect">
              <a:avLst/>
            </a:prstGeom>
          </p:spPr>
        </p:pic>
      </p:grpSp>
      <p:sp>
        <p:nvSpPr>
          <p:cNvPr id="174" name="object 174"/>
          <p:cNvSpPr/>
          <p:nvPr/>
        </p:nvSpPr>
        <p:spPr>
          <a:xfrm>
            <a:off x="10997561" y="1239758"/>
            <a:ext cx="93980" cy="397510"/>
          </a:xfrm>
          <a:custGeom>
            <a:avLst/>
            <a:gdLst/>
            <a:ahLst/>
            <a:cxnLst/>
            <a:rect l="l" t="t" r="r" b="b"/>
            <a:pathLst>
              <a:path w="93979" h="397510">
                <a:moveTo>
                  <a:pt x="4196" y="0"/>
                </a:moveTo>
                <a:lnTo>
                  <a:pt x="1631" y="0"/>
                </a:lnTo>
                <a:lnTo>
                  <a:pt x="0" y="1577"/>
                </a:lnTo>
                <a:lnTo>
                  <a:pt x="0" y="5967"/>
                </a:lnTo>
                <a:lnTo>
                  <a:pt x="7692" y="13100"/>
                </a:lnTo>
                <a:lnTo>
                  <a:pt x="34210" y="47001"/>
                </a:lnTo>
                <a:lnTo>
                  <a:pt x="53908" y="89468"/>
                </a:lnTo>
                <a:lnTo>
                  <a:pt x="66176" y="140127"/>
                </a:lnTo>
                <a:lnTo>
                  <a:pt x="70401" y="198600"/>
                </a:lnTo>
                <a:lnTo>
                  <a:pt x="67287" y="249573"/>
                </a:lnTo>
                <a:lnTo>
                  <a:pt x="56677" y="299242"/>
                </a:lnTo>
                <a:lnTo>
                  <a:pt x="36668" y="345561"/>
                </a:lnTo>
                <a:lnTo>
                  <a:pt x="5361" y="386479"/>
                </a:lnTo>
                <a:lnTo>
                  <a:pt x="0" y="391245"/>
                </a:lnTo>
                <a:lnTo>
                  <a:pt x="0" y="395615"/>
                </a:lnTo>
                <a:lnTo>
                  <a:pt x="1632" y="397203"/>
                </a:lnTo>
                <a:lnTo>
                  <a:pt x="4196" y="397203"/>
                </a:lnTo>
                <a:lnTo>
                  <a:pt x="48911" y="353132"/>
                </a:lnTo>
                <a:lnTo>
                  <a:pt x="68536" y="319749"/>
                </a:lnTo>
                <a:lnTo>
                  <a:pt x="88934" y="255302"/>
                </a:lnTo>
                <a:lnTo>
                  <a:pt x="93946" y="198600"/>
                </a:lnTo>
                <a:lnTo>
                  <a:pt x="92908" y="172480"/>
                </a:lnTo>
                <a:lnTo>
                  <a:pt x="80866" y="108611"/>
                </a:lnTo>
                <a:lnTo>
                  <a:pt x="47730" y="42390"/>
                </a:lnTo>
                <a:lnTo>
                  <a:pt x="12296" y="4796"/>
                </a:lnTo>
                <a:lnTo>
                  <a:pt x="4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4330"/>
            <a:ext cx="12192000" cy="5883910"/>
            <a:chOff x="0" y="974330"/>
            <a:chExt cx="12192000" cy="588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3572" y="974330"/>
              <a:ext cx="6803555" cy="2160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2727" y="3090671"/>
              <a:ext cx="6705600" cy="18958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0695" y="4896612"/>
              <a:ext cx="4200144" cy="14737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6101" y="29424"/>
            <a:ext cx="11899798" cy="734867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Training</a:t>
            </a:r>
            <a:r>
              <a:rPr sz="2400" spc="-50" dirty="0"/>
              <a:t> </a:t>
            </a:r>
            <a:r>
              <a:rPr sz="2400" dirty="0"/>
              <a:t>Algorithm</a:t>
            </a:r>
            <a:r>
              <a:rPr sz="2400" spc="-10" dirty="0"/>
              <a:t> </a:t>
            </a:r>
            <a:r>
              <a:rPr sz="2400" dirty="0"/>
              <a:t>–</a:t>
            </a:r>
            <a:r>
              <a:rPr sz="2400" spc="-20" dirty="0"/>
              <a:t> </a:t>
            </a:r>
            <a:r>
              <a:rPr sz="2400" dirty="0"/>
              <a:t>Back</a:t>
            </a:r>
            <a:r>
              <a:rPr sz="2400" spc="-35" dirty="0"/>
              <a:t> </a:t>
            </a:r>
            <a:r>
              <a:rPr sz="2400" dirty="0"/>
              <a:t>propagation</a:t>
            </a:r>
            <a:r>
              <a:rPr sz="2400" spc="-25" dirty="0"/>
              <a:t> </a:t>
            </a:r>
            <a:r>
              <a:rPr sz="2400" dirty="0"/>
              <a:t>through</a:t>
            </a:r>
            <a:r>
              <a:rPr sz="2400" spc="-55" dirty="0"/>
              <a:t> </a:t>
            </a:r>
            <a:r>
              <a:rPr sz="2400" dirty="0"/>
              <a:t>time</a:t>
            </a:r>
            <a:r>
              <a:rPr sz="2400" spc="-20" dirty="0"/>
              <a:t> </a:t>
            </a:r>
            <a:r>
              <a:rPr sz="2400" dirty="0"/>
              <a:t>(</a:t>
            </a:r>
            <a:r>
              <a:rPr sz="2400" spc="-15" dirty="0"/>
              <a:t> </a:t>
            </a:r>
            <a:r>
              <a:rPr sz="2400" spc="-10" dirty="0"/>
              <a:t>BPTT)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" y="1136903"/>
            <a:ext cx="4491228" cy="50539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62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Limitations: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90600"/>
            <a:ext cx="6096000" cy="41780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Back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Propagation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through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(BPTT)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used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up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limited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number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steps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like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8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or</a:t>
            </a:r>
            <a:r>
              <a:rPr lang="en-US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10.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If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back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propagate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further,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gradient</a:t>
            </a:r>
            <a:r>
              <a:rPr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delta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becomes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too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small.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problem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called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“Vanishing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gradient”</a:t>
            </a:r>
            <a:r>
              <a:rPr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problem.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problem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contribution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information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decays</a:t>
            </a:r>
            <a:r>
              <a:rPr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geometrically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over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time.</a:t>
            </a:r>
            <a:r>
              <a:rPr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So,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if</a:t>
            </a:r>
            <a:r>
              <a:rPr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number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steps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&gt;10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(Let’s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say),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information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will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effectively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discarded.</a:t>
            </a:r>
          </a:p>
          <a:p>
            <a:pPr marL="12700" algn="just">
              <a:lnSpc>
                <a:spcPct val="100000"/>
              </a:lnSpc>
              <a:spcBef>
                <a:spcPts val="2160"/>
              </a:spcBef>
            </a:pP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Going</a:t>
            </a:r>
            <a:r>
              <a:rPr b="1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Beyond</a:t>
            </a:r>
            <a:r>
              <a:rPr b="1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000000"/>
                </a:solidFill>
                <a:latin typeface="Calibri"/>
                <a:cs typeface="Calibri"/>
              </a:rPr>
              <a:t>RNNs:</a:t>
            </a:r>
          </a:p>
          <a:p>
            <a:pPr marL="12700" marR="50165" algn="just">
              <a:lnSpc>
                <a:spcPct val="100000"/>
              </a:lnSpc>
              <a:spcBef>
                <a:spcPts val="2160"/>
              </a:spcBef>
            </a:pP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One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famous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solutions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problem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using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what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called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Long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Short-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Term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Memory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(LSTM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short)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cells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instead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traditional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RNN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cells.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But</a:t>
            </a:r>
            <a:r>
              <a:rPr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there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might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arise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yet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another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problem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here,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called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exploding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gradient</a:t>
            </a:r>
            <a:r>
              <a:rPr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problem,</a:t>
            </a:r>
            <a:r>
              <a:rPr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where</a:t>
            </a:r>
            <a:r>
              <a:rPr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gradient</a:t>
            </a:r>
            <a:r>
              <a:rPr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grows</a:t>
            </a:r>
            <a:r>
              <a:rPr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uncontrollably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large.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3C356-6DA2-8A99-4CD2-4557931BAF63}"/>
              </a:ext>
            </a:extLst>
          </p:cNvPr>
          <p:cNvSpPr txBox="1"/>
          <p:nvPr/>
        </p:nvSpPr>
        <p:spPr>
          <a:xfrm>
            <a:off x="7391400" y="1796635"/>
            <a:ext cx="44196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dirty="0"/>
              <a:t>Solution: A popular method called gradient clipping can be used where in each time step, we can check if the gradient delta &gt; threshold. If yes, then normalize it.</a:t>
            </a:r>
          </a:p>
          <a:p>
            <a:pPr algn="just"/>
            <a:r>
              <a:rPr lang="en-US" dirty="0"/>
              <a:t>Go for Transformers!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003079"/>
              </p:ext>
            </p:extLst>
          </p:nvPr>
        </p:nvGraphicFramePr>
        <p:xfrm>
          <a:off x="6866381" y="1183386"/>
          <a:ext cx="5044440" cy="393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6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Predicted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cap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Ground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Truth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Correct/incorrect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1(P)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1(P)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correct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0(N)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0(N)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800" spc="-10" dirty="0">
                          <a:latin typeface="Calibri"/>
                          <a:cs typeface="Calibri"/>
                        </a:rPr>
                        <a:t>correct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1(P)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0(N)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incorrect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0(N)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0(N)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correct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1(P)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1(P)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correct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0(N)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1(P)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incorrect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101" y="109042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Evaluation-</a:t>
            </a:r>
            <a:r>
              <a:rPr spc="-60" dirty="0"/>
              <a:t> </a:t>
            </a:r>
            <a:r>
              <a:rPr dirty="0"/>
              <a:t>Sequence</a:t>
            </a:r>
            <a:r>
              <a:rPr spc="-40" dirty="0"/>
              <a:t> </a:t>
            </a:r>
            <a:r>
              <a:rPr spc="-10" dirty="0"/>
              <a:t>classification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345" y="1190244"/>
            <a:ext cx="5917810" cy="18799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1744" y="4272534"/>
            <a:ext cx="19126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96085" algn="l"/>
              </a:tabLst>
            </a:pPr>
            <a:r>
              <a:rPr sz="3200" b="1" spc="-10" dirty="0">
                <a:latin typeface="Calibri"/>
                <a:cs typeface="Calibri"/>
              </a:rPr>
              <a:t>Accuracy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50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77083" y="4563109"/>
            <a:ext cx="3851275" cy="26034"/>
          </a:xfrm>
          <a:custGeom>
            <a:avLst/>
            <a:gdLst/>
            <a:ahLst/>
            <a:cxnLst/>
            <a:rect l="l" t="t" r="r" b="b"/>
            <a:pathLst>
              <a:path w="3851275" h="26035">
                <a:moveTo>
                  <a:pt x="3851148" y="0"/>
                </a:moveTo>
                <a:lnTo>
                  <a:pt x="0" y="0"/>
                </a:lnTo>
                <a:lnTo>
                  <a:pt x="0" y="25907"/>
                </a:lnTo>
                <a:lnTo>
                  <a:pt x="3851148" y="25907"/>
                </a:lnTo>
                <a:lnTo>
                  <a:pt x="385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64638" y="4144517"/>
            <a:ext cx="3814445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dirty="0">
                <a:latin typeface="Cambria Math"/>
                <a:cs typeface="Cambria Math"/>
              </a:rPr>
              <a:t>𝑵𝒐:𝒐𝒇</a:t>
            </a:r>
            <a:r>
              <a:rPr sz="2350" spc="-75" dirty="0">
                <a:latin typeface="Cambria Math"/>
                <a:cs typeface="Cambria Math"/>
              </a:rPr>
              <a:t> </a:t>
            </a:r>
            <a:r>
              <a:rPr sz="2350" spc="-10" dirty="0">
                <a:latin typeface="Cambria Math"/>
                <a:cs typeface="Cambria Math"/>
              </a:rPr>
              <a:t>𝒄𝒐𝒓𝒓𝒆𝒄𝒕𝒍𝒚</a:t>
            </a:r>
            <a:r>
              <a:rPr sz="2350" spc="-80" dirty="0">
                <a:latin typeface="Cambria Math"/>
                <a:cs typeface="Cambria Math"/>
              </a:rPr>
              <a:t> </a:t>
            </a:r>
            <a:r>
              <a:rPr sz="2350" spc="-10" dirty="0">
                <a:latin typeface="Cambria Math"/>
                <a:cs typeface="Cambria Math"/>
              </a:rPr>
              <a:t>𝒄𝒍𝒂𝒔𝒔𝒊𝒇𝒊𝒆𝒅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2273" y="4586173"/>
            <a:ext cx="2081530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dirty="0">
                <a:latin typeface="Cambria Math"/>
                <a:cs typeface="Cambria Math"/>
              </a:rPr>
              <a:t>𝑻𝒐𝒕𝒂𝒍</a:t>
            </a:r>
            <a:r>
              <a:rPr sz="2350" spc="-90" dirty="0">
                <a:latin typeface="Cambria Math"/>
                <a:cs typeface="Cambria Math"/>
              </a:rPr>
              <a:t> </a:t>
            </a:r>
            <a:r>
              <a:rPr sz="2350" spc="-10" dirty="0">
                <a:latin typeface="Cambria Math"/>
                <a:cs typeface="Cambria Math"/>
              </a:rPr>
              <a:t>𝒔𝒂𝒎𝒑𝒍𝒆𝒔</a:t>
            </a:r>
            <a:endParaRPr sz="23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541464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Evaluation</a:t>
            </a:r>
            <a:r>
              <a:rPr sz="2800" spc="-20" dirty="0"/>
              <a:t> </a:t>
            </a:r>
            <a:r>
              <a:rPr sz="2800" dirty="0"/>
              <a:t>Sequence</a:t>
            </a:r>
            <a:r>
              <a:rPr sz="2800" spc="-35" dirty="0"/>
              <a:t> </a:t>
            </a:r>
            <a:r>
              <a:rPr sz="2800" spc="-10" dirty="0"/>
              <a:t>labelling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499" y="1312834"/>
            <a:ext cx="6216783" cy="19290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787" y="4448470"/>
            <a:ext cx="3088067" cy="127262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676646" y="4226433"/>
          <a:ext cx="5803262" cy="185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981191" y="3585717"/>
            <a:ext cx="193865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ts val="21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Confusion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00"/>
              </a:lnSpc>
              <a:tabLst>
                <a:tab pos="1174115" algn="l"/>
              </a:tabLst>
            </a:pPr>
            <a:r>
              <a:rPr sz="1800" spc="-10" dirty="0">
                <a:latin typeface="Calibri"/>
                <a:cs typeface="Calibri"/>
              </a:rPr>
              <a:t>Pronoun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verb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38689" y="3844544"/>
            <a:ext cx="60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article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45860" y="3844544"/>
            <a:ext cx="864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adjective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60844" y="3844544"/>
            <a:ext cx="506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noun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2573" y="4117594"/>
            <a:ext cx="960119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5080" indent="-212725">
              <a:lnSpc>
                <a:spcPct val="1349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Pronoun verb</a:t>
            </a:r>
            <a:endParaRPr sz="1800">
              <a:latin typeface="Calibri"/>
              <a:cs typeface="Calibri"/>
            </a:endParaRPr>
          </a:p>
          <a:p>
            <a:pPr marR="80010" algn="r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latin typeface="Calibri"/>
                <a:cs typeface="Calibri"/>
              </a:rPr>
              <a:t>article</a:t>
            </a:r>
            <a:endParaRPr sz="1800">
              <a:latin typeface="Calibri"/>
              <a:cs typeface="Calibri"/>
            </a:endParaRPr>
          </a:p>
          <a:p>
            <a:pPr marR="99695" algn="r">
              <a:lnSpc>
                <a:spcPct val="100000"/>
              </a:lnSpc>
              <a:spcBef>
                <a:spcPts val="910"/>
              </a:spcBef>
            </a:pPr>
            <a:r>
              <a:rPr sz="1800" spc="-10" dirty="0">
                <a:latin typeface="Calibri"/>
                <a:cs typeface="Calibri"/>
              </a:rPr>
              <a:t>adjective</a:t>
            </a:r>
            <a:endParaRPr sz="1800">
              <a:latin typeface="Calibri"/>
              <a:cs typeface="Calibri"/>
            </a:endParaRPr>
          </a:p>
          <a:p>
            <a:pPr marR="106680" algn="r">
              <a:lnSpc>
                <a:spcPct val="100000"/>
              </a:lnSpc>
              <a:spcBef>
                <a:spcPts val="1025"/>
              </a:spcBef>
            </a:pPr>
            <a:r>
              <a:rPr sz="1800" spc="-20" dirty="0">
                <a:latin typeface="Calibri"/>
                <a:cs typeface="Calibri"/>
              </a:rPr>
              <a:t>noun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564628" y="1581911"/>
          <a:ext cx="3893818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283325" y="727964"/>
            <a:ext cx="5078730" cy="274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84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Overall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accuracy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/Accuracy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per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  <a:p>
            <a:pPr marL="754380" marR="55880" indent="-653415">
              <a:lnSpc>
                <a:spcPct val="151200"/>
              </a:lnSpc>
              <a:spcBef>
                <a:spcPts val="210"/>
              </a:spcBef>
              <a:tabLst>
                <a:tab pos="2851785" algn="l"/>
                <a:tab pos="3589020" algn="l"/>
              </a:tabLst>
            </a:pPr>
            <a:r>
              <a:rPr sz="2700" baseline="-6172" dirty="0">
                <a:latin typeface="Calibri"/>
                <a:cs typeface="Calibri"/>
              </a:rPr>
              <a:t>Data</a:t>
            </a:r>
            <a:r>
              <a:rPr sz="2700" spc="-52" baseline="-6172" dirty="0">
                <a:latin typeface="Calibri"/>
                <a:cs typeface="Calibri"/>
              </a:rPr>
              <a:t> </a:t>
            </a:r>
            <a:r>
              <a:rPr sz="2700" baseline="-6172" dirty="0">
                <a:latin typeface="Calibri"/>
                <a:cs typeface="Calibri"/>
              </a:rPr>
              <a:t>sample</a:t>
            </a:r>
            <a:r>
              <a:rPr sz="2700" spc="727" baseline="-6172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Pronoun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verb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article</a:t>
            </a:r>
            <a:r>
              <a:rPr sz="1800" dirty="0">
                <a:latin typeface="Calibri"/>
                <a:cs typeface="Calibri"/>
              </a:rPr>
              <a:t>	adjective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noun </a:t>
            </a:r>
            <a:r>
              <a:rPr sz="1800" spc="-25" dirty="0">
                <a:latin typeface="Calibri"/>
                <a:cs typeface="Calibri"/>
              </a:rPr>
              <a:t>D1</a:t>
            </a:r>
            <a:endParaRPr sz="1800">
              <a:latin typeface="Calibri"/>
              <a:cs typeface="Calibri"/>
            </a:endParaRPr>
          </a:p>
          <a:p>
            <a:pPr marL="822960" marR="3979545">
              <a:lnSpc>
                <a:spcPct val="137800"/>
              </a:lnSpc>
              <a:spcBef>
                <a:spcPts val="515"/>
              </a:spcBef>
            </a:pPr>
            <a:r>
              <a:rPr sz="1800" spc="-25" dirty="0">
                <a:latin typeface="Calibri"/>
                <a:cs typeface="Calibri"/>
              </a:rPr>
              <a:t>D2 D3</a:t>
            </a:r>
            <a:endParaRPr sz="1800">
              <a:latin typeface="Calibri"/>
              <a:cs typeface="Calibri"/>
            </a:endParaRPr>
          </a:p>
          <a:p>
            <a:pPr marL="822960" marR="3990340">
              <a:lnSpc>
                <a:spcPct val="130000"/>
              </a:lnSpc>
              <a:spcBef>
                <a:spcPts val="430"/>
              </a:spcBef>
            </a:pPr>
            <a:r>
              <a:rPr sz="1800" spc="-25" dirty="0">
                <a:latin typeface="Calibri"/>
                <a:cs typeface="Calibri"/>
              </a:rPr>
              <a:t>D4 D5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6622" y="1506982"/>
            <a:ext cx="8873490" cy="3844290"/>
            <a:chOff x="2436622" y="1506982"/>
            <a:chExt cx="8873490" cy="3844290"/>
          </a:xfrm>
        </p:grpSpPr>
        <p:sp>
          <p:nvSpPr>
            <p:cNvPr id="3" name="object 3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8860536" y="0"/>
                  </a:moveTo>
                  <a:lnTo>
                    <a:pt x="0" y="0"/>
                  </a:lnTo>
                  <a:lnTo>
                    <a:pt x="0" y="3831336"/>
                  </a:lnTo>
                  <a:lnTo>
                    <a:pt x="8860536" y="3831336"/>
                  </a:lnTo>
                  <a:lnTo>
                    <a:pt x="8860536" y="0"/>
                  </a:lnTo>
                  <a:close/>
                </a:path>
              </a:pathLst>
            </a:custGeom>
            <a:solidFill>
              <a:srgbClr val="FCD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0" y="3831336"/>
                  </a:moveTo>
                  <a:lnTo>
                    <a:pt x="8860536" y="3831336"/>
                  </a:lnTo>
                  <a:lnTo>
                    <a:pt x="8860536" y="0"/>
                  </a:lnTo>
                  <a:lnTo>
                    <a:pt x="0" y="0"/>
                  </a:lnTo>
                  <a:lnTo>
                    <a:pt x="0" y="38313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22347" y="2737484"/>
            <a:ext cx="7284720" cy="131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00000"/>
                </a:solidFill>
                <a:latin typeface="Calibri"/>
                <a:cs typeface="Calibri"/>
              </a:rPr>
              <a:t>Sequential</a:t>
            </a:r>
            <a:r>
              <a:rPr sz="4800" b="1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b="1" spc="-10" dirty="0">
                <a:solidFill>
                  <a:srgbClr val="000000"/>
                </a:solidFill>
                <a:latin typeface="Calibri"/>
                <a:cs typeface="Calibri"/>
              </a:rPr>
              <a:t>Models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Long</a:t>
            </a:r>
            <a:r>
              <a:rPr sz="3600"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0000"/>
                </a:solidFill>
                <a:latin typeface="Calibri"/>
                <a:cs typeface="Calibri"/>
              </a:rPr>
              <a:t>Short-</a:t>
            </a:r>
            <a:r>
              <a:rPr sz="3600" b="1" spc="-55" dirty="0">
                <a:solidFill>
                  <a:srgbClr val="000000"/>
                </a:solidFill>
                <a:latin typeface="Calibri"/>
                <a:cs typeface="Calibri"/>
              </a:rPr>
              <a:t>Term</a:t>
            </a:r>
            <a:r>
              <a:rPr sz="3600"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Memory</a:t>
            </a:r>
            <a:r>
              <a:rPr sz="36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Cells(</a:t>
            </a:r>
            <a:r>
              <a:rPr sz="3600" b="1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00000"/>
                </a:solidFill>
                <a:latin typeface="Calibri"/>
                <a:cs typeface="Calibri"/>
              </a:rPr>
              <a:t>LSTM)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5881"/>
            <a:ext cx="948548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35" dirty="0"/>
              <a:t> </a:t>
            </a:r>
            <a:r>
              <a:rPr dirty="0"/>
              <a:t>not</a:t>
            </a:r>
            <a:r>
              <a:rPr spc="-20" dirty="0"/>
              <a:t> </a:t>
            </a:r>
            <a:r>
              <a:rPr dirty="0"/>
              <a:t>dealing</a:t>
            </a:r>
            <a:r>
              <a:rPr spc="-3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longer</a:t>
            </a:r>
            <a:r>
              <a:rPr spc="-10" dirty="0"/>
              <a:t> 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500837"/>
            <a:ext cx="8967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(How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state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record</a:t>
            </a:r>
            <a:r>
              <a:rPr sz="2400" spc="-3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information</a:t>
            </a:r>
            <a:r>
              <a:rPr sz="2400" spc="-6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when</a:t>
            </a:r>
            <a:r>
              <a:rPr sz="2400" spc="-2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sequence</a:t>
            </a:r>
            <a:r>
              <a:rPr sz="2400" spc="-4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is</a:t>
            </a:r>
            <a:r>
              <a:rPr sz="2400" spc="-5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very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A3123E"/>
                </a:solidFill>
                <a:latin typeface="Georgia"/>
                <a:cs typeface="Georgia"/>
              </a:rPr>
              <a:t>long)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555622"/>
            <a:ext cx="6248772" cy="18478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34340" y="3585617"/>
            <a:ext cx="11757660" cy="2687320"/>
            <a:chOff x="434340" y="3585617"/>
            <a:chExt cx="11757660" cy="26873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0" y="3585617"/>
              <a:ext cx="9601200" cy="19434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23732" y="5381244"/>
              <a:ext cx="3668268" cy="89154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792211" y="1082039"/>
            <a:ext cx="4114800" cy="2346960"/>
          </a:xfrm>
          <a:prstGeom prst="rect">
            <a:avLst/>
          </a:prstGeom>
          <a:ln w="66675">
            <a:solidFill>
              <a:srgbClr val="FF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38150" marR="741045">
              <a:lnSpc>
                <a:spcPct val="100000"/>
              </a:lnSpc>
              <a:spcBef>
                <a:spcPts val="60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RNN:</a:t>
            </a:r>
            <a:r>
              <a:rPr sz="2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Exploding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vanishing</a:t>
            </a:r>
            <a:r>
              <a:rPr sz="2800" b="1" spc="-11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gradient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r>
              <a:rPr sz="2800" b="1" spc="-1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occurs!!</a:t>
            </a:r>
            <a:endParaRPr sz="2800">
              <a:latin typeface="Calibri"/>
              <a:cs typeface="Calibri"/>
            </a:endParaRPr>
          </a:p>
          <a:p>
            <a:pPr marL="438150" marR="343535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suitable</a:t>
            </a:r>
            <a:r>
              <a:rPr sz="28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8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longer sequence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0240" y="915162"/>
            <a:ext cx="20212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RNN-</a:t>
            </a:r>
            <a:r>
              <a:rPr sz="32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Recap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3E34-A730-9C6B-1C29-69043499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en-US" dirty="0"/>
              <a:t>LSTM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0A1558-E2B4-107E-F986-2998DB444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97" y="-2412"/>
            <a:ext cx="9079056" cy="4606513"/>
          </a:xfrm>
          <a:prstGeom prst="rect">
            <a:avLst/>
          </a:prstGeom>
        </p:spPr>
      </p:pic>
      <p:pic>
        <p:nvPicPr>
          <p:cNvPr id="5" name="Picture 4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25442A20-F25F-A830-68E0-DACFA33B4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022" y="4599400"/>
            <a:ext cx="9072006" cy="160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18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00" y="210058"/>
            <a:ext cx="11899798" cy="1092991"/>
          </a:xfrm>
          <a:prstGeom prst="rect">
            <a:avLst/>
          </a:prstGeom>
        </p:spPr>
        <p:txBody>
          <a:bodyPr vert="horz" wrap="square" lIns="0" tIns="142620" rIns="0" bIns="0" rtlCol="0" anchor="t">
            <a:spAutoFit/>
          </a:bodyPr>
          <a:lstStyle/>
          <a:p>
            <a:pPr marL="504190">
              <a:lnSpc>
                <a:spcPts val="3650"/>
              </a:lnSpc>
              <a:spcBef>
                <a:spcPts val="105"/>
              </a:spcBef>
            </a:pPr>
            <a:r>
              <a:rPr dirty="0"/>
              <a:t>White</a:t>
            </a:r>
            <a:r>
              <a:rPr spc="-60" dirty="0"/>
              <a:t> </a:t>
            </a:r>
            <a:r>
              <a:rPr dirty="0"/>
              <a:t>board</a:t>
            </a:r>
            <a:r>
              <a:rPr spc="-75" dirty="0"/>
              <a:t> </a:t>
            </a:r>
            <a:r>
              <a:rPr dirty="0"/>
              <a:t>Analogy</a:t>
            </a:r>
            <a:r>
              <a:rPr spc="-80" dirty="0"/>
              <a:t> </a:t>
            </a:r>
            <a:br>
              <a:rPr lang="en-US" spc="-80" dirty="0"/>
            </a:br>
            <a:r>
              <a:rPr dirty="0"/>
              <a:t>(</a:t>
            </a:r>
            <a:r>
              <a:rPr spc="-35" dirty="0"/>
              <a:t> </a:t>
            </a:r>
            <a:r>
              <a:rPr sz="1800" dirty="0"/>
              <a:t>over</a:t>
            </a:r>
            <a:r>
              <a:rPr sz="1800" spc="-20" dirty="0"/>
              <a:t> </a:t>
            </a:r>
            <a:r>
              <a:rPr sz="1800" dirty="0"/>
              <a:t>time</a:t>
            </a:r>
            <a:r>
              <a:rPr sz="1800" spc="-35" dirty="0"/>
              <a:t> </a:t>
            </a:r>
            <a:r>
              <a:rPr sz="1800" dirty="0"/>
              <a:t>white</a:t>
            </a:r>
            <a:r>
              <a:rPr sz="1800" spc="-20" dirty="0"/>
              <a:t> </a:t>
            </a:r>
            <a:r>
              <a:rPr sz="1800" dirty="0"/>
              <a:t>board</a:t>
            </a:r>
            <a:r>
              <a:rPr sz="1800" spc="-20" dirty="0"/>
              <a:t> </a:t>
            </a:r>
            <a:r>
              <a:rPr sz="1800" dirty="0"/>
              <a:t>become</a:t>
            </a:r>
            <a:r>
              <a:rPr sz="1800" spc="-35" dirty="0"/>
              <a:t> </a:t>
            </a:r>
            <a:r>
              <a:rPr sz="1800" dirty="0"/>
              <a:t>so</a:t>
            </a:r>
            <a:r>
              <a:rPr sz="1800" spc="-25" dirty="0"/>
              <a:t> </a:t>
            </a:r>
            <a:r>
              <a:rPr sz="1800" dirty="0"/>
              <a:t>messy</a:t>
            </a:r>
            <a:r>
              <a:rPr sz="1800" spc="-30" dirty="0"/>
              <a:t> </a:t>
            </a:r>
            <a:r>
              <a:rPr sz="1800" dirty="0"/>
              <a:t>and</a:t>
            </a:r>
            <a:r>
              <a:rPr sz="1800" spc="-35" dirty="0"/>
              <a:t> </a:t>
            </a:r>
            <a:r>
              <a:rPr sz="1800" dirty="0"/>
              <a:t>u</a:t>
            </a:r>
            <a:r>
              <a:rPr sz="1800" spc="-35" dirty="0"/>
              <a:t> </a:t>
            </a:r>
            <a:r>
              <a:rPr sz="1800" dirty="0"/>
              <a:t>cant</a:t>
            </a:r>
            <a:r>
              <a:rPr sz="1800" spc="-35" dirty="0"/>
              <a:t> </a:t>
            </a:r>
            <a:r>
              <a:rPr sz="1800" dirty="0"/>
              <a:t>make</a:t>
            </a:r>
            <a:r>
              <a:rPr sz="1800" spc="-25" dirty="0"/>
              <a:t> out</a:t>
            </a:r>
            <a:r>
              <a:rPr lang="en-US" sz="1800" spc="-25" dirty="0"/>
              <a:t> </a:t>
            </a:r>
            <a:r>
              <a:rPr sz="1800" spc="-10" dirty="0"/>
              <a:t>anything</a:t>
            </a:r>
            <a:r>
              <a:rPr spc="-10" dirty="0"/>
              <a:t>)</a:t>
            </a:r>
            <a:endParaRPr lang="en-US" sz="1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0780" y="1423890"/>
            <a:ext cx="7322820" cy="48676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White</a:t>
            </a:r>
            <a:r>
              <a:rPr spc="-30" dirty="0"/>
              <a:t> </a:t>
            </a:r>
            <a:r>
              <a:rPr dirty="0"/>
              <a:t>board</a:t>
            </a:r>
            <a:r>
              <a:rPr spc="-35" dirty="0"/>
              <a:t> </a:t>
            </a:r>
            <a:r>
              <a:rPr spc="-10" dirty="0"/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421" y="1269491"/>
            <a:ext cx="3819525" cy="932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0" y="2713879"/>
            <a:ext cx="2819400" cy="2914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4276" y="1829145"/>
            <a:ext cx="3352432" cy="3266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33950" y="2414411"/>
            <a:ext cx="2333625" cy="178148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White</a:t>
            </a:r>
            <a:r>
              <a:rPr spc="-30" dirty="0"/>
              <a:t> </a:t>
            </a:r>
            <a:r>
              <a:rPr dirty="0"/>
              <a:t>board</a:t>
            </a:r>
            <a:r>
              <a:rPr spc="-35" dirty="0"/>
              <a:t> </a:t>
            </a:r>
            <a:r>
              <a:rPr spc="-10" dirty="0"/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421" y="1269491"/>
            <a:ext cx="3819525" cy="932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0" y="2713879"/>
            <a:ext cx="2819400" cy="2914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4276" y="1829145"/>
            <a:ext cx="3352432" cy="3266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19956" y="2504764"/>
            <a:ext cx="2380627" cy="186752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White</a:t>
            </a:r>
            <a:r>
              <a:rPr spc="-30" dirty="0"/>
              <a:t> </a:t>
            </a:r>
            <a:r>
              <a:rPr dirty="0"/>
              <a:t>board</a:t>
            </a:r>
            <a:r>
              <a:rPr spc="-35" dirty="0"/>
              <a:t> </a:t>
            </a:r>
            <a:r>
              <a:rPr spc="-10" dirty="0"/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421" y="1269491"/>
            <a:ext cx="3819525" cy="932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0" y="2713879"/>
            <a:ext cx="2819400" cy="2914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4276" y="1829145"/>
            <a:ext cx="3352432" cy="3266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1311" y="2375916"/>
            <a:ext cx="3276599" cy="182979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White</a:t>
            </a:r>
            <a:r>
              <a:rPr spc="-30" dirty="0"/>
              <a:t> </a:t>
            </a:r>
            <a:r>
              <a:rPr dirty="0"/>
              <a:t>board</a:t>
            </a:r>
            <a:r>
              <a:rPr spc="-35" dirty="0"/>
              <a:t> </a:t>
            </a:r>
            <a:r>
              <a:rPr spc="-10" dirty="0"/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421" y="1269491"/>
            <a:ext cx="3819525" cy="932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0" y="2713879"/>
            <a:ext cx="2819400" cy="2914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4276" y="1829145"/>
            <a:ext cx="3352432" cy="3266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4067" y="2458211"/>
            <a:ext cx="3323864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White</a:t>
            </a:r>
            <a:r>
              <a:rPr spc="-30" dirty="0"/>
              <a:t> </a:t>
            </a:r>
            <a:r>
              <a:rPr dirty="0"/>
              <a:t>board</a:t>
            </a:r>
            <a:r>
              <a:rPr spc="-35" dirty="0"/>
              <a:t> </a:t>
            </a:r>
            <a:r>
              <a:rPr spc="-10" dirty="0"/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421" y="1269491"/>
            <a:ext cx="3819525" cy="932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0" y="2713879"/>
            <a:ext cx="2819400" cy="2914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4276" y="1829145"/>
            <a:ext cx="3352432" cy="3266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8523" y="3126523"/>
            <a:ext cx="3342567" cy="11814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White</a:t>
            </a:r>
            <a:r>
              <a:rPr spc="-30" dirty="0"/>
              <a:t> </a:t>
            </a:r>
            <a:r>
              <a:rPr dirty="0"/>
              <a:t>board</a:t>
            </a:r>
            <a:r>
              <a:rPr spc="-35" dirty="0"/>
              <a:t> </a:t>
            </a:r>
            <a:r>
              <a:rPr spc="-10" dirty="0"/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421" y="1269491"/>
            <a:ext cx="3819525" cy="932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0" y="2713879"/>
            <a:ext cx="2819400" cy="2914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4276" y="1829145"/>
            <a:ext cx="3352432" cy="3266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1000" y="2581624"/>
            <a:ext cx="3829050" cy="15995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White</a:t>
            </a:r>
            <a:r>
              <a:rPr spc="-30" dirty="0"/>
              <a:t> </a:t>
            </a:r>
            <a:r>
              <a:rPr dirty="0"/>
              <a:t>board</a:t>
            </a:r>
            <a:r>
              <a:rPr spc="-35" dirty="0"/>
              <a:t> </a:t>
            </a:r>
            <a:r>
              <a:rPr spc="-10" dirty="0"/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421" y="1269491"/>
            <a:ext cx="3819525" cy="932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0" y="2713879"/>
            <a:ext cx="2819400" cy="2914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4276" y="1829145"/>
            <a:ext cx="3352432" cy="3266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0050" y="3190875"/>
            <a:ext cx="37814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840" rIns="0" bIns="0" rtlCol="0">
            <a:spAutoFit/>
          </a:bodyPr>
          <a:lstStyle/>
          <a:p>
            <a:pPr marL="504190">
              <a:lnSpc>
                <a:spcPts val="3740"/>
              </a:lnSpc>
              <a:spcBef>
                <a:spcPts val="100"/>
              </a:spcBef>
            </a:pPr>
            <a:r>
              <a:rPr dirty="0"/>
              <a:t>Dealing</a:t>
            </a:r>
            <a:r>
              <a:rPr spc="-4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longer</a:t>
            </a:r>
            <a:r>
              <a:rPr spc="-15" dirty="0"/>
              <a:t> </a:t>
            </a:r>
            <a:r>
              <a:rPr spc="-10" dirty="0"/>
              <a:t>sequence</a:t>
            </a:r>
          </a:p>
          <a:p>
            <a:pPr marL="504190">
              <a:lnSpc>
                <a:spcPts val="2300"/>
              </a:lnSpc>
            </a:pPr>
            <a:r>
              <a:rPr sz="2000" dirty="0"/>
              <a:t>(</a:t>
            </a:r>
            <a:r>
              <a:rPr sz="2000" spc="-25" dirty="0"/>
              <a:t> </a:t>
            </a:r>
            <a:r>
              <a:rPr sz="2000" dirty="0"/>
              <a:t>An</a:t>
            </a:r>
            <a:r>
              <a:rPr sz="2000" spc="-20" dirty="0"/>
              <a:t> </a:t>
            </a:r>
            <a:r>
              <a:rPr sz="2000" dirty="0"/>
              <a:t>example</a:t>
            </a:r>
            <a:r>
              <a:rPr sz="2000" spc="-25" dirty="0"/>
              <a:t> </a:t>
            </a:r>
            <a:r>
              <a:rPr sz="2000" dirty="0"/>
              <a:t>where</a:t>
            </a:r>
            <a:r>
              <a:rPr sz="2000" spc="-35" dirty="0"/>
              <a:t> </a:t>
            </a:r>
            <a:r>
              <a:rPr sz="2000" dirty="0"/>
              <a:t>RNN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40" dirty="0"/>
              <a:t> </a:t>
            </a:r>
            <a:r>
              <a:rPr sz="2000" dirty="0"/>
              <a:t>to</a:t>
            </a:r>
            <a:r>
              <a:rPr sz="2000" spc="-30" dirty="0"/>
              <a:t> </a:t>
            </a:r>
            <a:r>
              <a:rPr sz="2000" dirty="0"/>
              <a:t>selectively</a:t>
            </a:r>
            <a:r>
              <a:rPr sz="2000" spc="-50" dirty="0"/>
              <a:t> </a:t>
            </a:r>
            <a:r>
              <a:rPr sz="2000" dirty="0"/>
              <a:t>read</a:t>
            </a:r>
            <a:r>
              <a:rPr sz="2000" spc="-15" dirty="0"/>
              <a:t> </a:t>
            </a:r>
            <a:r>
              <a:rPr sz="2000" dirty="0"/>
              <a:t>write</a:t>
            </a:r>
            <a:r>
              <a:rPr sz="2000" spc="-35" dirty="0"/>
              <a:t> </a:t>
            </a:r>
            <a:r>
              <a:rPr sz="2000" dirty="0"/>
              <a:t>and</a:t>
            </a:r>
            <a:r>
              <a:rPr sz="2000" spc="-10" dirty="0"/>
              <a:t> forget)</a:t>
            </a:r>
            <a:endParaRPr sz="2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094" y="1318715"/>
            <a:ext cx="3522133" cy="36912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6771" y="1501314"/>
            <a:ext cx="5349887" cy="33330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034" y="5191329"/>
            <a:ext cx="5233101" cy="98981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1EED-7CD1-1805-895A-0FECF67F1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LSTM?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54874-7186-3A25-0F58-68397C3218C0}"/>
              </a:ext>
            </a:extLst>
          </p:cNvPr>
          <p:cNvSpPr txBox="1"/>
          <p:nvPr/>
        </p:nvSpPr>
        <p:spPr>
          <a:xfrm>
            <a:off x="775855" y="1013362"/>
            <a:ext cx="9462653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 LSTM is a type of </a:t>
            </a:r>
            <a:r>
              <a:rPr lang="en-US" sz="2400" b="1" dirty="0"/>
              <a:t>Recurrent Neural Network (RNN)</a:t>
            </a:r>
            <a:r>
              <a:rPr lang="en-US" sz="2400" dirty="0"/>
              <a:t> specifically designed to avoid the </a:t>
            </a:r>
            <a:r>
              <a:rPr lang="en-US" sz="2400" b="1" dirty="0"/>
              <a:t>vanishing gradient problem</a:t>
            </a:r>
            <a:r>
              <a:rPr lang="en-US" sz="2400" dirty="0"/>
              <a:t> and learn </a:t>
            </a:r>
            <a:r>
              <a:rPr lang="en-US" sz="2400" b="1" dirty="0"/>
              <a:t>long-term dependencies</a:t>
            </a:r>
            <a:r>
              <a:rPr lang="en-US" sz="2400" dirty="0"/>
              <a:t> in sequence data.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 Introduced by </a:t>
            </a:r>
            <a:r>
              <a:rPr lang="en-US" sz="2400" b="1" dirty="0"/>
              <a:t>Hochreiter &amp; Schmidhuber (1997)</a:t>
            </a:r>
            <a:r>
              <a:rPr lang="en-US" sz="2400" dirty="0"/>
              <a:t>, LSTM adds </a:t>
            </a:r>
            <a:r>
              <a:rPr lang="en-US" sz="2400" b="1" dirty="0"/>
              <a:t>gates and memory cells</a:t>
            </a:r>
            <a:r>
              <a:rPr lang="en-US" sz="2400" dirty="0"/>
              <a:t> to standard RNNs, allowing the network to retain relevant information over long periods.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 LSTM introduces a </a:t>
            </a:r>
            <a:r>
              <a:rPr lang="en-US" sz="2400" b="1" dirty="0"/>
              <a:t>memory cell</a:t>
            </a:r>
            <a:r>
              <a:rPr lang="en-US" sz="2400" dirty="0"/>
              <a:t> that can maintain information for long periods and three </a:t>
            </a:r>
            <a:r>
              <a:rPr lang="en-US" sz="2400" b="1" dirty="0"/>
              <a:t>gates</a:t>
            </a:r>
            <a:r>
              <a:rPr lang="en-US" sz="2400" dirty="0"/>
              <a:t> (input, forget, output) that control the flow of information.</a:t>
            </a:r>
          </a:p>
        </p:txBody>
      </p:sp>
    </p:spTree>
    <p:extLst>
      <p:ext uri="{BB962C8B-B14F-4D97-AF65-F5344CB8AC3E}">
        <p14:creationId xmlns:p14="http://schemas.microsoft.com/office/powerpoint/2010/main" val="650045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66243"/>
            <a:ext cx="92576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Long</a:t>
            </a:r>
            <a:r>
              <a:rPr sz="3200" spc="-4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A3123E"/>
                </a:solidFill>
                <a:latin typeface="Georgia"/>
                <a:cs typeface="Georgia"/>
              </a:rPr>
              <a:t>Short-</a:t>
            </a: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Term</a:t>
            </a:r>
            <a:r>
              <a:rPr sz="3200" spc="-1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Memory</a:t>
            </a:r>
            <a:r>
              <a:rPr sz="3200" spc="-3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Cells</a:t>
            </a:r>
            <a:r>
              <a:rPr sz="3200" spc="-1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–</a:t>
            </a:r>
            <a:r>
              <a:rPr sz="3200" spc="-1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deals</a:t>
            </a:r>
            <a:r>
              <a:rPr sz="32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with</a:t>
            </a:r>
            <a:r>
              <a:rPr sz="3200" spc="-2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A3123E"/>
                </a:solidFill>
                <a:latin typeface="Georgia"/>
                <a:cs typeface="Georgia"/>
              </a:rPr>
              <a:t>longer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505713"/>
            <a:ext cx="185356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A3123E"/>
                </a:solidFill>
                <a:latin typeface="Georgia"/>
                <a:cs typeface="Georgia"/>
              </a:rPr>
              <a:t>sequences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0961" y="607821"/>
            <a:ext cx="6923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(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How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to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implement</a:t>
            </a:r>
            <a:r>
              <a:rPr sz="2400" spc="-5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selective</a:t>
            </a:r>
            <a:r>
              <a:rPr sz="2400" spc="-5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read</a:t>
            </a:r>
            <a:r>
              <a:rPr sz="2400" spc="-3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write</a:t>
            </a:r>
            <a:r>
              <a:rPr sz="2400" spc="-3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and</a:t>
            </a:r>
            <a:r>
              <a:rPr sz="2400" spc="-5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A3123E"/>
                </a:solidFill>
                <a:latin typeface="Georgia"/>
                <a:cs typeface="Georgia"/>
              </a:rPr>
              <a:t>Forget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19694" y="2371344"/>
            <a:ext cx="10148570" cy="3728085"/>
            <a:chOff x="819694" y="2371344"/>
            <a:chExt cx="10148570" cy="37280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94" y="2371344"/>
              <a:ext cx="4915117" cy="27096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3771" y="5027676"/>
              <a:ext cx="9744456" cy="107137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1535" y="2563639"/>
            <a:ext cx="2774979" cy="22421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2647" y="1249639"/>
            <a:ext cx="7946369" cy="11125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Long</a:t>
            </a:r>
            <a:r>
              <a:rPr spc="-25" dirty="0"/>
              <a:t> </a:t>
            </a:r>
            <a:r>
              <a:rPr spc="-10" dirty="0"/>
              <a:t>Short-</a:t>
            </a:r>
            <a:r>
              <a:rPr dirty="0"/>
              <a:t>Term Memory</a:t>
            </a:r>
            <a:r>
              <a:rPr spc="-10" dirty="0"/>
              <a:t> Cells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19" y="1196339"/>
            <a:ext cx="12122480" cy="44653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652C-3336-90D8-8E18-F9F19081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00" y="210058"/>
            <a:ext cx="11899798" cy="61555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Why are they called "Gates"?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9BDA0DE-028C-2D47-1D91-8EF580ADDB9C}"/>
              </a:ext>
            </a:extLst>
          </p:cNvPr>
          <p:cNvSpPr txBox="1"/>
          <p:nvPr/>
        </p:nvSpPr>
        <p:spPr>
          <a:xfrm>
            <a:off x="1082634" y="1151906"/>
            <a:ext cx="10402783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just"/>
            <a:endParaRPr lang="en-US" sz="2400" b="1" dirty="0"/>
          </a:p>
          <a:p>
            <a:pPr algn="just"/>
            <a:r>
              <a:rPr lang="en-US" sz="2400" dirty="0"/>
              <a:t>In LSTM, </a:t>
            </a:r>
            <a:r>
              <a:rPr lang="en-US" sz="2400" b="1" dirty="0"/>
              <a:t>each gate uses a sigmoid activation function</a:t>
            </a:r>
            <a:r>
              <a:rPr lang="en-US" sz="2400" dirty="0"/>
              <a:t>, which outputs values between </a:t>
            </a:r>
            <a:r>
              <a:rPr lang="en-US" sz="2400" b="1" dirty="0"/>
              <a:t>0 and 1</a:t>
            </a:r>
            <a:r>
              <a:rPr lang="en-US" sz="2400" dirty="0"/>
              <a:t>. This output acts like a </a:t>
            </a:r>
            <a:r>
              <a:rPr lang="en-US" sz="2400" b="1" dirty="0"/>
              <a:t>valve</a:t>
            </a:r>
            <a:r>
              <a:rPr lang="en-US" sz="2400" dirty="0"/>
              <a:t> or </a:t>
            </a:r>
            <a:r>
              <a:rPr lang="en-US" sz="2400" b="1" dirty="0"/>
              <a:t>gate</a:t>
            </a:r>
            <a:r>
              <a:rPr lang="en-US" sz="2400" dirty="0"/>
              <a:t>, controlling how much information to </a:t>
            </a:r>
            <a:r>
              <a:rPr lang="en-US" sz="2400" b="1" dirty="0"/>
              <a:t>let through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  <a:p>
            <a:pPr marL="228600" indent="-228600" algn="just">
              <a:buFont typeface=""/>
              <a:buChar char="•"/>
            </a:pPr>
            <a:r>
              <a:rPr lang="en-US" sz="2400" dirty="0"/>
              <a:t>A value near </a:t>
            </a:r>
            <a:r>
              <a:rPr lang="en-US" sz="2400" b="1" dirty="0"/>
              <a:t>0</a:t>
            </a:r>
            <a:r>
              <a:rPr lang="en-US" sz="2400" dirty="0"/>
              <a:t> = </a:t>
            </a:r>
            <a:r>
              <a:rPr lang="en-US" sz="2400" b="1" dirty="0"/>
              <a:t>"closed gate"</a:t>
            </a:r>
            <a:r>
              <a:rPr lang="en-US" sz="2400" dirty="0"/>
              <a:t> → blocks information</a:t>
            </a:r>
          </a:p>
          <a:p>
            <a:pPr marL="228600" indent="-228600" algn="just">
              <a:buFont typeface=""/>
              <a:buChar char="•"/>
            </a:pPr>
            <a:r>
              <a:rPr lang="en-US" sz="2400" dirty="0"/>
              <a:t>A value near </a:t>
            </a:r>
            <a:r>
              <a:rPr lang="en-US" sz="2400" b="1" dirty="0"/>
              <a:t>1</a:t>
            </a:r>
            <a:r>
              <a:rPr lang="en-US" sz="2400" dirty="0"/>
              <a:t> = </a:t>
            </a:r>
            <a:r>
              <a:rPr lang="en-US" sz="2400" b="1" dirty="0"/>
              <a:t>"open gate"</a:t>
            </a:r>
            <a:r>
              <a:rPr lang="en-US" sz="2400" dirty="0"/>
              <a:t> → allows information to pass</a:t>
            </a:r>
          </a:p>
          <a:p>
            <a:pPr marL="228600" indent="-228600" algn="just">
              <a:buFont typeface=""/>
              <a:buChar char="•"/>
            </a:pPr>
            <a:endParaRPr lang="en-US" sz="2400" dirty="0"/>
          </a:p>
          <a:p>
            <a:pPr algn="just"/>
            <a:r>
              <a:rPr lang="en-US" sz="2400" dirty="0"/>
              <a:t>So, these are </a:t>
            </a:r>
            <a:r>
              <a:rPr lang="en-US" sz="2400" b="1" dirty="0"/>
              <a:t>"learned filters"</a:t>
            </a:r>
            <a:r>
              <a:rPr lang="en-US" sz="2400" dirty="0"/>
              <a:t> that decide:</a:t>
            </a:r>
          </a:p>
          <a:p>
            <a:pPr marL="228600" indent="-228600" algn="just">
              <a:buFont typeface=""/>
              <a:buChar char="•"/>
            </a:pPr>
            <a:r>
              <a:rPr lang="en-US" sz="2400" dirty="0"/>
              <a:t>What to </a:t>
            </a:r>
            <a:r>
              <a:rPr lang="en-US" sz="2400" b="1" dirty="0"/>
              <a:t>keep</a:t>
            </a:r>
          </a:p>
          <a:p>
            <a:pPr marL="228600" indent="-228600" algn="just">
              <a:buFont typeface=""/>
              <a:buChar char="•"/>
            </a:pPr>
            <a:r>
              <a:rPr lang="en-US" sz="2400" dirty="0"/>
              <a:t>What to </a:t>
            </a:r>
            <a:r>
              <a:rPr lang="en-US" sz="2400" b="1" dirty="0"/>
              <a:t>update</a:t>
            </a:r>
          </a:p>
          <a:p>
            <a:pPr marL="228600" indent="-228600" algn="just">
              <a:buFont typeface=""/>
              <a:buChar char="•"/>
            </a:pPr>
            <a:r>
              <a:rPr lang="en-US" sz="2400" dirty="0"/>
              <a:t>What to </a:t>
            </a:r>
            <a:r>
              <a:rPr lang="en-US" sz="2400" b="1" dirty="0"/>
              <a:t>forget</a:t>
            </a:r>
          </a:p>
        </p:txBody>
      </p:sp>
    </p:spTree>
    <p:extLst>
      <p:ext uri="{BB962C8B-B14F-4D97-AF65-F5344CB8AC3E}">
        <p14:creationId xmlns:p14="http://schemas.microsoft.com/office/powerpoint/2010/main" val="12752592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766572"/>
            <a:ext cx="11954256" cy="53248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LSTM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791" y="530326"/>
            <a:ext cx="8153039" cy="30670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161" y="3311652"/>
            <a:ext cx="2515323" cy="259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1CEE01-1AA5-9577-140F-630A5053BDDB}"/>
              </a:ext>
            </a:extLst>
          </p:cNvPr>
          <p:cNvSpPr txBox="1"/>
          <p:nvPr/>
        </p:nvSpPr>
        <p:spPr>
          <a:xfrm>
            <a:off x="4091049" y="4170218"/>
            <a:ext cx="773083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Each </a:t>
            </a:r>
            <a:r>
              <a:rPr lang="en-US" b="1" dirty="0"/>
              <a:t>green box labeled "A"</a:t>
            </a:r>
            <a:r>
              <a:rPr lang="en-US" dirty="0"/>
              <a:t> is an LSTM </a:t>
            </a:r>
            <a:r>
              <a:rPr lang="en-US" b="1" dirty="0"/>
              <a:t>unit at a time step</a:t>
            </a:r>
            <a:r>
              <a:rPr lang="en-US" dirty="0"/>
              <a:t> (e.g., t−1, t, t+1).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The middle unit (highlighted) shows </a:t>
            </a:r>
            <a:r>
              <a:rPr lang="en-US" b="1" dirty="0"/>
              <a:t>internal operations</a:t>
            </a:r>
            <a:r>
              <a:rPr lang="en-US" dirty="0"/>
              <a:t> in detail.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The horizontal arrows represent the </a:t>
            </a:r>
            <a:r>
              <a:rPr lang="en-US" b="1" dirty="0"/>
              <a:t>flow of information through time</a:t>
            </a:r>
            <a:r>
              <a:rPr lang="en-US" dirty="0"/>
              <a:t> — specifically the </a:t>
            </a:r>
            <a:r>
              <a:rPr lang="en-US" b="1" dirty="0"/>
              <a:t>cell state</a:t>
            </a:r>
            <a:r>
              <a:rPr lang="en-US" dirty="0"/>
              <a:t> and </a:t>
            </a:r>
            <a:r>
              <a:rPr lang="en-US" b="1" dirty="0"/>
              <a:t>hidden state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5480" y="86690"/>
            <a:ext cx="111823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Long</a:t>
            </a:r>
            <a:r>
              <a:rPr sz="2800" spc="-45" dirty="0"/>
              <a:t> </a:t>
            </a:r>
            <a:r>
              <a:rPr sz="2800" spc="-10" dirty="0"/>
              <a:t>Short-</a:t>
            </a:r>
            <a:r>
              <a:rPr sz="2800" dirty="0"/>
              <a:t>Term</a:t>
            </a:r>
            <a:r>
              <a:rPr sz="2800" spc="-10" dirty="0"/>
              <a:t> </a:t>
            </a:r>
            <a:r>
              <a:rPr sz="2800" dirty="0"/>
              <a:t>Memory</a:t>
            </a:r>
            <a:r>
              <a:rPr sz="2800" spc="-40" dirty="0"/>
              <a:t> </a:t>
            </a:r>
            <a:r>
              <a:rPr sz="2800" dirty="0"/>
              <a:t>Cells</a:t>
            </a:r>
            <a:r>
              <a:rPr sz="2800" spc="-15" dirty="0"/>
              <a:t> </a:t>
            </a:r>
            <a:r>
              <a:rPr sz="2800" dirty="0"/>
              <a:t>–</a:t>
            </a:r>
            <a:r>
              <a:rPr sz="2800" spc="-10" dirty="0"/>
              <a:t> </a:t>
            </a:r>
            <a:r>
              <a:rPr sz="2800" dirty="0"/>
              <a:t>deals</a:t>
            </a:r>
            <a:r>
              <a:rPr sz="2800" spc="-40" dirty="0"/>
              <a:t> </a:t>
            </a:r>
            <a:r>
              <a:rPr sz="2800" dirty="0"/>
              <a:t>with</a:t>
            </a:r>
            <a:r>
              <a:rPr sz="2800" spc="-20" dirty="0"/>
              <a:t> </a:t>
            </a:r>
            <a:r>
              <a:rPr sz="2800" dirty="0"/>
              <a:t>longer</a:t>
            </a:r>
            <a:r>
              <a:rPr sz="2800" spc="-35" dirty="0"/>
              <a:t> </a:t>
            </a:r>
            <a:r>
              <a:rPr sz="2800" spc="-10" dirty="0"/>
              <a:t>sequences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260347"/>
            <a:ext cx="5524500" cy="4836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5480" y="503732"/>
            <a:ext cx="8675370" cy="117411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(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How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to</a:t>
            </a:r>
            <a:r>
              <a:rPr sz="24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implement</a:t>
            </a:r>
            <a:r>
              <a:rPr sz="2400" spc="-5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selective</a:t>
            </a:r>
            <a:r>
              <a:rPr sz="2400" spc="-5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read</a:t>
            </a:r>
            <a:r>
              <a:rPr sz="2400" spc="-3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write</a:t>
            </a:r>
            <a:r>
              <a:rPr sz="2400" spc="-3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and</a:t>
            </a:r>
            <a:r>
              <a:rPr sz="2400" spc="-5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A3123E"/>
                </a:solidFill>
                <a:latin typeface="Georgia"/>
                <a:cs typeface="Georgia"/>
              </a:rPr>
              <a:t>Forget)</a:t>
            </a:r>
            <a:endParaRPr sz="24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  <a:spcBef>
                <a:spcPts val="575"/>
              </a:spcBef>
            </a:pPr>
            <a:r>
              <a:rPr sz="4400" b="1" spc="-20" dirty="0">
                <a:solidFill>
                  <a:srgbClr val="C00000"/>
                </a:solidFill>
                <a:latin typeface="Calibri"/>
                <a:cs typeface="Calibri"/>
              </a:rPr>
              <a:t>LSTM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4015" y="2002154"/>
            <a:ext cx="5342775" cy="16859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604" y="4861650"/>
            <a:ext cx="3705940" cy="44794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282942" y="4530090"/>
            <a:ext cx="1145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Recap-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Selective</a:t>
            </a:r>
            <a:r>
              <a:rPr spc="-30" dirty="0"/>
              <a:t> </a:t>
            </a:r>
            <a:r>
              <a:rPr dirty="0"/>
              <a:t>write</a:t>
            </a:r>
            <a:r>
              <a:rPr spc="-25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output</a:t>
            </a:r>
            <a:r>
              <a:rPr spc="-35" dirty="0"/>
              <a:t> </a:t>
            </a:r>
            <a:r>
              <a:rPr spc="-20" dirty="0"/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56497" y="3458388"/>
            <a:ext cx="5417185" cy="2372995"/>
            <a:chOff x="956497" y="3458388"/>
            <a:chExt cx="5417185" cy="2372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497" y="3458388"/>
              <a:ext cx="3348511" cy="2156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0280" y="5468111"/>
              <a:ext cx="4133088" cy="36271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18766" y="5770879"/>
            <a:ext cx="1163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Output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3610" y="1689354"/>
            <a:ext cx="7733199" cy="676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25592" y="2721102"/>
            <a:ext cx="575246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this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212121"/>
                </a:solidFill>
                <a:latin typeface="Tahoma"/>
                <a:cs typeface="Tahoma"/>
              </a:rPr>
              <a:t>phrase,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there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could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number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options</a:t>
            </a:r>
            <a:r>
              <a:rPr sz="1800" spc="-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empty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12121"/>
                </a:solidFill>
                <a:latin typeface="Tahoma"/>
                <a:cs typeface="Tahoma"/>
              </a:rPr>
              <a:t>space.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212121"/>
                </a:solidFill>
                <a:latin typeface="Tahoma"/>
                <a:cs typeface="Tahoma"/>
              </a:rPr>
              <a:t>But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know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current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input</a:t>
            </a:r>
            <a:endParaRPr sz="1800">
              <a:latin typeface="Tahoma"/>
              <a:cs typeface="Tahoma"/>
            </a:endParaRPr>
          </a:p>
          <a:p>
            <a:pPr marL="12700" marR="125095"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i="1" spc="-155" dirty="0">
                <a:solidFill>
                  <a:srgbClr val="212121"/>
                </a:solidFill>
                <a:latin typeface="Trebuchet MS"/>
                <a:cs typeface="Trebuchet MS"/>
              </a:rPr>
              <a:t>‘brave’,</a:t>
            </a:r>
            <a:r>
              <a:rPr sz="18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12121"/>
                </a:solidFill>
                <a:latin typeface="Tahoma"/>
                <a:cs typeface="Tahoma"/>
              </a:rPr>
              <a:t>an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adjective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used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describe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noun. 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Thus,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whatever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word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follows,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12121"/>
                </a:solidFill>
                <a:latin typeface="Tahoma"/>
                <a:cs typeface="Tahoma"/>
              </a:rPr>
              <a:t>has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a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strong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tendency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of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being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noun.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thus,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Bob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could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an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apt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output.</a:t>
            </a:r>
            <a:endParaRPr sz="1800">
              <a:latin typeface="Tahoma"/>
              <a:cs typeface="Tahoma"/>
            </a:endParaRPr>
          </a:p>
          <a:p>
            <a:pPr marL="12700" marR="99060" algn="just"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This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job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selecting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useful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information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from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current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cell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state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showing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it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out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an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output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done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via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output</a:t>
            </a:r>
            <a:r>
              <a:rPr sz="1800" spc="-40" dirty="0">
                <a:solidFill>
                  <a:srgbClr val="212121"/>
                </a:solidFill>
                <a:latin typeface="Tahoma"/>
                <a:cs typeface="Tahoma"/>
              </a:rPr>
              <a:t> gate.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Here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its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structure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00" y="210058"/>
            <a:ext cx="3435300" cy="612398"/>
          </a:xfrm>
          <a:prstGeom prst="rect">
            <a:avLst/>
          </a:prstGeom>
        </p:spPr>
        <p:txBody>
          <a:bodyPr vert="horz" wrap="square" lIns="0" tIns="118795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Selective</a:t>
            </a:r>
            <a:r>
              <a:rPr sz="3200" spc="-45" dirty="0"/>
              <a:t> </a:t>
            </a:r>
            <a:r>
              <a:rPr sz="3200" spc="-10" dirty="0"/>
              <a:t>write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4864" y="1450847"/>
            <a:ext cx="4038974" cy="166725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9623" y="74676"/>
            <a:ext cx="12113260" cy="6088380"/>
            <a:chOff x="39623" y="74676"/>
            <a:chExt cx="12113260" cy="6088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3" y="837831"/>
              <a:ext cx="7362444" cy="42008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9276" y="3438143"/>
              <a:ext cx="5753100" cy="27249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2419" y="4034028"/>
              <a:ext cx="3781044" cy="1981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93917" y="300609"/>
              <a:ext cx="4067917" cy="7810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45408" y="74676"/>
              <a:ext cx="3599688" cy="7056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Selective</a:t>
            </a:r>
            <a:r>
              <a:rPr spc="-30" dirty="0"/>
              <a:t> </a:t>
            </a:r>
            <a:r>
              <a:rPr dirty="0"/>
              <a:t>read</a:t>
            </a:r>
            <a:r>
              <a:rPr spc="-20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input</a:t>
            </a:r>
            <a:r>
              <a:rPr spc="-50" dirty="0"/>
              <a:t> </a:t>
            </a:r>
            <a:r>
              <a:rPr spc="-20" dirty="0"/>
              <a:t>gate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2919983"/>
            <a:ext cx="3581512" cy="21324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6721" y="5348121"/>
            <a:ext cx="2828194" cy="7052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6887" y="1462445"/>
            <a:ext cx="7440139" cy="6767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94004" y="2073327"/>
            <a:ext cx="9416796" cy="2809422"/>
          </a:xfrm>
          <a:prstGeom prst="rect">
            <a:avLst/>
          </a:prstGeom>
        </p:spPr>
        <p:txBody>
          <a:bodyPr vert="horz" wrap="square" lIns="0" tIns="881125" rIns="0" bIns="0" rtlCol="0">
            <a:spAutoFit/>
          </a:bodyPr>
          <a:lstStyle/>
          <a:p>
            <a:pPr marL="4658360" marR="5080">
              <a:lnSpc>
                <a:spcPct val="99400"/>
              </a:lnSpc>
              <a:spcBef>
                <a:spcPts val="110"/>
              </a:spcBef>
            </a:pPr>
            <a:r>
              <a:rPr spc="90" dirty="0"/>
              <a:t>Now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important</a:t>
            </a:r>
            <a:r>
              <a:rPr spc="-55" dirty="0"/>
              <a:t> </a:t>
            </a:r>
            <a:r>
              <a:rPr dirty="0"/>
              <a:t>information</a:t>
            </a:r>
            <a:r>
              <a:rPr spc="-90" dirty="0"/>
              <a:t> </a:t>
            </a:r>
            <a:r>
              <a:rPr dirty="0"/>
              <a:t>here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that</a:t>
            </a:r>
            <a:r>
              <a:rPr spc="-70" dirty="0"/>
              <a:t> </a:t>
            </a:r>
            <a:r>
              <a:rPr dirty="0"/>
              <a:t>“Bob”</a:t>
            </a:r>
            <a:r>
              <a:rPr spc="-50" dirty="0"/>
              <a:t> </a:t>
            </a:r>
            <a:r>
              <a:rPr spc="-10" dirty="0"/>
              <a:t>knows swimming</a:t>
            </a:r>
            <a:r>
              <a:rPr spc="-65" dirty="0"/>
              <a:t> </a:t>
            </a:r>
            <a:r>
              <a:rPr spc="-10" dirty="0"/>
              <a:t>and</a:t>
            </a:r>
            <a:r>
              <a:rPr spc="-60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he</a:t>
            </a:r>
            <a:r>
              <a:rPr spc="-60" dirty="0"/>
              <a:t> </a:t>
            </a:r>
            <a:r>
              <a:rPr spc="-35" dirty="0"/>
              <a:t>has</a:t>
            </a:r>
            <a:r>
              <a:rPr spc="-75" dirty="0"/>
              <a:t> </a:t>
            </a:r>
            <a:r>
              <a:rPr dirty="0"/>
              <a:t>served</a:t>
            </a:r>
            <a:r>
              <a:rPr spc="-7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Navy</a:t>
            </a:r>
            <a:r>
              <a:rPr spc="-6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four</a:t>
            </a:r>
            <a:r>
              <a:rPr spc="-90" dirty="0"/>
              <a:t> </a:t>
            </a:r>
            <a:r>
              <a:rPr spc="-10" dirty="0"/>
              <a:t>years. </a:t>
            </a:r>
            <a:r>
              <a:rPr dirty="0"/>
              <a:t>This</a:t>
            </a:r>
            <a:r>
              <a:rPr spc="-105" dirty="0"/>
              <a:t> </a:t>
            </a:r>
            <a:r>
              <a:rPr dirty="0"/>
              <a:t>can</a:t>
            </a:r>
            <a:r>
              <a:rPr spc="-90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10" dirty="0"/>
              <a:t>added</a:t>
            </a:r>
            <a:r>
              <a:rPr spc="-7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dirty="0"/>
              <a:t>cell</a:t>
            </a:r>
            <a:r>
              <a:rPr spc="-75" dirty="0"/>
              <a:t> </a:t>
            </a:r>
            <a:r>
              <a:rPr spc="-25" dirty="0"/>
              <a:t>state,</a:t>
            </a:r>
            <a:r>
              <a:rPr spc="-80" dirty="0"/>
              <a:t> </a:t>
            </a:r>
            <a:r>
              <a:rPr dirty="0"/>
              <a:t>however,</a:t>
            </a:r>
            <a:r>
              <a:rPr spc="-90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dirty="0"/>
              <a:t>fact</a:t>
            </a:r>
            <a:r>
              <a:rPr spc="-90" dirty="0"/>
              <a:t> </a:t>
            </a:r>
            <a:r>
              <a:rPr spc="-20" dirty="0"/>
              <a:t>that </a:t>
            </a:r>
            <a:r>
              <a:rPr dirty="0"/>
              <a:t>he</a:t>
            </a:r>
            <a:r>
              <a:rPr spc="-80" dirty="0"/>
              <a:t> </a:t>
            </a:r>
            <a:r>
              <a:rPr dirty="0"/>
              <a:t>told</a:t>
            </a:r>
            <a:r>
              <a:rPr spc="-55" dirty="0"/>
              <a:t> </a:t>
            </a:r>
            <a:r>
              <a:rPr dirty="0"/>
              <a:t>all</a:t>
            </a:r>
            <a:r>
              <a:rPr spc="-75" dirty="0"/>
              <a:t> </a:t>
            </a:r>
            <a:r>
              <a:rPr dirty="0"/>
              <a:t>this</a:t>
            </a:r>
            <a:r>
              <a:rPr spc="-80" dirty="0"/>
              <a:t> </a:t>
            </a:r>
            <a:r>
              <a:rPr dirty="0"/>
              <a:t>over</a:t>
            </a:r>
            <a:r>
              <a:rPr spc="-6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phone</a:t>
            </a:r>
            <a:r>
              <a:rPr spc="-80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spc="-60" dirty="0"/>
              <a:t>a</a:t>
            </a:r>
            <a:r>
              <a:rPr spc="-65" dirty="0"/>
              <a:t> </a:t>
            </a:r>
            <a:r>
              <a:rPr spc="-10" dirty="0"/>
              <a:t>less</a:t>
            </a:r>
            <a:r>
              <a:rPr spc="-75" dirty="0"/>
              <a:t> </a:t>
            </a:r>
            <a:r>
              <a:rPr dirty="0"/>
              <a:t>important</a:t>
            </a:r>
            <a:r>
              <a:rPr spc="-75" dirty="0"/>
              <a:t> </a:t>
            </a:r>
            <a:r>
              <a:rPr dirty="0"/>
              <a:t>fact</a:t>
            </a:r>
            <a:r>
              <a:rPr spc="-75" dirty="0"/>
              <a:t> </a:t>
            </a:r>
            <a:r>
              <a:rPr spc="-25" dirty="0"/>
              <a:t>and </a:t>
            </a:r>
            <a:r>
              <a:rPr dirty="0"/>
              <a:t>can</a:t>
            </a:r>
            <a:r>
              <a:rPr spc="-90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20" dirty="0"/>
              <a:t>ignored.</a:t>
            </a:r>
            <a:r>
              <a:rPr spc="-90" dirty="0"/>
              <a:t> </a:t>
            </a:r>
            <a:r>
              <a:rPr dirty="0"/>
              <a:t>This</a:t>
            </a:r>
            <a:r>
              <a:rPr spc="-100" dirty="0"/>
              <a:t> </a:t>
            </a:r>
            <a:r>
              <a:rPr dirty="0"/>
              <a:t>process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selective</a:t>
            </a:r>
            <a:r>
              <a:rPr spc="-70" dirty="0"/>
              <a:t> </a:t>
            </a:r>
            <a:r>
              <a:rPr spc="-10" dirty="0"/>
              <a:t>read</a:t>
            </a:r>
            <a:r>
              <a:rPr spc="-90" dirty="0"/>
              <a:t> </a:t>
            </a:r>
            <a:r>
              <a:rPr dirty="0"/>
              <a:t>can</a:t>
            </a:r>
            <a:r>
              <a:rPr spc="-85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20" dirty="0"/>
              <a:t>done </a:t>
            </a:r>
            <a:r>
              <a:rPr dirty="0"/>
              <a:t>via</a:t>
            </a:r>
            <a:r>
              <a:rPr spc="-9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b="1" spc="-120" dirty="0">
                <a:latin typeface="Tahoma"/>
                <a:cs typeface="Tahoma"/>
              </a:rPr>
              <a:t>input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spc="-10" dirty="0"/>
              <a:t>gate.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1459"/>
            <a:ext cx="12192000" cy="6606540"/>
            <a:chOff x="0" y="251459"/>
            <a:chExt cx="12192000" cy="6606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99" y="1778507"/>
              <a:ext cx="7038599" cy="3276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23" y="5036819"/>
              <a:ext cx="4895088" cy="1333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688" y="4856988"/>
              <a:ext cx="4666488" cy="13426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1351" y="4338827"/>
              <a:ext cx="3080004" cy="6111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5195" y="251459"/>
              <a:ext cx="3505200" cy="43434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Selective</a:t>
            </a:r>
            <a:r>
              <a:rPr spc="-45" dirty="0"/>
              <a:t> </a:t>
            </a:r>
            <a:r>
              <a:rPr spc="-20" dirty="0"/>
              <a:t>Read</a:t>
            </a: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28917" y="307586"/>
            <a:ext cx="3256837" cy="3718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02781" y="920611"/>
            <a:ext cx="3437812" cy="80070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Selective</a:t>
            </a:r>
            <a:r>
              <a:rPr spc="-35" dirty="0"/>
              <a:t> </a:t>
            </a:r>
            <a:r>
              <a:rPr dirty="0"/>
              <a:t>Forget</a:t>
            </a:r>
            <a:r>
              <a:rPr spc="-5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Forget</a:t>
            </a:r>
            <a:r>
              <a:rPr spc="-50" dirty="0"/>
              <a:t> </a:t>
            </a:r>
            <a:r>
              <a:rPr spc="-20" dirty="0"/>
              <a:t>Gate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4366" y="1150511"/>
            <a:ext cx="6506669" cy="2669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2019" y="1623060"/>
            <a:ext cx="10509885" cy="119951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42545" rIns="0" bIns="0" rtlCol="0">
            <a:spAutoFit/>
          </a:bodyPr>
          <a:lstStyle/>
          <a:p>
            <a:pPr marL="90805" marR="248285" algn="just">
              <a:lnSpc>
                <a:spcPct val="100000"/>
              </a:lnSpc>
              <a:spcBef>
                <a:spcPts val="335"/>
              </a:spcBef>
            </a:pPr>
            <a:r>
              <a:rPr sz="1800" spc="55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soon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212121"/>
                </a:solidFill>
                <a:latin typeface="Tahoma"/>
                <a:cs typeface="Tahoma"/>
              </a:rPr>
              <a:t>first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full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stop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after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“</a:t>
            </a:r>
            <a:r>
              <a:rPr sz="1800" i="1" spc="-100" dirty="0">
                <a:solidFill>
                  <a:srgbClr val="212121"/>
                </a:solidFill>
                <a:latin typeface="Trebuchet MS"/>
                <a:cs typeface="Trebuchet MS"/>
              </a:rPr>
              <a:t>person”</a:t>
            </a:r>
            <a:r>
              <a:rPr sz="18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encountered,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forget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gate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realizes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there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12121"/>
                </a:solidFill>
                <a:latin typeface="Tahoma"/>
                <a:cs typeface="Tahoma"/>
              </a:rPr>
              <a:t>may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212121"/>
                </a:solidFill>
                <a:latin typeface="Tahoma"/>
                <a:cs typeface="Tahoma"/>
              </a:rPr>
              <a:t>change</a:t>
            </a:r>
            <a:r>
              <a:rPr sz="1800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212121"/>
                </a:solidFill>
                <a:latin typeface="Tahoma"/>
                <a:cs typeface="Tahoma"/>
              </a:rPr>
              <a:t>context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next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212121"/>
                </a:solidFill>
                <a:latin typeface="Tahoma"/>
                <a:cs typeface="Tahoma"/>
              </a:rPr>
              <a:t>sentence.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result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this,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i="1" spc="-90" dirty="0">
                <a:solidFill>
                  <a:srgbClr val="212121"/>
                </a:solidFill>
                <a:latin typeface="Trebuchet MS"/>
                <a:cs typeface="Trebuchet MS"/>
              </a:rPr>
              <a:t>subject</a:t>
            </a:r>
            <a:r>
              <a:rPr sz="18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sentence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i="1" spc="-90" dirty="0">
                <a:solidFill>
                  <a:srgbClr val="212121"/>
                </a:solidFill>
                <a:latin typeface="Trebuchet MS"/>
                <a:cs typeface="Trebuchet MS"/>
              </a:rPr>
              <a:t>forgotten</a:t>
            </a:r>
            <a:r>
              <a:rPr sz="18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place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subject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vacated.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212121"/>
                </a:solidFill>
                <a:latin typeface="Tahoma"/>
                <a:cs typeface="Tahoma"/>
              </a:rPr>
              <a:t>when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start</a:t>
            </a:r>
            <a:r>
              <a:rPr sz="1800" spc="-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Tahoma"/>
                <a:cs typeface="Tahoma"/>
              </a:rPr>
              <a:t>speaking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about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“</a:t>
            </a:r>
            <a:r>
              <a:rPr sz="1800" i="1" spc="-60" dirty="0">
                <a:solidFill>
                  <a:srgbClr val="212121"/>
                </a:solidFill>
                <a:latin typeface="Trebuchet MS"/>
                <a:cs typeface="Trebuchet MS"/>
              </a:rPr>
              <a:t>Dan”</a:t>
            </a:r>
            <a:r>
              <a:rPr sz="18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this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position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endParaRPr sz="1800">
              <a:latin typeface="Tahoma"/>
              <a:cs typeface="Tahoma"/>
            </a:endParaRPr>
          </a:p>
          <a:p>
            <a:pPr marL="90805" algn="just">
              <a:lnSpc>
                <a:spcPts val="2090"/>
              </a:lnSpc>
            </a:pP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subject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allocated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“</a:t>
            </a:r>
            <a:r>
              <a:rPr sz="1800" i="1" spc="-75" dirty="0">
                <a:solidFill>
                  <a:srgbClr val="212121"/>
                </a:solidFill>
                <a:latin typeface="Trebuchet MS"/>
                <a:cs typeface="Trebuchet MS"/>
              </a:rPr>
              <a:t>Dan”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.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This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process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forgetting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subject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brought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about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forget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gate.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30224" y="3201136"/>
            <a:ext cx="4689475" cy="2817495"/>
            <a:chOff x="1030224" y="3201136"/>
            <a:chExt cx="4689475" cy="28174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0224" y="3201136"/>
              <a:ext cx="3667125" cy="23801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9384" y="5513832"/>
              <a:ext cx="3790188" cy="5044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84654" y="5321630"/>
            <a:ext cx="10839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Forget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7405" y="2057400"/>
            <a:ext cx="10537190" cy="4175760"/>
            <a:chOff x="807719" y="1994916"/>
            <a:chExt cx="10537190" cy="4175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9404" y="3462112"/>
              <a:ext cx="553212" cy="2568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719" y="1994916"/>
              <a:ext cx="8296656" cy="30586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4503" y="5045964"/>
              <a:ext cx="3971544" cy="11247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4291" y="4800600"/>
              <a:ext cx="3896867" cy="10942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9763" y="4133088"/>
              <a:ext cx="2559050" cy="559435"/>
            </a:xfrm>
            <a:custGeom>
              <a:avLst/>
              <a:gdLst/>
              <a:ahLst/>
              <a:cxnLst/>
              <a:rect l="l" t="t" r="r" b="b"/>
              <a:pathLst>
                <a:path w="2559050" h="559435">
                  <a:moveTo>
                    <a:pt x="2465578" y="0"/>
                  </a:moveTo>
                  <a:lnTo>
                    <a:pt x="93217" y="0"/>
                  </a:lnTo>
                  <a:lnTo>
                    <a:pt x="56953" y="7332"/>
                  </a:lnTo>
                  <a:lnTo>
                    <a:pt x="27320" y="27320"/>
                  </a:lnTo>
                  <a:lnTo>
                    <a:pt x="7332" y="56953"/>
                  </a:lnTo>
                  <a:lnTo>
                    <a:pt x="0" y="93218"/>
                  </a:lnTo>
                  <a:lnTo>
                    <a:pt x="0" y="466089"/>
                  </a:lnTo>
                  <a:lnTo>
                    <a:pt x="7332" y="502354"/>
                  </a:lnTo>
                  <a:lnTo>
                    <a:pt x="27320" y="531987"/>
                  </a:lnTo>
                  <a:lnTo>
                    <a:pt x="56953" y="551975"/>
                  </a:lnTo>
                  <a:lnTo>
                    <a:pt x="93217" y="559307"/>
                  </a:lnTo>
                  <a:lnTo>
                    <a:pt x="2465578" y="559307"/>
                  </a:lnTo>
                  <a:lnTo>
                    <a:pt x="2501842" y="551975"/>
                  </a:lnTo>
                  <a:lnTo>
                    <a:pt x="2531475" y="531987"/>
                  </a:lnTo>
                  <a:lnTo>
                    <a:pt x="2551463" y="502354"/>
                  </a:lnTo>
                  <a:lnTo>
                    <a:pt x="2558795" y="466089"/>
                  </a:lnTo>
                  <a:lnTo>
                    <a:pt x="2558795" y="93218"/>
                  </a:lnTo>
                  <a:lnTo>
                    <a:pt x="2551463" y="56953"/>
                  </a:lnTo>
                  <a:lnTo>
                    <a:pt x="2531475" y="27320"/>
                  </a:lnTo>
                  <a:lnTo>
                    <a:pt x="2501842" y="7332"/>
                  </a:lnTo>
                  <a:lnTo>
                    <a:pt x="246557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79763" y="4133088"/>
              <a:ext cx="2559050" cy="559435"/>
            </a:xfrm>
            <a:custGeom>
              <a:avLst/>
              <a:gdLst/>
              <a:ahLst/>
              <a:cxnLst/>
              <a:rect l="l" t="t" r="r" b="b"/>
              <a:pathLst>
                <a:path w="2559050" h="559435">
                  <a:moveTo>
                    <a:pt x="0" y="93218"/>
                  </a:moveTo>
                  <a:lnTo>
                    <a:pt x="7332" y="56953"/>
                  </a:lnTo>
                  <a:lnTo>
                    <a:pt x="27320" y="27320"/>
                  </a:lnTo>
                  <a:lnTo>
                    <a:pt x="56953" y="7332"/>
                  </a:lnTo>
                  <a:lnTo>
                    <a:pt x="93217" y="0"/>
                  </a:lnTo>
                  <a:lnTo>
                    <a:pt x="2465578" y="0"/>
                  </a:lnTo>
                  <a:lnTo>
                    <a:pt x="2501842" y="7332"/>
                  </a:lnTo>
                  <a:lnTo>
                    <a:pt x="2531475" y="27320"/>
                  </a:lnTo>
                  <a:lnTo>
                    <a:pt x="2551463" y="56953"/>
                  </a:lnTo>
                  <a:lnTo>
                    <a:pt x="2558795" y="93218"/>
                  </a:lnTo>
                  <a:lnTo>
                    <a:pt x="2558795" y="466089"/>
                  </a:lnTo>
                  <a:lnTo>
                    <a:pt x="2551463" y="502354"/>
                  </a:lnTo>
                  <a:lnTo>
                    <a:pt x="2531475" y="531987"/>
                  </a:lnTo>
                  <a:lnTo>
                    <a:pt x="2501842" y="551975"/>
                  </a:lnTo>
                  <a:lnTo>
                    <a:pt x="2465578" y="559307"/>
                  </a:lnTo>
                  <a:lnTo>
                    <a:pt x="93217" y="559307"/>
                  </a:lnTo>
                  <a:lnTo>
                    <a:pt x="56953" y="551975"/>
                  </a:lnTo>
                  <a:lnTo>
                    <a:pt x="27320" y="531987"/>
                  </a:lnTo>
                  <a:lnTo>
                    <a:pt x="7332" y="502354"/>
                  </a:lnTo>
                  <a:lnTo>
                    <a:pt x="0" y="466089"/>
                  </a:lnTo>
                  <a:lnTo>
                    <a:pt x="0" y="932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0240" y="286257"/>
            <a:ext cx="28765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Selective</a:t>
            </a:r>
            <a:r>
              <a:rPr sz="3200" spc="-4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A3123E"/>
                </a:solidFill>
                <a:latin typeface="Georgia"/>
                <a:cs typeface="Georgia"/>
              </a:rPr>
              <a:t>Forget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8556" y="4248657"/>
            <a:ext cx="2062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ft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called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forget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xfrm>
            <a:off x="845512" y="1470361"/>
            <a:ext cx="10363200" cy="144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Some</a:t>
            </a:r>
            <a:r>
              <a:rPr sz="18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LSTMs</a:t>
            </a:r>
            <a:r>
              <a:rPr sz="18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stop</a:t>
            </a:r>
            <a:r>
              <a:rPr sz="18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after</a:t>
            </a:r>
            <a:r>
              <a:rPr sz="18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selective</a:t>
            </a:r>
            <a:r>
              <a:rPr sz="18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read</a:t>
            </a:r>
            <a:r>
              <a:rPr sz="18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but</a:t>
            </a:r>
            <a:r>
              <a:rPr sz="18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actual</a:t>
            </a:r>
            <a:r>
              <a:rPr sz="18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Calibri"/>
                <a:cs typeface="Calibri"/>
              </a:rPr>
              <a:t>version</a:t>
            </a:r>
            <a:r>
              <a:rPr sz="18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LSTM</a:t>
            </a:r>
            <a:r>
              <a:rPr sz="18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has</a:t>
            </a:r>
            <a:r>
              <a:rPr sz="18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Calibri"/>
                <a:cs typeface="Calibri"/>
              </a:rPr>
              <a:t>forget</a:t>
            </a:r>
            <a:r>
              <a:rPr sz="18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Calibri"/>
                <a:cs typeface="Calibri"/>
              </a:rPr>
              <a:t>gate</a:t>
            </a:r>
            <a:r>
              <a:rPr sz="18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0000"/>
                </a:solidFill>
                <a:latin typeface="Calibri"/>
                <a:cs typeface="Calibri"/>
              </a:rPr>
              <a:t>also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5400" y="496439"/>
            <a:ext cx="5734050" cy="94223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55219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Summary-</a:t>
            </a:r>
            <a:r>
              <a:rPr spc="-20" dirty="0"/>
              <a:t>LSTM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1397508"/>
            <a:ext cx="8982075" cy="2667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61" y="4474464"/>
            <a:ext cx="2819048" cy="15236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58236" y="4503032"/>
            <a:ext cx="2638787" cy="156174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48600" y="4391025"/>
            <a:ext cx="3344896" cy="9904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1584" y="5574882"/>
            <a:ext cx="3704509" cy="4479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78040" y="3745991"/>
            <a:ext cx="4762500" cy="229997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vert="horz" wrap="square" lIns="0" tIns="13081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3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recap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7204" y="1116584"/>
            <a:ext cx="541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73907" y="1566672"/>
            <a:ext cx="6920865" cy="1271270"/>
            <a:chOff x="3073907" y="1566672"/>
            <a:chExt cx="6920865" cy="127127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3907" y="1566672"/>
              <a:ext cx="298704" cy="1271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95688" y="1566672"/>
              <a:ext cx="298703" cy="12710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6622" y="1506982"/>
            <a:ext cx="8873490" cy="3844290"/>
            <a:chOff x="2436622" y="1506982"/>
            <a:chExt cx="8873490" cy="3844290"/>
          </a:xfrm>
        </p:grpSpPr>
        <p:sp>
          <p:nvSpPr>
            <p:cNvPr id="3" name="object 3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8860536" y="0"/>
                  </a:moveTo>
                  <a:lnTo>
                    <a:pt x="0" y="0"/>
                  </a:lnTo>
                  <a:lnTo>
                    <a:pt x="0" y="3831336"/>
                  </a:lnTo>
                  <a:lnTo>
                    <a:pt x="8860536" y="3831336"/>
                  </a:lnTo>
                  <a:lnTo>
                    <a:pt x="8860536" y="0"/>
                  </a:lnTo>
                  <a:close/>
                </a:path>
              </a:pathLst>
            </a:custGeom>
            <a:solidFill>
              <a:srgbClr val="FCD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0" y="3831336"/>
                  </a:moveTo>
                  <a:lnTo>
                    <a:pt x="8860536" y="3831336"/>
                  </a:lnTo>
                  <a:lnTo>
                    <a:pt x="8860536" y="0"/>
                  </a:lnTo>
                  <a:lnTo>
                    <a:pt x="0" y="0"/>
                  </a:lnTo>
                  <a:lnTo>
                    <a:pt x="0" y="38313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22347" y="3113913"/>
            <a:ext cx="5969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4200" algn="l"/>
              </a:tabLst>
            </a:pPr>
            <a:r>
              <a:rPr sz="3600" b="1" dirty="0">
                <a:latin typeface="Calibri"/>
                <a:cs typeface="Calibri"/>
              </a:rPr>
              <a:t>Gated</a:t>
            </a:r>
            <a:r>
              <a:rPr sz="3600" b="1" spc="-9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Recurrent</a:t>
            </a:r>
            <a:r>
              <a:rPr sz="3600" b="1" spc="-114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Unit</a:t>
            </a:r>
            <a:r>
              <a:rPr sz="3600" b="1" spc="-10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(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spc="-20" dirty="0">
                <a:latin typeface="Calibri"/>
                <a:cs typeface="Calibri"/>
              </a:rPr>
              <a:t>GRU)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LSTM</a:t>
            </a:r>
            <a:r>
              <a:rPr spc="-40" dirty="0"/>
              <a:t> </a:t>
            </a:r>
            <a:r>
              <a:rPr spc="-10" dirty="0"/>
              <a:t>variants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6944" y="1635251"/>
            <a:ext cx="9220957" cy="2362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2301" y="4636406"/>
            <a:ext cx="5866742" cy="159100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54749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Gated</a:t>
            </a:r>
            <a:r>
              <a:rPr sz="2800" spc="-30" dirty="0"/>
              <a:t> </a:t>
            </a:r>
            <a:r>
              <a:rPr sz="2800" dirty="0"/>
              <a:t>Recurrent</a:t>
            </a:r>
            <a:r>
              <a:rPr sz="2800" spc="-35" dirty="0"/>
              <a:t> </a:t>
            </a:r>
            <a:r>
              <a:rPr sz="2800" dirty="0"/>
              <a:t>Units</a:t>
            </a:r>
            <a:r>
              <a:rPr sz="2800" spc="-30" dirty="0"/>
              <a:t> </a:t>
            </a:r>
            <a:r>
              <a:rPr sz="2800" dirty="0"/>
              <a:t>(</a:t>
            </a:r>
            <a:r>
              <a:rPr sz="2800" spc="-35" dirty="0"/>
              <a:t> </a:t>
            </a:r>
            <a:r>
              <a:rPr sz="2800" spc="-20" dirty="0"/>
              <a:t>GRU)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644" y="4745753"/>
            <a:ext cx="4029075" cy="10670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23900" y="529964"/>
            <a:ext cx="11047730" cy="5342255"/>
            <a:chOff x="723900" y="529964"/>
            <a:chExt cx="11047730" cy="53422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900" y="1772411"/>
              <a:ext cx="6543675" cy="2743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7815" y="4453128"/>
              <a:ext cx="4352544" cy="14188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34085" y="529964"/>
              <a:ext cx="2637336" cy="156174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194418" y="149428"/>
            <a:ext cx="1162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Recap</a:t>
            </a:r>
            <a:r>
              <a:rPr sz="1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3104E-2971-C562-E172-D822386BE3AD}"/>
              </a:ext>
            </a:extLst>
          </p:cNvPr>
          <p:cNvSpPr txBox="1"/>
          <p:nvPr/>
        </p:nvSpPr>
        <p:spPr>
          <a:xfrm>
            <a:off x="8480961" y="2825337"/>
            <a:ext cx="371103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It has </a:t>
            </a:r>
            <a:r>
              <a:rPr lang="en-US" b="1"/>
              <a:t>two gates</a:t>
            </a:r>
            <a:r>
              <a:rPr lang="en-US"/>
              <a:t> instead of three:</a:t>
            </a:r>
          </a:p>
          <a:p>
            <a:pPr marL="228600" indent="-228600">
              <a:buFont typeface=""/>
              <a:buAutoNum type="arabicPeriod"/>
            </a:pPr>
            <a:r>
              <a:rPr lang="en-US" b="1"/>
              <a:t>Update Gate (iₜ)</a:t>
            </a:r>
          </a:p>
          <a:p>
            <a:pPr marL="228600" indent="-228600">
              <a:buFont typeface=""/>
              <a:buAutoNum type="arabicPeriod"/>
            </a:pPr>
            <a:r>
              <a:rPr lang="en-US" b="1"/>
              <a:t>Reset Gate (oₜ)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E75A81-DBDC-E49F-E9E6-3567E4E39645}"/>
              </a:ext>
            </a:extLst>
          </p:cNvPr>
          <p:cNvSpPr txBox="1"/>
          <p:nvPr/>
        </p:nvSpPr>
        <p:spPr>
          <a:xfrm>
            <a:off x="385949" y="786740"/>
            <a:ext cx="921327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GRUs combine the forget + input gate of LSTMs into one </a:t>
            </a:r>
            <a:r>
              <a:rPr lang="en-US" b="1"/>
              <a:t>update gate</a:t>
            </a:r>
            <a:r>
              <a:rPr lang="en-US"/>
              <a:t>, making them faster and simpler</a:t>
            </a:r>
          </a:p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2B1892-36A1-E07F-0F01-D3B167D99487}"/>
                  </a:ext>
                </a:extLst>
              </p:cNvPr>
              <p:cNvSpPr txBox="1"/>
              <p:nvPr/>
            </p:nvSpPr>
            <p:spPr>
              <a:xfrm>
                <a:off x="9064831" y="2172195"/>
                <a:ext cx="2602675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Candidate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/>
              </a:p>
              <a:p>
                <a:pPr algn="ctr"/>
                <a:endParaRPr lang="en-US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2B1892-36A1-E07F-0F01-D3B167D99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831" y="2172195"/>
                <a:ext cx="2602675" cy="646331"/>
              </a:xfrm>
              <a:prstGeom prst="rect">
                <a:avLst/>
              </a:prstGeom>
              <a:blipFill>
                <a:blip r:embed="rId6"/>
                <a:stretch>
                  <a:fillRect l="-1874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6622" y="1506982"/>
            <a:ext cx="8873490" cy="3844290"/>
            <a:chOff x="2436622" y="1506982"/>
            <a:chExt cx="8873490" cy="3844290"/>
          </a:xfrm>
        </p:grpSpPr>
        <p:sp>
          <p:nvSpPr>
            <p:cNvPr id="3" name="object 3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8860536" y="0"/>
                  </a:moveTo>
                  <a:lnTo>
                    <a:pt x="0" y="0"/>
                  </a:lnTo>
                  <a:lnTo>
                    <a:pt x="0" y="3831336"/>
                  </a:lnTo>
                  <a:lnTo>
                    <a:pt x="8860536" y="3831336"/>
                  </a:lnTo>
                  <a:lnTo>
                    <a:pt x="8860536" y="0"/>
                  </a:lnTo>
                  <a:close/>
                </a:path>
              </a:pathLst>
            </a:custGeom>
            <a:solidFill>
              <a:srgbClr val="FCD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0" y="3831336"/>
                  </a:moveTo>
                  <a:lnTo>
                    <a:pt x="8860536" y="3831336"/>
                  </a:lnTo>
                  <a:lnTo>
                    <a:pt x="8860536" y="0"/>
                  </a:lnTo>
                  <a:lnTo>
                    <a:pt x="0" y="0"/>
                  </a:lnTo>
                  <a:lnTo>
                    <a:pt x="0" y="38313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22347" y="3011804"/>
            <a:ext cx="6553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00000"/>
                </a:solidFill>
                <a:latin typeface="Calibri"/>
                <a:cs typeface="Calibri"/>
              </a:rPr>
              <a:t>Encoder-</a:t>
            </a:r>
            <a:r>
              <a:rPr sz="4800" b="1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0000"/>
                </a:solidFill>
                <a:latin typeface="Calibri"/>
                <a:cs typeface="Calibri"/>
              </a:rPr>
              <a:t>Decoder</a:t>
            </a:r>
            <a:r>
              <a:rPr sz="4800" b="1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b="1" spc="-10" dirty="0">
                <a:solidFill>
                  <a:srgbClr val="000000"/>
                </a:solidFill>
                <a:latin typeface="Calibri"/>
                <a:cs typeface="Calibri"/>
              </a:rPr>
              <a:t>Models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Encoder-</a:t>
            </a:r>
            <a:r>
              <a:rPr spc="-25" dirty="0"/>
              <a:t> </a:t>
            </a:r>
            <a:r>
              <a:rPr dirty="0"/>
              <a:t>Decoder</a:t>
            </a:r>
            <a:r>
              <a:rPr spc="-1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" y="1786127"/>
            <a:ext cx="10005060" cy="11094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8327" y="4730496"/>
            <a:ext cx="11515725" cy="147701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36195" rIns="0" bIns="0" rtlCol="0">
            <a:spAutoFit/>
          </a:bodyPr>
          <a:lstStyle/>
          <a:p>
            <a:pPr marL="90805" marR="190500">
              <a:lnSpc>
                <a:spcPct val="99800"/>
              </a:lnSpc>
              <a:spcBef>
                <a:spcPts val="285"/>
              </a:spcBef>
            </a:pPr>
            <a:r>
              <a:rPr sz="1800" spc="-10" dirty="0">
                <a:latin typeface="Roboto"/>
                <a:cs typeface="Roboto"/>
              </a:rPr>
              <a:t>Machine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translation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is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major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problem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domain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for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sequence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transduction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models,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whose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input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and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output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are </a:t>
            </a:r>
            <a:r>
              <a:rPr sz="1800" dirty="0">
                <a:latin typeface="Roboto"/>
                <a:cs typeface="Roboto"/>
              </a:rPr>
              <a:t>both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variable-</a:t>
            </a:r>
            <a:r>
              <a:rPr sz="1800" spc="-20" dirty="0">
                <a:latin typeface="Roboto"/>
                <a:cs typeface="Roboto"/>
              </a:rPr>
              <a:t>length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sequences.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To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handle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this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type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of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inputs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and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outputs,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we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can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design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an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architecture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with </a:t>
            </a:r>
            <a:r>
              <a:rPr sz="1800" dirty="0">
                <a:latin typeface="Roboto"/>
                <a:cs typeface="Roboto"/>
              </a:rPr>
              <a:t>two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major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components.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first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component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is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an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i="1" spc="-30" dirty="0">
                <a:latin typeface="Roboto"/>
                <a:cs typeface="Roboto"/>
              </a:rPr>
              <a:t>encoder</a:t>
            </a:r>
            <a:r>
              <a:rPr sz="1800" spc="-30" dirty="0">
                <a:latin typeface="Roboto"/>
                <a:cs typeface="Roboto"/>
              </a:rPr>
              <a:t>: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it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takes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55" dirty="0">
                <a:latin typeface="Roboto"/>
                <a:cs typeface="Roboto"/>
              </a:rPr>
              <a:t>variable-</a:t>
            </a:r>
            <a:r>
              <a:rPr sz="1800" spc="-10" dirty="0">
                <a:latin typeface="Roboto"/>
                <a:cs typeface="Roboto"/>
              </a:rPr>
              <a:t>length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sequence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as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input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and </a:t>
            </a:r>
            <a:r>
              <a:rPr sz="1800" spc="-10" dirty="0">
                <a:latin typeface="Roboto"/>
                <a:cs typeface="Roboto"/>
              </a:rPr>
              <a:t>transforms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it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into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state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with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fixed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shape.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second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component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is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i="1" spc="-25" dirty="0">
                <a:latin typeface="Roboto"/>
                <a:cs typeface="Roboto"/>
              </a:rPr>
              <a:t>decoder</a:t>
            </a:r>
            <a:r>
              <a:rPr sz="1800" spc="-25" dirty="0">
                <a:latin typeface="Roboto"/>
                <a:cs typeface="Roboto"/>
              </a:rPr>
              <a:t>: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it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maps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encoded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state</a:t>
            </a:r>
            <a:r>
              <a:rPr sz="1800" spc="-9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of </a:t>
            </a:r>
            <a:r>
              <a:rPr sz="1800" dirty="0">
                <a:latin typeface="Roboto"/>
                <a:cs typeface="Roboto"/>
              </a:rPr>
              <a:t>a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fixed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shape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to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variable-</a:t>
            </a:r>
            <a:r>
              <a:rPr sz="1800" spc="-10" dirty="0">
                <a:latin typeface="Roboto"/>
                <a:cs typeface="Roboto"/>
              </a:rPr>
              <a:t>length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sequence.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This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is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called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an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i="1" spc="-85" dirty="0">
                <a:latin typeface="Roboto"/>
                <a:cs typeface="Roboto"/>
              </a:rPr>
              <a:t>encoder-</a:t>
            </a:r>
            <a:r>
              <a:rPr sz="1800" i="1" spc="-20" dirty="0">
                <a:latin typeface="Roboto"/>
                <a:cs typeface="Roboto"/>
              </a:rPr>
              <a:t>decoder</a:t>
            </a:r>
            <a:r>
              <a:rPr sz="1800" i="1" spc="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architecture,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0511" y="3240023"/>
            <a:ext cx="8293734" cy="1201420"/>
          </a:xfrm>
          <a:prstGeom prst="rect">
            <a:avLst/>
          </a:prstGeom>
          <a:solidFill>
            <a:srgbClr val="FCD9FA"/>
          </a:solidFill>
        </p:spPr>
        <p:txBody>
          <a:bodyPr vert="horz" wrap="square" lIns="0" tIns="41910" rIns="0" bIns="0" rtlCol="0">
            <a:spAutoFit/>
          </a:bodyPr>
          <a:lstStyle/>
          <a:p>
            <a:pPr marL="90805" marR="436245">
              <a:lnSpc>
                <a:spcPct val="99300"/>
              </a:lnSpc>
              <a:spcBef>
                <a:spcPts val="330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encoder-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decoder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architecture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can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handle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inputs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and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outputs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that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are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both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variable-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length sequences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,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thus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suitable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sequence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transduction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problems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such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machine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translation.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encoder takes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variable-length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sequence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input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transforms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it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into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state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with</a:t>
            </a:r>
            <a:r>
              <a:rPr sz="1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fixed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shape.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286257"/>
            <a:ext cx="32143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A3123E"/>
                </a:solidFill>
                <a:latin typeface="Georgia"/>
                <a:cs typeface="Georgia"/>
              </a:rPr>
              <a:t>Encoder-</a:t>
            </a:r>
            <a:r>
              <a:rPr sz="3200" spc="-4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A3123E"/>
                </a:solidFill>
                <a:latin typeface="Georgia"/>
                <a:cs typeface="Georgia"/>
              </a:rPr>
              <a:t>decoder</a:t>
            </a:r>
            <a:endParaRPr sz="32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1" y="1333041"/>
            <a:ext cx="9742932" cy="45374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6467" y="1167510"/>
            <a:ext cx="5488940" cy="8394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8400"/>
              </a:lnSpc>
              <a:spcBef>
                <a:spcPts val="135"/>
              </a:spcBef>
            </a:pP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Encoder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reads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input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sequence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8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summarizes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information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8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something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called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212121"/>
                </a:solidFill>
                <a:latin typeface="Tahoma"/>
                <a:cs typeface="Tahoma"/>
              </a:rPr>
              <a:t>internal</a:t>
            </a:r>
            <a:r>
              <a:rPr sz="1800" b="1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212121"/>
                </a:solidFill>
                <a:latin typeface="Tahoma"/>
                <a:cs typeface="Tahoma"/>
              </a:rPr>
              <a:t>state </a:t>
            </a:r>
            <a:r>
              <a:rPr sz="1800" b="1" spc="-114" dirty="0">
                <a:solidFill>
                  <a:srgbClr val="212121"/>
                </a:solidFill>
                <a:latin typeface="Tahoma"/>
                <a:cs typeface="Tahoma"/>
              </a:rPr>
              <a:t>vectors</a:t>
            </a:r>
            <a:r>
              <a:rPr sz="1800" b="1" spc="-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212121"/>
                </a:solidFill>
                <a:latin typeface="Tahoma"/>
                <a:cs typeface="Tahoma"/>
              </a:rPr>
              <a:t>context</a:t>
            </a:r>
            <a:r>
              <a:rPr sz="1800" b="1" spc="-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212121"/>
                </a:solidFill>
                <a:latin typeface="Tahoma"/>
                <a:cs typeface="Tahoma"/>
              </a:rPr>
              <a:t>vector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Recap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RNN</a:t>
            </a:r>
            <a:r>
              <a:rPr spc="-35" dirty="0"/>
              <a:t> </a:t>
            </a:r>
            <a:r>
              <a:rPr dirty="0"/>
              <a:t>(</a:t>
            </a:r>
            <a:r>
              <a:rPr spc="-15" dirty="0"/>
              <a:t> </a:t>
            </a:r>
            <a:r>
              <a:rPr dirty="0"/>
              <a:t>Autofill</a:t>
            </a:r>
            <a:r>
              <a:rPr spc="-45" dirty="0"/>
              <a:t> </a:t>
            </a:r>
            <a:r>
              <a:rPr spc="-10" dirty="0"/>
              <a:t>words)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1301496"/>
            <a:ext cx="5381625" cy="403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6040" y="1158239"/>
            <a:ext cx="4724766" cy="44961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0903" y="1053083"/>
            <a:ext cx="4972811" cy="46661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475" y="1301496"/>
            <a:ext cx="5381625" cy="4038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035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5"/>
              </a:spcBef>
            </a:pPr>
            <a:r>
              <a:rPr dirty="0"/>
              <a:t>Recap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25" dirty="0"/>
              <a:t>RNN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8543" y="1091165"/>
            <a:ext cx="4800967" cy="47232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00" y="1279794"/>
            <a:ext cx="5362575" cy="32769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286" y="4817401"/>
            <a:ext cx="4752246" cy="14005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2202" y="0"/>
            <a:ext cx="11899798" cy="635000"/>
          </a:xfrm>
          <a:prstGeom prst="rect">
            <a:avLst/>
          </a:prstGeom>
        </p:spPr>
        <p:txBody>
          <a:bodyPr vert="horz" wrap="square" lIns="0" tIns="515035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5"/>
              </a:spcBef>
            </a:pPr>
            <a:r>
              <a:rPr dirty="0"/>
              <a:t>Recap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25" dirty="0"/>
              <a:t>RNN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959" y="1933194"/>
            <a:ext cx="2961539" cy="3333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33679" y="1743455"/>
            <a:ext cx="3734166" cy="91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03581" y="1801327"/>
            <a:ext cx="3048359" cy="12185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7177" y="2778632"/>
            <a:ext cx="2275790" cy="3619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86325" y="3242897"/>
            <a:ext cx="2257425" cy="3626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1884" y="3542356"/>
            <a:ext cx="3381016" cy="36126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234" y="-37723"/>
            <a:ext cx="11899798" cy="635000"/>
          </a:xfrm>
          <a:prstGeom prst="rect">
            <a:avLst/>
          </a:prstGeom>
        </p:spPr>
        <p:txBody>
          <a:bodyPr vert="horz" wrap="square" lIns="0" tIns="362008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455"/>
              </a:spcBef>
            </a:pPr>
            <a:r>
              <a:rPr dirty="0"/>
              <a:t>Encoder</a:t>
            </a:r>
            <a:r>
              <a:rPr spc="-4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Decoder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Captioning</a:t>
            </a:r>
          </a:p>
          <a:p>
            <a:pPr marL="1522730">
              <a:lnSpc>
                <a:spcPct val="100000"/>
              </a:lnSpc>
              <a:spcBef>
                <a:spcPts val="765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Image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Captioning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578" y="1383791"/>
            <a:ext cx="4772745" cy="3124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8577" y="4802123"/>
            <a:ext cx="3638914" cy="1143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3552" y="1584960"/>
            <a:ext cx="4724025" cy="2665957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01" y="32404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</a:t>
            </a:r>
            <a:r>
              <a:rPr spc="-4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Decoder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Captioning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32" y="1117113"/>
            <a:ext cx="4724730" cy="5029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5788" y="1344167"/>
            <a:ext cx="4723658" cy="2666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18026" y="5067427"/>
            <a:ext cx="6838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92929"/>
                </a:solidFill>
                <a:latin typeface="Calibri"/>
                <a:cs typeface="Calibri"/>
              </a:rPr>
              <a:t>During</a:t>
            </a:r>
            <a:r>
              <a:rPr sz="24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92929"/>
                </a:solidFill>
                <a:latin typeface="Calibri"/>
                <a:cs typeface="Calibri"/>
              </a:rPr>
              <a:t>training</a:t>
            </a:r>
            <a:r>
              <a:rPr sz="2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92929"/>
                </a:solidFill>
                <a:latin typeface="Calibri"/>
                <a:cs typeface="Calibri"/>
              </a:rPr>
              <a:t>phase</a:t>
            </a:r>
            <a:r>
              <a:rPr sz="2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92929"/>
                </a:solidFill>
                <a:latin typeface="Calibri"/>
                <a:cs typeface="Calibri"/>
              </a:rPr>
              <a:t>teacher</a:t>
            </a:r>
            <a:r>
              <a:rPr sz="2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92929"/>
                </a:solidFill>
                <a:latin typeface="Calibri"/>
                <a:cs typeface="Calibri"/>
              </a:rPr>
              <a:t>forcing</a:t>
            </a:r>
            <a:r>
              <a:rPr sz="24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92929"/>
                </a:solidFill>
                <a:latin typeface="Calibri"/>
                <a:cs typeface="Calibri"/>
              </a:rPr>
              <a:t>technique</a:t>
            </a:r>
            <a:r>
              <a:rPr sz="2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2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01" y="0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</a:t>
            </a:r>
            <a:r>
              <a:rPr spc="-4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Decoder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Captioning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6927" y="972311"/>
            <a:ext cx="10701655" cy="5238115"/>
            <a:chOff x="566927" y="972311"/>
            <a:chExt cx="10701655" cy="52381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812" y="1485859"/>
              <a:ext cx="4771315" cy="12188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927" y="972311"/>
              <a:ext cx="5934456" cy="52379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34325" y="3354069"/>
              <a:ext cx="2821305" cy="1459230"/>
            </a:xfrm>
            <a:custGeom>
              <a:avLst/>
              <a:gdLst/>
              <a:ahLst/>
              <a:cxnLst/>
              <a:rect l="l" t="t" r="r" b="b"/>
              <a:pathLst>
                <a:path w="2821304" h="1459229">
                  <a:moveTo>
                    <a:pt x="125603" y="15240"/>
                  </a:moveTo>
                  <a:lnTo>
                    <a:pt x="120142" y="0"/>
                  </a:lnTo>
                  <a:lnTo>
                    <a:pt x="92849" y="9842"/>
                  </a:lnTo>
                  <a:lnTo>
                    <a:pt x="68910" y="24117"/>
                  </a:lnTo>
                  <a:lnTo>
                    <a:pt x="31115" y="66040"/>
                  </a:lnTo>
                  <a:lnTo>
                    <a:pt x="7785" y="122021"/>
                  </a:lnTo>
                  <a:lnTo>
                    <a:pt x="101" y="186575"/>
                  </a:lnTo>
                  <a:lnTo>
                    <a:pt x="0" y="188468"/>
                  </a:lnTo>
                  <a:lnTo>
                    <a:pt x="1930" y="223126"/>
                  </a:lnTo>
                  <a:lnTo>
                    <a:pt x="17411" y="284378"/>
                  </a:lnTo>
                  <a:lnTo>
                    <a:pt x="48196" y="334073"/>
                  </a:lnTo>
                  <a:lnTo>
                    <a:pt x="92773" y="366979"/>
                  </a:lnTo>
                  <a:lnTo>
                    <a:pt x="120142" y="376809"/>
                  </a:lnTo>
                  <a:lnTo>
                    <a:pt x="124968" y="361569"/>
                  </a:lnTo>
                  <a:lnTo>
                    <a:pt x="103479" y="352082"/>
                  </a:lnTo>
                  <a:lnTo>
                    <a:pt x="84950" y="338823"/>
                  </a:lnTo>
                  <a:lnTo>
                    <a:pt x="56769" y="301117"/>
                  </a:lnTo>
                  <a:lnTo>
                    <a:pt x="39966" y="249986"/>
                  </a:lnTo>
                  <a:lnTo>
                    <a:pt x="34493" y="188468"/>
                  </a:lnTo>
                  <a:lnTo>
                    <a:pt x="34417" y="186575"/>
                  </a:lnTo>
                  <a:lnTo>
                    <a:pt x="35801" y="154368"/>
                  </a:lnTo>
                  <a:lnTo>
                    <a:pt x="46951" y="98552"/>
                  </a:lnTo>
                  <a:lnTo>
                    <a:pt x="69430" y="54559"/>
                  </a:lnTo>
                  <a:lnTo>
                    <a:pt x="103860" y="24701"/>
                  </a:lnTo>
                  <a:lnTo>
                    <a:pt x="125603" y="15240"/>
                  </a:lnTo>
                  <a:close/>
                </a:path>
                <a:path w="2821304" h="1459229">
                  <a:moveTo>
                    <a:pt x="207899" y="1097661"/>
                  </a:moveTo>
                  <a:lnTo>
                    <a:pt x="202438" y="1082294"/>
                  </a:lnTo>
                  <a:lnTo>
                    <a:pt x="175145" y="1092212"/>
                  </a:lnTo>
                  <a:lnTo>
                    <a:pt x="151206" y="1106525"/>
                  </a:lnTo>
                  <a:lnTo>
                    <a:pt x="113411" y="1148461"/>
                  </a:lnTo>
                  <a:lnTo>
                    <a:pt x="90081" y="1204442"/>
                  </a:lnTo>
                  <a:lnTo>
                    <a:pt x="82410" y="1268857"/>
                  </a:lnTo>
                  <a:lnTo>
                    <a:pt x="82296" y="1270889"/>
                  </a:lnTo>
                  <a:lnTo>
                    <a:pt x="84226" y="1305547"/>
                  </a:lnTo>
                  <a:lnTo>
                    <a:pt x="99707" y="1366799"/>
                  </a:lnTo>
                  <a:lnTo>
                    <a:pt x="130492" y="1416494"/>
                  </a:lnTo>
                  <a:lnTo>
                    <a:pt x="175069" y="1449400"/>
                  </a:lnTo>
                  <a:lnTo>
                    <a:pt x="202438" y="1459230"/>
                  </a:lnTo>
                  <a:lnTo>
                    <a:pt x="207264" y="1443990"/>
                  </a:lnTo>
                  <a:lnTo>
                    <a:pt x="185775" y="1434439"/>
                  </a:lnTo>
                  <a:lnTo>
                    <a:pt x="167259" y="1421206"/>
                  </a:lnTo>
                  <a:lnTo>
                    <a:pt x="139065" y="1383538"/>
                  </a:lnTo>
                  <a:lnTo>
                    <a:pt x="122262" y="1332344"/>
                  </a:lnTo>
                  <a:lnTo>
                    <a:pt x="116789" y="1270889"/>
                  </a:lnTo>
                  <a:lnTo>
                    <a:pt x="116713" y="1268857"/>
                  </a:lnTo>
                  <a:lnTo>
                    <a:pt x="118097" y="1236738"/>
                  </a:lnTo>
                  <a:lnTo>
                    <a:pt x="129247" y="1180973"/>
                  </a:lnTo>
                  <a:lnTo>
                    <a:pt x="151726" y="1136980"/>
                  </a:lnTo>
                  <a:lnTo>
                    <a:pt x="186156" y="1107122"/>
                  </a:lnTo>
                  <a:lnTo>
                    <a:pt x="207899" y="1097661"/>
                  </a:lnTo>
                  <a:close/>
                </a:path>
                <a:path w="2821304" h="1459229">
                  <a:moveTo>
                    <a:pt x="2740025" y="188468"/>
                  </a:moveTo>
                  <a:lnTo>
                    <a:pt x="2732227" y="122021"/>
                  </a:lnTo>
                  <a:lnTo>
                    <a:pt x="2708910" y="66040"/>
                  </a:lnTo>
                  <a:lnTo>
                    <a:pt x="2671038" y="24117"/>
                  </a:lnTo>
                  <a:lnTo>
                    <a:pt x="2619756" y="0"/>
                  </a:lnTo>
                  <a:lnTo>
                    <a:pt x="2614422" y="15240"/>
                  </a:lnTo>
                  <a:lnTo>
                    <a:pt x="2636228" y="24701"/>
                  </a:lnTo>
                  <a:lnTo>
                    <a:pt x="2654998" y="37807"/>
                  </a:lnTo>
                  <a:lnTo>
                    <a:pt x="2683383" y="74930"/>
                  </a:lnTo>
                  <a:lnTo>
                    <a:pt x="2700058" y="125031"/>
                  </a:lnTo>
                  <a:lnTo>
                    <a:pt x="2704160" y="153949"/>
                  </a:lnTo>
                  <a:lnTo>
                    <a:pt x="2704223" y="154368"/>
                  </a:lnTo>
                  <a:lnTo>
                    <a:pt x="2704198" y="219811"/>
                  </a:lnTo>
                  <a:lnTo>
                    <a:pt x="2693009" y="277101"/>
                  </a:lnTo>
                  <a:lnTo>
                    <a:pt x="2670606" y="321843"/>
                  </a:lnTo>
                  <a:lnTo>
                    <a:pt x="2636482" y="352082"/>
                  </a:lnTo>
                  <a:lnTo>
                    <a:pt x="2615057" y="361569"/>
                  </a:lnTo>
                  <a:lnTo>
                    <a:pt x="2619756" y="376809"/>
                  </a:lnTo>
                  <a:lnTo>
                    <a:pt x="2671203" y="352729"/>
                  </a:lnTo>
                  <a:lnTo>
                    <a:pt x="2709037" y="311023"/>
                  </a:lnTo>
                  <a:lnTo>
                    <a:pt x="2732240" y="255092"/>
                  </a:lnTo>
                  <a:lnTo>
                    <a:pt x="2738069" y="223126"/>
                  </a:lnTo>
                  <a:lnTo>
                    <a:pt x="2740025" y="188468"/>
                  </a:lnTo>
                  <a:close/>
                </a:path>
                <a:path w="2821304" h="1459229">
                  <a:moveTo>
                    <a:pt x="2820797" y="1270889"/>
                  </a:moveTo>
                  <a:lnTo>
                    <a:pt x="2812999" y="1204442"/>
                  </a:lnTo>
                  <a:lnTo>
                    <a:pt x="2789682" y="1148461"/>
                  </a:lnTo>
                  <a:lnTo>
                    <a:pt x="2751810" y="1106525"/>
                  </a:lnTo>
                  <a:lnTo>
                    <a:pt x="2700528" y="1082294"/>
                  </a:lnTo>
                  <a:lnTo>
                    <a:pt x="2695194" y="1097661"/>
                  </a:lnTo>
                  <a:lnTo>
                    <a:pt x="2717000" y="1107122"/>
                  </a:lnTo>
                  <a:lnTo>
                    <a:pt x="2735770" y="1120228"/>
                  </a:lnTo>
                  <a:lnTo>
                    <a:pt x="2764155" y="1157351"/>
                  </a:lnTo>
                  <a:lnTo>
                    <a:pt x="2780830" y="1207439"/>
                  </a:lnTo>
                  <a:lnTo>
                    <a:pt x="2784932" y="1236370"/>
                  </a:lnTo>
                  <a:lnTo>
                    <a:pt x="2784995" y="1236738"/>
                  </a:lnTo>
                  <a:lnTo>
                    <a:pt x="2784970" y="1302156"/>
                  </a:lnTo>
                  <a:lnTo>
                    <a:pt x="2773781" y="1359458"/>
                  </a:lnTo>
                  <a:lnTo>
                    <a:pt x="2751378" y="1404239"/>
                  </a:lnTo>
                  <a:lnTo>
                    <a:pt x="2717254" y="1434439"/>
                  </a:lnTo>
                  <a:lnTo>
                    <a:pt x="2695829" y="1443990"/>
                  </a:lnTo>
                  <a:lnTo>
                    <a:pt x="2700528" y="1459230"/>
                  </a:lnTo>
                  <a:lnTo>
                    <a:pt x="2751975" y="1435150"/>
                  </a:lnTo>
                  <a:lnTo>
                    <a:pt x="2789809" y="1393444"/>
                  </a:lnTo>
                  <a:lnTo>
                    <a:pt x="2813012" y="1337500"/>
                  </a:lnTo>
                  <a:lnTo>
                    <a:pt x="2818841" y="1305547"/>
                  </a:lnTo>
                  <a:lnTo>
                    <a:pt x="2820797" y="12708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95058" y="2967492"/>
            <a:ext cx="4713605" cy="1868170"/>
          </a:xfrm>
          <a:prstGeom prst="rect">
            <a:avLst/>
          </a:prstGeom>
        </p:spPr>
        <p:txBody>
          <a:bodyPr vert="horz" wrap="square" lIns="0" tIns="28448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240"/>
              </a:spcBef>
              <a:tabLst>
                <a:tab pos="541020" algn="l"/>
                <a:tab pos="1373505" algn="l"/>
              </a:tabLst>
            </a:pPr>
            <a:r>
              <a:rPr sz="3200" spc="-25" dirty="0">
                <a:latin typeface="Cambria Math"/>
                <a:cs typeface="Cambria Math"/>
              </a:rPr>
              <a:t>𝑆</a:t>
            </a:r>
            <a:r>
              <a:rPr sz="3525" spc="-37" baseline="-15366" dirty="0">
                <a:latin typeface="Cambria Math"/>
                <a:cs typeface="Cambria Math"/>
              </a:rPr>
              <a:t>1</a:t>
            </a:r>
            <a:r>
              <a:rPr sz="3525" baseline="-15366" dirty="0">
                <a:latin typeface="Cambria Math"/>
                <a:cs typeface="Cambria Math"/>
              </a:rPr>
              <a:t>	</a:t>
            </a:r>
            <a:r>
              <a:rPr sz="3200" dirty="0">
                <a:latin typeface="Cambria Math"/>
                <a:cs typeface="Cambria Math"/>
              </a:rPr>
              <a:t>=</a:t>
            </a:r>
            <a:r>
              <a:rPr sz="3200" spc="165" dirty="0">
                <a:latin typeface="Cambria Math"/>
                <a:cs typeface="Cambria Math"/>
              </a:rPr>
              <a:t> </a:t>
            </a:r>
            <a:r>
              <a:rPr sz="3200" spc="-50" dirty="0">
                <a:latin typeface="Cambria Math"/>
                <a:cs typeface="Cambria Math"/>
              </a:rPr>
              <a:t>𝜎</a:t>
            </a:r>
            <a:r>
              <a:rPr sz="3200" dirty="0">
                <a:latin typeface="Cambria Math"/>
                <a:cs typeface="Cambria Math"/>
              </a:rPr>
              <a:t>	</a:t>
            </a:r>
            <a:r>
              <a:rPr sz="3200" spc="-400" dirty="0">
                <a:latin typeface="Cambria Math"/>
                <a:cs typeface="Cambria Math"/>
              </a:rPr>
              <a:t>𝑊</a:t>
            </a:r>
            <a:r>
              <a:rPr sz="3525" spc="172" baseline="-15366" dirty="0">
                <a:latin typeface="Cambria Math"/>
                <a:cs typeface="Cambria Math"/>
              </a:rPr>
              <a:t>𝑆0</a:t>
            </a:r>
            <a:r>
              <a:rPr sz="3525" spc="330" baseline="-15366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+</a:t>
            </a:r>
            <a:r>
              <a:rPr sz="3200" spc="-6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𝑈</a:t>
            </a:r>
            <a:r>
              <a:rPr sz="3525" baseline="-15366" dirty="0">
                <a:latin typeface="Cambria Math"/>
                <a:cs typeface="Cambria Math"/>
              </a:rPr>
              <a:t>x1</a:t>
            </a:r>
            <a:r>
              <a:rPr sz="3525" spc="352" baseline="-15366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+</a:t>
            </a:r>
            <a:r>
              <a:rPr sz="3200" spc="-70" dirty="0">
                <a:latin typeface="Cambria Math"/>
                <a:cs typeface="Cambria Math"/>
              </a:rPr>
              <a:t> </a:t>
            </a:r>
            <a:r>
              <a:rPr sz="3200" spc="-50" dirty="0">
                <a:latin typeface="Cambria Math"/>
                <a:cs typeface="Cambria Math"/>
              </a:rPr>
              <a:t>𝑏</a:t>
            </a:r>
            <a:endParaRPr sz="3200">
              <a:latin typeface="Cambria Math"/>
              <a:cs typeface="Cambria Math"/>
            </a:endParaRPr>
          </a:p>
          <a:p>
            <a:pPr marL="1570355">
              <a:lnSpc>
                <a:spcPct val="100000"/>
              </a:lnSpc>
              <a:spcBef>
                <a:spcPts val="1205"/>
              </a:spcBef>
            </a:pPr>
            <a:r>
              <a:rPr sz="1800" dirty="0">
                <a:latin typeface="Calibri"/>
                <a:cs typeface="Calibri"/>
              </a:rPr>
              <a:t>S0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CNN,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x1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&lt;GO&gt;</a:t>
            </a:r>
            <a:endParaRPr sz="1800">
              <a:latin typeface="Calibri"/>
              <a:cs typeface="Calibri"/>
            </a:endParaRPr>
          </a:p>
          <a:p>
            <a:pPr marL="121920">
              <a:lnSpc>
                <a:spcPct val="100000"/>
              </a:lnSpc>
              <a:spcBef>
                <a:spcPts val="1320"/>
              </a:spcBef>
              <a:tabLst>
                <a:tab pos="621665" algn="l"/>
                <a:tab pos="1455420" algn="l"/>
              </a:tabLst>
            </a:pPr>
            <a:r>
              <a:rPr sz="3200" spc="-25" dirty="0">
                <a:latin typeface="Cambria Math"/>
                <a:cs typeface="Cambria Math"/>
              </a:rPr>
              <a:t>𝑆</a:t>
            </a:r>
            <a:r>
              <a:rPr sz="3525" spc="-37" baseline="-15366" dirty="0">
                <a:latin typeface="Cambria Math"/>
                <a:cs typeface="Cambria Math"/>
              </a:rPr>
              <a:t>2</a:t>
            </a:r>
            <a:r>
              <a:rPr sz="3525" baseline="-15366" dirty="0">
                <a:latin typeface="Cambria Math"/>
                <a:cs typeface="Cambria Math"/>
              </a:rPr>
              <a:t>	</a:t>
            </a:r>
            <a:r>
              <a:rPr sz="3200" dirty="0">
                <a:latin typeface="Cambria Math"/>
                <a:cs typeface="Cambria Math"/>
              </a:rPr>
              <a:t>=</a:t>
            </a:r>
            <a:r>
              <a:rPr sz="3200" spc="165" dirty="0">
                <a:latin typeface="Cambria Math"/>
                <a:cs typeface="Cambria Math"/>
              </a:rPr>
              <a:t> </a:t>
            </a:r>
            <a:r>
              <a:rPr sz="3200" spc="-50" dirty="0">
                <a:latin typeface="Cambria Math"/>
                <a:cs typeface="Cambria Math"/>
              </a:rPr>
              <a:t>𝜎</a:t>
            </a:r>
            <a:r>
              <a:rPr sz="3200" dirty="0">
                <a:latin typeface="Cambria Math"/>
                <a:cs typeface="Cambria Math"/>
              </a:rPr>
              <a:t>	</a:t>
            </a:r>
            <a:r>
              <a:rPr sz="3200" spc="-409" dirty="0">
                <a:latin typeface="Cambria Math"/>
                <a:cs typeface="Cambria Math"/>
              </a:rPr>
              <a:t>𝑊</a:t>
            </a:r>
            <a:r>
              <a:rPr sz="3525" spc="172" baseline="-15366" dirty="0">
                <a:latin typeface="Cambria Math"/>
                <a:cs typeface="Cambria Math"/>
              </a:rPr>
              <a:t>𝑆1</a:t>
            </a:r>
            <a:r>
              <a:rPr sz="3525" spc="330" baseline="-15366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+</a:t>
            </a:r>
            <a:r>
              <a:rPr sz="3200" spc="-6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𝑈</a:t>
            </a:r>
            <a:r>
              <a:rPr sz="3525" baseline="-15366" dirty="0">
                <a:latin typeface="Cambria Math"/>
                <a:cs typeface="Cambria Math"/>
              </a:rPr>
              <a:t>x2</a:t>
            </a:r>
            <a:r>
              <a:rPr sz="3525" spc="345" baseline="-15366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+</a:t>
            </a:r>
            <a:r>
              <a:rPr sz="3200" spc="-70" dirty="0">
                <a:latin typeface="Cambria Math"/>
                <a:cs typeface="Cambria Math"/>
              </a:rPr>
              <a:t> </a:t>
            </a:r>
            <a:r>
              <a:rPr sz="3200" spc="-50" dirty="0">
                <a:latin typeface="Cambria Math"/>
                <a:cs typeface="Cambria Math"/>
              </a:rPr>
              <a:t>𝑏</a:t>
            </a:r>
            <a:endParaRPr sz="3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01" y="-13340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</a:t>
            </a:r>
            <a:r>
              <a:rPr spc="-4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Decoder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Captioning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5243" y="952500"/>
            <a:ext cx="4715256" cy="25142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97636" y="923544"/>
            <a:ext cx="8266430" cy="5386070"/>
            <a:chOff x="897636" y="923544"/>
            <a:chExt cx="8266430" cy="53860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636" y="923544"/>
              <a:ext cx="5790445" cy="50387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5471159"/>
              <a:ext cx="3067811" cy="8382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325232" y="4015485"/>
            <a:ext cx="800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𝑆</a:t>
            </a:r>
            <a:r>
              <a:rPr sz="2175" baseline="-15325" dirty="0">
                <a:latin typeface="Cambria Math"/>
                <a:cs typeface="Cambria Math"/>
              </a:rPr>
              <a:t>2</a:t>
            </a:r>
            <a:r>
              <a:rPr sz="2175" spc="419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55305" y="3998975"/>
            <a:ext cx="2275840" cy="419734"/>
          </a:xfrm>
          <a:custGeom>
            <a:avLst/>
            <a:gdLst/>
            <a:ahLst/>
            <a:cxnLst/>
            <a:rect l="l" t="t" r="r" b="b"/>
            <a:pathLst>
              <a:path w="2275840" h="419735">
                <a:moveTo>
                  <a:pt x="94742" y="9906"/>
                </a:moveTo>
                <a:lnTo>
                  <a:pt x="53416" y="29933"/>
                </a:lnTo>
                <a:lnTo>
                  <a:pt x="24638" y="77470"/>
                </a:lnTo>
                <a:lnTo>
                  <a:pt x="6172" y="138722"/>
                </a:lnTo>
                <a:lnTo>
                  <a:pt x="0" y="209677"/>
                </a:lnTo>
                <a:lnTo>
                  <a:pt x="1498" y="245135"/>
                </a:lnTo>
                <a:lnTo>
                  <a:pt x="1536" y="246240"/>
                </a:lnTo>
                <a:lnTo>
                  <a:pt x="13868" y="312394"/>
                </a:lnTo>
                <a:lnTo>
                  <a:pt x="37973" y="368160"/>
                </a:lnTo>
                <a:lnTo>
                  <a:pt x="70980" y="407022"/>
                </a:lnTo>
                <a:lnTo>
                  <a:pt x="90678" y="419735"/>
                </a:lnTo>
                <a:lnTo>
                  <a:pt x="94742" y="409829"/>
                </a:lnTo>
                <a:lnTo>
                  <a:pt x="78968" y="397052"/>
                </a:lnTo>
                <a:lnTo>
                  <a:pt x="65024" y="380403"/>
                </a:lnTo>
                <a:lnTo>
                  <a:pt x="42545" y="335534"/>
                </a:lnTo>
                <a:lnTo>
                  <a:pt x="28473" y="277787"/>
                </a:lnTo>
                <a:lnTo>
                  <a:pt x="23749" y="209931"/>
                </a:lnTo>
                <a:lnTo>
                  <a:pt x="24930" y="174244"/>
                </a:lnTo>
                <a:lnTo>
                  <a:pt x="34455" y="111099"/>
                </a:lnTo>
                <a:lnTo>
                  <a:pt x="53124" y="59512"/>
                </a:lnTo>
                <a:lnTo>
                  <a:pt x="79121" y="22606"/>
                </a:lnTo>
                <a:lnTo>
                  <a:pt x="94742" y="9906"/>
                </a:lnTo>
                <a:close/>
              </a:path>
              <a:path w="2275840" h="419735">
                <a:moveTo>
                  <a:pt x="1065911" y="193421"/>
                </a:moveTo>
                <a:lnTo>
                  <a:pt x="1024509" y="193421"/>
                </a:lnTo>
                <a:lnTo>
                  <a:pt x="1024509" y="418084"/>
                </a:lnTo>
                <a:lnTo>
                  <a:pt x="1065911" y="418084"/>
                </a:lnTo>
                <a:lnTo>
                  <a:pt x="1065911" y="410591"/>
                </a:lnTo>
                <a:lnTo>
                  <a:pt x="1041400" y="410591"/>
                </a:lnTo>
                <a:lnTo>
                  <a:pt x="1041400" y="200914"/>
                </a:lnTo>
                <a:lnTo>
                  <a:pt x="1065911" y="200914"/>
                </a:lnTo>
                <a:lnTo>
                  <a:pt x="1065911" y="193421"/>
                </a:lnTo>
                <a:close/>
              </a:path>
              <a:path w="2275840" h="419735">
                <a:moveTo>
                  <a:pt x="1241933" y="291338"/>
                </a:moveTo>
                <a:lnTo>
                  <a:pt x="1241564" y="287401"/>
                </a:lnTo>
                <a:lnTo>
                  <a:pt x="1241552" y="287147"/>
                </a:lnTo>
                <a:lnTo>
                  <a:pt x="1240663" y="282956"/>
                </a:lnTo>
                <a:lnTo>
                  <a:pt x="1224788" y="282956"/>
                </a:lnTo>
                <a:lnTo>
                  <a:pt x="1225143" y="287147"/>
                </a:lnTo>
                <a:lnTo>
                  <a:pt x="1225384" y="291338"/>
                </a:lnTo>
                <a:lnTo>
                  <a:pt x="1225423" y="300990"/>
                </a:lnTo>
                <a:lnTo>
                  <a:pt x="1225245" y="303530"/>
                </a:lnTo>
                <a:lnTo>
                  <a:pt x="1225169" y="304800"/>
                </a:lnTo>
                <a:lnTo>
                  <a:pt x="1214755" y="323469"/>
                </a:lnTo>
                <a:lnTo>
                  <a:pt x="1219708" y="329057"/>
                </a:lnTo>
                <a:lnTo>
                  <a:pt x="1241933" y="299720"/>
                </a:lnTo>
                <a:lnTo>
                  <a:pt x="1241933" y="291338"/>
                </a:lnTo>
                <a:close/>
              </a:path>
              <a:path w="2275840" h="419735">
                <a:moveTo>
                  <a:pt x="1695450" y="193421"/>
                </a:moveTo>
                <a:lnTo>
                  <a:pt x="1654048" y="193421"/>
                </a:lnTo>
                <a:lnTo>
                  <a:pt x="1654048" y="200914"/>
                </a:lnTo>
                <a:lnTo>
                  <a:pt x="1678559" y="200914"/>
                </a:lnTo>
                <a:lnTo>
                  <a:pt x="1678559" y="410591"/>
                </a:lnTo>
                <a:lnTo>
                  <a:pt x="1654048" y="410591"/>
                </a:lnTo>
                <a:lnTo>
                  <a:pt x="1654048" y="418084"/>
                </a:lnTo>
                <a:lnTo>
                  <a:pt x="1695450" y="418084"/>
                </a:lnTo>
                <a:lnTo>
                  <a:pt x="1695450" y="193421"/>
                </a:lnTo>
                <a:close/>
              </a:path>
              <a:path w="2275840" h="419735">
                <a:moveTo>
                  <a:pt x="2275586" y="209677"/>
                </a:moveTo>
                <a:lnTo>
                  <a:pt x="2274100" y="174244"/>
                </a:lnTo>
                <a:lnTo>
                  <a:pt x="2274049" y="172986"/>
                </a:lnTo>
                <a:lnTo>
                  <a:pt x="2269464" y="138722"/>
                </a:lnTo>
                <a:lnTo>
                  <a:pt x="2251075" y="77470"/>
                </a:lnTo>
                <a:lnTo>
                  <a:pt x="2222271" y="29933"/>
                </a:lnTo>
                <a:lnTo>
                  <a:pt x="2184908" y="0"/>
                </a:lnTo>
                <a:lnTo>
                  <a:pt x="2180971" y="9906"/>
                </a:lnTo>
                <a:lnTo>
                  <a:pt x="2196579" y="22606"/>
                </a:lnTo>
                <a:lnTo>
                  <a:pt x="2210460" y="39141"/>
                </a:lnTo>
                <a:lnTo>
                  <a:pt x="2232914" y="83693"/>
                </a:lnTo>
                <a:lnTo>
                  <a:pt x="2247201" y="141287"/>
                </a:lnTo>
                <a:lnTo>
                  <a:pt x="2251951" y="209677"/>
                </a:lnTo>
                <a:lnTo>
                  <a:pt x="2251964" y="209931"/>
                </a:lnTo>
                <a:lnTo>
                  <a:pt x="2247214" y="277787"/>
                </a:lnTo>
                <a:lnTo>
                  <a:pt x="2233041" y="335534"/>
                </a:lnTo>
                <a:lnTo>
                  <a:pt x="2210625" y="380403"/>
                </a:lnTo>
                <a:lnTo>
                  <a:pt x="2180971" y="409829"/>
                </a:lnTo>
                <a:lnTo>
                  <a:pt x="2184908" y="419735"/>
                </a:lnTo>
                <a:lnTo>
                  <a:pt x="2222271" y="389839"/>
                </a:lnTo>
                <a:lnTo>
                  <a:pt x="2251075" y="342011"/>
                </a:lnTo>
                <a:lnTo>
                  <a:pt x="2269464" y="280466"/>
                </a:lnTo>
                <a:lnTo>
                  <a:pt x="2275573" y="209931"/>
                </a:lnTo>
                <a:lnTo>
                  <a:pt x="2275586" y="2096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21344" y="4015485"/>
            <a:ext cx="21405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17675" algn="l"/>
              </a:tabLst>
            </a:pPr>
            <a:r>
              <a:rPr sz="2000" spc="-25" dirty="0">
                <a:latin typeface="Cambria Math"/>
                <a:cs typeface="Cambria Math"/>
              </a:rPr>
              <a:t>𝑊</a:t>
            </a:r>
            <a:r>
              <a:rPr sz="2175" spc="-37" baseline="-15325" dirty="0">
                <a:latin typeface="Cambria Math"/>
                <a:cs typeface="Cambria Math"/>
              </a:rPr>
              <a:t>𝑆1</a:t>
            </a:r>
            <a:r>
              <a:rPr sz="2175" spc="225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𝑈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3000" baseline="-16666" dirty="0">
                <a:latin typeface="Cambria Math"/>
                <a:cs typeface="Cambria Math"/>
              </a:rPr>
              <a:t>𝑥</a:t>
            </a:r>
            <a:r>
              <a:rPr sz="3000" spc="-165" baseline="-16666" dirty="0">
                <a:latin typeface="Cambria Math"/>
                <a:cs typeface="Cambria Math"/>
              </a:rPr>
              <a:t> </a:t>
            </a:r>
            <a:r>
              <a:rPr sz="3000" spc="-37" baseline="-16666" dirty="0">
                <a:latin typeface="Cambria Math"/>
                <a:cs typeface="Cambria Math"/>
              </a:rPr>
              <a:t>1𝑠1</a:t>
            </a:r>
            <a:r>
              <a:rPr sz="3000" baseline="-16666" dirty="0">
                <a:latin typeface="Cambria Math"/>
                <a:cs typeface="Cambria Math"/>
              </a:rPr>
              <a:t>	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96806" y="4391405"/>
            <a:ext cx="76200" cy="291465"/>
          </a:xfrm>
          <a:custGeom>
            <a:avLst/>
            <a:gdLst/>
            <a:ahLst/>
            <a:cxnLst/>
            <a:rect l="l" t="t" r="r" b="b"/>
            <a:pathLst>
              <a:path w="76200" h="291464">
                <a:moveTo>
                  <a:pt x="28575" y="214884"/>
                </a:moveTo>
                <a:lnTo>
                  <a:pt x="0" y="214884"/>
                </a:lnTo>
                <a:lnTo>
                  <a:pt x="38100" y="291084"/>
                </a:lnTo>
                <a:lnTo>
                  <a:pt x="69850" y="227584"/>
                </a:lnTo>
                <a:lnTo>
                  <a:pt x="28575" y="227584"/>
                </a:lnTo>
                <a:lnTo>
                  <a:pt x="28575" y="214884"/>
                </a:lnTo>
                <a:close/>
              </a:path>
              <a:path w="76200" h="291464">
                <a:moveTo>
                  <a:pt x="47625" y="0"/>
                </a:moveTo>
                <a:lnTo>
                  <a:pt x="28575" y="0"/>
                </a:lnTo>
                <a:lnTo>
                  <a:pt x="28575" y="227584"/>
                </a:lnTo>
                <a:lnTo>
                  <a:pt x="47625" y="227584"/>
                </a:lnTo>
                <a:lnTo>
                  <a:pt x="47625" y="0"/>
                </a:lnTo>
                <a:close/>
              </a:path>
              <a:path w="76200" h="291464">
                <a:moveTo>
                  <a:pt x="76200" y="214884"/>
                </a:moveTo>
                <a:lnTo>
                  <a:pt x="47625" y="214884"/>
                </a:lnTo>
                <a:lnTo>
                  <a:pt x="47625" y="227584"/>
                </a:lnTo>
                <a:lnTo>
                  <a:pt x="69850" y="227584"/>
                </a:lnTo>
                <a:lnTo>
                  <a:pt x="76200" y="2148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59033" y="5534025"/>
            <a:ext cx="2275790" cy="3619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391783" y="4700778"/>
            <a:ext cx="3992245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6264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Concatenate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x1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S1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Recap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4695" y="0"/>
            <a:ext cx="6247765" cy="6202680"/>
            <a:chOff x="234695" y="0"/>
            <a:chExt cx="6247765" cy="6202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695" y="0"/>
              <a:ext cx="6247640" cy="5582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9340" y="4158996"/>
              <a:ext cx="3535679" cy="2043683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80631" y="545581"/>
            <a:ext cx="5199887" cy="539039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812291"/>
            <a:ext cx="3581723" cy="54098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5959" y="582162"/>
            <a:ext cx="5105399" cy="55336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3149" y="0"/>
            <a:ext cx="11899798" cy="555151"/>
          </a:xfrm>
          <a:prstGeom prst="rect">
            <a:avLst/>
          </a:prstGeom>
        </p:spPr>
        <p:txBody>
          <a:bodyPr vert="horz" wrap="square" lIns="0" tIns="62102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Encoder</a:t>
            </a:r>
            <a:r>
              <a:rPr sz="3200" spc="-40" dirty="0"/>
              <a:t> </a:t>
            </a:r>
            <a:r>
              <a:rPr sz="3200" dirty="0"/>
              <a:t>–</a:t>
            </a:r>
            <a:r>
              <a:rPr sz="3200" spc="-10" dirty="0"/>
              <a:t> </a:t>
            </a:r>
            <a:r>
              <a:rPr sz="3200" dirty="0"/>
              <a:t>Decoder</a:t>
            </a:r>
            <a:r>
              <a:rPr sz="3200" spc="-35" dirty="0"/>
              <a:t> </a:t>
            </a:r>
            <a:r>
              <a:rPr sz="3200" dirty="0"/>
              <a:t>for</a:t>
            </a:r>
            <a:r>
              <a:rPr sz="3200" spc="-20" dirty="0"/>
              <a:t> </a:t>
            </a:r>
            <a:r>
              <a:rPr sz="3200" dirty="0"/>
              <a:t>Machine</a:t>
            </a:r>
            <a:r>
              <a:rPr sz="3200" spc="-55" dirty="0"/>
              <a:t> </a:t>
            </a:r>
            <a:r>
              <a:rPr sz="3200" dirty="0"/>
              <a:t>Translation(</a:t>
            </a:r>
            <a:r>
              <a:rPr sz="3200" spc="-50" dirty="0"/>
              <a:t> </a:t>
            </a:r>
            <a:r>
              <a:rPr sz="3200" spc="-10" dirty="0"/>
              <a:t>seq2seq)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84" y="656844"/>
            <a:ext cx="3514359" cy="54871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6817" y="656838"/>
            <a:ext cx="5201390" cy="55336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101" y="73018"/>
            <a:ext cx="11899798" cy="555151"/>
          </a:xfrm>
          <a:prstGeom prst="rect">
            <a:avLst/>
          </a:prstGeom>
        </p:spPr>
        <p:txBody>
          <a:bodyPr vert="horz" wrap="square" lIns="0" tIns="62102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Encoder</a:t>
            </a:r>
            <a:r>
              <a:rPr sz="3200" spc="-35" dirty="0"/>
              <a:t> </a:t>
            </a:r>
            <a:r>
              <a:rPr sz="3200" dirty="0"/>
              <a:t>–</a:t>
            </a:r>
            <a:r>
              <a:rPr sz="3200" spc="-5" dirty="0"/>
              <a:t> </a:t>
            </a:r>
            <a:r>
              <a:rPr sz="3200" dirty="0"/>
              <a:t>Decoder</a:t>
            </a:r>
            <a:r>
              <a:rPr sz="3200" spc="-35" dirty="0"/>
              <a:t> </a:t>
            </a:r>
            <a:r>
              <a:rPr sz="3200" dirty="0"/>
              <a:t>for</a:t>
            </a:r>
            <a:r>
              <a:rPr sz="3200" spc="-15" dirty="0"/>
              <a:t> </a:t>
            </a:r>
            <a:r>
              <a:rPr sz="3200" dirty="0"/>
              <a:t>Machine</a:t>
            </a:r>
            <a:r>
              <a:rPr sz="3200" spc="-50" dirty="0"/>
              <a:t> </a:t>
            </a:r>
            <a:r>
              <a:rPr sz="3200" spc="-10" dirty="0"/>
              <a:t>Translation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55" y="676655"/>
            <a:ext cx="3657600" cy="54856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9690" y="900683"/>
            <a:ext cx="5038724" cy="49518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101" y="140554"/>
            <a:ext cx="11899798" cy="555151"/>
          </a:xfrm>
          <a:prstGeom prst="rect">
            <a:avLst/>
          </a:prstGeom>
        </p:spPr>
        <p:txBody>
          <a:bodyPr vert="horz" wrap="square" lIns="0" tIns="62102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Encoder</a:t>
            </a:r>
            <a:r>
              <a:rPr sz="3200" spc="-35" dirty="0"/>
              <a:t> </a:t>
            </a:r>
            <a:r>
              <a:rPr sz="3200" dirty="0"/>
              <a:t>–</a:t>
            </a:r>
            <a:r>
              <a:rPr sz="3200" spc="-5" dirty="0"/>
              <a:t> </a:t>
            </a:r>
            <a:r>
              <a:rPr sz="3200" dirty="0"/>
              <a:t>Decoder</a:t>
            </a:r>
            <a:r>
              <a:rPr sz="3200" spc="-35" dirty="0"/>
              <a:t> </a:t>
            </a:r>
            <a:r>
              <a:rPr sz="3200" dirty="0"/>
              <a:t>for</a:t>
            </a:r>
            <a:r>
              <a:rPr sz="3200" spc="-15" dirty="0"/>
              <a:t> </a:t>
            </a:r>
            <a:r>
              <a:rPr sz="3200" dirty="0"/>
              <a:t>Machine</a:t>
            </a:r>
            <a:r>
              <a:rPr sz="3200" spc="-50" dirty="0"/>
              <a:t> </a:t>
            </a:r>
            <a:r>
              <a:rPr sz="3200" spc="-10" dirty="0"/>
              <a:t>Transliteration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690372"/>
            <a:ext cx="3962023" cy="54772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3579" y="580644"/>
            <a:ext cx="5143500" cy="562051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101" y="73025"/>
            <a:ext cx="11899798" cy="555151"/>
          </a:xfrm>
          <a:prstGeom prst="rect">
            <a:avLst/>
          </a:prstGeom>
        </p:spPr>
        <p:txBody>
          <a:bodyPr vert="horz" wrap="square" lIns="0" tIns="62102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Encoder</a:t>
            </a:r>
            <a:r>
              <a:rPr sz="3200" spc="-35" dirty="0"/>
              <a:t> </a:t>
            </a:r>
            <a:r>
              <a:rPr sz="3200" dirty="0"/>
              <a:t>–</a:t>
            </a:r>
            <a:r>
              <a:rPr sz="3200" spc="-5" dirty="0"/>
              <a:t> </a:t>
            </a:r>
            <a:r>
              <a:rPr sz="3200" dirty="0"/>
              <a:t>Decoder</a:t>
            </a:r>
            <a:r>
              <a:rPr sz="3200" spc="-35" dirty="0"/>
              <a:t> </a:t>
            </a:r>
            <a:r>
              <a:rPr sz="3200" dirty="0"/>
              <a:t>for</a:t>
            </a:r>
            <a:r>
              <a:rPr sz="3200" spc="-15" dirty="0"/>
              <a:t> </a:t>
            </a:r>
            <a:r>
              <a:rPr sz="3200" dirty="0"/>
              <a:t>Machine</a:t>
            </a:r>
            <a:r>
              <a:rPr sz="3200" spc="-50" dirty="0"/>
              <a:t> </a:t>
            </a:r>
            <a:r>
              <a:rPr sz="3200" spc="-10" dirty="0"/>
              <a:t>Transliteration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759" y="1210055"/>
            <a:ext cx="10556875" cy="4135120"/>
          </a:xfrm>
          <a:prstGeom prst="rect">
            <a:avLst/>
          </a:prstGeom>
          <a:solidFill>
            <a:srgbClr val="FCDAFD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35"/>
              </a:spcBef>
            </a:pPr>
            <a:endParaRPr sz="44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4400" b="1" spc="-10" dirty="0">
                <a:solidFill>
                  <a:srgbClr val="000000"/>
                </a:solidFill>
                <a:latin typeface="Calibri"/>
                <a:cs typeface="Calibri"/>
              </a:rPr>
              <a:t>Attention</a:t>
            </a:r>
            <a:r>
              <a:rPr sz="4400" b="1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libri"/>
                <a:cs typeface="Calibri"/>
              </a:rPr>
              <a:t>Mechanism</a:t>
            </a:r>
            <a:r>
              <a:rPr sz="44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4400" b="1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libri"/>
                <a:cs typeface="Calibri"/>
              </a:rPr>
              <a:t>Deep</a:t>
            </a:r>
            <a:r>
              <a:rPr sz="4400" b="1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libri"/>
                <a:cs typeface="Calibri"/>
              </a:rPr>
              <a:t>Learning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083739"/>
            <a:ext cx="4572000" cy="1872051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65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2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212121"/>
                </a:solidFill>
                <a:latin typeface="Tahoma"/>
                <a:cs typeface="Tahoma"/>
              </a:rPr>
              <a:t>psychology</a:t>
            </a:r>
            <a:endParaRPr sz="2800" dirty="0">
              <a:latin typeface="Tahoma"/>
              <a:cs typeface="Tahoma"/>
            </a:endParaRPr>
          </a:p>
          <a:p>
            <a:pPr marL="697230" marR="5080" lvl="1" indent="-227329" algn="just">
              <a:lnSpc>
                <a:spcPct val="90000"/>
              </a:lnSpc>
              <a:spcBef>
                <a:spcPts val="52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35" dirty="0">
                <a:solidFill>
                  <a:srgbClr val="212121"/>
                </a:solidFill>
                <a:latin typeface="Tahoma"/>
                <a:cs typeface="Tahoma"/>
              </a:rPr>
              <a:t>Attention</a:t>
            </a:r>
            <a:r>
              <a:rPr sz="24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24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24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12121"/>
                </a:solidFill>
                <a:latin typeface="Tahoma"/>
                <a:cs typeface="Tahoma"/>
              </a:rPr>
              <a:t>cognitive 	</a:t>
            </a:r>
            <a:r>
              <a:rPr sz="2400" spc="-85" dirty="0">
                <a:solidFill>
                  <a:srgbClr val="212121"/>
                </a:solidFill>
                <a:latin typeface="Tahoma"/>
                <a:cs typeface="Tahoma"/>
              </a:rPr>
              <a:t>process</a:t>
            </a:r>
            <a:r>
              <a:rPr lang="en-US" sz="24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2400" spc="-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12121"/>
                </a:solidFill>
                <a:latin typeface="Tahoma"/>
                <a:cs typeface="Tahoma"/>
              </a:rPr>
              <a:t>selectively 	</a:t>
            </a:r>
            <a:r>
              <a:rPr sz="2400" spc="-120" dirty="0">
                <a:solidFill>
                  <a:srgbClr val="212121"/>
                </a:solidFill>
                <a:latin typeface="Tahoma"/>
                <a:cs typeface="Tahoma"/>
              </a:rPr>
              <a:t>concentrating</a:t>
            </a:r>
            <a:r>
              <a:rPr sz="24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Tahoma"/>
                <a:cs typeface="Tahoma"/>
              </a:rPr>
              <a:t>on</a:t>
            </a:r>
            <a:r>
              <a:rPr sz="24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Tahoma"/>
                <a:cs typeface="Tahoma"/>
              </a:rPr>
              <a:t>one</a:t>
            </a:r>
            <a:r>
              <a:rPr sz="24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24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lang="en-US" sz="24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Tahoma"/>
                <a:cs typeface="Tahoma"/>
              </a:rPr>
              <a:t>few</a:t>
            </a:r>
            <a:r>
              <a:rPr sz="24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Tahoma"/>
                <a:cs typeface="Tahoma"/>
              </a:rPr>
              <a:t>things</a:t>
            </a:r>
            <a:r>
              <a:rPr sz="24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Tahoma"/>
                <a:cs typeface="Tahoma"/>
              </a:rPr>
              <a:t>while</a:t>
            </a:r>
            <a:r>
              <a:rPr sz="2400" spc="-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12121"/>
                </a:solidFill>
                <a:latin typeface="Tahoma"/>
                <a:cs typeface="Tahoma"/>
              </a:rPr>
              <a:t>ignoring others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9805" y="73863"/>
            <a:ext cx="533999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60" dirty="0">
                <a:solidFill>
                  <a:srgbClr val="C00000"/>
                </a:solidFill>
                <a:latin typeface="Tahoma"/>
                <a:cs typeface="Tahoma"/>
              </a:rPr>
              <a:t>What</a:t>
            </a:r>
            <a:r>
              <a:rPr b="1" spc="-1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b="1" spc="-204" dirty="0">
                <a:solidFill>
                  <a:srgbClr val="C00000"/>
                </a:solidFill>
                <a:latin typeface="Tahoma"/>
                <a:cs typeface="Tahoma"/>
              </a:rPr>
              <a:t>is</a:t>
            </a:r>
            <a:r>
              <a:rPr b="1" spc="-1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b="1" spc="-165" dirty="0">
                <a:solidFill>
                  <a:srgbClr val="C00000"/>
                </a:solidFill>
                <a:latin typeface="Tahoma"/>
                <a:cs typeface="Tahoma"/>
              </a:rPr>
              <a:t>Attention?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2915" y="1354836"/>
            <a:ext cx="6577584" cy="46908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14312" y="4018788"/>
            <a:ext cx="4049395" cy="285750"/>
            <a:chOff x="414312" y="4018788"/>
            <a:chExt cx="4049395" cy="285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7" y="4030853"/>
              <a:ext cx="4036547" cy="2733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408" y="4024884"/>
              <a:ext cx="4024591" cy="2612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0715" y="4085844"/>
              <a:ext cx="2835275" cy="149860"/>
            </a:xfrm>
            <a:custGeom>
              <a:avLst/>
              <a:gdLst/>
              <a:ahLst/>
              <a:cxnLst/>
              <a:rect l="l" t="t" r="r" b="b"/>
              <a:pathLst>
                <a:path w="2835275" h="149860">
                  <a:moveTo>
                    <a:pt x="32880" y="29590"/>
                  </a:moveTo>
                  <a:lnTo>
                    <a:pt x="27330" y="29590"/>
                  </a:lnTo>
                  <a:lnTo>
                    <a:pt x="22466" y="30606"/>
                  </a:lnTo>
                  <a:lnTo>
                    <a:pt x="18300" y="32638"/>
                  </a:lnTo>
                  <a:lnTo>
                    <a:pt x="14135" y="34670"/>
                  </a:lnTo>
                  <a:lnTo>
                    <a:pt x="10706" y="37591"/>
                  </a:lnTo>
                  <a:lnTo>
                    <a:pt x="8026" y="41528"/>
                  </a:lnTo>
                  <a:lnTo>
                    <a:pt x="5346" y="45465"/>
                  </a:lnTo>
                  <a:lnTo>
                    <a:pt x="3340" y="50164"/>
                  </a:lnTo>
                  <a:lnTo>
                    <a:pt x="2006" y="55752"/>
                  </a:lnTo>
                  <a:lnTo>
                    <a:pt x="660" y="61213"/>
                  </a:lnTo>
                  <a:lnTo>
                    <a:pt x="0" y="67436"/>
                  </a:lnTo>
                  <a:lnTo>
                    <a:pt x="0" y="74548"/>
                  </a:lnTo>
                  <a:lnTo>
                    <a:pt x="0" y="81025"/>
                  </a:lnTo>
                  <a:lnTo>
                    <a:pt x="546" y="87121"/>
                  </a:lnTo>
                  <a:lnTo>
                    <a:pt x="1638" y="92582"/>
                  </a:lnTo>
                  <a:lnTo>
                    <a:pt x="2717" y="98170"/>
                  </a:lnTo>
                  <a:lnTo>
                    <a:pt x="4483" y="102869"/>
                  </a:lnTo>
                  <a:lnTo>
                    <a:pt x="6921" y="106933"/>
                  </a:lnTo>
                  <a:lnTo>
                    <a:pt x="9347" y="110997"/>
                  </a:lnTo>
                  <a:lnTo>
                    <a:pt x="12649" y="114172"/>
                  </a:lnTo>
                  <a:lnTo>
                    <a:pt x="16814" y="116458"/>
                  </a:lnTo>
                  <a:lnTo>
                    <a:pt x="20980" y="118617"/>
                  </a:lnTo>
                  <a:lnTo>
                    <a:pt x="26136" y="119760"/>
                  </a:lnTo>
                  <a:lnTo>
                    <a:pt x="32296" y="119760"/>
                  </a:lnTo>
                  <a:lnTo>
                    <a:pt x="37947" y="119760"/>
                  </a:lnTo>
                  <a:lnTo>
                    <a:pt x="42862" y="118744"/>
                  </a:lnTo>
                  <a:lnTo>
                    <a:pt x="47028" y="116712"/>
                  </a:lnTo>
                  <a:lnTo>
                    <a:pt x="51193" y="114680"/>
                  </a:lnTo>
                  <a:lnTo>
                    <a:pt x="54609" y="111759"/>
                  </a:lnTo>
                  <a:lnTo>
                    <a:pt x="57289" y="107822"/>
                  </a:lnTo>
                  <a:lnTo>
                    <a:pt x="59969" y="104012"/>
                  </a:lnTo>
                  <a:lnTo>
                    <a:pt x="61963" y="99313"/>
                  </a:lnTo>
                  <a:lnTo>
                    <a:pt x="63245" y="93852"/>
                  </a:lnTo>
                  <a:lnTo>
                    <a:pt x="64541" y="88264"/>
                  </a:lnTo>
                  <a:lnTo>
                    <a:pt x="65176" y="82041"/>
                  </a:lnTo>
                  <a:lnTo>
                    <a:pt x="65176" y="74929"/>
                  </a:lnTo>
                  <a:lnTo>
                    <a:pt x="65176" y="68452"/>
                  </a:lnTo>
                  <a:lnTo>
                    <a:pt x="58331" y="42544"/>
                  </a:lnTo>
                  <a:lnTo>
                    <a:pt x="55854" y="38480"/>
                  </a:lnTo>
                  <a:lnTo>
                    <a:pt x="52552" y="35305"/>
                  </a:lnTo>
                  <a:lnTo>
                    <a:pt x="48437" y="33019"/>
                  </a:lnTo>
                  <a:lnTo>
                    <a:pt x="44322" y="30733"/>
                  </a:lnTo>
                  <a:lnTo>
                    <a:pt x="39141" y="29590"/>
                  </a:lnTo>
                  <a:lnTo>
                    <a:pt x="32880" y="29590"/>
                  </a:lnTo>
                  <a:close/>
                </a:path>
                <a:path w="2835275" h="149860">
                  <a:moveTo>
                    <a:pt x="2771775" y="26415"/>
                  </a:moveTo>
                  <a:lnTo>
                    <a:pt x="2766949" y="26415"/>
                  </a:lnTo>
                  <a:lnTo>
                    <a:pt x="2762885" y="27304"/>
                  </a:lnTo>
                  <a:lnTo>
                    <a:pt x="2759329" y="29082"/>
                  </a:lnTo>
                  <a:lnTo>
                    <a:pt x="2755773" y="30860"/>
                  </a:lnTo>
                  <a:lnTo>
                    <a:pt x="2745232" y="47116"/>
                  </a:lnTo>
                  <a:lnTo>
                    <a:pt x="2743962" y="51180"/>
                  </a:lnTo>
                  <a:lnTo>
                    <a:pt x="2743200" y="55625"/>
                  </a:lnTo>
                  <a:lnTo>
                    <a:pt x="2743073" y="60197"/>
                  </a:lnTo>
                  <a:lnTo>
                    <a:pt x="2798953" y="60197"/>
                  </a:lnTo>
                  <a:lnTo>
                    <a:pt x="2781173" y="26415"/>
                  </a:lnTo>
                  <a:lnTo>
                    <a:pt x="2771775" y="26415"/>
                  </a:lnTo>
                  <a:close/>
                </a:path>
                <a:path w="2835275" h="149860">
                  <a:moveTo>
                    <a:pt x="1974723" y="26415"/>
                  </a:moveTo>
                  <a:lnTo>
                    <a:pt x="1969897" y="26415"/>
                  </a:lnTo>
                  <a:lnTo>
                    <a:pt x="1965833" y="27304"/>
                  </a:lnTo>
                  <a:lnTo>
                    <a:pt x="1962277" y="29082"/>
                  </a:lnTo>
                  <a:lnTo>
                    <a:pt x="1958721" y="30860"/>
                  </a:lnTo>
                  <a:lnTo>
                    <a:pt x="1955800" y="33273"/>
                  </a:lnTo>
                  <a:lnTo>
                    <a:pt x="1953514" y="36321"/>
                  </a:lnTo>
                  <a:lnTo>
                    <a:pt x="1951227" y="39369"/>
                  </a:lnTo>
                  <a:lnTo>
                    <a:pt x="1949450" y="42925"/>
                  </a:lnTo>
                  <a:lnTo>
                    <a:pt x="1948179" y="47116"/>
                  </a:lnTo>
                  <a:lnTo>
                    <a:pt x="1946910" y="51180"/>
                  </a:lnTo>
                  <a:lnTo>
                    <a:pt x="1946148" y="55625"/>
                  </a:lnTo>
                  <a:lnTo>
                    <a:pt x="1946021" y="60197"/>
                  </a:lnTo>
                  <a:lnTo>
                    <a:pt x="2001901" y="60197"/>
                  </a:lnTo>
                  <a:lnTo>
                    <a:pt x="1984121" y="26415"/>
                  </a:lnTo>
                  <a:lnTo>
                    <a:pt x="1974723" y="26415"/>
                  </a:lnTo>
                  <a:close/>
                </a:path>
                <a:path w="2835275" h="149860">
                  <a:moveTo>
                    <a:pt x="2156841" y="2539"/>
                  </a:moveTo>
                  <a:lnTo>
                    <a:pt x="2160524" y="2539"/>
                  </a:lnTo>
                  <a:lnTo>
                    <a:pt x="2163572" y="2666"/>
                  </a:lnTo>
                  <a:lnTo>
                    <a:pt x="2165985" y="2920"/>
                  </a:lnTo>
                  <a:lnTo>
                    <a:pt x="2168398" y="3301"/>
                  </a:lnTo>
                  <a:lnTo>
                    <a:pt x="2170303" y="3682"/>
                  </a:lnTo>
                  <a:lnTo>
                    <a:pt x="2171700" y="4190"/>
                  </a:lnTo>
                  <a:lnTo>
                    <a:pt x="2173097" y="4698"/>
                  </a:lnTo>
                  <a:lnTo>
                    <a:pt x="2174113" y="5333"/>
                  </a:lnTo>
                  <a:lnTo>
                    <a:pt x="2174748" y="6095"/>
                  </a:lnTo>
                  <a:lnTo>
                    <a:pt x="2175383" y="6857"/>
                  </a:lnTo>
                  <a:lnTo>
                    <a:pt x="2175637" y="7746"/>
                  </a:lnTo>
                  <a:lnTo>
                    <a:pt x="2175637" y="8762"/>
                  </a:lnTo>
                  <a:lnTo>
                    <a:pt x="2175637" y="141223"/>
                  </a:lnTo>
                  <a:lnTo>
                    <a:pt x="2175637" y="142239"/>
                  </a:lnTo>
                  <a:lnTo>
                    <a:pt x="2175383" y="143001"/>
                  </a:lnTo>
                  <a:lnTo>
                    <a:pt x="2174748" y="143763"/>
                  </a:lnTo>
                  <a:lnTo>
                    <a:pt x="2174113" y="144525"/>
                  </a:lnTo>
                  <a:lnTo>
                    <a:pt x="2173097" y="145160"/>
                  </a:lnTo>
                  <a:lnTo>
                    <a:pt x="2171700" y="145668"/>
                  </a:lnTo>
                  <a:lnTo>
                    <a:pt x="2170303" y="146176"/>
                  </a:lnTo>
                  <a:lnTo>
                    <a:pt x="2168398" y="146557"/>
                  </a:lnTo>
                  <a:lnTo>
                    <a:pt x="2165985" y="146811"/>
                  </a:lnTo>
                  <a:lnTo>
                    <a:pt x="2163572" y="147065"/>
                  </a:lnTo>
                  <a:lnTo>
                    <a:pt x="2160524" y="147192"/>
                  </a:lnTo>
                  <a:lnTo>
                    <a:pt x="2156841" y="147192"/>
                  </a:lnTo>
                  <a:lnTo>
                    <a:pt x="2153158" y="147192"/>
                  </a:lnTo>
                  <a:lnTo>
                    <a:pt x="2150237" y="147065"/>
                  </a:lnTo>
                  <a:lnTo>
                    <a:pt x="2147824" y="146811"/>
                  </a:lnTo>
                  <a:lnTo>
                    <a:pt x="2145411" y="146557"/>
                  </a:lnTo>
                  <a:lnTo>
                    <a:pt x="2143505" y="146176"/>
                  </a:lnTo>
                  <a:lnTo>
                    <a:pt x="2142109" y="145668"/>
                  </a:lnTo>
                  <a:lnTo>
                    <a:pt x="2140585" y="145160"/>
                  </a:lnTo>
                  <a:lnTo>
                    <a:pt x="2139568" y="144525"/>
                  </a:lnTo>
                  <a:lnTo>
                    <a:pt x="2139061" y="143763"/>
                  </a:lnTo>
                  <a:lnTo>
                    <a:pt x="2138426" y="143001"/>
                  </a:lnTo>
                  <a:lnTo>
                    <a:pt x="2138172" y="142239"/>
                  </a:lnTo>
                  <a:lnTo>
                    <a:pt x="2138172" y="141223"/>
                  </a:lnTo>
                  <a:lnTo>
                    <a:pt x="2138172" y="8762"/>
                  </a:lnTo>
                  <a:lnTo>
                    <a:pt x="2138172" y="7746"/>
                  </a:lnTo>
                  <a:lnTo>
                    <a:pt x="2138426" y="6857"/>
                  </a:lnTo>
                  <a:lnTo>
                    <a:pt x="2139061" y="6095"/>
                  </a:lnTo>
                  <a:lnTo>
                    <a:pt x="2139568" y="5333"/>
                  </a:lnTo>
                  <a:lnTo>
                    <a:pt x="2140585" y="4698"/>
                  </a:lnTo>
                  <a:lnTo>
                    <a:pt x="2142109" y="4190"/>
                  </a:lnTo>
                  <a:lnTo>
                    <a:pt x="2143505" y="3682"/>
                  </a:lnTo>
                  <a:lnTo>
                    <a:pt x="2145411" y="3301"/>
                  </a:lnTo>
                  <a:lnTo>
                    <a:pt x="2147824" y="2920"/>
                  </a:lnTo>
                  <a:lnTo>
                    <a:pt x="2150237" y="2666"/>
                  </a:lnTo>
                  <a:lnTo>
                    <a:pt x="2153158" y="2539"/>
                  </a:lnTo>
                  <a:lnTo>
                    <a:pt x="2156841" y="2539"/>
                  </a:lnTo>
                  <a:close/>
                </a:path>
                <a:path w="2835275" h="149860">
                  <a:moveTo>
                    <a:pt x="139280" y="2539"/>
                  </a:moveTo>
                  <a:lnTo>
                    <a:pt x="143255" y="2539"/>
                  </a:lnTo>
                  <a:lnTo>
                    <a:pt x="146481" y="2539"/>
                  </a:lnTo>
                  <a:lnTo>
                    <a:pt x="148958" y="2793"/>
                  </a:lnTo>
                  <a:lnTo>
                    <a:pt x="151434" y="3047"/>
                  </a:lnTo>
                  <a:lnTo>
                    <a:pt x="153377" y="3301"/>
                  </a:lnTo>
                  <a:lnTo>
                    <a:pt x="154762" y="3809"/>
                  </a:lnTo>
                  <a:lnTo>
                    <a:pt x="156159" y="4317"/>
                  </a:lnTo>
                  <a:lnTo>
                    <a:pt x="157124" y="4952"/>
                  </a:lnTo>
                  <a:lnTo>
                    <a:pt x="157670" y="5841"/>
                  </a:lnTo>
                  <a:lnTo>
                    <a:pt x="158216" y="6730"/>
                  </a:lnTo>
                  <a:lnTo>
                    <a:pt x="158635" y="7746"/>
                  </a:lnTo>
                  <a:lnTo>
                    <a:pt x="158927" y="8889"/>
                  </a:lnTo>
                  <a:lnTo>
                    <a:pt x="185280" y="106425"/>
                  </a:lnTo>
                  <a:lnTo>
                    <a:pt x="185572" y="108203"/>
                  </a:lnTo>
                  <a:lnTo>
                    <a:pt x="185864" y="106425"/>
                  </a:lnTo>
                  <a:lnTo>
                    <a:pt x="210578" y="8889"/>
                  </a:lnTo>
                  <a:lnTo>
                    <a:pt x="210870" y="7746"/>
                  </a:lnTo>
                  <a:lnTo>
                    <a:pt x="211340" y="6730"/>
                  </a:lnTo>
                  <a:lnTo>
                    <a:pt x="211988" y="5841"/>
                  </a:lnTo>
                  <a:lnTo>
                    <a:pt x="212636" y="4952"/>
                  </a:lnTo>
                  <a:lnTo>
                    <a:pt x="213601" y="4317"/>
                  </a:lnTo>
                  <a:lnTo>
                    <a:pt x="214896" y="3809"/>
                  </a:lnTo>
                  <a:lnTo>
                    <a:pt x="216179" y="3301"/>
                  </a:lnTo>
                  <a:lnTo>
                    <a:pt x="217995" y="3047"/>
                  </a:lnTo>
                  <a:lnTo>
                    <a:pt x="220319" y="2793"/>
                  </a:lnTo>
                  <a:lnTo>
                    <a:pt x="222656" y="2539"/>
                  </a:lnTo>
                  <a:lnTo>
                    <a:pt x="225653" y="2539"/>
                  </a:lnTo>
                  <a:lnTo>
                    <a:pt x="229323" y="2539"/>
                  </a:lnTo>
                  <a:lnTo>
                    <a:pt x="232994" y="2539"/>
                  </a:lnTo>
                  <a:lnTo>
                    <a:pt x="235978" y="2666"/>
                  </a:lnTo>
                  <a:lnTo>
                    <a:pt x="238251" y="2920"/>
                  </a:lnTo>
                  <a:lnTo>
                    <a:pt x="240537" y="3174"/>
                  </a:lnTo>
                  <a:lnTo>
                    <a:pt x="242354" y="3428"/>
                  </a:lnTo>
                  <a:lnTo>
                    <a:pt x="243687" y="3936"/>
                  </a:lnTo>
                  <a:lnTo>
                    <a:pt x="245033" y="4317"/>
                  </a:lnTo>
                  <a:lnTo>
                    <a:pt x="274269" y="106552"/>
                  </a:lnTo>
                  <a:lnTo>
                    <a:pt x="274713" y="108203"/>
                  </a:lnTo>
                  <a:lnTo>
                    <a:pt x="275018" y="106425"/>
                  </a:lnTo>
                  <a:lnTo>
                    <a:pt x="300316" y="8889"/>
                  </a:lnTo>
                  <a:lnTo>
                    <a:pt x="300520" y="7746"/>
                  </a:lnTo>
                  <a:lnTo>
                    <a:pt x="300913" y="6730"/>
                  </a:lnTo>
                  <a:lnTo>
                    <a:pt x="301510" y="5841"/>
                  </a:lnTo>
                  <a:lnTo>
                    <a:pt x="302107" y="4952"/>
                  </a:lnTo>
                  <a:lnTo>
                    <a:pt x="303098" y="4317"/>
                  </a:lnTo>
                  <a:lnTo>
                    <a:pt x="304482" y="3809"/>
                  </a:lnTo>
                  <a:lnTo>
                    <a:pt x="305879" y="3301"/>
                  </a:lnTo>
                  <a:lnTo>
                    <a:pt x="307759" y="3047"/>
                  </a:lnTo>
                  <a:lnTo>
                    <a:pt x="310146" y="2793"/>
                  </a:lnTo>
                  <a:lnTo>
                    <a:pt x="312521" y="2539"/>
                  </a:lnTo>
                  <a:lnTo>
                    <a:pt x="315544" y="2539"/>
                  </a:lnTo>
                  <a:lnTo>
                    <a:pt x="319214" y="2539"/>
                  </a:lnTo>
                  <a:lnTo>
                    <a:pt x="322884" y="2539"/>
                  </a:lnTo>
                  <a:lnTo>
                    <a:pt x="325894" y="2539"/>
                  </a:lnTo>
                  <a:lnTo>
                    <a:pt x="328218" y="2793"/>
                  </a:lnTo>
                  <a:lnTo>
                    <a:pt x="330555" y="3047"/>
                  </a:lnTo>
                  <a:lnTo>
                    <a:pt x="332397" y="3301"/>
                  </a:lnTo>
                  <a:lnTo>
                    <a:pt x="333730" y="3809"/>
                  </a:lnTo>
                  <a:lnTo>
                    <a:pt x="335064" y="4190"/>
                  </a:lnTo>
                  <a:lnTo>
                    <a:pt x="335991" y="4825"/>
                  </a:lnTo>
                  <a:lnTo>
                    <a:pt x="336486" y="5587"/>
                  </a:lnTo>
                  <a:lnTo>
                    <a:pt x="336981" y="6349"/>
                  </a:lnTo>
                  <a:lnTo>
                    <a:pt x="337223" y="7111"/>
                  </a:lnTo>
                  <a:lnTo>
                    <a:pt x="337223" y="8127"/>
                  </a:lnTo>
                  <a:lnTo>
                    <a:pt x="337223" y="9270"/>
                  </a:lnTo>
                  <a:lnTo>
                    <a:pt x="299719" y="139064"/>
                  </a:lnTo>
                  <a:lnTo>
                    <a:pt x="299224" y="140842"/>
                  </a:lnTo>
                  <a:lnTo>
                    <a:pt x="287147" y="146811"/>
                  </a:lnTo>
                  <a:lnTo>
                    <a:pt x="284124" y="147065"/>
                  </a:lnTo>
                  <a:lnTo>
                    <a:pt x="280174" y="147192"/>
                  </a:lnTo>
                  <a:lnTo>
                    <a:pt x="275310" y="147192"/>
                  </a:lnTo>
                  <a:lnTo>
                    <a:pt x="270459" y="147192"/>
                  </a:lnTo>
                  <a:lnTo>
                    <a:pt x="266484" y="147065"/>
                  </a:lnTo>
                  <a:lnTo>
                    <a:pt x="263410" y="146811"/>
                  </a:lnTo>
                  <a:lnTo>
                    <a:pt x="260337" y="146557"/>
                  </a:lnTo>
                  <a:lnTo>
                    <a:pt x="257924" y="146176"/>
                  </a:lnTo>
                  <a:lnTo>
                    <a:pt x="256197" y="145541"/>
                  </a:lnTo>
                  <a:lnTo>
                    <a:pt x="254457" y="144906"/>
                  </a:lnTo>
                  <a:lnTo>
                    <a:pt x="253187" y="144144"/>
                  </a:lnTo>
                  <a:lnTo>
                    <a:pt x="252399" y="143001"/>
                  </a:lnTo>
                  <a:lnTo>
                    <a:pt x="251599" y="141985"/>
                  </a:lnTo>
                  <a:lnTo>
                    <a:pt x="251002" y="140715"/>
                  </a:lnTo>
                  <a:lnTo>
                    <a:pt x="250609" y="139064"/>
                  </a:lnTo>
                  <a:lnTo>
                    <a:pt x="228282" y="58419"/>
                  </a:lnTo>
                  <a:lnTo>
                    <a:pt x="227990" y="57149"/>
                  </a:lnTo>
                  <a:lnTo>
                    <a:pt x="227685" y="58419"/>
                  </a:lnTo>
                  <a:lnTo>
                    <a:pt x="207149" y="139064"/>
                  </a:lnTo>
                  <a:lnTo>
                    <a:pt x="194348" y="146811"/>
                  </a:lnTo>
                  <a:lnTo>
                    <a:pt x="191274" y="147065"/>
                  </a:lnTo>
                  <a:lnTo>
                    <a:pt x="187312" y="147192"/>
                  </a:lnTo>
                  <a:lnTo>
                    <a:pt x="182448" y="147192"/>
                  </a:lnTo>
                  <a:lnTo>
                    <a:pt x="177482" y="147192"/>
                  </a:lnTo>
                  <a:lnTo>
                    <a:pt x="173494" y="147065"/>
                  </a:lnTo>
                  <a:lnTo>
                    <a:pt x="170472" y="146811"/>
                  </a:lnTo>
                  <a:lnTo>
                    <a:pt x="167436" y="146557"/>
                  </a:lnTo>
                  <a:lnTo>
                    <a:pt x="159524" y="143001"/>
                  </a:lnTo>
                  <a:lnTo>
                    <a:pt x="158737" y="141985"/>
                  </a:lnTo>
                  <a:lnTo>
                    <a:pt x="158140" y="140715"/>
                  </a:lnTo>
                  <a:lnTo>
                    <a:pt x="157746" y="139064"/>
                  </a:lnTo>
                  <a:lnTo>
                    <a:pt x="122618" y="19049"/>
                  </a:lnTo>
                  <a:lnTo>
                    <a:pt x="121729" y="16128"/>
                  </a:lnTo>
                  <a:lnTo>
                    <a:pt x="121157" y="13842"/>
                  </a:lnTo>
                  <a:lnTo>
                    <a:pt x="120903" y="12191"/>
                  </a:lnTo>
                  <a:lnTo>
                    <a:pt x="120662" y="10667"/>
                  </a:lnTo>
                  <a:lnTo>
                    <a:pt x="120535" y="9270"/>
                  </a:lnTo>
                  <a:lnTo>
                    <a:pt x="120535" y="8127"/>
                  </a:lnTo>
                  <a:lnTo>
                    <a:pt x="120535" y="7111"/>
                  </a:lnTo>
                  <a:lnTo>
                    <a:pt x="120802" y="6349"/>
                  </a:lnTo>
                  <a:lnTo>
                    <a:pt x="121348" y="5587"/>
                  </a:lnTo>
                  <a:lnTo>
                    <a:pt x="121894" y="4825"/>
                  </a:lnTo>
                  <a:lnTo>
                    <a:pt x="122885" y="4190"/>
                  </a:lnTo>
                  <a:lnTo>
                    <a:pt x="124332" y="3809"/>
                  </a:lnTo>
                  <a:lnTo>
                    <a:pt x="125768" y="3301"/>
                  </a:lnTo>
                  <a:lnTo>
                    <a:pt x="127698" y="3047"/>
                  </a:lnTo>
                  <a:lnTo>
                    <a:pt x="130136" y="2793"/>
                  </a:lnTo>
                  <a:lnTo>
                    <a:pt x="132562" y="2539"/>
                  </a:lnTo>
                  <a:lnTo>
                    <a:pt x="135610" y="2539"/>
                  </a:lnTo>
                  <a:lnTo>
                    <a:pt x="139280" y="2539"/>
                  </a:lnTo>
                  <a:close/>
                </a:path>
                <a:path w="2835275" h="149860">
                  <a:moveTo>
                    <a:pt x="2772664" y="0"/>
                  </a:moveTo>
                  <a:lnTo>
                    <a:pt x="2815463" y="12699"/>
                  </a:lnTo>
                  <a:lnTo>
                    <a:pt x="2820543" y="18541"/>
                  </a:lnTo>
                  <a:lnTo>
                    <a:pt x="2825623" y="24256"/>
                  </a:lnTo>
                  <a:lnTo>
                    <a:pt x="2835275" y="65023"/>
                  </a:lnTo>
                  <a:lnTo>
                    <a:pt x="2835275" y="70992"/>
                  </a:lnTo>
                  <a:lnTo>
                    <a:pt x="2835275" y="75564"/>
                  </a:lnTo>
                  <a:lnTo>
                    <a:pt x="2834259" y="78866"/>
                  </a:lnTo>
                  <a:lnTo>
                    <a:pt x="2832227" y="81025"/>
                  </a:lnTo>
                  <a:lnTo>
                    <a:pt x="2830195" y="83311"/>
                  </a:lnTo>
                  <a:lnTo>
                    <a:pt x="2827401" y="84327"/>
                  </a:lnTo>
                  <a:lnTo>
                    <a:pt x="2823845" y="84327"/>
                  </a:lnTo>
                  <a:lnTo>
                    <a:pt x="2743073" y="84327"/>
                  </a:lnTo>
                  <a:lnTo>
                    <a:pt x="2743073" y="90042"/>
                  </a:lnTo>
                  <a:lnTo>
                    <a:pt x="2743708" y="95122"/>
                  </a:lnTo>
                  <a:lnTo>
                    <a:pt x="2745105" y="99694"/>
                  </a:lnTo>
                  <a:lnTo>
                    <a:pt x="2746375" y="104393"/>
                  </a:lnTo>
                  <a:lnTo>
                    <a:pt x="2748534" y="108330"/>
                  </a:lnTo>
                  <a:lnTo>
                    <a:pt x="2751455" y="111505"/>
                  </a:lnTo>
                  <a:lnTo>
                    <a:pt x="2754376" y="114680"/>
                  </a:lnTo>
                  <a:lnTo>
                    <a:pt x="2758186" y="117220"/>
                  </a:lnTo>
                  <a:lnTo>
                    <a:pt x="2762758" y="118871"/>
                  </a:lnTo>
                  <a:lnTo>
                    <a:pt x="2767330" y="120522"/>
                  </a:lnTo>
                  <a:lnTo>
                    <a:pt x="2772918" y="121411"/>
                  </a:lnTo>
                  <a:lnTo>
                    <a:pt x="2779395" y="121411"/>
                  </a:lnTo>
                  <a:lnTo>
                    <a:pt x="2785872" y="121411"/>
                  </a:lnTo>
                  <a:lnTo>
                    <a:pt x="2809494" y="116839"/>
                  </a:lnTo>
                  <a:lnTo>
                    <a:pt x="2813177" y="115696"/>
                  </a:lnTo>
                  <a:lnTo>
                    <a:pt x="2816098" y="114680"/>
                  </a:lnTo>
                  <a:lnTo>
                    <a:pt x="2818511" y="113791"/>
                  </a:lnTo>
                  <a:lnTo>
                    <a:pt x="2820924" y="112775"/>
                  </a:lnTo>
                  <a:lnTo>
                    <a:pt x="2822829" y="112267"/>
                  </a:lnTo>
                  <a:lnTo>
                    <a:pt x="2824353" y="112267"/>
                  </a:lnTo>
                  <a:lnTo>
                    <a:pt x="2825242" y="112267"/>
                  </a:lnTo>
                  <a:lnTo>
                    <a:pt x="2826004" y="112521"/>
                  </a:lnTo>
                  <a:lnTo>
                    <a:pt x="2826512" y="112902"/>
                  </a:lnTo>
                  <a:lnTo>
                    <a:pt x="2827147" y="113156"/>
                  </a:lnTo>
                  <a:lnTo>
                    <a:pt x="2827655" y="113791"/>
                  </a:lnTo>
                  <a:lnTo>
                    <a:pt x="2828036" y="114680"/>
                  </a:lnTo>
                  <a:lnTo>
                    <a:pt x="2828417" y="115569"/>
                  </a:lnTo>
                  <a:lnTo>
                    <a:pt x="2828671" y="116839"/>
                  </a:lnTo>
                  <a:lnTo>
                    <a:pt x="2828798" y="118490"/>
                  </a:lnTo>
                  <a:lnTo>
                    <a:pt x="2829052" y="120141"/>
                  </a:lnTo>
                  <a:lnTo>
                    <a:pt x="2829052" y="122173"/>
                  </a:lnTo>
                  <a:lnTo>
                    <a:pt x="2829052" y="124713"/>
                  </a:lnTo>
                  <a:lnTo>
                    <a:pt x="2829052" y="126872"/>
                  </a:lnTo>
                  <a:lnTo>
                    <a:pt x="2829052" y="128777"/>
                  </a:lnTo>
                  <a:lnTo>
                    <a:pt x="2828925" y="130301"/>
                  </a:lnTo>
                  <a:lnTo>
                    <a:pt x="2828798" y="131825"/>
                  </a:lnTo>
                  <a:lnTo>
                    <a:pt x="2828671" y="133095"/>
                  </a:lnTo>
                  <a:lnTo>
                    <a:pt x="2828417" y="134238"/>
                  </a:lnTo>
                  <a:lnTo>
                    <a:pt x="2828290" y="135254"/>
                  </a:lnTo>
                  <a:lnTo>
                    <a:pt x="2828036" y="136270"/>
                  </a:lnTo>
                  <a:lnTo>
                    <a:pt x="2827528" y="136905"/>
                  </a:lnTo>
                  <a:lnTo>
                    <a:pt x="2827147" y="137667"/>
                  </a:lnTo>
                  <a:lnTo>
                    <a:pt x="2826639" y="138429"/>
                  </a:lnTo>
                  <a:lnTo>
                    <a:pt x="2826004" y="139064"/>
                  </a:lnTo>
                  <a:lnTo>
                    <a:pt x="2825369" y="139826"/>
                  </a:lnTo>
                  <a:lnTo>
                    <a:pt x="2809748" y="145414"/>
                  </a:lnTo>
                  <a:lnTo>
                    <a:pt x="2805303" y="146557"/>
                  </a:lnTo>
                  <a:lnTo>
                    <a:pt x="2800096" y="147573"/>
                  </a:lnTo>
                  <a:lnTo>
                    <a:pt x="2794381" y="148462"/>
                  </a:lnTo>
                  <a:lnTo>
                    <a:pt x="2788666" y="149224"/>
                  </a:lnTo>
                  <a:lnTo>
                    <a:pt x="2782443" y="149732"/>
                  </a:lnTo>
                  <a:lnTo>
                    <a:pt x="2775966" y="149732"/>
                  </a:lnTo>
                  <a:lnTo>
                    <a:pt x="2738520" y="142664"/>
                  </a:lnTo>
                  <a:lnTo>
                    <a:pt x="2711767" y="115357"/>
                  </a:lnTo>
                  <a:lnTo>
                    <a:pt x="2704973" y="76326"/>
                  </a:lnTo>
                  <a:lnTo>
                    <a:pt x="2705258" y="67685"/>
                  </a:lnTo>
                  <a:lnTo>
                    <a:pt x="2718814" y="25536"/>
                  </a:lnTo>
                  <a:lnTo>
                    <a:pt x="2750821" y="2893"/>
                  </a:lnTo>
                  <a:lnTo>
                    <a:pt x="2764970" y="313"/>
                  </a:lnTo>
                  <a:lnTo>
                    <a:pt x="2772664" y="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7467" y="4079748"/>
              <a:ext cx="138937" cy="1593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0958" y="4079748"/>
              <a:ext cx="627379" cy="2124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48636" y="4085844"/>
              <a:ext cx="130810" cy="149860"/>
            </a:xfrm>
            <a:custGeom>
              <a:avLst/>
              <a:gdLst/>
              <a:ahLst/>
              <a:cxnLst/>
              <a:rect l="l" t="t" r="r" b="b"/>
              <a:pathLst>
                <a:path w="130810" h="149860">
                  <a:moveTo>
                    <a:pt x="67690" y="0"/>
                  </a:moveTo>
                  <a:lnTo>
                    <a:pt x="110489" y="12699"/>
                  </a:lnTo>
                  <a:lnTo>
                    <a:pt x="115569" y="18541"/>
                  </a:lnTo>
                  <a:lnTo>
                    <a:pt x="120650" y="24256"/>
                  </a:lnTo>
                  <a:lnTo>
                    <a:pt x="130301" y="65023"/>
                  </a:lnTo>
                  <a:lnTo>
                    <a:pt x="130301" y="70992"/>
                  </a:lnTo>
                  <a:lnTo>
                    <a:pt x="130301" y="75564"/>
                  </a:lnTo>
                  <a:lnTo>
                    <a:pt x="129286" y="78866"/>
                  </a:lnTo>
                  <a:lnTo>
                    <a:pt x="127253" y="81025"/>
                  </a:lnTo>
                  <a:lnTo>
                    <a:pt x="125221" y="83311"/>
                  </a:lnTo>
                  <a:lnTo>
                    <a:pt x="122427" y="84327"/>
                  </a:lnTo>
                  <a:lnTo>
                    <a:pt x="118871" y="84327"/>
                  </a:lnTo>
                  <a:lnTo>
                    <a:pt x="38100" y="84327"/>
                  </a:lnTo>
                  <a:lnTo>
                    <a:pt x="38100" y="90042"/>
                  </a:lnTo>
                  <a:lnTo>
                    <a:pt x="38734" y="95122"/>
                  </a:lnTo>
                  <a:lnTo>
                    <a:pt x="40131" y="99694"/>
                  </a:lnTo>
                  <a:lnTo>
                    <a:pt x="41401" y="104393"/>
                  </a:lnTo>
                  <a:lnTo>
                    <a:pt x="43561" y="108330"/>
                  </a:lnTo>
                  <a:lnTo>
                    <a:pt x="46481" y="111505"/>
                  </a:lnTo>
                  <a:lnTo>
                    <a:pt x="49402" y="114680"/>
                  </a:lnTo>
                  <a:lnTo>
                    <a:pt x="53212" y="117220"/>
                  </a:lnTo>
                  <a:lnTo>
                    <a:pt x="57784" y="118871"/>
                  </a:lnTo>
                  <a:lnTo>
                    <a:pt x="62356" y="120522"/>
                  </a:lnTo>
                  <a:lnTo>
                    <a:pt x="67944" y="121411"/>
                  </a:lnTo>
                  <a:lnTo>
                    <a:pt x="74421" y="121411"/>
                  </a:lnTo>
                  <a:lnTo>
                    <a:pt x="80899" y="121411"/>
                  </a:lnTo>
                  <a:lnTo>
                    <a:pt x="104520" y="116839"/>
                  </a:lnTo>
                  <a:lnTo>
                    <a:pt x="108203" y="115696"/>
                  </a:lnTo>
                  <a:lnTo>
                    <a:pt x="111125" y="114680"/>
                  </a:lnTo>
                  <a:lnTo>
                    <a:pt x="113537" y="113791"/>
                  </a:lnTo>
                  <a:lnTo>
                    <a:pt x="115950" y="112775"/>
                  </a:lnTo>
                  <a:lnTo>
                    <a:pt x="117856" y="112267"/>
                  </a:lnTo>
                  <a:lnTo>
                    <a:pt x="119380" y="112267"/>
                  </a:lnTo>
                  <a:lnTo>
                    <a:pt x="120268" y="112267"/>
                  </a:lnTo>
                  <a:lnTo>
                    <a:pt x="121031" y="112521"/>
                  </a:lnTo>
                  <a:lnTo>
                    <a:pt x="121538" y="112902"/>
                  </a:lnTo>
                  <a:lnTo>
                    <a:pt x="122174" y="113156"/>
                  </a:lnTo>
                  <a:lnTo>
                    <a:pt x="122681" y="113791"/>
                  </a:lnTo>
                  <a:lnTo>
                    <a:pt x="123062" y="114680"/>
                  </a:lnTo>
                  <a:lnTo>
                    <a:pt x="123443" y="115569"/>
                  </a:lnTo>
                  <a:lnTo>
                    <a:pt x="123697" y="116839"/>
                  </a:lnTo>
                  <a:lnTo>
                    <a:pt x="123825" y="118490"/>
                  </a:lnTo>
                  <a:lnTo>
                    <a:pt x="124078" y="120141"/>
                  </a:lnTo>
                  <a:lnTo>
                    <a:pt x="124078" y="122173"/>
                  </a:lnTo>
                  <a:lnTo>
                    <a:pt x="124078" y="124713"/>
                  </a:lnTo>
                  <a:lnTo>
                    <a:pt x="124078" y="126872"/>
                  </a:lnTo>
                  <a:lnTo>
                    <a:pt x="124078" y="128777"/>
                  </a:lnTo>
                  <a:lnTo>
                    <a:pt x="123951" y="130301"/>
                  </a:lnTo>
                  <a:lnTo>
                    <a:pt x="123825" y="131825"/>
                  </a:lnTo>
                  <a:lnTo>
                    <a:pt x="123697" y="133095"/>
                  </a:lnTo>
                  <a:lnTo>
                    <a:pt x="123443" y="134238"/>
                  </a:lnTo>
                  <a:lnTo>
                    <a:pt x="123316" y="135254"/>
                  </a:lnTo>
                  <a:lnTo>
                    <a:pt x="123062" y="136270"/>
                  </a:lnTo>
                  <a:lnTo>
                    <a:pt x="122555" y="136905"/>
                  </a:lnTo>
                  <a:lnTo>
                    <a:pt x="122174" y="137667"/>
                  </a:lnTo>
                  <a:lnTo>
                    <a:pt x="121665" y="138429"/>
                  </a:lnTo>
                  <a:lnTo>
                    <a:pt x="121031" y="139064"/>
                  </a:lnTo>
                  <a:lnTo>
                    <a:pt x="120395" y="139826"/>
                  </a:lnTo>
                  <a:lnTo>
                    <a:pt x="104775" y="145414"/>
                  </a:lnTo>
                  <a:lnTo>
                    <a:pt x="100330" y="146557"/>
                  </a:lnTo>
                  <a:lnTo>
                    <a:pt x="95122" y="147573"/>
                  </a:lnTo>
                  <a:lnTo>
                    <a:pt x="89407" y="148462"/>
                  </a:lnTo>
                  <a:lnTo>
                    <a:pt x="83693" y="149224"/>
                  </a:lnTo>
                  <a:lnTo>
                    <a:pt x="77469" y="149732"/>
                  </a:lnTo>
                  <a:lnTo>
                    <a:pt x="70993" y="149732"/>
                  </a:lnTo>
                  <a:lnTo>
                    <a:pt x="33547" y="142664"/>
                  </a:lnTo>
                  <a:lnTo>
                    <a:pt x="6794" y="115357"/>
                  </a:lnTo>
                  <a:lnTo>
                    <a:pt x="0" y="76326"/>
                  </a:lnTo>
                  <a:lnTo>
                    <a:pt x="285" y="67685"/>
                  </a:lnTo>
                  <a:lnTo>
                    <a:pt x="13841" y="25536"/>
                  </a:lnTo>
                  <a:lnTo>
                    <a:pt x="45848" y="2893"/>
                  </a:lnTo>
                  <a:lnTo>
                    <a:pt x="59997" y="313"/>
                  </a:lnTo>
                  <a:lnTo>
                    <a:pt x="67690" y="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71367" y="4018788"/>
              <a:ext cx="879729" cy="273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2824" y="4079748"/>
              <a:ext cx="690791" cy="21247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2157" y="4053332"/>
              <a:ext cx="2561590" cy="182245"/>
            </a:xfrm>
            <a:custGeom>
              <a:avLst/>
              <a:gdLst/>
              <a:ahLst/>
              <a:cxnLst/>
              <a:rect l="l" t="t" r="r" b="b"/>
              <a:pathLst>
                <a:path w="2561590" h="182245">
                  <a:moveTo>
                    <a:pt x="72783" y="32512"/>
                  </a:moveTo>
                  <a:lnTo>
                    <a:pt x="115700" y="43307"/>
                  </a:lnTo>
                  <a:lnTo>
                    <a:pt x="138112" y="74549"/>
                  </a:lnTo>
                  <a:lnTo>
                    <a:pt x="142290" y="106045"/>
                  </a:lnTo>
                  <a:lnTo>
                    <a:pt x="142010" y="114331"/>
                  </a:lnTo>
                  <a:lnTo>
                    <a:pt x="128529" y="155747"/>
                  </a:lnTo>
                  <a:lnTo>
                    <a:pt x="94374" y="179083"/>
                  </a:lnTo>
                  <a:lnTo>
                    <a:pt x="69507" y="182245"/>
                  </a:lnTo>
                  <a:lnTo>
                    <a:pt x="60938" y="181935"/>
                  </a:lnTo>
                  <a:lnTo>
                    <a:pt x="21567" y="167397"/>
                  </a:lnTo>
                  <a:lnTo>
                    <a:pt x="2352" y="132857"/>
                  </a:lnTo>
                  <a:lnTo>
                    <a:pt x="0" y="108712"/>
                  </a:lnTo>
                  <a:lnTo>
                    <a:pt x="285" y="100403"/>
                  </a:lnTo>
                  <a:lnTo>
                    <a:pt x="13908" y="58826"/>
                  </a:lnTo>
                  <a:lnTo>
                    <a:pt x="47959" y="35565"/>
                  </a:lnTo>
                  <a:lnTo>
                    <a:pt x="72783" y="32512"/>
                  </a:lnTo>
                  <a:close/>
                </a:path>
                <a:path w="2561590" h="182245">
                  <a:moveTo>
                    <a:pt x="2508072" y="0"/>
                  </a:moveTo>
                  <a:lnTo>
                    <a:pt x="2511755" y="0"/>
                  </a:lnTo>
                  <a:lnTo>
                    <a:pt x="2514803" y="127"/>
                  </a:lnTo>
                  <a:lnTo>
                    <a:pt x="2517216" y="381"/>
                  </a:lnTo>
                  <a:lnTo>
                    <a:pt x="2519629" y="635"/>
                  </a:lnTo>
                  <a:lnTo>
                    <a:pt x="2521534" y="1016"/>
                  </a:lnTo>
                  <a:lnTo>
                    <a:pt x="2522931" y="1651"/>
                  </a:lnTo>
                  <a:lnTo>
                    <a:pt x="2524328" y="2159"/>
                  </a:lnTo>
                  <a:lnTo>
                    <a:pt x="2525344" y="2794"/>
                  </a:lnTo>
                  <a:lnTo>
                    <a:pt x="2525852" y="3556"/>
                  </a:lnTo>
                  <a:lnTo>
                    <a:pt x="2526487" y="4445"/>
                  </a:lnTo>
                  <a:lnTo>
                    <a:pt x="2526741" y="5334"/>
                  </a:lnTo>
                  <a:lnTo>
                    <a:pt x="2526741" y="6223"/>
                  </a:lnTo>
                  <a:lnTo>
                    <a:pt x="2526741" y="35941"/>
                  </a:lnTo>
                  <a:lnTo>
                    <a:pt x="2555697" y="35941"/>
                  </a:lnTo>
                  <a:lnTo>
                    <a:pt x="2556586" y="35941"/>
                  </a:lnTo>
                  <a:lnTo>
                    <a:pt x="2557475" y="36195"/>
                  </a:lnTo>
                  <a:lnTo>
                    <a:pt x="2558237" y="36703"/>
                  </a:lnTo>
                  <a:lnTo>
                    <a:pt x="2558999" y="37084"/>
                  </a:lnTo>
                  <a:lnTo>
                    <a:pt x="2559634" y="37973"/>
                  </a:lnTo>
                  <a:lnTo>
                    <a:pt x="2561539" y="48260"/>
                  </a:lnTo>
                  <a:lnTo>
                    <a:pt x="2561539" y="51054"/>
                  </a:lnTo>
                  <a:lnTo>
                    <a:pt x="2561539" y="56515"/>
                  </a:lnTo>
                  <a:lnTo>
                    <a:pt x="2561158" y="60452"/>
                  </a:lnTo>
                  <a:lnTo>
                    <a:pt x="2560142" y="62738"/>
                  </a:lnTo>
                  <a:lnTo>
                    <a:pt x="2559126" y="65151"/>
                  </a:lnTo>
                  <a:lnTo>
                    <a:pt x="2557729" y="66294"/>
                  </a:lnTo>
                  <a:lnTo>
                    <a:pt x="2555824" y="66294"/>
                  </a:lnTo>
                  <a:lnTo>
                    <a:pt x="2526741" y="66294"/>
                  </a:lnTo>
                  <a:lnTo>
                    <a:pt x="2526741" y="128651"/>
                  </a:lnTo>
                  <a:lnTo>
                    <a:pt x="2526741" y="135890"/>
                  </a:lnTo>
                  <a:lnTo>
                    <a:pt x="2527884" y="141351"/>
                  </a:lnTo>
                  <a:lnTo>
                    <a:pt x="2530170" y="144907"/>
                  </a:lnTo>
                  <a:lnTo>
                    <a:pt x="2532456" y="148590"/>
                  </a:lnTo>
                  <a:lnTo>
                    <a:pt x="2536520" y="150368"/>
                  </a:lnTo>
                  <a:lnTo>
                    <a:pt x="2542362" y="150368"/>
                  </a:lnTo>
                  <a:lnTo>
                    <a:pt x="2544394" y="150368"/>
                  </a:lnTo>
                  <a:lnTo>
                    <a:pt x="2546172" y="150114"/>
                  </a:lnTo>
                  <a:lnTo>
                    <a:pt x="2547696" y="149860"/>
                  </a:lnTo>
                  <a:lnTo>
                    <a:pt x="2549347" y="149479"/>
                  </a:lnTo>
                  <a:lnTo>
                    <a:pt x="2550744" y="149098"/>
                  </a:lnTo>
                  <a:lnTo>
                    <a:pt x="2552014" y="148590"/>
                  </a:lnTo>
                  <a:lnTo>
                    <a:pt x="2553284" y="148209"/>
                  </a:lnTo>
                  <a:lnTo>
                    <a:pt x="2554300" y="147828"/>
                  </a:lnTo>
                  <a:lnTo>
                    <a:pt x="2555062" y="147447"/>
                  </a:lnTo>
                  <a:lnTo>
                    <a:pt x="2555951" y="147066"/>
                  </a:lnTo>
                  <a:lnTo>
                    <a:pt x="2556713" y="146939"/>
                  </a:lnTo>
                  <a:lnTo>
                    <a:pt x="2557475" y="146939"/>
                  </a:lnTo>
                  <a:lnTo>
                    <a:pt x="2557983" y="146939"/>
                  </a:lnTo>
                  <a:lnTo>
                    <a:pt x="2558618" y="147066"/>
                  </a:lnTo>
                  <a:lnTo>
                    <a:pt x="2559126" y="147447"/>
                  </a:lnTo>
                  <a:lnTo>
                    <a:pt x="2559634" y="147828"/>
                  </a:lnTo>
                  <a:lnTo>
                    <a:pt x="2560142" y="148463"/>
                  </a:lnTo>
                  <a:lnTo>
                    <a:pt x="2560396" y="149479"/>
                  </a:lnTo>
                  <a:lnTo>
                    <a:pt x="2560650" y="150622"/>
                  </a:lnTo>
                  <a:lnTo>
                    <a:pt x="2561031" y="152019"/>
                  </a:lnTo>
                  <a:lnTo>
                    <a:pt x="2561285" y="153797"/>
                  </a:lnTo>
                  <a:lnTo>
                    <a:pt x="2561412" y="155575"/>
                  </a:lnTo>
                  <a:lnTo>
                    <a:pt x="2561539" y="157861"/>
                  </a:lnTo>
                  <a:lnTo>
                    <a:pt x="2561539" y="160655"/>
                  </a:lnTo>
                  <a:lnTo>
                    <a:pt x="2561539" y="164973"/>
                  </a:lnTo>
                  <a:lnTo>
                    <a:pt x="2558618" y="175514"/>
                  </a:lnTo>
                  <a:lnTo>
                    <a:pt x="2557729" y="176530"/>
                  </a:lnTo>
                  <a:lnTo>
                    <a:pt x="2556459" y="177419"/>
                  </a:lnTo>
                  <a:lnTo>
                    <a:pt x="2554681" y="178054"/>
                  </a:lnTo>
                  <a:lnTo>
                    <a:pt x="2552903" y="178816"/>
                  </a:lnTo>
                  <a:lnTo>
                    <a:pt x="2535504" y="181737"/>
                  </a:lnTo>
                  <a:lnTo>
                    <a:pt x="2532710" y="181737"/>
                  </a:lnTo>
                  <a:lnTo>
                    <a:pt x="2525344" y="181737"/>
                  </a:lnTo>
                  <a:lnTo>
                    <a:pt x="2518867" y="180848"/>
                  </a:lnTo>
                  <a:lnTo>
                    <a:pt x="2513406" y="178943"/>
                  </a:lnTo>
                  <a:lnTo>
                    <a:pt x="2507945" y="177038"/>
                  </a:lnTo>
                  <a:lnTo>
                    <a:pt x="2503373" y="174117"/>
                  </a:lnTo>
                  <a:lnTo>
                    <a:pt x="2499817" y="170180"/>
                  </a:lnTo>
                  <a:lnTo>
                    <a:pt x="2496261" y="166243"/>
                  </a:lnTo>
                  <a:lnTo>
                    <a:pt x="2493594" y="161417"/>
                  </a:lnTo>
                  <a:lnTo>
                    <a:pt x="2491943" y="155448"/>
                  </a:lnTo>
                  <a:lnTo>
                    <a:pt x="2490292" y="149479"/>
                  </a:lnTo>
                  <a:lnTo>
                    <a:pt x="2489403" y="142367"/>
                  </a:lnTo>
                  <a:lnTo>
                    <a:pt x="2489403" y="134239"/>
                  </a:lnTo>
                  <a:lnTo>
                    <a:pt x="2489403" y="66294"/>
                  </a:lnTo>
                  <a:lnTo>
                    <a:pt x="2473528" y="66294"/>
                  </a:lnTo>
                  <a:lnTo>
                    <a:pt x="2471623" y="66294"/>
                  </a:lnTo>
                  <a:lnTo>
                    <a:pt x="2470226" y="65151"/>
                  </a:lnTo>
                  <a:lnTo>
                    <a:pt x="2469210" y="62738"/>
                  </a:lnTo>
                  <a:lnTo>
                    <a:pt x="2468194" y="60452"/>
                  </a:lnTo>
                  <a:lnTo>
                    <a:pt x="2467686" y="56515"/>
                  </a:lnTo>
                  <a:lnTo>
                    <a:pt x="2467686" y="51054"/>
                  </a:lnTo>
                  <a:lnTo>
                    <a:pt x="2467686" y="48260"/>
                  </a:lnTo>
                  <a:lnTo>
                    <a:pt x="2467813" y="45720"/>
                  </a:lnTo>
                  <a:lnTo>
                    <a:pt x="2468067" y="43815"/>
                  </a:lnTo>
                  <a:lnTo>
                    <a:pt x="2468321" y="41783"/>
                  </a:lnTo>
                  <a:lnTo>
                    <a:pt x="2468702" y="40259"/>
                  </a:lnTo>
                  <a:lnTo>
                    <a:pt x="2469210" y="39116"/>
                  </a:lnTo>
                  <a:lnTo>
                    <a:pt x="2469718" y="37973"/>
                  </a:lnTo>
                  <a:lnTo>
                    <a:pt x="2470353" y="37084"/>
                  </a:lnTo>
                  <a:lnTo>
                    <a:pt x="2470988" y="36703"/>
                  </a:lnTo>
                  <a:lnTo>
                    <a:pt x="2471750" y="36195"/>
                  </a:lnTo>
                  <a:lnTo>
                    <a:pt x="2472639" y="35941"/>
                  </a:lnTo>
                  <a:lnTo>
                    <a:pt x="2473655" y="35941"/>
                  </a:lnTo>
                  <a:lnTo>
                    <a:pt x="2489403" y="35941"/>
                  </a:lnTo>
                  <a:lnTo>
                    <a:pt x="2489403" y="6223"/>
                  </a:lnTo>
                  <a:lnTo>
                    <a:pt x="2489403" y="5334"/>
                  </a:lnTo>
                  <a:lnTo>
                    <a:pt x="2489657" y="4445"/>
                  </a:lnTo>
                  <a:lnTo>
                    <a:pt x="2490292" y="3556"/>
                  </a:lnTo>
                  <a:lnTo>
                    <a:pt x="2490800" y="2794"/>
                  </a:lnTo>
                  <a:lnTo>
                    <a:pt x="2491816" y="2159"/>
                  </a:lnTo>
                  <a:lnTo>
                    <a:pt x="2493213" y="1651"/>
                  </a:lnTo>
                  <a:lnTo>
                    <a:pt x="2494610" y="1016"/>
                  </a:lnTo>
                  <a:lnTo>
                    <a:pt x="2496642" y="635"/>
                  </a:lnTo>
                  <a:lnTo>
                    <a:pt x="2499055" y="381"/>
                  </a:lnTo>
                  <a:lnTo>
                    <a:pt x="2501468" y="127"/>
                  </a:lnTo>
                  <a:lnTo>
                    <a:pt x="2504389" y="0"/>
                  </a:lnTo>
                  <a:lnTo>
                    <a:pt x="2508072" y="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4312" y="4032504"/>
              <a:ext cx="162509" cy="2066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481707" y="4024884"/>
              <a:ext cx="835660" cy="208279"/>
            </a:xfrm>
            <a:custGeom>
              <a:avLst/>
              <a:gdLst/>
              <a:ahLst/>
              <a:cxnLst/>
              <a:rect l="l" t="t" r="r" b="b"/>
              <a:pathLst>
                <a:path w="835660" h="208279">
                  <a:moveTo>
                    <a:pt x="316103" y="5080"/>
                  </a:moveTo>
                  <a:lnTo>
                    <a:pt x="324357" y="5080"/>
                  </a:lnTo>
                  <a:lnTo>
                    <a:pt x="330073" y="6477"/>
                  </a:lnTo>
                  <a:lnTo>
                    <a:pt x="332994" y="9398"/>
                  </a:lnTo>
                  <a:lnTo>
                    <a:pt x="336042" y="12192"/>
                  </a:lnTo>
                  <a:lnTo>
                    <a:pt x="337438" y="17272"/>
                  </a:lnTo>
                  <a:lnTo>
                    <a:pt x="337438" y="24511"/>
                  </a:lnTo>
                  <a:lnTo>
                    <a:pt x="337438" y="32004"/>
                  </a:lnTo>
                  <a:lnTo>
                    <a:pt x="335915" y="37211"/>
                  </a:lnTo>
                  <a:lnTo>
                    <a:pt x="332867" y="40132"/>
                  </a:lnTo>
                  <a:lnTo>
                    <a:pt x="329819" y="42926"/>
                  </a:lnTo>
                  <a:lnTo>
                    <a:pt x="324104" y="44450"/>
                  </a:lnTo>
                  <a:lnTo>
                    <a:pt x="315722" y="44450"/>
                  </a:lnTo>
                  <a:lnTo>
                    <a:pt x="307340" y="44450"/>
                  </a:lnTo>
                  <a:lnTo>
                    <a:pt x="301625" y="43053"/>
                  </a:lnTo>
                  <a:lnTo>
                    <a:pt x="298704" y="40259"/>
                  </a:lnTo>
                  <a:lnTo>
                    <a:pt x="295782" y="37465"/>
                  </a:lnTo>
                  <a:lnTo>
                    <a:pt x="294259" y="32512"/>
                  </a:lnTo>
                  <a:lnTo>
                    <a:pt x="294259" y="25146"/>
                  </a:lnTo>
                  <a:lnTo>
                    <a:pt x="294259" y="17653"/>
                  </a:lnTo>
                  <a:lnTo>
                    <a:pt x="295782" y="12446"/>
                  </a:lnTo>
                  <a:lnTo>
                    <a:pt x="298831" y="9525"/>
                  </a:lnTo>
                  <a:lnTo>
                    <a:pt x="301879" y="6604"/>
                  </a:lnTo>
                  <a:lnTo>
                    <a:pt x="307594" y="5080"/>
                  </a:lnTo>
                  <a:lnTo>
                    <a:pt x="316103" y="5080"/>
                  </a:lnTo>
                  <a:close/>
                </a:path>
                <a:path w="835660" h="208279">
                  <a:moveTo>
                    <a:pt x="727329" y="0"/>
                  </a:moveTo>
                  <a:lnTo>
                    <a:pt x="731012" y="0"/>
                  </a:lnTo>
                  <a:lnTo>
                    <a:pt x="734060" y="254"/>
                  </a:lnTo>
                  <a:lnTo>
                    <a:pt x="736473" y="508"/>
                  </a:lnTo>
                  <a:lnTo>
                    <a:pt x="738886" y="762"/>
                  </a:lnTo>
                  <a:lnTo>
                    <a:pt x="740791" y="1270"/>
                  </a:lnTo>
                  <a:lnTo>
                    <a:pt x="742188" y="1778"/>
                  </a:lnTo>
                  <a:lnTo>
                    <a:pt x="743585" y="2286"/>
                  </a:lnTo>
                  <a:lnTo>
                    <a:pt x="744601" y="2921"/>
                  </a:lnTo>
                  <a:lnTo>
                    <a:pt x="745236" y="3810"/>
                  </a:lnTo>
                  <a:lnTo>
                    <a:pt x="745870" y="4572"/>
                  </a:lnTo>
                  <a:lnTo>
                    <a:pt x="746125" y="5461"/>
                  </a:lnTo>
                  <a:lnTo>
                    <a:pt x="746125" y="6477"/>
                  </a:lnTo>
                  <a:lnTo>
                    <a:pt x="746125" y="79883"/>
                  </a:lnTo>
                  <a:lnTo>
                    <a:pt x="752601" y="73533"/>
                  </a:lnTo>
                  <a:lnTo>
                    <a:pt x="759206" y="68707"/>
                  </a:lnTo>
                  <a:lnTo>
                    <a:pt x="765810" y="65659"/>
                  </a:lnTo>
                  <a:lnTo>
                    <a:pt x="772541" y="62484"/>
                  </a:lnTo>
                  <a:lnTo>
                    <a:pt x="779526" y="60960"/>
                  </a:lnTo>
                  <a:lnTo>
                    <a:pt x="786765" y="60960"/>
                  </a:lnTo>
                  <a:lnTo>
                    <a:pt x="795782" y="60960"/>
                  </a:lnTo>
                  <a:lnTo>
                    <a:pt x="803402" y="62357"/>
                  </a:lnTo>
                  <a:lnTo>
                    <a:pt x="809625" y="65405"/>
                  </a:lnTo>
                  <a:lnTo>
                    <a:pt x="815847" y="68326"/>
                  </a:lnTo>
                  <a:lnTo>
                    <a:pt x="820801" y="72390"/>
                  </a:lnTo>
                  <a:lnTo>
                    <a:pt x="824610" y="77597"/>
                  </a:lnTo>
                  <a:lnTo>
                    <a:pt x="828420" y="82804"/>
                  </a:lnTo>
                  <a:lnTo>
                    <a:pt x="831215" y="88773"/>
                  </a:lnTo>
                  <a:lnTo>
                    <a:pt x="832866" y="95631"/>
                  </a:lnTo>
                  <a:lnTo>
                    <a:pt x="834644" y="102616"/>
                  </a:lnTo>
                  <a:lnTo>
                    <a:pt x="835406" y="110871"/>
                  </a:lnTo>
                  <a:lnTo>
                    <a:pt x="835406" y="120777"/>
                  </a:lnTo>
                  <a:lnTo>
                    <a:pt x="835406" y="202184"/>
                  </a:lnTo>
                  <a:lnTo>
                    <a:pt x="835406" y="203200"/>
                  </a:lnTo>
                  <a:lnTo>
                    <a:pt x="835152" y="203962"/>
                  </a:lnTo>
                  <a:lnTo>
                    <a:pt x="834517" y="204724"/>
                  </a:lnTo>
                  <a:lnTo>
                    <a:pt x="833882" y="205486"/>
                  </a:lnTo>
                  <a:lnTo>
                    <a:pt x="832993" y="206121"/>
                  </a:lnTo>
                  <a:lnTo>
                    <a:pt x="831595" y="206629"/>
                  </a:lnTo>
                  <a:lnTo>
                    <a:pt x="830198" y="207137"/>
                  </a:lnTo>
                  <a:lnTo>
                    <a:pt x="828294" y="207518"/>
                  </a:lnTo>
                  <a:lnTo>
                    <a:pt x="825881" y="207772"/>
                  </a:lnTo>
                  <a:lnTo>
                    <a:pt x="823341" y="208026"/>
                  </a:lnTo>
                  <a:lnTo>
                    <a:pt x="820419" y="208153"/>
                  </a:lnTo>
                  <a:lnTo>
                    <a:pt x="816864" y="208153"/>
                  </a:lnTo>
                  <a:lnTo>
                    <a:pt x="813181" y="208153"/>
                  </a:lnTo>
                  <a:lnTo>
                    <a:pt x="810132" y="208026"/>
                  </a:lnTo>
                  <a:lnTo>
                    <a:pt x="807719" y="207772"/>
                  </a:lnTo>
                  <a:lnTo>
                    <a:pt x="805180" y="207518"/>
                  </a:lnTo>
                  <a:lnTo>
                    <a:pt x="798957" y="204724"/>
                  </a:lnTo>
                  <a:lnTo>
                    <a:pt x="798321" y="203962"/>
                  </a:lnTo>
                  <a:lnTo>
                    <a:pt x="798068" y="203200"/>
                  </a:lnTo>
                  <a:lnTo>
                    <a:pt x="798068" y="202184"/>
                  </a:lnTo>
                  <a:lnTo>
                    <a:pt x="798068" y="126365"/>
                  </a:lnTo>
                  <a:lnTo>
                    <a:pt x="798068" y="120015"/>
                  </a:lnTo>
                  <a:lnTo>
                    <a:pt x="797559" y="114935"/>
                  </a:lnTo>
                  <a:lnTo>
                    <a:pt x="779526" y="93472"/>
                  </a:lnTo>
                  <a:lnTo>
                    <a:pt x="775716" y="93472"/>
                  </a:lnTo>
                  <a:lnTo>
                    <a:pt x="771017" y="93472"/>
                  </a:lnTo>
                  <a:lnTo>
                    <a:pt x="746125" y="113919"/>
                  </a:lnTo>
                  <a:lnTo>
                    <a:pt x="746125" y="202184"/>
                  </a:lnTo>
                  <a:lnTo>
                    <a:pt x="746125" y="203200"/>
                  </a:lnTo>
                  <a:lnTo>
                    <a:pt x="742188" y="206629"/>
                  </a:lnTo>
                  <a:lnTo>
                    <a:pt x="740791" y="207137"/>
                  </a:lnTo>
                  <a:lnTo>
                    <a:pt x="738886" y="207518"/>
                  </a:lnTo>
                  <a:lnTo>
                    <a:pt x="736473" y="207772"/>
                  </a:lnTo>
                  <a:lnTo>
                    <a:pt x="734060" y="208026"/>
                  </a:lnTo>
                  <a:lnTo>
                    <a:pt x="731012" y="208153"/>
                  </a:lnTo>
                  <a:lnTo>
                    <a:pt x="727329" y="208153"/>
                  </a:lnTo>
                  <a:lnTo>
                    <a:pt x="723645" y="208153"/>
                  </a:lnTo>
                  <a:lnTo>
                    <a:pt x="720725" y="208026"/>
                  </a:lnTo>
                  <a:lnTo>
                    <a:pt x="718312" y="207772"/>
                  </a:lnTo>
                  <a:lnTo>
                    <a:pt x="715899" y="207518"/>
                  </a:lnTo>
                  <a:lnTo>
                    <a:pt x="713994" y="207137"/>
                  </a:lnTo>
                  <a:lnTo>
                    <a:pt x="712597" y="206629"/>
                  </a:lnTo>
                  <a:lnTo>
                    <a:pt x="711073" y="206121"/>
                  </a:lnTo>
                  <a:lnTo>
                    <a:pt x="710057" y="205486"/>
                  </a:lnTo>
                  <a:lnTo>
                    <a:pt x="709549" y="204724"/>
                  </a:lnTo>
                  <a:lnTo>
                    <a:pt x="708913" y="203962"/>
                  </a:lnTo>
                  <a:lnTo>
                    <a:pt x="708660" y="203200"/>
                  </a:lnTo>
                  <a:lnTo>
                    <a:pt x="708660" y="202184"/>
                  </a:lnTo>
                  <a:lnTo>
                    <a:pt x="708660" y="6477"/>
                  </a:lnTo>
                  <a:lnTo>
                    <a:pt x="708660" y="5461"/>
                  </a:lnTo>
                  <a:lnTo>
                    <a:pt x="708913" y="4572"/>
                  </a:lnTo>
                  <a:lnTo>
                    <a:pt x="709549" y="3810"/>
                  </a:lnTo>
                  <a:lnTo>
                    <a:pt x="710057" y="2921"/>
                  </a:lnTo>
                  <a:lnTo>
                    <a:pt x="711073" y="2286"/>
                  </a:lnTo>
                  <a:lnTo>
                    <a:pt x="712597" y="1778"/>
                  </a:lnTo>
                  <a:lnTo>
                    <a:pt x="713994" y="1270"/>
                  </a:lnTo>
                  <a:lnTo>
                    <a:pt x="715899" y="762"/>
                  </a:lnTo>
                  <a:lnTo>
                    <a:pt x="718312" y="508"/>
                  </a:lnTo>
                  <a:lnTo>
                    <a:pt x="720725" y="254"/>
                  </a:lnTo>
                  <a:lnTo>
                    <a:pt x="723645" y="0"/>
                  </a:lnTo>
                  <a:lnTo>
                    <a:pt x="727329" y="0"/>
                  </a:lnTo>
                  <a:close/>
                </a:path>
                <a:path w="835660" h="208279">
                  <a:moveTo>
                    <a:pt x="18668" y="0"/>
                  </a:moveTo>
                  <a:lnTo>
                    <a:pt x="22351" y="0"/>
                  </a:lnTo>
                  <a:lnTo>
                    <a:pt x="25400" y="254"/>
                  </a:lnTo>
                  <a:lnTo>
                    <a:pt x="27812" y="508"/>
                  </a:lnTo>
                  <a:lnTo>
                    <a:pt x="30225" y="762"/>
                  </a:lnTo>
                  <a:lnTo>
                    <a:pt x="36575" y="3810"/>
                  </a:lnTo>
                  <a:lnTo>
                    <a:pt x="37211" y="4572"/>
                  </a:lnTo>
                  <a:lnTo>
                    <a:pt x="37465" y="5461"/>
                  </a:lnTo>
                  <a:lnTo>
                    <a:pt x="37465" y="6477"/>
                  </a:lnTo>
                  <a:lnTo>
                    <a:pt x="37465" y="202184"/>
                  </a:lnTo>
                  <a:lnTo>
                    <a:pt x="37465" y="203200"/>
                  </a:lnTo>
                  <a:lnTo>
                    <a:pt x="37211" y="203962"/>
                  </a:lnTo>
                  <a:lnTo>
                    <a:pt x="36575" y="204724"/>
                  </a:lnTo>
                  <a:lnTo>
                    <a:pt x="35941" y="205486"/>
                  </a:lnTo>
                  <a:lnTo>
                    <a:pt x="27812" y="207772"/>
                  </a:lnTo>
                  <a:lnTo>
                    <a:pt x="25400" y="208026"/>
                  </a:lnTo>
                  <a:lnTo>
                    <a:pt x="22351" y="208153"/>
                  </a:lnTo>
                  <a:lnTo>
                    <a:pt x="18668" y="208153"/>
                  </a:lnTo>
                  <a:lnTo>
                    <a:pt x="14986" y="208153"/>
                  </a:lnTo>
                  <a:lnTo>
                    <a:pt x="3937" y="206629"/>
                  </a:lnTo>
                  <a:lnTo>
                    <a:pt x="2412" y="206121"/>
                  </a:lnTo>
                  <a:lnTo>
                    <a:pt x="1397" y="205486"/>
                  </a:lnTo>
                  <a:lnTo>
                    <a:pt x="888" y="204724"/>
                  </a:lnTo>
                  <a:lnTo>
                    <a:pt x="254" y="203962"/>
                  </a:lnTo>
                  <a:lnTo>
                    <a:pt x="0" y="203200"/>
                  </a:lnTo>
                  <a:lnTo>
                    <a:pt x="0" y="202184"/>
                  </a:lnTo>
                  <a:lnTo>
                    <a:pt x="0" y="6477"/>
                  </a:lnTo>
                  <a:lnTo>
                    <a:pt x="0" y="5461"/>
                  </a:lnTo>
                  <a:lnTo>
                    <a:pt x="254" y="4572"/>
                  </a:lnTo>
                  <a:lnTo>
                    <a:pt x="888" y="3810"/>
                  </a:lnTo>
                  <a:lnTo>
                    <a:pt x="1397" y="2921"/>
                  </a:lnTo>
                  <a:lnTo>
                    <a:pt x="2412" y="2286"/>
                  </a:lnTo>
                  <a:lnTo>
                    <a:pt x="3937" y="1778"/>
                  </a:lnTo>
                  <a:lnTo>
                    <a:pt x="5334" y="1270"/>
                  </a:lnTo>
                  <a:lnTo>
                    <a:pt x="7238" y="762"/>
                  </a:lnTo>
                  <a:lnTo>
                    <a:pt x="9651" y="508"/>
                  </a:lnTo>
                  <a:lnTo>
                    <a:pt x="12065" y="254"/>
                  </a:lnTo>
                  <a:lnTo>
                    <a:pt x="14986" y="0"/>
                  </a:lnTo>
                  <a:lnTo>
                    <a:pt x="18668" y="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129550" y="4913629"/>
            <a:ext cx="2402205" cy="234950"/>
            <a:chOff x="1129550" y="4913629"/>
            <a:chExt cx="2402205" cy="23495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2136" y="4925694"/>
              <a:ext cx="2389225" cy="2226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5837" y="4919852"/>
              <a:ext cx="2377236" cy="2104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17345" y="4983098"/>
              <a:ext cx="822960" cy="144780"/>
            </a:xfrm>
            <a:custGeom>
              <a:avLst/>
              <a:gdLst/>
              <a:ahLst/>
              <a:cxnLst/>
              <a:rect l="l" t="t" r="r" b="b"/>
              <a:pathLst>
                <a:path w="822960" h="144779">
                  <a:moveTo>
                    <a:pt x="32893" y="27050"/>
                  </a:moveTo>
                  <a:lnTo>
                    <a:pt x="27305" y="27050"/>
                  </a:lnTo>
                  <a:lnTo>
                    <a:pt x="22479" y="28067"/>
                  </a:lnTo>
                  <a:lnTo>
                    <a:pt x="18287" y="30099"/>
                  </a:lnTo>
                  <a:lnTo>
                    <a:pt x="14224" y="32131"/>
                  </a:lnTo>
                  <a:lnTo>
                    <a:pt x="10794" y="35178"/>
                  </a:lnTo>
                  <a:lnTo>
                    <a:pt x="8128" y="39115"/>
                  </a:lnTo>
                  <a:lnTo>
                    <a:pt x="5334" y="43052"/>
                  </a:lnTo>
                  <a:lnTo>
                    <a:pt x="3429" y="47751"/>
                  </a:lnTo>
                  <a:lnTo>
                    <a:pt x="2032" y="53212"/>
                  </a:lnTo>
                  <a:lnTo>
                    <a:pt x="762" y="58674"/>
                  </a:lnTo>
                  <a:lnTo>
                    <a:pt x="0" y="65024"/>
                  </a:lnTo>
                  <a:lnTo>
                    <a:pt x="0" y="72008"/>
                  </a:lnTo>
                  <a:lnTo>
                    <a:pt x="0" y="78612"/>
                  </a:lnTo>
                  <a:lnTo>
                    <a:pt x="6985" y="104520"/>
                  </a:lnTo>
                  <a:lnTo>
                    <a:pt x="9398" y="108584"/>
                  </a:lnTo>
                  <a:lnTo>
                    <a:pt x="12700" y="111759"/>
                  </a:lnTo>
                  <a:lnTo>
                    <a:pt x="16891" y="113918"/>
                  </a:lnTo>
                  <a:lnTo>
                    <a:pt x="20955" y="116205"/>
                  </a:lnTo>
                  <a:lnTo>
                    <a:pt x="26162" y="117348"/>
                  </a:lnTo>
                  <a:lnTo>
                    <a:pt x="32385" y="117348"/>
                  </a:lnTo>
                  <a:lnTo>
                    <a:pt x="37973" y="117348"/>
                  </a:lnTo>
                  <a:lnTo>
                    <a:pt x="57277" y="105409"/>
                  </a:lnTo>
                  <a:lnTo>
                    <a:pt x="60071" y="101473"/>
                  </a:lnTo>
                  <a:lnTo>
                    <a:pt x="61975" y="96774"/>
                  </a:lnTo>
                  <a:lnTo>
                    <a:pt x="63246" y="91312"/>
                  </a:lnTo>
                  <a:lnTo>
                    <a:pt x="64516" y="85851"/>
                  </a:lnTo>
                  <a:lnTo>
                    <a:pt x="65278" y="79501"/>
                  </a:lnTo>
                  <a:lnTo>
                    <a:pt x="65278" y="72517"/>
                  </a:lnTo>
                  <a:lnTo>
                    <a:pt x="65278" y="65912"/>
                  </a:lnTo>
                  <a:lnTo>
                    <a:pt x="48513" y="30480"/>
                  </a:lnTo>
                  <a:lnTo>
                    <a:pt x="39116" y="27050"/>
                  </a:lnTo>
                  <a:lnTo>
                    <a:pt x="32893" y="27050"/>
                  </a:lnTo>
                  <a:close/>
                </a:path>
                <a:path w="822960" h="144779">
                  <a:moveTo>
                    <a:pt x="795147" y="24002"/>
                  </a:moveTo>
                  <a:lnTo>
                    <a:pt x="790448" y="24002"/>
                  </a:lnTo>
                  <a:lnTo>
                    <a:pt x="786257" y="24892"/>
                  </a:lnTo>
                  <a:lnTo>
                    <a:pt x="768604" y="44576"/>
                  </a:lnTo>
                  <a:lnTo>
                    <a:pt x="767334" y="48640"/>
                  </a:lnTo>
                  <a:lnTo>
                    <a:pt x="766699" y="53086"/>
                  </a:lnTo>
                  <a:lnTo>
                    <a:pt x="766444" y="57784"/>
                  </a:lnTo>
                  <a:lnTo>
                    <a:pt x="822452" y="57784"/>
                  </a:lnTo>
                  <a:lnTo>
                    <a:pt x="804544" y="24002"/>
                  </a:lnTo>
                  <a:lnTo>
                    <a:pt x="795147" y="24002"/>
                  </a:lnTo>
                  <a:close/>
                </a:path>
                <a:path w="822960" h="144779">
                  <a:moveTo>
                    <a:pt x="221487" y="0"/>
                  </a:moveTo>
                  <a:lnTo>
                    <a:pt x="225171" y="0"/>
                  </a:lnTo>
                  <a:lnTo>
                    <a:pt x="228092" y="126"/>
                  </a:lnTo>
                  <a:lnTo>
                    <a:pt x="230505" y="507"/>
                  </a:lnTo>
                  <a:lnTo>
                    <a:pt x="232918" y="762"/>
                  </a:lnTo>
                  <a:lnTo>
                    <a:pt x="234823" y="1143"/>
                  </a:lnTo>
                  <a:lnTo>
                    <a:pt x="236219" y="1777"/>
                  </a:lnTo>
                  <a:lnTo>
                    <a:pt x="237744" y="2286"/>
                  </a:lnTo>
                  <a:lnTo>
                    <a:pt x="238760" y="2920"/>
                  </a:lnTo>
                  <a:lnTo>
                    <a:pt x="239268" y="3682"/>
                  </a:lnTo>
                  <a:lnTo>
                    <a:pt x="239903" y="4444"/>
                  </a:lnTo>
                  <a:lnTo>
                    <a:pt x="240156" y="5206"/>
                  </a:lnTo>
                  <a:lnTo>
                    <a:pt x="240156" y="6223"/>
                  </a:lnTo>
                  <a:lnTo>
                    <a:pt x="240156" y="138683"/>
                  </a:lnTo>
                  <a:lnTo>
                    <a:pt x="240156" y="139700"/>
                  </a:lnTo>
                  <a:lnTo>
                    <a:pt x="239903" y="140588"/>
                  </a:lnTo>
                  <a:lnTo>
                    <a:pt x="239268" y="141350"/>
                  </a:lnTo>
                  <a:lnTo>
                    <a:pt x="238760" y="142112"/>
                  </a:lnTo>
                  <a:lnTo>
                    <a:pt x="237744" y="142748"/>
                  </a:lnTo>
                  <a:lnTo>
                    <a:pt x="236219" y="143128"/>
                  </a:lnTo>
                  <a:lnTo>
                    <a:pt x="234823" y="143637"/>
                  </a:lnTo>
                  <a:lnTo>
                    <a:pt x="232918" y="144018"/>
                  </a:lnTo>
                  <a:lnTo>
                    <a:pt x="230505" y="144271"/>
                  </a:lnTo>
                  <a:lnTo>
                    <a:pt x="228092" y="144525"/>
                  </a:lnTo>
                  <a:lnTo>
                    <a:pt x="225171" y="144652"/>
                  </a:lnTo>
                  <a:lnTo>
                    <a:pt x="221487" y="144652"/>
                  </a:lnTo>
                  <a:lnTo>
                    <a:pt x="217805" y="144652"/>
                  </a:lnTo>
                  <a:lnTo>
                    <a:pt x="214756" y="144525"/>
                  </a:lnTo>
                  <a:lnTo>
                    <a:pt x="212344" y="144271"/>
                  </a:lnTo>
                  <a:lnTo>
                    <a:pt x="209931" y="144018"/>
                  </a:lnTo>
                  <a:lnTo>
                    <a:pt x="208025" y="143637"/>
                  </a:lnTo>
                  <a:lnTo>
                    <a:pt x="206629" y="143128"/>
                  </a:lnTo>
                  <a:lnTo>
                    <a:pt x="205231" y="142748"/>
                  </a:lnTo>
                  <a:lnTo>
                    <a:pt x="204216" y="142112"/>
                  </a:lnTo>
                  <a:lnTo>
                    <a:pt x="203581" y="141350"/>
                  </a:lnTo>
                  <a:lnTo>
                    <a:pt x="202946" y="140588"/>
                  </a:lnTo>
                  <a:lnTo>
                    <a:pt x="202692" y="139700"/>
                  </a:lnTo>
                  <a:lnTo>
                    <a:pt x="202692" y="138683"/>
                  </a:lnTo>
                  <a:lnTo>
                    <a:pt x="202692" y="6223"/>
                  </a:lnTo>
                  <a:lnTo>
                    <a:pt x="202692" y="5206"/>
                  </a:lnTo>
                  <a:lnTo>
                    <a:pt x="202946" y="4444"/>
                  </a:lnTo>
                  <a:lnTo>
                    <a:pt x="203581" y="3682"/>
                  </a:lnTo>
                  <a:lnTo>
                    <a:pt x="204216" y="2920"/>
                  </a:lnTo>
                  <a:lnTo>
                    <a:pt x="205231" y="2286"/>
                  </a:lnTo>
                  <a:lnTo>
                    <a:pt x="206629" y="1777"/>
                  </a:lnTo>
                  <a:lnTo>
                    <a:pt x="208025" y="1143"/>
                  </a:lnTo>
                  <a:lnTo>
                    <a:pt x="209931" y="762"/>
                  </a:lnTo>
                  <a:lnTo>
                    <a:pt x="212344" y="507"/>
                  </a:lnTo>
                  <a:lnTo>
                    <a:pt x="214756" y="126"/>
                  </a:lnTo>
                  <a:lnTo>
                    <a:pt x="217805" y="0"/>
                  </a:lnTo>
                  <a:lnTo>
                    <a:pt x="221487" y="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54477" y="4913629"/>
              <a:ext cx="964692" cy="22275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78864" y="4980558"/>
              <a:ext cx="897255" cy="149860"/>
            </a:xfrm>
            <a:custGeom>
              <a:avLst/>
              <a:gdLst/>
              <a:ahLst/>
              <a:cxnLst/>
              <a:rect l="l" t="t" r="r" b="b"/>
              <a:pathLst>
                <a:path w="897255" h="149860">
                  <a:moveTo>
                    <a:pt x="834517" y="0"/>
                  </a:moveTo>
                  <a:lnTo>
                    <a:pt x="877443" y="12700"/>
                  </a:lnTo>
                  <a:lnTo>
                    <a:pt x="896334" y="51593"/>
                  </a:lnTo>
                  <a:lnTo>
                    <a:pt x="897255" y="65024"/>
                  </a:lnTo>
                  <a:lnTo>
                    <a:pt x="897255" y="70993"/>
                  </a:lnTo>
                  <a:lnTo>
                    <a:pt x="897255" y="75565"/>
                  </a:lnTo>
                  <a:lnTo>
                    <a:pt x="896238" y="78994"/>
                  </a:lnTo>
                  <a:lnTo>
                    <a:pt x="894207" y="81153"/>
                  </a:lnTo>
                  <a:lnTo>
                    <a:pt x="892175" y="83312"/>
                  </a:lnTo>
                  <a:lnTo>
                    <a:pt x="889381" y="84455"/>
                  </a:lnTo>
                  <a:lnTo>
                    <a:pt x="885698" y="84455"/>
                  </a:lnTo>
                  <a:lnTo>
                    <a:pt x="804926" y="84455"/>
                  </a:lnTo>
                  <a:lnTo>
                    <a:pt x="804926" y="90043"/>
                  </a:lnTo>
                  <a:lnTo>
                    <a:pt x="805561" y="95250"/>
                  </a:lnTo>
                  <a:lnTo>
                    <a:pt x="806958" y="99822"/>
                  </a:lnTo>
                  <a:lnTo>
                    <a:pt x="808228" y="104394"/>
                  </a:lnTo>
                  <a:lnTo>
                    <a:pt x="810387" y="108331"/>
                  </a:lnTo>
                  <a:lnTo>
                    <a:pt x="813308" y="111506"/>
                  </a:lnTo>
                  <a:lnTo>
                    <a:pt x="816229" y="114808"/>
                  </a:lnTo>
                  <a:lnTo>
                    <a:pt x="820038" y="117221"/>
                  </a:lnTo>
                  <a:lnTo>
                    <a:pt x="824611" y="118872"/>
                  </a:lnTo>
                  <a:lnTo>
                    <a:pt x="829310" y="120650"/>
                  </a:lnTo>
                  <a:lnTo>
                    <a:pt x="834771" y="121412"/>
                  </a:lnTo>
                  <a:lnTo>
                    <a:pt x="841248" y="121412"/>
                  </a:lnTo>
                  <a:lnTo>
                    <a:pt x="847852" y="121412"/>
                  </a:lnTo>
                  <a:lnTo>
                    <a:pt x="853567" y="121031"/>
                  </a:lnTo>
                  <a:lnTo>
                    <a:pt x="858519" y="120015"/>
                  </a:lnTo>
                  <a:lnTo>
                    <a:pt x="863473" y="119126"/>
                  </a:lnTo>
                  <a:lnTo>
                    <a:pt x="867791" y="118110"/>
                  </a:lnTo>
                  <a:lnTo>
                    <a:pt x="871347" y="116967"/>
                  </a:lnTo>
                  <a:lnTo>
                    <a:pt x="875030" y="115824"/>
                  </a:lnTo>
                  <a:lnTo>
                    <a:pt x="877951" y="114681"/>
                  </a:lnTo>
                  <a:lnTo>
                    <a:pt x="880363" y="113792"/>
                  </a:lnTo>
                  <a:lnTo>
                    <a:pt x="882777" y="112903"/>
                  </a:lnTo>
                  <a:lnTo>
                    <a:pt x="884682" y="112395"/>
                  </a:lnTo>
                  <a:lnTo>
                    <a:pt x="886206" y="112395"/>
                  </a:lnTo>
                  <a:lnTo>
                    <a:pt x="887094" y="112395"/>
                  </a:lnTo>
                  <a:lnTo>
                    <a:pt x="887857" y="112522"/>
                  </a:lnTo>
                  <a:lnTo>
                    <a:pt x="888365" y="112903"/>
                  </a:lnTo>
                  <a:lnTo>
                    <a:pt x="889000" y="113284"/>
                  </a:lnTo>
                  <a:lnTo>
                    <a:pt x="889508" y="113919"/>
                  </a:lnTo>
                  <a:lnTo>
                    <a:pt x="889888" y="114808"/>
                  </a:lnTo>
                  <a:lnTo>
                    <a:pt x="890269" y="115697"/>
                  </a:lnTo>
                  <a:lnTo>
                    <a:pt x="890524" y="116967"/>
                  </a:lnTo>
                  <a:lnTo>
                    <a:pt x="890778" y="118618"/>
                  </a:lnTo>
                  <a:lnTo>
                    <a:pt x="890905" y="120142"/>
                  </a:lnTo>
                  <a:lnTo>
                    <a:pt x="890905" y="122301"/>
                  </a:lnTo>
                  <a:lnTo>
                    <a:pt x="890905" y="124714"/>
                  </a:lnTo>
                  <a:lnTo>
                    <a:pt x="890905" y="126873"/>
                  </a:lnTo>
                  <a:lnTo>
                    <a:pt x="890905" y="128778"/>
                  </a:lnTo>
                  <a:lnTo>
                    <a:pt x="890778" y="130302"/>
                  </a:lnTo>
                  <a:lnTo>
                    <a:pt x="888492" y="138430"/>
                  </a:lnTo>
                  <a:lnTo>
                    <a:pt x="887857" y="139192"/>
                  </a:lnTo>
                  <a:lnTo>
                    <a:pt x="871601" y="145542"/>
                  </a:lnTo>
                  <a:lnTo>
                    <a:pt x="867156" y="146685"/>
                  </a:lnTo>
                  <a:lnTo>
                    <a:pt x="862076" y="147574"/>
                  </a:lnTo>
                  <a:lnTo>
                    <a:pt x="856234" y="148463"/>
                  </a:lnTo>
                  <a:lnTo>
                    <a:pt x="850519" y="149352"/>
                  </a:lnTo>
                  <a:lnTo>
                    <a:pt x="844423" y="149733"/>
                  </a:lnTo>
                  <a:lnTo>
                    <a:pt x="837819" y="149733"/>
                  </a:lnTo>
                  <a:lnTo>
                    <a:pt x="794575" y="139636"/>
                  </a:lnTo>
                  <a:lnTo>
                    <a:pt x="771271" y="108839"/>
                  </a:lnTo>
                  <a:lnTo>
                    <a:pt x="766826" y="76327"/>
                  </a:lnTo>
                  <a:lnTo>
                    <a:pt x="767111" y="67702"/>
                  </a:lnTo>
                  <a:lnTo>
                    <a:pt x="780738" y="25536"/>
                  </a:lnTo>
                  <a:lnTo>
                    <a:pt x="812674" y="2946"/>
                  </a:lnTo>
                  <a:lnTo>
                    <a:pt x="826823" y="331"/>
                  </a:lnTo>
                  <a:lnTo>
                    <a:pt x="834517" y="0"/>
                  </a:lnTo>
                  <a:close/>
                </a:path>
                <a:path w="897255" h="149860">
                  <a:moveTo>
                    <a:pt x="362712" y="0"/>
                  </a:moveTo>
                  <a:lnTo>
                    <a:pt x="366903" y="0"/>
                  </a:lnTo>
                  <a:lnTo>
                    <a:pt x="370967" y="254"/>
                  </a:lnTo>
                  <a:lnTo>
                    <a:pt x="374904" y="889"/>
                  </a:lnTo>
                  <a:lnTo>
                    <a:pt x="378841" y="1524"/>
                  </a:lnTo>
                  <a:lnTo>
                    <a:pt x="393573" y="6096"/>
                  </a:lnTo>
                  <a:lnTo>
                    <a:pt x="395731" y="7112"/>
                  </a:lnTo>
                  <a:lnTo>
                    <a:pt x="400177" y="10922"/>
                  </a:lnTo>
                  <a:lnTo>
                    <a:pt x="400685" y="11684"/>
                  </a:lnTo>
                  <a:lnTo>
                    <a:pt x="400938" y="12573"/>
                  </a:lnTo>
                  <a:lnTo>
                    <a:pt x="401066" y="13589"/>
                  </a:lnTo>
                  <a:lnTo>
                    <a:pt x="401319" y="14732"/>
                  </a:lnTo>
                  <a:lnTo>
                    <a:pt x="401447" y="16002"/>
                  </a:lnTo>
                  <a:lnTo>
                    <a:pt x="401700" y="17526"/>
                  </a:lnTo>
                  <a:lnTo>
                    <a:pt x="401828" y="19050"/>
                  </a:lnTo>
                  <a:lnTo>
                    <a:pt x="401828" y="20955"/>
                  </a:lnTo>
                  <a:lnTo>
                    <a:pt x="401828" y="23241"/>
                  </a:lnTo>
                  <a:lnTo>
                    <a:pt x="401828" y="25908"/>
                  </a:lnTo>
                  <a:lnTo>
                    <a:pt x="401828" y="28067"/>
                  </a:lnTo>
                  <a:lnTo>
                    <a:pt x="401700" y="29845"/>
                  </a:lnTo>
                  <a:lnTo>
                    <a:pt x="398144" y="36322"/>
                  </a:lnTo>
                  <a:lnTo>
                    <a:pt x="397383" y="36322"/>
                  </a:lnTo>
                  <a:lnTo>
                    <a:pt x="396494" y="36322"/>
                  </a:lnTo>
                  <a:lnTo>
                    <a:pt x="395097" y="35814"/>
                  </a:lnTo>
                  <a:lnTo>
                    <a:pt x="393192" y="34798"/>
                  </a:lnTo>
                  <a:lnTo>
                    <a:pt x="391413" y="33782"/>
                  </a:lnTo>
                  <a:lnTo>
                    <a:pt x="389000" y="32639"/>
                  </a:lnTo>
                  <a:lnTo>
                    <a:pt x="386206" y="31369"/>
                  </a:lnTo>
                  <a:lnTo>
                    <a:pt x="383286" y="30226"/>
                  </a:lnTo>
                  <a:lnTo>
                    <a:pt x="380111" y="29083"/>
                  </a:lnTo>
                  <a:lnTo>
                    <a:pt x="376300" y="28067"/>
                  </a:lnTo>
                  <a:lnTo>
                    <a:pt x="372618" y="27051"/>
                  </a:lnTo>
                  <a:lnTo>
                    <a:pt x="368427" y="26543"/>
                  </a:lnTo>
                  <a:lnTo>
                    <a:pt x="363600" y="26543"/>
                  </a:lnTo>
                  <a:lnTo>
                    <a:pt x="360299" y="26543"/>
                  </a:lnTo>
                  <a:lnTo>
                    <a:pt x="357378" y="26797"/>
                  </a:lnTo>
                  <a:lnTo>
                    <a:pt x="354838" y="27559"/>
                  </a:lnTo>
                  <a:lnTo>
                    <a:pt x="352425" y="28194"/>
                  </a:lnTo>
                  <a:lnTo>
                    <a:pt x="345186" y="35052"/>
                  </a:lnTo>
                  <a:lnTo>
                    <a:pt x="344424" y="36830"/>
                  </a:lnTo>
                  <a:lnTo>
                    <a:pt x="343916" y="38608"/>
                  </a:lnTo>
                  <a:lnTo>
                    <a:pt x="343916" y="40640"/>
                  </a:lnTo>
                  <a:lnTo>
                    <a:pt x="343916" y="43688"/>
                  </a:lnTo>
                  <a:lnTo>
                    <a:pt x="344931" y="46355"/>
                  </a:lnTo>
                  <a:lnTo>
                    <a:pt x="346837" y="48387"/>
                  </a:lnTo>
                  <a:lnTo>
                    <a:pt x="348742" y="50419"/>
                  </a:lnTo>
                  <a:lnTo>
                    <a:pt x="351155" y="52324"/>
                  </a:lnTo>
                  <a:lnTo>
                    <a:pt x="354203" y="53848"/>
                  </a:lnTo>
                  <a:lnTo>
                    <a:pt x="357378" y="55499"/>
                  </a:lnTo>
                  <a:lnTo>
                    <a:pt x="360806" y="57023"/>
                  </a:lnTo>
                  <a:lnTo>
                    <a:pt x="364744" y="58420"/>
                  </a:lnTo>
                  <a:lnTo>
                    <a:pt x="368681" y="59690"/>
                  </a:lnTo>
                  <a:lnTo>
                    <a:pt x="372618" y="61214"/>
                  </a:lnTo>
                  <a:lnTo>
                    <a:pt x="404622" y="83693"/>
                  </a:lnTo>
                  <a:lnTo>
                    <a:pt x="409321" y="97663"/>
                  </a:lnTo>
                  <a:lnTo>
                    <a:pt x="409321" y="103759"/>
                  </a:lnTo>
                  <a:lnTo>
                    <a:pt x="409321" y="111252"/>
                  </a:lnTo>
                  <a:lnTo>
                    <a:pt x="381888" y="144907"/>
                  </a:lnTo>
                  <a:lnTo>
                    <a:pt x="374777" y="146812"/>
                  </a:lnTo>
                  <a:lnTo>
                    <a:pt x="367792" y="148717"/>
                  </a:lnTo>
                  <a:lnTo>
                    <a:pt x="360044" y="149733"/>
                  </a:lnTo>
                  <a:lnTo>
                    <a:pt x="351917" y="149733"/>
                  </a:lnTo>
                  <a:lnTo>
                    <a:pt x="346963" y="149733"/>
                  </a:lnTo>
                  <a:lnTo>
                    <a:pt x="342138" y="149352"/>
                  </a:lnTo>
                  <a:lnTo>
                    <a:pt x="337693" y="148590"/>
                  </a:lnTo>
                  <a:lnTo>
                    <a:pt x="333121" y="147828"/>
                  </a:lnTo>
                  <a:lnTo>
                    <a:pt x="329056" y="146939"/>
                  </a:lnTo>
                  <a:lnTo>
                    <a:pt x="325500" y="145796"/>
                  </a:lnTo>
                  <a:lnTo>
                    <a:pt x="321944" y="144653"/>
                  </a:lnTo>
                  <a:lnTo>
                    <a:pt x="319024" y="143510"/>
                  </a:lnTo>
                  <a:lnTo>
                    <a:pt x="316611" y="142240"/>
                  </a:lnTo>
                  <a:lnTo>
                    <a:pt x="314198" y="141097"/>
                  </a:lnTo>
                  <a:lnTo>
                    <a:pt x="312419" y="139954"/>
                  </a:lnTo>
                  <a:lnTo>
                    <a:pt x="311404" y="138938"/>
                  </a:lnTo>
                  <a:lnTo>
                    <a:pt x="310261" y="137922"/>
                  </a:lnTo>
                  <a:lnTo>
                    <a:pt x="309499" y="136271"/>
                  </a:lnTo>
                  <a:lnTo>
                    <a:pt x="308863" y="133985"/>
                  </a:lnTo>
                  <a:lnTo>
                    <a:pt x="308229" y="131826"/>
                  </a:lnTo>
                  <a:lnTo>
                    <a:pt x="307975" y="128524"/>
                  </a:lnTo>
                  <a:lnTo>
                    <a:pt x="307975" y="124079"/>
                  </a:lnTo>
                  <a:lnTo>
                    <a:pt x="307975" y="121285"/>
                  </a:lnTo>
                  <a:lnTo>
                    <a:pt x="310642" y="110998"/>
                  </a:lnTo>
                  <a:lnTo>
                    <a:pt x="311277" y="110617"/>
                  </a:lnTo>
                  <a:lnTo>
                    <a:pt x="312038" y="110490"/>
                  </a:lnTo>
                  <a:lnTo>
                    <a:pt x="312928" y="110490"/>
                  </a:lnTo>
                  <a:lnTo>
                    <a:pt x="313944" y="110490"/>
                  </a:lnTo>
                  <a:lnTo>
                    <a:pt x="315594" y="111125"/>
                  </a:lnTo>
                  <a:lnTo>
                    <a:pt x="317754" y="112268"/>
                  </a:lnTo>
                  <a:lnTo>
                    <a:pt x="319786" y="113538"/>
                  </a:lnTo>
                  <a:lnTo>
                    <a:pt x="322453" y="114935"/>
                  </a:lnTo>
                  <a:lnTo>
                    <a:pt x="325628" y="116459"/>
                  </a:lnTo>
                  <a:lnTo>
                    <a:pt x="328803" y="117856"/>
                  </a:lnTo>
                  <a:lnTo>
                    <a:pt x="332486" y="119253"/>
                  </a:lnTo>
                  <a:lnTo>
                    <a:pt x="336804" y="120523"/>
                  </a:lnTo>
                  <a:lnTo>
                    <a:pt x="340994" y="121920"/>
                  </a:lnTo>
                  <a:lnTo>
                    <a:pt x="345821" y="122555"/>
                  </a:lnTo>
                  <a:lnTo>
                    <a:pt x="351155" y="122555"/>
                  </a:lnTo>
                  <a:lnTo>
                    <a:pt x="354456" y="122555"/>
                  </a:lnTo>
                  <a:lnTo>
                    <a:pt x="357505" y="122174"/>
                  </a:lnTo>
                  <a:lnTo>
                    <a:pt x="360172" y="121412"/>
                  </a:lnTo>
                  <a:lnTo>
                    <a:pt x="362712" y="120777"/>
                  </a:lnTo>
                  <a:lnTo>
                    <a:pt x="371348" y="113538"/>
                  </a:lnTo>
                  <a:lnTo>
                    <a:pt x="372363" y="111633"/>
                  </a:lnTo>
                  <a:lnTo>
                    <a:pt x="372872" y="109347"/>
                  </a:lnTo>
                  <a:lnTo>
                    <a:pt x="372872" y="106680"/>
                  </a:lnTo>
                  <a:lnTo>
                    <a:pt x="372872" y="103759"/>
                  </a:lnTo>
                  <a:lnTo>
                    <a:pt x="371983" y="101219"/>
                  </a:lnTo>
                  <a:lnTo>
                    <a:pt x="370078" y="99060"/>
                  </a:lnTo>
                  <a:lnTo>
                    <a:pt x="368300" y="96901"/>
                  </a:lnTo>
                  <a:lnTo>
                    <a:pt x="352552" y="89027"/>
                  </a:lnTo>
                  <a:lnTo>
                    <a:pt x="348742" y="87630"/>
                  </a:lnTo>
                  <a:lnTo>
                    <a:pt x="315722" y="67437"/>
                  </a:lnTo>
                  <a:lnTo>
                    <a:pt x="308737" y="49276"/>
                  </a:lnTo>
                  <a:lnTo>
                    <a:pt x="308737" y="43053"/>
                  </a:lnTo>
                  <a:lnTo>
                    <a:pt x="308737" y="36703"/>
                  </a:lnTo>
                  <a:lnTo>
                    <a:pt x="333502" y="5207"/>
                  </a:lnTo>
                  <a:lnTo>
                    <a:pt x="340233" y="3175"/>
                  </a:lnTo>
                  <a:lnTo>
                    <a:pt x="346837" y="1016"/>
                  </a:lnTo>
                  <a:lnTo>
                    <a:pt x="354456" y="0"/>
                  </a:lnTo>
                  <a:lnTo>
                    <a:pt x="362712" y="0"/>
                  </a:lnTo>
                  <a:close/>
                </a:path>
                <a:path w="897255" h="149860">
                  <a:moveTo>
                    <a:pt x="72771" y="0"/>
                  </a:moveTo>
                  <a:lnTo>
                    <a:pt x="115649" y="10842"/>
                  </a:lnTo>
                  <a:lnTo>
                    <a:pt x="138049" y="42164"/>
                  </a:lnTo>
                  <a:lnTo>
                    <a:pt x="142240" y="73533"/>
                  </a:lnTo>
                  <a:lnTo>
                    <a:pt x="141956" y="81821"/>
                  </a:lnTo>
                  <a:lnTo>
                    <a:pt x="128472" y="123344"/>
                  </a:lnTo>
                  <a:lnTo>
                    <a:pt x="94329" y="146679"/>
                  </a:lnTo>
                  <a:lnTo>
                    <a:pt x="69468" y="149733"/>
                  </a:lnTo>
                  <a:lnTo>
                    <a:pt x="60896" y="149423"/>
                  </a:lnTo>
                  <a:lnTo>
                    <a:pt x="21534" y="134957"/>
                  </a:lnTo>
                  <a:lnTo>
                    <a:pt x="2357" y="100345"/>
                  </a:lnTo>
                  <a:lnTo>
                    <a:pt x="0" y="76200"/>
                  </a:lnTo>
                  <a:lnTo>
                    <a:pt x="283" y="67911"/>
                  </a:lnTo>
                  <a:lnTo>
                    <a:pt x="13874" y="26370"/>
                  </a:lnTo>
                  <a:lnTo>
                    <a:pt x="47910" y="3161"/>
                  </a:lnTo>
                  <a:lnTo>
                    <a:pt x="72771" y="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63750" y="4942077"/>
              <a:ext cx="106171" cy="19392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35646" y="4924805"/>
              <a:ext cx="725170" cy="203200"/>
            </a:xfrm>
            <a:custGeom>
              <a:avLst/>
              <a:gdLst/>
              <a:ahLst/>
              <a:cxnLst/>
              <a:rect l="l" t="t" r="r" b="b"/>
              <a:pathLst>
                <a:path w="725169" h="203200">
                  <a:moveTo>
                    <a:pt x="19748" y="8636"/>
                  </a:moveTo>
                  <a:lnTo>
                    <a:pt x="24409" y="8636"/>
                  </a:lnTo>
                  <a:lnTo>
                    <a:pt x="28105" y="8636"/>
                  </a:lnTo>
                  <a:lnTo>
                    <a:pt x="30835" y="8763"/>
                  </a:lnTo>
                  <a:lnTo>
                    <a:pt x="33566" y="9017"/>
                  </a:lnTo>
                  <a:lnTo>
                    <a:pt x="35623" y="9271"/>
                  </a:lnTo>
                  <a:lnTo>
                    <a:pt x="37007" y="9906"/>
                  </a:lnTo>
                  <a:lnTo>
                    <a:pt x="38404" y="10414"/>
                  </a:lnTo>
                  <a:lnTo>
                    <a:pt x="41033" y="16637"/>
                  </a:lnTo>
                  <a:lnTo>
                    <a:pt x="74815" y="164084"/>
                  </a:lnTo>
                  <a:lnTo>
                    <a:pt x="74968" y="164084"/>
                  </a:lnTo>
                  <a:lnTo>
                    <a:pt x="110083" y="17653"/>
                  </a:lnTo>
                  <a:lnTo>
                    <a:pt x="110489" y="15748"/>
                  </a:lnTo>
                  <a:lnTo>
                    <a:pt x="111010" y="14224"/>
                  </a:lnTo>
                  <a:lnTo>
                    <a:pt x="111645" y="13081"/>
                  </a:lnTo>
                  <a:lnTo>
                    <a:pt x="112293" y="11811"/>
                  </a:lnTo>
                  <a:lnTo>
                    <a:pt x="113385" y="10922"/>
                  </a:lnTo>
                  <a:lnTo>
                    <a:pt x="114922" y="10287"/>
                  </a:lnTo>
                  <a:lnTo>
                    <a:pt x="116458" y="9652"/>
                  </a:lnTo>
                  <a:lnTo>
                    <a:pt x="118567" y="9271"/>
                  </a:lnTo>
                  <a:lnTo>
                    <a:pt x="121246" y="9017"/>
                  </a:lnTo>
                  <a:lnTo>
                    <a:pt x="123926" y="8763"/>
                  </a:lnTo>
                  <a:lnTo>
                    <a:pt x="127495" y="8636"/>
                  </a:lnTo>
                  <a:lnTo>
                    <a:pt x="131965" y="8636"/>
                  </a:lnTo>
                  <a:lnTo>
                    <a:pt x="136766" y="8636"/>
                  </a:lnTo>
                  <a:lnTo>
                    <a:pt x="140576" y="8636"/>
                  </a:lnTo>
                  <a:lnTo>
                    <a:pt x="143370" y="8890"/>
                  </a:lnTo>
                  <a:lnTo>
                    <a:pt x="146164" y="9144"/>
                  </a:lnTo>
                  <a:lnTo>
                    <a:pt x="148323" y="9525"/>
                  </a:lnTo>
                  <a:lnTo>
                    <a:pt x="149847" y="10160"/>
                  </a:lnTo>
                  <a:lnTo>
                    <a:pt x="151498" y="10795"/>
                  </a:lnTo>
                  <a:lnTo>
                    <a:pt x="154927" y="17653"/>
                  </a:lnTo>
                  <a:lnTo>
                    <a:pt x="191249" y="164084"/>
                  </a:lnTo>
                  <a:lnTo>
                    <a:pt x="191503" y="164084"/>
                  </a:lnTo>
                  <a:lnTo>
                    <a:pt x="225285" y="17018"/>
                  </a:lnTo>
                  <a:lnTo>
                    <a:pt x="225539" y="15494"/>
                  </a:lnTo>
                  <a:lnTo>
                    <a:pt x="225920" y="14097"/>
                  </a:lnTo>
                  <a:lnTo>
                    <a:pt x="226428" y="12954"/>
                  </a:lnTo>
                  <a:lnTo>
                    <a:pt x="226936" y="11811"/>
                  </a:lnTo>
                  <a:lnTo>
                    <a:pt x="227952" y="10922"/>
                  </a:lnTo>
                  <a:lnTo>
                    <a:pt x="229349" y="10287"/>
                  </a:lnTo>
                  <a:lnTo>
                    <a:pt x="230746" y="9652"/>
                  </a:lnTo>
                  <a:lnTo>
                    <a:pt x="232651" y="9271"/>
                  </a:lnTo>
                  <a:lnTo>
                    <a:pt x="235191" y="9017"/>
                  </a:lnTo>
                  <a:lnTo>
                    <a:pt x="237858" y="8763"/>
                  </a:lnTo>
                  <a:lnTo>
                    <a:pt x="241414" y="8636"/>
                  </a:lnTo>
                  <a:lnTo>
                    <a:pt x="246113" y="8636"/>
                  </a:lnTo>
                  <a:lnTo>
                    <a:pt x="250431" y="8636"/>
                  </a:lnTo>
                  <a:lnTo>
                    <a:pt x="253860" y="8763"/>
                  </a:lnTo>
                  <a:lnTo>
                    <a:pt x="256273" y="9017"/>
                  </a:lnTo>
                  <a:lnTo>
                    <a:pt x="258686" y="9271"/>
                  </a:lnTo>
                  <a:lnTo>
                    <a:pt x="260464" y="9906"/>
                  </a:lnTo>
                  <a:lnTo>
                    <a:pt x="261607" y="10922"/>
                  </a:lnTo>
                  <a:lnTo>
                    <a:pt x="262623" y="12065"/>
                  </a:lnTo>
                  <a:lnTo>
                    <a:pt x="263131" y="13716"/>
                  </a:lnTo>
                  <a:lnTo>
                    <a:pt x="263004" y="15748"/>
                  </a:lnTo>
                  <a:lnTo>
                    <a:pt x="262877" y="17907"/>
                  </a:lnTo>
                  <a:lnTo>
                    <a:pt x="217284" y="192151"/>
                  </a:lnTo>
                  <a:lnTo>
                    <a:pt x="214744" y="197866"/>
                  </a:lnTo>
                  <a:lnTo>
                    <a:pt x="213728" y="199263"/>
                  </a:lnTo>
                  <a:lnTo>
                    <a:pt x="212204" y="200406"/>
                  </a:lnTo>
                  <a:lnTo>
                    <a:pt x="210045" y="201041"/>
                  </a:lnTo>
                  <a:lnTo>
                    <a:pt x="208013" y="201803"/>
                  </a:lnTo>
                  <a:lnTo>
                    <a:pt x="205346" y="202311"/>
                  </a:lnTo>
                  <a:lnTo>
                    <a:pt x="202044" y="202565"/>
                  </a:lnTo>
                  <a:lnTo>
                    <a:pt x="198742" y="202819"/>
                  </a:lnTo>
                  <a:lnTo>
                    <a:pt x="194678" y="202946"/>
                  </a:lnTo>
                  <a:lnTo>
                    <a:pt x="189598" y="202946"/>
                  </a:lnTo>
                  <a:lnTo>
                    <a:pt x="183883" y="202946"/>
                  </a:lnTo>
                  <a:lnTo>
                    <a:pt x="167881" y="201041"/>
                  </a:lnTo>
                  <a:lnTo>
                    <a:pt x="165849" y="200406"/>
                  </a:lnTo>
                  <a:lnTo>
                    <a:pt x="161404" y="192151"/>
                  </a:lnTo>
                  <a:lnTo>
                    <a:pt x="130619" y="70104"/>
                  </a:lnTo>
                  <a:lnTo>
                    <a:pt x="130327" y="70104"/>
                  </a:lnTo>
                  <a:lnTo>
                    <a:pt x="101155" y="192151"/>
                  </a:lnTo>
                  <a:lnTo>
                    <a:pt x="100660" y="194437"/>
                  </a:lnTo>
                  <a:lnTo>
                    <a:pt x="99961" y="196215"/>
                  </a:lnTo>
                  <a:lnTo>
                    <a:pt x="86944" y="202565"/>
                  </a:lnTo>
                  <a:lnTo>
                    <a:pt x="83616" y="202819"/>
                  </a:lnTo>
                  <a:lnTo>
                    <a:pt x="79235" y="202946"/>
                  </a:lnTo>
                  <a:lnTo>
                    <a:pt x="73774" y="202946"/>
                  </a:lnTo>
                  <a:lnTo>
                    <a:pt x="68021" y="202946"/>
                  </a:lnTo>
                  <a:lnTo>
                    <a:pt x="63423" y="202819"/>
                  </a:lnTo>
                  <a:lnTo>
                    <a:pt x="60007" y="202565"/>
                  </a:lnTo>
                  <a:lnTo>
                    <a:pt x="56578" y="202311"/>
                  </a:lnTo>
                  <a:lnTo>
                    <a:pt x="53886" y="201803"/>
                  </a:lnTo>
                  <a:lnTo>
                    <a:pt x="51892" y="201041"/>
                  </a:lnTo>
                  <a:lnTo>
                    <a:pt x="49910" y="200406"/>
                  </a:lnTo>
                  <a:lnTo>
                    <a:pt x="1587" y="24130"/>
                  </a:lnTo>
                  <a:lnTo>
                    <a:pt x="101" y="15621"/>
                  </a:lnTo>
                  <a:lnTo>
                    <a:pt x="0" y="13589"/>
                  </a:lnTo>
                  <a:lnTo>
                    <a:pt x="14693" y="8636"/>
                  </a:lnTo>
                  <a:lnTo>
                    <a:pt x="19748" y="8636"/>
                  </a:lnTo>
                  <a:close/>
                </a:path>
                <a:path w="725169" h="203200">
                  <a:moveTo>
                    <a:pt x="703313" y="0"/>
                  </a:moveTo>
                  <a:lnTo>
                    <a:pt x="711568" y="0"/>
                  </a:lnTo>
                  <a:lnTo>
                    <a:pt x="717283" y="1397"/>
                  </a:lnTo>
                  <a:lnTo>
                    <a:pt x="720204" y="4191"/>
                  </a:lnTo>
                  <a:lnTo>
                    <a:pt x="723252" y="6985"/>
                  </a:lnTo>
                  <a:lnTo>
                    <a:pt x="724776" y="12065"/>
                  </a:lnTo>
                  <a:lnTo>
                    <a:pt x="724776" y="19304"/>
                  </a:lnTo>
                  <a:lnTo>
                    <a:pt x="724776" y="26797"/>
                  </a:lnTo>
                  <a:lnTo>
                    <a:pt x="723125" y="32004"/>
                  </a:lnTo>
                  <a:lnTo>
                    <a:pt x="720077" y="34925"/>
                  </a:lnTo>
                  <a:lnTo>
                    <a:pt x="717029" y="37846"/>
                  </a:lnTo>
                  <a:lnTo>
                    <a:pt x="711314" y="39243"/>
                  </a:lnTo>
                  <a:lnTo>
                    <a:pt x="702932" y="39243"/>
                  </a:lnTo>
                  <a:lnTo>
                    <a:pt x="694550" y="39243"/>
                  </a:lnTo>
                  <a:lnTo>
                    <a:pt x="688835" y="37846"/>
                  </a:lnTo>
                  <a:lnTo>
                    <a:pt x="685914" y="35052"/>
                  </a:lnTo>
                  <a:lnTo>
                    <a:pt x="682993" y="32258"/>
                  </a:lnTo>
                  <a:lnTo>
                    <a:pt x="681596" y="27305"/>
                  </a:lnTo>
                  <a:lnTo>
                    <a:pt x="681596" y="20066"/>
                  </a:lnTo>
                  <a:lnTo>
                    <a:pt x="681596" y="12573"/>
                  </a:lnTo>
                  <a:lnTo>
                    <a:pt x="683120" y="7239"/>
                  </a:lnTo>
                  <a:lnTo>
                    <a:pt x="686041" y="4318"/>
                  </a:lnTo>
                  <a:lnTo>
                    <a:pt x="689089" y="1397"/>
                  </a:lnTo>
                  <a:lnTo>
                    <a:pt x="694804" y="0"/>
                  </a:lnTo>
                  <a:lnTo>
                    <a:pt x="703313" y="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84273" y="4913629"/>
              <a:ext cx="138937" cy="2202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7701" y="4913629"/>
              <a:ext cx="138938" cy="22021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3596894" y="4914772"/>
            <a:ext cx="136525" cy="232410"/>
            <a:chOff x="3596894" y="4914772"/>
            <a:chExt cx="136525" cy="232410"/>
          </a:xfrm>
        </p:grpSpPr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09721" y="4926964"/>
              <a:ext cx="123570" cy="22021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03117" y="4920868"/>
              <a:ext cx="111633" cy="2082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602990" y="4920868"/>
              <a:ext cx="111760" cy="208279"/>
            </a:xfrm>
            <a:custGeom>
              <a:avLst/>
              <a:gdLst/>
              <a:ahLst/>
              <a:cxnLst/>
              <a:rect l="l" t="t" r="r" b="b"/>
              <a:pathLst>
                <a:path w="111760" h="208279">
                  <a:moveTo>
                    <a:pt x="46736" y="164337"/>
                  </a:moveTo>
                  <a:lnTo>
                    <a:pt x="50673" y="164337"/>
                  </a:lnTo>
                  <a:lnTo>
                    <a:pt x="54101" y="164718"/>
                  </a:lnTo>
                  <a:lnTo>
                    <a:pt x="56769" y="165480"/>
                  </a:lnTo>
                  <a:lnTo>
                    <a:pt x="59562" y="166242"/>
                  </a:lnTo>
                  <a:lnTo>
                    <a:pt x="66801" y="176021"/>
                  </a:lnTo>
                  <a:lnTo>
                    <a:pt x="67437" y="178815"/>
                  </a:lnTo>
                  <a:lnTo>
                    <a:pt x="67690" y="182371"/>
                  </a:lnTo>
                  <a:lnTo>
                    <a:pt x="67690" y="186562"/>
                  </a:lnTo>
                  <a:lnTo>
                    <a:pt x="67690" y="190626"/>
                  </a:lnTo>
                  <a:lnTo>
                    <a:pt x="67437" y="194055"/>
                  </a:lnTo>
                  <a:lnTo>
                    <a:pt x="66801" y="196722"/>
                  </a:lnTo>
                  <a:lnTo>
                    <a:pt x="66167" y="199516"/>
                  </a:lnTo>
                  <a:lnTo>
                    <a:pt x="65024" y="201802"/>
                  </a:lnTo>
                  <a:lnTo>
                    <a:pt x="63373" y="203453"/>
                  </a:lnTo>
                  <a:lnTo>
                    <a:pt x="61722" y="205104"/>
                  </a:lnTo>
                  <a:lnTo>
                    <a:pt x="59562" y="206374"/>
                  </a:lnTo>
                  <a:lnTo>
                    <a:pt x="56769" y="207136"/>
                  </a:lnTo>
                  <a:lnTo>
                    <a:pt x="54101" y="207898"/>
                  </a:lnTo>
                  <a:lnTo>
                    <a:pt x="50673" y="208279"/>
                  </a:lnTo>
                  <a:lnTo>
                    <a:pt x="46736" y="208279"/>
                  </a:lnTo>
                  <a:lnTo>
                    <a:pt x="42545" y="208279"/>
                  </a:lnTo>
                  <a:lnTo>
                    <a:pt x="39115" y="207898"/>
                  </a:lnTo>
                  <a:lnTo>
                    <a:pt x="36449" y="207136"/>
                  </a:lnTo>
                  <a:lnTo>
                    <a:pt x="33782" y="206374"/>
                  </a:lnTo>
                  <a:lnTo>
                    <a:pt x="31623" y="205104"/>
                  </a:lnTo>
                  <a:lnTo>
                    <a:pt x="29972" y="203453"/>
                  </a:lnTo>
                  <a:lnTo>
                    <a:pt x="28321" y="201802"/>
                  </a:lnTo>
                  <a:lnTo>
                    <a:pt x="27177" y="199516"/>
                  </a:lnTo>
                  <a:lnTo>
                    <a:pt x="26543" y="196722"/>
                  </a:lnTo>
                  <a:lnTo>
                    <a:pt x="25908" y="194055"/>
                  </a:lnTo>
                  <a:lnTo>
                    <a:pt x="25654" y="190626"/>
                  </a:lnTo>
                  <a:lnTo>
                    <a:pt x="25654" y="186562"/>
                  </a:lnTo>
                  <a:lnTo>
                    <a:pt x="25654" y="182371"/>
                  </a:lnTo>
                  <a:lnTo>
                    <a:pt x="25908" y="178815"/>
                  </a:lnTo>
                  <a:lnTo>
                    <a:pt x="26543" y="176021"/>
                  </a:lnTo>
                  <a:lnTo>
                    <a:pt x="27177" y="173227"/>
                  </a:lnTo>
                  <a:lnTo>
                    <a:pt x="36449" y="165480"/>
                  </a:lnTo>
                  <a:lnTo>
                    <a:pt x="39115" y="164718"/>
                  </a:lnTo>
                  <a:lnTo>
                    <a:pt x="42545" y="164337"/>
                  </a:lnTo>
                  <a:lnTo>
                    <a:pt x="46736" y="164337"/>
                  </a:lnTo>
                  <a:close/>
                </a:path>
                <a:path w="111760" h="208279">
                  <a:moveTo>
                    <a:pt x="45847" y="0"/>
                  </a:moveTo>
                  <a:lnTo>
                    <a:pt x="84200" y="8127"/>
                  </a:lnTo>
                  <a:lnTo>
                    <a:pt x="110489" y="43687"/>
                  </a:lnTo>
                  <a:lnTo>
                    <a:pt x="111760" y="51180"/>
                  </a:lnTo>
                  <a:lnTo>
                    <a:pt x="111760" y="58927"/>
                  </a:lnTo>
                  <a:lnTo>
                    <a:pt x="111760" y="67055"/>
                  </a:lnTo>
                  <a:lnTo>
                    <a:pt x="98425" y="97916"/>
                  </a:lnTo>
                  <a:lnTo>
                    <a:pt x="94234" y="102742"/>
                  </a:lnTo>
                  <a:lnTo>
                    <a:pt x="63754" y="114934"/>
                  </a:lnTo>
                  <a:lnTo>
                    <a:pt x="62484" y="143890"/>
                  </a:lnTo>
                  <a:lnTo>
                    <a:pt x="62484" y="145668"/>
                  </a:lnTo>
                  <a:lnTo>
                    <a:pt x="60960" y="147065"/>
                  </a:lnTo>
                  <a:lnTo>
                    <a:pt x="58293" y="147954"/>
                  </a:lnTo>
                  <a:lnTo>
                    <a:pt x="55499" y="148843"/>
                  </a:lnTo>
                  <a:lnTo>
                    <a:pt x="51562" y="149351"/>
                  </a:lnTo>
                  <a:lnTo>
                    <a:pt x="46482" y="149351"/>
                  </a:lnTo>
                  <a:lnTo>
                    <a:pt x="43180" y="149351"/>
                  </a:lnTo>
                  <a:lnTo>
                    <a:pt x="40386" y="149224"/>
                  </a:lnTo>
                  <a:lnTo>
                    <a:pt x="38226" y="149097"/>
                  </a:lnTo>
                  <a:lnTo>
                    <a:pt x="35940" y="148970"/>
                  </a:lnTo>
                  <a:lnTo>
                    <a:pt x="34162" y="148716"/>
                  </a:lnTo>
                  <a:lnTo>
                    <a:pt x="32893" y="148208"/>
                  </a:lnTo>
                  <a:lnTo>
                    <a:pt x="31623" y="147827"/>
                  </a:lnTo>
                  <a:lnTo>
                    <a:pt x="30734" y="147319"/>
                  </a:lnTo>
                  <a:lnTo>
                    <a:pt x="30099" y="146684"/>
                  </a:lnTo>
                  <a:lnTo>
                    <a:pt x="29463" y="145922"/>
                  </a:lnTo>
                  <a:lnTo>
                    <a:pt x="29083" y="145033"/>
                  </a:lnTo>
                  <a:lnTo>
                    <a:pt x="29083" y="143890"/>
                  </a:lnTo>
                  <a:lnTo>
                    <a:pt x="27686" y="108838"/>
                  </a:lnTo>
                  <a:lnTo>
                    <a:pt x="27559" y="105663"/>
                  </a:lnTo>
                  <a:lnTo>
                    <a:pt x="27686" y="103123"/>
                  </a:lnTo>
                  <a:lnTo>
                    <a:pt x="28194" y="101091"/>
                  </a:lnTo>
                  <a:lnTo>
                    <a:pt x="28575" y="99059"/>
                  </a:lnTo>
                  <a:lnTo>
                    <a:pt x="29210" y="97535"/>
                  </a:lnTo>
                  <a:lnTo>
                    <a:pt x="30352" y="96265"/>
                  </a:lnTo>
                  <a:lnTo>
                    <a:pt x="31369" y="95122"/>
                  </a:lnTo>
                  <a:lnTo>
                    <a:pt x="32638" y="94360"/>
                  </a:lnTo>
                  <a:lnTo>
                    <a:pt x="34289" y="93852"/>
                  </a:lnTo>
                  <a:lnTo>
                    <a:pt x="35813" y="93471"/>
                  </a:lnTo>
                  <a:lnTo>
                    <a:pt x="37719" y="93217"/>
                  </a:lnTo>
                  <a:lnTo>
                    <a:pt x="39877" y="93217"/>
                  </a:lnTo>
                  <a:lnTo>
                    <a:pt x="42037" y="93217"/>
                  </a:lnTo>
                  <a:lnTo>
                    <a:pt x="47244" y="93217"/>
                  </a:lnTo>
                  <a:lnTo>
                    <a:pt x="51815" y="92328"/>
                  </a:lnTo>
                  <a:lnTo>
                    <a:pt x="55625" y="90677"/>
                  </a:lnTo>
                  <a:lnTo>
                    <a:pt x="59436" y="89026"/>
                  </a:lnTo>
                  <a:lnTo>
                    <a:pt x="62611" y="86740"/>
                  </a:lnTo>
                  <a:lnTo>
                    <a:pt x="65024" y="83946"/>
                  </a:lnTo>
                  <a:lnTo>
                    <a:pt x="67563" y="81152"/>
                  </a:lnTo>
                  <a:lnTo>
                    <a:pt x="69342" y="77977"/>
                  </a:lnTo>
                  <a:lnTo>
                    <a:pt x="70485" y="74167"/>
                  </a:lnTo>
                  <a:lnTo>
                    <a:pt x="71627" y="70357"/>
                  </a:lnTo>
                  <a:lnTo>
                    <a:pt x="72136" y="66293"/>
                  </a:lnTo>
                  <a:lnTo>
                    <a:pt x="72136" y="62102"/>
                  </a:lnTo>
                  <a:lnTo>
                    <a:pt x="72136" y="57276"/>
                  </a:lnTo>
                  <a:lnTo>
                    <a:pt x="44831" y="29844"/>
                  </a:lnTo>
                  <a:lnTo>
                    <a:pt x="39243" y="29844"/>
                  </a:lnTo>
                  <a:lnTo>
                    <a:pt x="34289" y="29844"/>
                  </a:lnTo>
                  <a:lnTo>
                    <a:pt x="16001" y="34543"/>
                  </a:lnTo>
                  <a:lnTo>
                    <a:pt x="13208" y="35686"/>
                  </a:lnTo>
                  <a:lnTo>
                    <a:pt x="10795" y="36829"/>
                  </a:lnTo>
                  <a:lnTo>
                    <a:pt x="9017" y="37845"/>
                  </a:lnTo>
                  <a:lnTo>
                    <a:pt x="7238" y="38861"/>
                  </a:lnTo>
                  <a:lnTo>
                    <a:pt x="5714" y="39369"/>
                  </a:lnTo>
                  <a:lnTo>
                    <a:pt x="4825" y="39369"/>
                  </a:lnTo>
                  <a:lnTo>
                    <a:pt x="4063" y="39369"/>
                  </a:lnTo>
                  <a:lnTo>
                    <a:pt x="3429" y="39115"/>
                  </a:lnTo>
                  <a:lnTo>
                    <a:pt x="2794" y="38607"/>
                  </a:lnTo>
                  <a:lnTo>
                    <a:pt x="2286" y="38226"/>
                  </a:lnTo>
                  <a:lnTo>
                    <a:pt x="1777" y="37337"/>
                  </a:lnTo>
                  <a:lnTo>
                    <a:pt x="1397" y="36194"/>
                  </a:lnTo>
                  <a:lnTo>
                    <a:pt x="1015" y="35051"/>
                  </a:lnTo>
                  <a:lnTo>
                    <a:pt x="635" y="33273"/>
                  </a:lnTo>
                  <a:lnTo>
                    <a:pt x="381" y="31114"/>
                  </a:lnTo>
                  <a:lnTo>
                    <a:pt x="126" y="28955"/>
                  </a:lnTo>
                  <a:lnTo>
                    <a:pt x="0" y="26161"/>
                  </a:lnTo>
                  <a:lnTo>
                    <a:pt x="0" y="22859"/>
                  </a:lnTo>
                  <a:lnTo>
                    <a:pt x="0" y="19303"/>
                  </a:lnTo>
                  <a:lnTo>
                    <a:pt x="126" y="16763"/>
                  </a:lnTo>
                  <a:lnTo>
                    <a:pt x="508" y="15239"/>
                  </a:lnTo>
                  <a:lnTo>
                    <a:pt x="762" y="13588"/>
                  </a:lnTo>
                  <a:lnTo>
                    <a:pt x="8000" y="7873"/>
                  </a:lnTo>
                  <a:lnTo>
                    <a:pt x="10795" y="6476"/>
                  </a:lnTo>
                  <a:lnTo>
                    <a:pt x="14097" y="5206"/>
                  </a:lnTo>
                  <a:lnTo>
                    <a:pt x="18034" y="4063"/>
                  </a:lnTo>
                  <a:lnTo>
                    <a:pt x="21844" y="2920"/>
                  </a:lnTo>
                  <a:lnTo>
                    <a:pt x="26162" y="2031"/>
                  </a:lnTo>
                  <a:lnTo>
                    <a:pt x="30987" y="1269"/>
                  </a:lnTo>
                  <a:lnTo>
                    <a:pt x="35687" y="380"/>
                  </a:lnTo>
                  <a:lnTo>
                    <a:pt x="40639" y="0"/>
                  </a:lnTo>
                  <a:lnTo>
                    <a:pt x="45847" y="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213" y="271961"/>
            <a:ext cx="5305424" cy="159952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55457" y="1083309"/>
            <a:ext cx="32645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Examples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attention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modeling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in </a:t>
            </a:r>
            <a:r>
              <a:rPr sz="1800" b="1" dirty="0">
                <a:latin typeface="Calibri"/>
                <a:cs typeface="Calibri"/>
              </a:rPr>
              <a:t>sentiment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classification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854" y="2585817"/>
            <a:ext cx="11030701" cy="352353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42" y="0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Attention</a:t>
            </a:r>
            <a:r>
              <a:rPr spc="-45" dirty="0"/>
              <a:t> </a:t>
            </a:r>
            <a:r>
              <a:rPr dirty="0"/>
              <a:t>Mechanism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Deep</a:t>
            </a:r>
            <a:r>
              <a:rPr spc="-10" dirty="0"/>
              <a:t> 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999744"/>
            <a:ext cx="7287768" cy="4858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62264" y="2022728"/>
            <a:ext cx="3279140" cy="359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75" dirty="0">
                <a:solidFill>
                  <a:srgbClr val="353739"/>
                </a:solidFill>
                <a:latin typeface="Tahoma"/>
                <a:cs typeface="Tahoma"/>
              </a:rPr>
              <a:t>The</a:t>
            </a:r>
            <a:r>
              <a:rPr sz="1800" spc="3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353739"/>
                </a:solidFill>
                <a:latin typeface="Tahoma"/>
                <a:cs typeface="Tahoma"/>
              </a:rPr>
              <a:t>introduction</a:t>
            </a:r>
            <a:r>
              <a:rPr sz="1800" spc="-6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353739"/>
                </a:solidFill>
                <a:latin typeface="Tahoma"/>
                <a:cs typeface="Tahoma"/>
              </a:rPr>
              <a:t>of</a:t>
            </a:r>
            <a:r>
              <a:rPr sz="1800" spc="-2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353739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353739"/>
                </a:solidFill>
                <a:latin typeface="Tahoma"/>
                <a:cs typeface="Tahoma"/>
              </a:rPr>
              <a:t>Attention Mechanism</a:t>
            </a:r>
            <a:r>
              <a:rPr sz="1800" spc="-4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353739"/>
                </a:solidFill>
                <a:latin typeface="Tahoma"/>
                <a:cs typeface="Tahoma"/>
              </a:rPr>
              <a:t>in</a:t>
            </a:r>
            <a:r>
              <a:rPr sz="1800" spc="-3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353739"/>
                </a:solidFill>
                <a:latin typeface="Tahoma"/>
                <a:cs typeface="Tahoma"/>
              </a:rPr>
              <a:t>deep</a:t>
            </a:r>
            <a:r>
              <a:rPr sz="1800" spc="-2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353739"/>
                </a:solidFill>
                <a:latin typeface="Tahoma"/>
                <a:cs typeface="Tahoma"/>
              </a:rPr>
              <a:t>learning</a:t>
            </a:r>
            <a:r>
              <a:rPr sz="1800" spc="-3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353739"/>
                </a:solidFill>
                <a:latin typeface="Tahoma"/>
                <a:cs typeface="Tahoma"/>
              </a:rPr>
              <a:t>has </a:t>
            </a:r>
            <a:r>
              <a:rPr sz="1800" spc="-105" dirty="0">
                <a:solidFill>
                  <a:srgbClr val="353739"/>
                </a:solidFill>
                <a:latin typeface="Tahoma"/>
                <a:cs typeface="Tahoma"/>
              </a:rPr>
              <a:t>improved</a:t>
            </a:r>
            <a:r>
              <a:rPr sz="1800" spc="-4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353739"/>
                </a:solidFill>
                <a:latin typeface="Tahoma"/>
                <a:cs typeface="Tahoma"/>
              </a:rPr>
              <a:t>the</a:t>
            </a:r>
            <a:r>
              <a:rPr sz="1800" spc="-2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353739"/>
                </a:solidFill>
                <a:latin typeface="Tahoma"/>
                <a:cs typeface="Tahoma"/>
              </a:rPr>
              <a:t>success</a:t>
            </a:r>
            <a:r>
              <a:rPr sz="1800" spc="-3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353739"/>
                </a:solidFill>
                <a:latin typeface="Tahoma"/>
                <a:cs typeface="Tahoma"/>
              </a:rPr>
              <a:t>of</a:t>
            </a:r>
            <a:r>
              <a:rPr sz="1800" spc="-4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353739"/>
                </a:solidFill>
                <a:latin typeface="Tahoma"/>
                <a:cs typeface="Tahoma"/>
              </a:rPr>
              <a:t>various </a:t>
            </a:r>
            <a:r>
              <a:rPr sz="1800" spc="-85" dirty="0">
                <a:solidFill>
                  <a:srgbClr val="353739"/>
                </a:solidFill>
                <a:latin typeface="Tahoma"/>
                <a:cs typeface="Tahoma"/>
              </a:rPr>
              <a:t>models</a:t>
            </a:r>
            <a:r>
              <a:rPr sz="1800" spc="-3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353739"/>
                </a:solidFill>
                <a:latin typeface="Tahoma"/>
                <a:cs typeface="Tahoma"/>
              </a:rPr>
              <a:t>in</a:t>
            </a:r>
            <a:r>
              <a:rPr sz="1800" spc="-4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353739"/>
                </a:solidFill>
                <a:latin typeface="Tahoma"/>
                <a:cs typeface="Tahoma"/>
              </a:rPr>
              <a:t>recent</a:t>
            </a:r>
            <a:r>
              <a:rPr sz="1800" spc="-5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53739"/>
                </a:solidFill>
                <a:latin typeface="Tahoma"/>
                <a:cs typeface="Tahoma"/>
              </a:rPr>
              <a:t>years,</a:t>
            </a:r>
            <a:endParaRPr sz="1800">
              <a:latin typeface="Tahoma"/>
              <a:cs typeface="Tahoma"/>
            </a:endParaRPr>
          </a:p>
          <a:p>
            <a:pPr marL="299085" marR="57785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90" dirty="0">
                <a:solidFill>
                  <a:srgbClr val="353739"/>
                </a:solidFill>
                <a:latin typeface="Tahoma"/>
                <a:cs typeface="Tahoma"/>
              </a:rPr>
              <a:t>Continues</a:t>
            </a:r>
            <a:r>
              <a:rPr sz="1800" spc="-3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353739"/>
                </a:solidFill>
                <a:latin typeface="Tahoma"/>
                <a:cs typeface="Tahoma"/>
              </a:rPr>
              <a:t>to</a:t>
            </a:r>
            <a:r>
              <a:rPr sz="1800" spc="-3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353739"/>
                </a:solidFill>
                <a:latin typeface="Tahoma"/>
                <a:cs typeface="Tahoma"/>
              </a:rPr>
              <a:t>be</a:t>
            </a:r>
            <a:r>
              <a:rPr sz="1800" spc="-4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353739"/>
                </a:solidFill>
                <a:latin typeface="Tahoma"/>
                <a:cs typeface="Tahoma"/>
              </a:rPr>
              <a:t>an</a:t>
            </a:r>
            <a:r>
              <a:rPr sz="1800" spc="-4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353739"/>
                </a:solidFill>
                <a:latin typeface="Tahoma"/>
                <a:cs typeface="Tahoma"/>
              </a:rPr>
              <a:t>omnipresent </a:t>
            </a:r>
            <a:r>
              <a:rPr sz="1800" spc="-95" dirty="0">
                <a:solidFill>
                  <a:srgbClr val="353739"/>
                </a:solidFill>
                <a:latin typeface="Tahoma"/>
                <a:cs typeface="Tahoma"/>
              </a:rPr>
              <a:t>component</a:t>
            </a:r>
            <a:r>
              <a:rPr sz="1800" spc="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353739"/>
                </a:solidFill>
                <a:latin typeface="Tahoma"/>
                <a:cs typeface="Tahoma"/>
              </a:rPr>
              <a:t>in</a:t>
            </a:r>
            <a:r>
              <a:rPr sz="1800" spc="-1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353739"/>
                </a:solidFill>
                <a:latin typeface="Tahoma"/>
                <a:cs typeface="Tahoma"/>
              </a:rPr>
              <a:t>state-</a:t>
            </a:r>
            <a:r>
              <a:rPr sz="1800" spc="-75" dirty="0">
                <a:solidFill>
                  <a:srgbClr val="353739"/>
                </a:solidFill>
                <a:latin typeface="Tahoma"/>
                <a:cs typeface="Tahoma"/>
              </a:rPr>
              <a:t>of-</a:t>
            </a:r>
            <a:r>
              <a:rPr sz="1800" spc="-85" dirty="0">
                <a:solidFill>
                  <a:srgbClr val="353739"/>
                </a:solidFill>
                <a:latin typeface="Tahoma"/>
                <a:cs typeface="Tahoma"/>
              </a:rPr>
              <a:t>the-</a:t>
            </a:r>
            <a:r>
              <a:rPr sz="1800" spc="-25" dirty="0">
                <a:solidFill>
                  <a:srgbClr val="353739"/>
                </a:solidFill>
                <a:latin typeface="Tahoma"/>
                <a:cs typeface="Tahoma"/>
              </a:rPr>
              <a:t>art </a:t>
            </a:r>
            <a:r>
              <a:rPr sz="1800" spc="-10" dirty="0">
                <a:solidFill>
                  <a:srgbClr val="353739"/>
                </a:solidFill>
                <a:latin typeface="Tahoma"/>
                <a:cs typeface="Tahoma"/>
              </a:rPr>
              <a:t>models.</a:t>
            </a:r>
            <a:endParaRPr sz="1800">
              <a:latin typeface="Tahoma"/>
              <a:cs typeface="Tahoma"/>
            </a:endParaRPr>
          </a:p>
          <a:p>
            <a:pPr marL="299085" marR="3175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5" dirty="0">
                <a:solidFill>
                  <a:srgbClr val="353739"/>
                </a:solidFill>
                <a:latin typeface="Tahoma"/>
                <a:cs typeface="Tahoma"/>
              </a:rPr>
              <a:t>Therefore,</a:t>
            </a:r>
            <a:r>
              <a:rPr sz="1800" spc="-7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353739"/>
                </a:solidFill>
                <a:latin typeface="Tahoma"/>
                <a:cs typeface="Tahoma"/>
              </a:rPr>
              <a:t>it</a:t>
            </a:r>
            <a:r>
              <a:rPr sz="1800" spc="-5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53739"/>
                </a:solidFill>
                <a:latin typeface="Tahoma"/>
                <a:cs typeface="Tahoma"/>
              </a:rPr>
              <a:t>is</a:t>
            </a:r>
            <a:r>
              <a:rPr sz="1800" spc="-6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353739"/>
                </a:solidFill>
                <a:latin typeface="Tahoma"/>
                <a:cs typeface="Tahoma"/>
              </a:rPr>
              <a:t>vital</a:t>
            </a:r>
            <a:r>
              <a:rPr sz="1800" spc="-4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353739"/>
                </a:solidFill>
                <a:latin typeface="Tahoma"/>
                <a:cs typeface="Tahoma"/>
              </a:rPr>
              <a:t>that</a:t>
            </a:r>
            <a:r>
              <a:rPr sz="1800" spc="-6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353739"/>
                </a:solidFill>
                <a:latin typeface="Tahoma"/>
                <a:cs typeface="Tahoma"/>
              </a:rPr>
              <a:t>we</a:t>
            </a:r>
            <a:r>
              <a:rPr sz="1800" spc="-5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353739"/>
                </a:solidFill>
                <a:latin typeface="Tahoma"/>
                <a:cs typeface="Tahoma"/>
              </a:rPr>
              <a:t>pay </a:t>
            </a:r>
            <a:r>
              <a:rPr sz="1800" spc="-105" dirty="0">
                <a:solidFill>
                  <a:srgbClr val="353739"/>
                </a:solidFill>
                <a:latin typeface="Tahoma"/>
                <a:cs typeface="Tahoma"/>
              </a:rPr>
              <a:t>Attention</a:t>
            </a:r>
            <a:r>
              <a:rPr sz="1800" spc="-2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353739"/>
                </a:solidFill>
                <a:latin typeface="Tahoma"/>
                <a:cs typeface="Tahoma"/>
              </a:rPr>
              <a:t>to</a:t>
            </a:r>
            <a:r>
              <a:rPr sz="1800" spc="-2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353739"/>
                </a:solidFill>
                <a:latin typeface="Tahoma"/>
                <a:cs typeface="Tahoma"/>
              </a:rPr>
              <a:t>Attention</a:t>
            </a:r>
            <a:r>
              <a:rPr sz="1800" spc="-2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353739"/>
                </a:solidFill>
                <a:latin typeface="Tahoma"/>
                <a:cs typeface="Tahoma"/>
              </a:rPr>
              <a:t>and</a:t>
            </a:r>
            <a:r>
              <a:rPr sz="1800" spc="-4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353739"/>
                </a:solidFill>
                <a:latin typeface="Tahoma"/>
                <a:cs typeface="Tahoma"/>
              </a:rPr>
              <a:t>how</a:t>
            </a:r>
            <a:r>
              <a:rPr sz="1800" spc="-3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353739"/>
                </a:solidFill>
                <a:latin typeface="Tahoma"/>
                <a:cs typeface="Tahoma"/>
              </a:rPr>
              <a:t>it </a:t>
            </a:r>
            <a:r>
              <a:rPr sz="1800" spc="-80" dirty="0">
                <a:solidFill>
                  <a:srgbClr val="353739"/>
                </a:solidFill>
                <a:latin typeface="Tahoma"/>
                <a:cs typeface="Tahoma"/>
              </a:rPr>
              <a:t>goes</a:t>
            </a:r>
            <a:r>
              <a:rPr sz="1800" spc="-5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353739"/>
                </a:solidFill>
                <a:latin typeface="Tahoma"/>
                <a:cs typeface="Tahoma"/>
              </a:rPr>
              <a:t>about</a:t>
            </a:r>
            <a:r>
              <a:rPr sz="1800" spc="-50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353739"/>
                </a:solidFill>
                <a:latin typeface="Tahoma"/>
                <a:cs typeface="Tahoma"/>
              </a:rPr>
              <a:t>achieving</a:t>
            </a:r>
            <a:r>
              <a:rPr sz="1800" spc="-45" dirty="0">
                <a:solidFill>
                  <a:srgbClr val="3537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353739"/>
                </a:solidFill>
                <a:latin typeface="Tahoma"/>
                <a:cs typeface="Tahoma"/>
              </a:rPr>
              <a:t>its </a:t>
            </a:r>
            <a:r>
              <a:rPr sz="1800" spc="-10" dirty="0">
                <a:solidFill>
                  <a:srgbClr val="353739"/>
                </a:solidFill>
                <a:latin typeface="Tahoma"/>
                <a:cs typeface="Tahoma"/>
              </a:rPr>
              <a:t>effectiveness.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66649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Sequential</a:t>
            </a:r>
            <a:r>
              <a:rPr sz="3200" spc="-40" dirty="0"/>
              <a:t> </a:t>
            </a:r>
            <a:r>
              <a:rPr sz="3200" dirty="0"/>
              <a:t>Models</a:t>
            </a:r>
            <a:r>
              <a:rPr sz="3200" spc="-30" dirty="0"/>
              <a:t> </a:t>
            </a:r>
            <a:r>
              <a:rPr sz="3200" dirty="0"/>
              <a:t>:</a:t>
            </a:r>
            <a:r>
              <a:rPr sz="3200" spc="-35" dirty="0"/>
              <a:t> </a:t>
            </a:r>
            <a:r>
              <a:rPr sz="3200" spc="-10" dirty="0"/>
              <a:t>Evolution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656" y="1136903"/>
            <a:ext cx="1906905" cy="1430020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2800">
              <a:latin typeface="Times New Roman"/>
              <a:cs typeface="Times New Roman"/>
            </a:endParaRPr>
          </a:p>
          <a:p>
            <a:pPr marL="627380">
              <a:lnSpc>
                <a:spcPct val="100000"/>
              </a:lnSpc>
              <a:spcBef>
                <a:spcPts val="5"/>
              </a:spcBef>
            </a:pPr>
            <a:r>
              <a:rPr sz="2800" spc="-25" dirty="0">
                <a:solidFill>
                  <a:srgbClr val="7E7E7E"/>
                </a:solidFill>
                <a:latin typeface="Calibri"/>
                <a:cs typeface="Calibri"/>
              </a:rPr>
              <a:t>RNN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0588" y="1136903"/>
            <a:ext cx="1906905" cy="1430020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2800">
              <a:latin typeface="Times New Roman"/>
              <a:cs typeface="Times New Roman"/>
            </a:endParaRPr>
          </a:p>
          <a:p>
            <a:pPr marL="560070">
              <a:lnSpc>
                <a:spcPct val="100000"/>
              </a:lnSpc>
              <a:spcBef>
                <a:spcPts val="5"/>
              </a:spcBef>
            </a:pPr>
            <a:r>
              <a:rPr sz="2800" spc="-20" dirty="0">
                <a:solidFill>
                  <a:srgbClr val="7E7E7E"/>
                </a:solidFill>
                <a:latin typeface="Calibri"/>
                <a:cs typeface="Calibri"/>
              </a:rPr>
              <a:t>LSTM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6771" y="1173480"/>
            <a:ext cx="2063750" cy="1356360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spc="-25" dirty="0">
                <a:solidFill>
                  <a:srgbClr val="7E7E7E"/>
                </a:solidFill>
                <a:latin typeface="Calibri"/>
                <a:cs typeface="Calibri"/>
              </a:rPr>
              <a:t>GRU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9616" y="1173480"/>
            <a:ext cx="2065020" cy="1430020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265430" rIns="0" bIns="0" rtlCol="0">
            <a:spAutoFit/>
          </a:bodyPr>
          <a:lstStyle/>
          <a:p>
            <a:pPr marL="440055" marR="431165" indent="1270">
              <a:lnSpc>
                <a:spcPct val="100000"/>
              </a:lnSpc>
              <a:spcBef>
                <a:spcPts val="2090"/>
              </a:spcBef>
            </a:pPr>
            <a:r>
              <a:rPr sz="2800" spc="-10" dirty="0">
                <a:solidFill>
                  <a:srgbClr val="7E7E7E"/>
                </a:solidFill>
                <a:latin typeface="Calibri"/>
                <a:cs typeface="Calibri"/>
              </a:rPr>
              <a:t>Encoder decoder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6908" y="3252215"/>
            <a:ext cx="11374120" cy="2794000"/>
            <a:chOff x="406908" y="3252215"/>
            <a:chExt cx="11374120" cy="2794000"/>
          </a:xfrm>
        </p:grpSpPr>
        <p:sp>
          <p:nvSpPr>
            <p:cNvPr id="8" name="object 8"/>
            <p:cNvSpPr/>
            <p:nvPr/>
          </p:nvSpPr>
          <p:spPr>
            <a:xfrm>
              <a:off x="406908" y="3252215"/>
              <a:ext cx="11374120" cy="2794000"/>
            </a:xfrm>
            <a:custGeom>
              <a:avLst/>
              <a:gdLst/>
              <a:ahLst/>
              <a:cxnLst/>
              <a:rect l="l" t="t" r="r" b="b"/>
              <a:pathLst>
                <a:path w="11374120" h="2794000">
                  <a:moveTo>
                    <a:pt x="11373612" y="0"/>
                  </a:moveTo>
                  <a:lnTo>
                    <a:pt x="0" y="0"/>
                  </a:lnTo>
                  <a:lnTo>
                    <a:pt x="0" y="2793492"/>
                  </a:lnTo>
                  <a:lnTo>
                    <a:pt x="11373612" y="2793492"/>
                  </a:lnTo>
                  <a:lnTo>
                    <a:pt x="1137361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810243" y="4126991"/>
              <a:ext cx="2839720" cy="1519555"/>
            </a:xfrm>
            <a:custGeom>
              <a:avLst/>
              <a:gdLst/>
              <a:ahLst/>
              <a:cxnLst/>
              <a:rect l="l" t="t" r="r" b="b"/>
              <a:pathLst>
                <a:path w="2839720" h="1519554">
                  <a:moveTo>
                    <a:pt x="2839211" y="0"/>
                  </a:moveTo>
                  <a:lnTo>
                    <a:pt x="0" y="0"/>
                  </a:lnTo>
                  <a:lnTo>
                    <a:pt x="0" y="1519428"/>
                  </a:lnTo>
                  <a:lnTo>
                    <a:pt x="2839211" y="1519428"/>
                  </a:lnTo>
                  <a:lnTo>
                    <a:pt x="2839211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10243" y="4126991"/>
              <a:ext cx="2839720" cy="1519555"/>
            </a:xfrm>
            <a:custGeom>
              <a:avLst/>
              <a:gdLst/>
              <a:ahLst/>
              <a:cxnLst/>
              <a:rect l="l" t="t" r="r" b="b"/>
              <a:pathLst>
                <a:path w="2839720" h="1519554">
                  <a:moveTo>
                    <a:pt x="0" y="1519428"/>
                  </a:moveTo>
                  <a:lnTo>
                    <a:pt x="2839211" y="1519428"/>
                  </a:lnTo>
                  <a:lnTo>
                    <a:pt x="2839211" y="0"/>
                  </a:lnTo>
                  <a:lnTo>
                    <a:pt x="0" y="0"/>
                  </a:lnTo>
                  <a:lnTo>
                    <a:pt x="0" y="151942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6908" y="3252215"/>
            <a:ext cx="11374120" cy="279400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40"/>
              </a:spcBef>
            </a:pPr>
            <a:r>
              <a:rPr sz="2800" spc="-20" dirty="0">
                <a:solidFill>
                  <a:srgbClr val="7E7E7E"/>
                </a:solidFill>
                <a:latin typeface="Calibri"/>
                <a:cs typeface="Calibri"/>
              </a:rPr>
              <a:t>Attention</a:t>
            </a:r>
            <a:r>
              <a:rPr sz="28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800">
              <a:latin typeface="Calibri"/>
              <a:cs typeface="Calibri"/>
            </a:endParaRPr>
          </a:p>
          <a:p>
            <a:pPr marL="9561830" marR="294640" indent="-98933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Graph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Attention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Networks </a:t>
            </a:r>
            <a:r>
              <a:rPr sz="1800" b="1" spc="-20" dirty="0">
                <a:latin typeface="Calibri"/>
                <a:cs typeface="Calibri"/>
              </a:rPr>
              <a:t>(GAT)</a:t>
            </a:r>
            <a:endParaRPr sz="1800">
              <a:latin typeface="Calibri"/>
              <a:cs typeface="Calibri"/>
            </a:endParaRPr>
          </a:p>
          <a:p>
            <a:pPr marL="8495030" marR="4762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networks,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citation </a:t>
            </a:r>
            <a:r>
              <a:rPr sz="1800" dirty="0">
                <a:latin typeface="Calibri"/>
                <a:cs typeface="Calibri"/>
              </a:rPr>
              <a:t>networks,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protein-</a:t>
            </a:r>
            <a:r>
              <a:rPr sz="1800" spc="-10" dirty="0">
                <a:latin typeface="Calibri"/>
                <a:cs typeface="Calibri"/>
              </a:rPr>
              <a:t>protein interactions,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9403" y="4172711"/>
            <a:ext cx="2839720" cy="1473835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marL="573405" marR="566420" algn="ctr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Memory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Network Architectures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Question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Answering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(QA)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bots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54095" y="4325111"/>
            <a:ext cx="2581910" cy="1321435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2349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850"/>
              </a:spcBef>
            </a:pPr>
            <a:r>
              <a:rPr sz="1800" b="1" spc="-10" dirty="0">
                <a:latin typeface="Calibri"/>
                <a:cs typeface="Calibri"/>
              </a:rPr>
              <a:t>Transformers</a:t>
            </a:r>
            <a:r>
              <a:rPr sz="1800" spc="-10" dirty="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Self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Video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processing/NLP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2544" y="4325111"/>
            <a:ext cx="2346960" cy="1321435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234950" rIns="0" bIns="0" rtlCol="0">
            <a:spAutoFit/>
          </a:bodyPr>
          <a:lstStyle/>
          <a:p>
            <a:pPr marL="365760" marR="356870" indent="-1270" algn="ctr">
              <a:lnSpc>
                <a:spcPct val="100000"/>
              </a:lnSpc>
              <a:spcBef>
                <a:spcPts val="1850"/>
              </a:spcBef>
            </a:pPr>
            <a:r>
              <a:rPr sz="1800" spc="-10" dirty="0">
                <a:latin typeface="Calibri"/>
                <a:cs typeface="Calibri"/>
              </a:rPr>
              <a:t>Attention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based </a:t>
            </a:r>
            <a:r>
              <a:rPr sz="1800" b="1" dirty="0">
                <a:latin typeface="Calibri"/>
                <a:cs typeface="Calibri"/>
              </a:rPr>
              <a:t>Encoder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Decoder </a:t>
            </a:r>
            <a:r>
              <a:rPr sz="1800" spc="-10" dirty="0">
                <a:latin typeface="Calibri"/>
                <a:cs typeface="Calibri"/>
              </a:rPr>
              <a:t>Models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759" y="1210055"/>
            <a:ext cx="10556875" cy="4135120"/>
          </a:xfrm>
          <a:prstGeom prst="rect">
            <a:avLst/>
          </a:prstGeom>
          <a:solidFill>
            <a:srgbClr val="FCDAFD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4400">
              <a:latin typeface="Times New Roman"/>
              <a:cs typeface="Times New Roman"/>
            </a:endParaRPr>
          </a:p>
          <a:p>
            <a:pPr marL="91440" marR="793115">
              <a:lnSpc>
                <a:spcPct val="100000"/>
              </a:lnSpc>
            </a:pPr>
            <a:r>
              <a:rPr sz="4400" b="1" spc="-10" dirty="0">
                <a:solidFill>
                  <a:srgbClr val="000000"/>
                </a:solidFill>
                <a:latin typeface="Calibri"/>
                <a:cs typeface="Calibri"/>
              </a:rPr>
              <a:t>Attention</a:t>
            </a:r>
            <a:r>
              <a:rPr sz="4400" b="1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libri"/>
                <a:cs typeface="Calibri"/>
              </a:rPr>
              <a:t>Mechanism</a:t>
            </a:r>
            <a:r>
              <a:rPr sz="4400"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4400" b="1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000000"/>
                </a:solidFill>
                <a:latin typeface="Calibri"/>
                <a:cs typeface="Calibri"/>
              </a:rPr>
              <a:t>Encoder</a:t>
            </a:r>
            <a:r>
              <a:rPr sz="4400" b="1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Calibri"/>
                <a:cs typeface="Calibri"/>
              </a:rPr>
              <a:t>Decoder Models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18270"/>
            <a:ext cx="10021723" cy="48814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2800" b="1" dirty="0">
                <a:solidFill>
                  <a:srgbClr val="C00000"/>
                </a:solidFill>
                <a:latin typeface="Georgia"/>
                <a:cs typeface="Georgia"/>
              </a:rPr>
              <a:t>Challenges</a:t>
            </a:r>
            <a:r>
              <a:rPr sz="2800" b="1" spc="-65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2800" b="1" dirty="0">
                <a:solidFill>
                  <a:srgbClr val="C00000"/>
                </a:solidFill>
                <a:latin typeface="Georgia"/>
                <a:cs typeface="Georgia"/>
              </a:rPr>
              <a:t>of</a:t>
            </a:r>
            <a:r>
              <a:rPr sz="2800" b="1" spc="-30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Georgia"/>
                <a:cs typeface="Georgia"/>
              </a:rPr>
              <a:t>traditional</a:t>
            </a:r>
            <a:r>
              <a:rPr sz="2800" b="1" spc="-15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Georgia"/>
                <a:cs typeface="Georgia"/>
              </a:rPr>
              <a:t>encoder-decoder framework</a:t>
            </a:r>
            <a:r>
              <a:rPr sz="2800" spc="-10" dirty="0"/>
              <a:t>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2700" y="751344"/>
            <a:ext cx="5829300" cy="55443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1555" y="1528648"/>
            <a:ext cx="477266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45" dirty="0">
                <a:latin typeface="Tahoma"/>
                <a:cs typeface="Tahoma"/>
              </a:rPr>
              <a:t>The</a:t>
            </a:r>
            <a:r>
              <a:rPr sz="2000" spc="-90" dirty="0">
                <a:latin typeface="Tahoma"/>
                <a:cs typeface="Tahoma"/>
              </a:rPr>
              <a:t> encoder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has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to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compress</a:t>
            </a:r>
            <a:r>
              <a:rPr sz="2000" spc="-90" dirty="0">
                <a:latin typeface="Tahoma"/>
                <a:cs typeface="Tahoma"/>
              </a:rPr>
              <a:t> all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the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input</a:t>
            </a:r>
            <a:endParaRPr sz="20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000" spc="-100" dirty="0">
                <a:latin typeface="Tahoma"/>
                <a:cs typeface="Tahoma"/>
              </a:rPr>
              <a:t>information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into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60" dirty="0">
                <a:latin typeface="Tahoma"/>
                <a:cs typeface="Tahoma"/>
              </a:rPr>
              <a:t>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single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fixed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length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vector</a:t>
            </a:r>
            <a:endParaRPr sz="2000">
              <a:latin typeface="Tahoma"/>
              <a:cs typeface="Tahoma"/>
            </a:endParaRPr>
          </a:p>
          <a:p>
            <a:pPr marL="299085" marR="239395" indent="-28702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45" dirty="0">
                <a:latin typeface="Tahoma"/>
                <a:cs typeface="Tahoma"/>
              </a:rPr>
              <a:t>One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vector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to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compress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long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and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detailed </a:t>
            </a:r>
            <a:r>
              <a:rPr sz="2000" spc="-100" dirty="0">
                <a:latin typeface="Tahoma"/>
                <a:cs typeface="Tahoma"/>
              </a:rPr>
              <a:t>input </a:t>
            </a:r>
            <a:r>
              <a:rPr sz="2000" spc="-85" dirty="0">
                <a:latin typeface="Tahoma"/>
                <a:cs typeface="Tahoma"/>
              </a:rPr>
              <a:t>sequences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160" dirty="0">
                <a:latin typeface="Tahoma"/>
                <a:cs typeface="Tahoma"/>
              </a:rPr>
              <a:t>may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lead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to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loss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of </a:t>
            </a:r>
            <a:r>
              <a:rPr sz="2000" spc="-10" dirty="0">
                <a:latin typeface="Tahoma"/>
                <a:cs typeface="Tahoma"/>
              </a:rPr>
              <a:t>information</a:t>
            </a:r>
            <a:endParaRPr sz="2000">
              <a:latin typeface="Tahoma"/>
              <a:cs typeface="Tahoma"/>
            </a:endParaRPr>
          </a:p>
          <a:p>
            <a:pPr marL="299085" marR="434340" indent="-28702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95" dirty="0">
                <a:latin typeface="Tahoma"/>
                <a:cs typeface="Tahoma"/>
              </a:rPr>
              <a:t>it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is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unable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to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model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alignment </a:t>
            </a:r>
            <a:r>
              <a:rPr sz="2000" spc="-100" dirty="0">
                <a:latin typeface="Tahoma"/>
                <a:cs typeface="Tahoma"/>
              </a:rPr>
              <a:t>between input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and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output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sequences,</a:t>
            </a:r>
            <a:endParaRPr sz="2000">
              <a:latin typeface="Tahoma"/>
              <a:cs typeface="Tahoma"/>
            </a:endParaRPr>
          </a:p>
          <a:p>
            <a:pPr marL="299085" marR="5080" indent="-28702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95" dirty="0">
                <a:latin typeface="Tahoma"/>
                <a:cs typeface="Tahoma"/>
              </a:rPr>
              <a:t>Decoder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lacks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any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mechanism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to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selectively focus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on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relevant</a:t>
            </a:r>
            <a:r>
              <a:rPr sz="2000" spc="-100" dirty="0">
                <a:latin typeface="Tahoma"/>
                <a:cs typeface="Tahoma"/>
              </a:rPr>
              <a:t> input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tokens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while </a:t>
            </a:r>
            <a:r>
              <a:rPr sz="2000" spc="-114" dirty="0">
                <a:latin typeface="Tahoma"/>
                <a:cs typeface="Tahoma"/>
              </a:rPr>
              <a:t>generating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each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output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token.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442" y="3384295"/>
            <a:ext cx="4053204" cy="1542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05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Dzmitry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Bahdanau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Jacobs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University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sz="1800" dirty="0">
                <a:latin typeface="Calibri"/>
                <a:cs typeface="Calibri"/>
              </a:rPr>
              <a:t>Bremen,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Germany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KyungHyun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Universit´e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Montr´eal </a:t>
            </a:r>
            <a:r>
              <a:rPr sz="1800" spc="-20" dirty="0">
                <a:latin typeface="Calibri"/>
                <a:cs typeface="Calibri"/>
              </a:rPr>
              <a:t>Yoshua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Bengio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Calibri"/>
                <a:cs typeface="Calibri"/>
              </a:rPr>
              <a:t>ICLR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2015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8132" y="1398847"/>
            <a:ext cx="6248400" cy="453256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" y="812291"/>
            <a:ext cx="11978640" cy="56967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100" y="0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Attention</a:t>
            </a:r>
            <a:r>
              <a:rPr spc="-35" dirty="0"/>
              <a:t> </a:t>
            </a:r>
            <a:r>
              <a:rPr dirty="0"/>
              <a:t>mechanism</a:t>
            </a:r>
            <a:r>
              <a:rPr spc="-15" dirty="0"/>
              <a:t> </a:t>
            </a:r>
            <a:r>
              <a:rPr dirty="0"/>
              <a:t>in Encoder </a:t>
            </a:r>
            <a:r>
              <a:rPr spc="-10" dirty="0"/>
              <a:t>Decoder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11899798" cy="635000"/>
          </a:xfrm>
          <a:prstGeom prst="rect">
            <a:avLst/>
          </a:prstGeom>
        </p:spPr>
        <p:txBody>
          <a:bodyPr vert="horz" wrap="square" lIns="0" tIns="223062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/>
              <a:t>Attention</a:t>
            </a:r>
            <a:r>
              <a:rPr spc="-15" dirty="0"/>
              <a:t> </a:t>
            </a:r>
            <a:r>
              <a:rPr spc="-10" dirty="0"/>
              <a:t>Mechanism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627" y="534923"/>
            <a:ext cx="8238744" cy="61127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0024" y="3609543"/>
            <a:ext cx="29229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5895">
              <a:lnSpc>
                <a:spcPct val="100000"/>
              </a:lnSpc>
              <a:spcBef>
                <a:spcPts val="100"/>
              </a:spcBef>
              <a:buSzPct val="94444"/>
              <a:buAutoNum type="arabicPeriod"/>
              <a:tabLst>
                <a:tab pos="185420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Encoding</a:t>
            </a:r>
            <a:endParaRPr sz="1800">
              <a:latin typeface="Calibri"/>
              <a:cs typeface="Calibri"/>
            </a:endParaRPr>
          </a:p>
          <a:p>
            <a:pPr marL="185420" indent="-176530">
              <a:lnSpc>
                <a:spcPct val="100000"/>
              </a:lnSpc>
              <a:spcBef>
                <a:spcPts val="5"/>
              </a:spcBef>
              <a:buSzPct val="94444"/>
              <a:buAutoNum type="arabicPeriod"/>
              <a:tabLst>
                <a:tab pos="18542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Computing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Attention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weights</a:t>
            </a:r>
            <a:endParaRPr sz="1800">
              <a:latin typeface="Calibri"/>
              <a:cs typeface="Calibri"/>
            </a:endParaRPr>
          </a:p>
          <a:p>
            <a:pPr marL="185420" indent="-176530">
              <a:lnSpc>
                <a:spcPct val="100000"/>
              </a:lnSpc>
              <a:buSzPct val="94444"/>
              <a:buAutoNum type="arabicPeriod"/>
              <a:tabLst>
                <a:tab pos="18542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Creating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context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vector</a:t>
            </a:r>
            <a:endParaRPr sz="1800">
              <a:latin typeface="Calibri"/>
              <a:cs typeface="Calibri"/>
            </a:endParaRPr>
          </a:p>
          <a:p>
            <a:pPr marL="185420" indent="-176530">
              <a:lnSpc>
                <a:spcPct val="100000"/>
              </a:lnSpc>
              <a:buSzPct val="94444"/>
              <a:buAutoNum type="arabicPeriod"/>
              <a:tabLst>
                <a:tab pos="18542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Decoding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/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Translation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01" y="-28755"/>
            <a:ext cx="11899798" cy="635000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dirty="0"/>
              <a:t>Attention</a:t>
            </a:r>
            <a:r>
              <a:rPr spc="-35" dirty="0"/>
              <a:t> </a:t>
            </a:r>
            <a:r>
              <a:rPr spc="-10" dirty="0"/>
              <a:t>Mechanism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82" y="981455"/>
            <a:ext cx="3582440" cy="24475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383" y="3505188"/>
            <a:ext cx="3505200" cy="23618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30639" y="899160"/>
            <a:ext cx="467748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202" y="-80738"/>
            <a:ext cx="11899798" cy="857978"/>
          </a:xfrm>
          <a:prstGeom prst="rect">
            <a:avLst/>
          </a:prstGeom>
        </p:spPr>
        <p:txBody>
          <a:bodyPr vert="horz" wrap="square" lIns="0" tIns="3620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Machine</a:t>
            </a:r>
            <a:r>
              <a:rPr sz="3200" spc="-45" dirty="0"/>
              <a:t> </a:t>
            </a:r>
            <a:r>
              <a:rPr sz="3200" dirty="0"/>
              <a:t>Translation</a:t>
            </a:r>
            <a:r>
              <a:rPr sz="3200" spc="-30" dirty="0"/>
              <a:t> </a:t>
            </a:r>
            <a:r>
              <a:rPr sz="3200" dirty="0"/>
              <a:t>with</a:t>
            </a:r>
            <a:r>
              <a:rPr sz="3200" spc="-30" dirty="0"/>
              <a:t> </a:t>
            </a:r>
            <a:r>
              <a:rPr sz="3200" dirty="0"/>
              <a:t>Attention</a:t>
            </a:r>
            <a:r>
              <a:rPr sz="3200" spc="-45" dirty="0"/>
              <a:t> </a:t>
            </a:r>
            <a:r>
              <a:rPr sz="3200" spc="-10" dirty="0"/>
              <a:t>Mechanism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1480" y="777240"/>
            <a:ext cx="10400030" cy="5628640"/>
            <a:chOff x="411480" y="777240"/>
            <a:chExt cx="10400030" cy="5628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" y="777240"/>
              <a:ext cx="4000500" cy="56281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1244" y="1024128"/>
              <a:ext cx="5430011" cy="46478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630" y="766200"/>
            <a:ext cx="3476297" cy="550581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168276" y="605023"/>
            <a:ext cx="5382895" cy="5724525"/>
            <a:chOff x="5168276" y="605023"/>
            <a:chExt cx="5382895" cy="5724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8276" y="605023"/>
              <a:ext cx="5382375" cy="57241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1507" y="2654807"/>
              <a:ext cx="2505455" cy="4663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6101" y="-8333"/>
            <a:ext cx="11899798" cy="594316"/>
          </a:xfrm>
          <a:prstGeom prst="rect">
            <a:avLst/>
          </a:prstGeom>
        </p:spPr>
        <p:txBody>
          <a:bodyPr vert="horz" wrap="square" lIns="0" tIns="100888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Machine</a:t>
            </a:r>
            <a:r>
              <a:rPr sz="3200" spc="-45" dirty="0"/>
              <a:t> </a:t>
            </a:r>
            <a:r>
              <a:rPr sz="3200" dirty="0"/>
              <a:t>Translation</a:t>
            </a:r>
            <a:r>
              <a:rPr sz="3200" spc="-30" dirty="0"/>
              <a:t> </a:t>
            </a:r>
            <a:r>
              <a:rPr sz="3200" dirty="0"/>
              <a:t>with</a:t>
            </a:r>
            <a:r>
              <a:rPr sz="3200" spc="-30" dirty="0"/>
              <a:t> </a:t>
            </a:r>
            <a:r>
              <a:rPr sz="3200" dirty="0"/>
              <a:t>Attention</a:t>
            </a:r>
            <a:r>
              <a:rPr sz="3200" spc="-45" dirty="0"/>
              <a:t> </a:t>
            </a:r>
            <a:r>
              <a:rPr sz="3200" spc="-10" dirty="0"/>
              <a:t>Mechanism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4547" y="1263280"/>
            <a:ext cx="2313927" cy="12757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0096" y="3214087"/>
            <a:ext cx="5790464" cy="19614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8296" y="776616"/>
            <a:ext cx="3423277" cy="54523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2202" y="-35580"/>
            <a:ext cx="11899798" cy="812196"/>
          </a:xfrm>
          <a:prstGeom prst="rect">
            <a:avLst/>
          </a:prstGeom>
        </p:spPr>
        <p:txBody>
          <a:bodyPr vert="horz" wrap="square" lIns="0" tIns="316661" rIns="0" bIns="0" rtlCol="0">
            <a:spAutoFit/>
          </a:bodyPr>
          <a:lstStyle/>
          <a:p>
            <a:pPr marL="60706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Machine</a:t>
            </a:r>
            <a:r>
              <a:rPr sz="3200" spc="-45" dirty="0"/>
              <a:t> </a:t>
            </a:r>
            <a:r>
              <a:rPr sz="3200" dirty="0"/>
              <a:t>Translation</a:t>
            </a:r>
            <a:r>
              <a:rPr sz="3200" spc="-30" dirty="0"/>
              <a:t> </a:t>
            </a:r>
            <a:r>
              <a:rPr sz="3200" dirty="0"/>
              <a:t>with</a:t>
            </a:r>
            <a:r>
              <a:rPr sz="3200" spc="-30" dirty="0"/>
              <a:t> </a:t>
            </a:r>
            <a:r>
              <a:rPr sz="3200" dirty="0"/>
              <a:t>Attention</a:t>
            </a:r>
            <a:r>
              <a:rPr sz="3200" spc="-45" dirty="0"/>
              <a:t> </a:t>
            </a:r>
            <a:r>
              <a:rPr sz="3200" spc="-10" dirty="0"/>
              <a:t>Mechanism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60812" y="1542288"/>
            <a:ext cx="1894636" cy="984237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4435" y="768106"/>
            <a:ext cx="5790084" cy="51823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296" y="776616"/>
            <a:ext cx="4069904" cy="54523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101" y="31700"/>
            <a:ext cx="11899798" cy="736406"/>
          </a:xfrm>
          <a:prstGeom prst="rect">
            <a:avLst/>
          </a:prstGeom>
        </p:spPr>
        <p:txBody>
          <a:bodyPr vert="horz" wrap="square" lIns="0" tIns="241604" rIns="0" bIns="0" rtlCol="0">
            <a:spAutoFit/>
          </a:bodyPr>
          <a:lstStyle/>
          <a:p>
            <a:pPr marL="60706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Machine</a:t>
            </a:r>
            <a:r>
              <a:rPr sz="3200" spc="-45" dirty="0"/>
              <a:t> </a:t>
            </a:r>
            <a:r>
              <a:rPr sz="3200" dirty="0"/>
              <a:t>Translation</a:t>
            </a:r>
            <a:r>
              <a:rPr sz="3200" spc="-30" dirty="0"/>
              <a:t> </a:t>
            </a:r>
            <a:r>
              <a:rPr sz="3200" dirty="0"/>
              <a:t>with</a:t>
            </a:r>
            <a:r>
              <a:rPr sz="3200" spc="-30" dirty="0"/>
              <a:t> </a:t>
            </a:r>
            <a:r>
              <a:rPr sz="3200" dirty="0"/>
              <a:t>Attention</a:t>
            </a:r>
            <a:r>
              <a:rPr sz="3200" spc="-45" dirty="0"/>
              <a:t> </a:t>
            </a:r>
            <a:r>
              <a:rPr sz="3200" spc="-10" dirty="0"/>
              <a:t>Mechanism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6847" y="655360"/>
            <a:ext cx="4811408" cy="55915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101" y="73415"/>
            <a:ext cx="11899798" cy="537710"/>
          </a:xfrm>
          <a:prstGeom prst="rect">
            <a:avLst/>
          </a:prstGeom>
        </p:spPr>
        <p:txBody>
          <a:bodyPr vert="horz" wrap="square" lIns="0" tIns="105790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Machine</a:t>
            </a:r>
            <a:r>
              <a:rPr sz="2800" spc="-60" dirty="0"/>
              <a:t> </a:t>
            </a:r>
            <a:r>
              <a:rPr sz="2800" dirty="0"/>
              <a:t>Translation</a:t>
            </a:r>
            <a:r>
              <a:rPr sz="2800" spc="-45" dirty="0"/>
              <a:t> </a:t>
            </a:r>
            <a:r>
              <a:rPr sz="2800" dirty="0"/>
              <a:t>with</a:t>
            </a:r>
            <a:r>
              <a:rPr sz="2800" spc="-35" dirty="0"/>
              <a:t> </a:t>
            </a:r>
            <a:r>
              <a:rPr sz="2800" dirty="0"/>
              <a:t>Attention</a:t>
            </a:r>
            <a:r>
              <a:rPr sz="2800" spc="-50" dirty="0"/>
              <a:t> </a:t>
            </a:r>
            <a:r>
              <a:rPr sz="2800" spc="-10" dirty="0"/>
              <a:t>Mechanism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411" y="812291"/>
            <a:ext cx="3485388" cy="5401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2063</Words>
  <Application>Microsoft Office PowerPoint</Application>
  <PresentationFormat>Widescreen</PresentationFormat>
  <Paragraphs>262</Paragraphs>
  <Slides>91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2" baseType="lpstr">
      <vt:lpstr>Office Theme</vt:lpstr>
      <vt:lpstr>PowerPoint Presentation</vt:lpstr>
      <vt:lpstr>Sequential Models Recurrent Neural Network ( RNN)</vt:lpstr>
      <vt:lpstr>“We love working on deep learning”</vt:lpstr>
      <vt:lpstr>what are kind of tasks ?</vt:lpstr>
      <vt:lpstr>what are kind of tasks ?</vt:lpstr>
      <vt:lpstr>what are kind of tasks ?</vt:lpstr>
      <vt:lpstr>Introduction</vt:lpstr>
      <vt:lpstr>Sequence Learning Problems</vt:lpstr>
      <vt:lpstr>Sequence Learning Problems Sequence of words</vt:lpstr>
      <vt:lpstr>Sequence Learning Problems- Predict the polarity of the sentence</vt:lpstr>
      <vt:lpstr>Other sequence learning problems</vt:lpstr>
      <vt:lpstr>What can be a solution?</vt:lpstr>
      <vt:lpstr>Perceptron Revisited</vt:lpstr>
      <vt:lpstr>Feed Forward Revisited</vt:lpstr>
      <vt:lpstr>Feed Forward Revisited</vt:lpstr>
      <vt:lpstr>Handling individual Time steps</vt:lpstr>
      <vt:lpstr>Neurons with Recurrence</vt:lpstr>
      <vt:lpstr>Recurrent Neural Networks</vt:lpstr>
      <vt:lpstr>Recurrent Neural Networks</vt:lpstr>
      <vt:lpstr>A solution – Recurrent Neural Networks ( RNN)</vt:lpstr>
      <vt:lpstr>Sequence classification problem ( eg: sentiment analysis-Polarity)</vt:lpstr>
      <vt:lpstr>Loss function for sequence classification problem</vt:lpstr>
      <vt:lpstr>Back propagation through time ( BPTT)</vt:lpstr>
      <vt:lpstr>Back propagation through time ( BPTT)</vt:lpstr>
      <vt:lpstr>Back propagation through time ( BPTT)</vt:lpstr>
      <vt:lpstr>Back propagation through time ( BPTT)</vt:lpstr>
      <vt:lpstr>Training Algorithm – Back propagation through time ( BPTT)</vt:lpstr>
      <vt:lpstr>Limitations:</vt:lpstr>
      <vt:lpstr>Evaluation- Sequence classification</vt:lpstr>
      <vt:lpstr>Evaluation Sequence labelling</vt:lpstr>
      <vt:lpstr>Sequential Models Long Short-Term Memory Cells( LSTM)</vt:lpstr>
      <vt:lpstr>RNN not dealing with longer sequence</vt:lpstr>
      <vt:lpstr>LSTM</vt:lpstr>
      <vt:lpstr>White board Analogy  ( over time white board become so messy and u cant make out anything)</vt:lpstr>
      <vt:lpstr>White board Analogy</vt:lpstr>
      <vt:lpstr>White board Analogy</vt:lpstr>
      <vt:lpstr>White board Analogy</vt:lpstr>
      <vt:lpstr>White board Analogy</vt:lpstr>
      <vt:lpstr>White board Analogy</vt:lpstr>
      <vt:lpstr>White board Analogy</vt:lpstr>
      <vt:lpstr>White board Analogy</vt:lpstr>
      <vt:lpstr>Dealing with longer sequence ( An example where RNN need to selectively read write and forget)</vt:lpstr>
      <vt:lpstr>What is LSTM?</vt:lpstr>
      <vt:lpstr>PowerPoint Presentation</vt:lpstr>
      <vt:lpstr>Long Short-Term Memory Cells</vt:lpstr>
      <vt:lpstr>Why are they called "Gates"?</vt:lpstr>
      <vt:lpstr>PowerPoint Presentation</vt:lpstr>
      <vt:lpstr>LSTM</vt:lpstr>
      <vt:lpstr>Long Short-Term Memory Cells – deals with longer sequences</vt:lpstr>
      <vt:lpstr>Selective write using output gate</vt:lpstr>
      <vt:lpstr>Selective write</vt:lpstr>
      <vt:lpstr>Selective read using input gate</vt:lpstr>
      <vt:lpstr>Selective Read</vt:lpstr>
      <vt:lpstr>Selective Forget using Forget Gate</vt:lpstr>
      <vt:lpstr>Some LSTMs stop after selective read but the actual version LSTM has forget gate also</vt:lpstr>
      <vt:lpstr>Summary-LSTM</vt:lpstr>
      <vt:lpstr>PowerPoint Presentation</vt:lpstr>
      <vt:lpstr>LSTM variants</vt:lpstr>
      <vt:lpstr>Gated Recurrent Units ( GRU)</vt:lpstr>
      <vt:lpstr>Encoder- Decoder Models</vt:lpstr>
      <vt:lpstr>Encoder- Decoder Architecture</vt:lpstr>
      <vt:lpstr>PowerPoint Presentation</vt:lpstr>
      <vt:lpstr>Recap – RNN ( Autofill words)</vt:lpstr>
      <vt:lpstr>Recap - RNN</vt:lpstr>
      <vt:lpstr>Recap - RNN</vt:lpstr>
      <vt:lpstr>PowerPoint Presentation</vt:lpstr>
      <vt:lpstr>Encoder – Decoder for Image Captioning Image Captioning Problem</vt:lpstr>
      <vt:lpstr>Encoder – Decoder for Image Captioning</vt:lpstr>
      <vt:lpstr>Encoder – Decoder for Image Captioning</vt:lpstr>
      <vt:lpstr>Encoder – Decoder for Image Captioning</vt:lpstr>
      <vt:lpstr>PowerPoint Presentation</vt:lpstr>
      <vt:lpstr>Encoder – Decoder for Machine Translation( seq2seq)</vt:lpstr>
      <vt:lpstr>Encoder – Decoder for Machine Translation</vt:lpstr>
      <vt:lpstr>Encoder – Decoder for Machine Transliteration</vt:lpstr>
      <vt:lpstr>Encoder – Decoder for Machine Transliteration</vt:lpstr>
      <vt:lpstr>  Attention Mechanism in Deep Learning</vt:lpstr>
      <vt:lpstr>What is Attention?</vt:lpstr>
      <vt:lpstr>PowerPoint Presentation</vt:lpstr>
      <vt:lpstr>Attention Mechanism in Deep Learning</vt:lpstr>
      <vt:lpstr>Sequential Models : Evolution</vt:lpstr>
      <vt:lpstr>  Attention Mechanism in Encoder Decoder Models</vt:lpstr>
      <vt:lpstr>Challenges of traditional encoder-decoder framework.</vt:lpstr>
      <vt:lpstr>PowerPoint Presentation</vt:lpstr>
      <vt:lpstr>Attention mechanism in Encoder Decoder</vt:lpstr>
      <vt:lpstr>Attention Mechanism</vt:lpstr>
      <vt:lpstr>Attention Mechanism</vt:lpstr>
      <vt:lpstr>Machine Translation with Attention Mechanism</vt:lpstr>
      <vt:lpstr>Machine Translation with Attention Mechanism</vt:lpstr>
      <vt:lpstr>Machine Translation with Attention Mechanism</vt:lpstr>
      <vt:lpstr>Machine Translation with Attention Mechanism</vt:lpstr>
      <vt:lpstr>Machine Translation with Attention Mechanism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 S</dc:creator>
  <cp:lastModifiedBy>saraths</cp:lastModifiedBy>
  <cp:revision>134</cp:revision>
  <dcterms:created xsi:type="dcterms:W3CDTF">2025-03-18T09:46:53Z</dcterms:created>
  <dcterms:modified xsi:type="dcterms:W3CDTF">2025-11-13T04:29:16Z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2025-03-18T00:00:00Z</vt:filetime>
  </property>
  <property fmtid="{D5CDD505-2E9C-101B-9397-08002B2CF9AE}" pid="5" name="Producer">
    <vt:lpwstr>Microsoft® PowerPoint® for Microsoft 365</vt:lpwstr>
  </property>
</Properties>
</file>
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59"/>
  </p:notesMasterIdLst>
  <p:sldIdLst>
    <p:sldId id="28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8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7D4667-A529-7CEF-F043-3690AE3B1688}" v="261" dt="2025-02-20T07:52:39.3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C6894AF8-7A0F-C3AA-7407-BA2F3B954E98}"/>
    <pc:docChg chg="addSld delSld modSld">
      <pc:chgData name="saraths" userId="S::saraths@am.amrita.edu::244d0ad9-751b-45dc-a37d-eb545e66f5d8" providerId="AD" clId="Web-{C6894AF8-7A0F-C3AA-7407-BA2F3B954E98}" dt="2025-02-14T10:02:31.455" v="45"/>
      <pc:docMkLst>
        <pc:docMk/>
      </pc:docMkLst>
      <pc:sldChg chg="del">
        <pc:chgData name="saraths" userId="S::saraths@am.amrita.edu::244d0ad9-751b-45dc-a37d-eb545e66f5d8" providerId="AD" clId="Web-{C6894AF8-7A0F-C3AA-7407-BA2F3B954E98}" dt="2025-02-14T05:31:35.809" v="0"/>
        <pc:sldMkLst>
          <pc:docMk/>
          <pc:sldMk cId="0" sldId="267"/>
        </pc:sldMkLst>
      </pc:sldChg>
      <pc:sldChg chg="addSp delSp modSp">
        <pc:chgData name="saraths" userId="S::saraths@am.amrita.edu::244d0ad9-751b-45dc-a37d-eb545e66f5d8" providerId="AD" clId="Web-{C6894AF8-7A0F-C3AA-7407-BA2F3B954E98}" dt="2025-02-14T05:32:50.998" v="5"/>
        <pc:sldMkLst>
          <pc:docMk/>
          <pc:sldMk cId="0" sldId="269"/>
        </pc:sldMkLst>
        <pc:grpChg chg="mod">
          <ac:chgData name="saraths" userId="S::saraths@am.amrita.edu::244d0ad9-751b-45dc-a37d-eb545e66f5d8" providerId="AD" clId="Web-{C6894AF8-7A0F-C3AA-7407-BA2F3B954E98}" dt="2025-02-14T05:31:55.653" v="1" actId="1076"/>
          <ac:grpSpMkLst>
            <pc:docMk/>
            <pc:sldMk cId="0" sldId="269"/>
            <ac:grpSpMk id="11" creationId="{7DD529C8-A08C-8522-0E8B-97286C44CBA8}"/>
          </ac:grpSpMkLst>
        </pc:grpChg>
        <pc:picChg chg="add del mod">
          <ac:chgData name="saraths" userId="S::saraths@am.amrita.edu::244d0ad9-751b-45dc-a37d-eb545e66f5d8" providerId="AD" clId="Web-{C6894AF8-7A0F-C3AA-7407-BA2F3B954E98}" dt="2025-02-14T05:32:50.998" v="5"/>
          <ac:picMkLst>
            <pc:docMk/>
            <pc:sldMk cId="0" sldId="269"/>
            <ac:picMk id="10" creationId="{85858B26-0E35-C6DA-E276-916194C81B48}"/>
          </ac:picMkLst>
        </pc:picChg>
      </pc:sldChg>
      <pc:sldChg chg="addSp delSp modSp">
        <pc:chgData name="saraths" userId="S::saraths@am.amrita.edu::244d0ad9-751b-45dc-a37d-eb545e66f5d8" providerId="AD" clId="Web-{C6894AF8-7A0F-C3AA-7407-BA2F3B954E98}" dt="2025-02-14T05:35:25.234" v="26" actId="14100"/>
        <pc:sldMkLst>
          <pc:docMk/>
          <pc:sldMk cId="0" sldId="270"/>
        </pc:sldMkLst>
        <pc:picChg chg="add del">
          <ac:chgData name="saraths" userId="S::saraths@am.amrita.edu::244d0ad9-751b-45dc-a37d-eb545e66f5d8" providerId="AD" clId="Web-{C6894AF8-7A0F-C3AA-7407-BA2F3B954E98}" dt="2025-02-14T05:34:54.640" v="20"/>
          <ac:picMkLst>
            <pc:docMk/>
            <pc:sldMk cId="0" sldId="270"/>
            <ac:picMk id="3" creationId="{00000000-0000-0000-0000-000000000000}"/>
          </ac:picMkLst>
        </pc:picChg>
        <pc:picChg chg="add mod">
          <ac:chgData name="saraths" userId="S::saraths@am.amrita.edu::244d0ad9-751b-45dc-a37d-eb545e66f5d8" providerId="AD" clId="Web-{C6894AF8-7A0F-C3AA-7407-BA2F3B954E98}" dt="2025-02-14T05:35:25.234" v="26" actId="14100"/>
          <ac:picMkLst>
            <pc:docMk/>
            <pc:sldMk cId="0" sldId="270"/>
            <ac:picMk id="8" creationId="{53939C28-6D1A-CCFE-5841-35ABEA249A34}"/>
          </ac:picMkLst>
        </pc:picChg>
      </pc:sldChg>
      <pc:sldChg chg="add">
        <pc:chgData name="saraths" userId="S::saraths@am.amrita.edu::244d0ad9-751b-45dc-a37d-eb545e66f5d8" providerId="AD" clId="Web-{C6894AF8-7A0F-C3AA-7407-BA2F3B954E98}" dt="2025-02-14T10:02:31.314" v="27"/>
        <pc:sldMkLst>
          <pc:docMk/>
          <pc:sldMk cId="0" sldId="273"/>
        </pc:sldMkLst>
      </pc:sldChg>
      <pc:sldChg chg="add">
        <pc:chgData name="saraths" userId="S::saraths@am.amrita.edu::244d0ad9-751b-45dc-a37d-eb545e66f5d8" providerId="AD" clId="Web-{C6894AF8-7A0F-C3AA-7407-BA2F3B954E98}" dt="2025-02-14T10:02:31.330" v="28"/>
        <pc:sldMkLst>
          <pc:docMk/>
          <pc:sldMk cId="0" sldId="274"/>
        </pc:sldMkLst>
      </pc:sldChg>
      <pc:sldChg chg="add">
        <pc:chgData name="saraths" userId="S::saraths@am.amrita.edu::244d0ad9-751b-45dc-a37d-eb545e66f5d8" providerId="AD" clId="Web-{C6894AF8-7A0F-C3AA-7407-BA2F3B954E98}" dt="2025-02-14T10:02:31.330" v="29"/>
        <pc:sldMkLst>
          <pc:docMk/>
          <pc:sldMk cId="0" sldId="275"/>
        </pc:sldMkLst>
      </pc:sldChg>
      <pc:sldChg chg="add">
        <pc:chgData name="saraths" userId="S::saraths@am.amrita.edu::244d0ad9-751b-45dc-a37d-eb545e66f5d8" providerId="AD" clId="Web-{C6894AF8-7A0F-C3AA-7407-BA2F3B954E98}" dt="2025-02-14T10:02:31.330" v="30"/>
        <pc:sldMkLst>
          <pc:docMk/>
          <pc:sldMk cId="0" sldId="276"/>
        </pc:sldMkLst>
      </pc:sldChg>
      <pc:sldChg chg="add">
        <pc:chgData name="saraths" userId="S::saraths@am.amrita.edu::244d0ad9-751b-45dc-a37d-eb545e66f5d8" providerId="AD" clId="Web-{C6894AF8-7A0F-C3AA-7407-BA2F3B954E98}" dt="2025-02-14T10:02:31.346" v="31"/>
        <pc:sldMkLst>
          <pc:docMk/>
          <pc:sldMk cId="0" sldId="277"/>
        </pc:sldMkLst>
      </pc:sldChg>
      <pc:sldChg chg="add">
        <pc:chgData name="saraths" userId="S::saraths@am.amrita.edu::244d0ad9-751b-45dc-a37d-eb545e66f5d8" providerId="AD" clId="Web-{C6894AF8-7A0F-C3AA-7407-BA2F3B954E98}" dt="2025-02-14T10:02:31.346" v="32"/>
        <pc:sldMkLst>
          <pc:docMk/>
          <pc:sldMk cId="0" sldId="278"/>
        </pc:sldMkLst>
      </pc:sldChg>
      <pc:sldChg chg="add">
        <pc:chgData name="saraths" userId="S::saraths@am.amrita.edu::244d0ad9-751b-45dc-a37d-eb545e66f5d8" providerId="AD" clId="Web-{C6894AF8-7A0F-C3AA-7407-BA2F3B954E98}" dt="2025-02-14T10:02:31.361" v="33"/>
        <pc:sldMkLst>
          <pc:docMk/>
          <pc:sldMk cId="0" sldId="279"/>
        </pc:sldMkLst>
      </pc:sldChg>
      <pc:sldChg chg="add">
        <pc:chgData name="saraths" userId="S::saraths@am.amrita.edu::244d0ad9-751b-45dc-a37d-eb545e66f5d8" providerId="AD" clId="Web-{C6894AF8-7A0F-C3AA-7407-BA2F3B954E98}" dt="2025-02-14T10:02:31.361" v="34"/>
        <pc:sldMkLst>
          <pc:docMk/>
          <pc:sldMk cId="0" sldId="280"/>
        </pc:sldMkLst>
      </pc:sldChg>
      <pc:sldChg chg="add">
        <pc:chgData name="saraths" userId="S::saraths@am.amrita.edu::244d0ad9-751b-45dc-a37d-eb545e66f5d8" providerId="AD" clId="Web-{C6894AF8-7A0F-C3AA-7407-BA2F3B954E98}" dt="2025-02-14T10:02:31.377" v="35"/>
        <pc:sldMkLst>
          <pc:docMk/>
          <pc:sldMk cId="0" sldId="281"/>
        </pc:sldMkLst>
      </pc:sldChg>
      <pc:sldChg chg="add">
        <pc:chgData name="saraths" userId="S::saraths@am.amrita.edu::244d0ad9-751b-45dc-a37d-eb545e66f5d8" providerId="AD" clId="Web-{C6894AF8-7A0F-C3AA-7407-BA2F3B954E98}" dt="2025-02-14T10:02:31.393" v="36"/>
        <pc:sldMkLst>
          <pc:docMk/>
          <pc:sldMk cId="0" sldId="282"/>
        </pc:sldMkLst>
      </pc:sldChg>
      <pc:sldChg chg="add">
        <pc:chgData name="saraths" userId="S::saraths@am.amrita.edu::244d0ad9-751b-45dc-a37d-eb545e66f5d8" providerId="AD" clId="Web-{C6894AF8-7A0F-C3AA-7407-BA2F3B954E98}" dt="2025-02-14T10:02:31.393" v="37"/>
        <pc:sldMkLst>
          <pc:docMk/>
          <pc:sldMk cId="0" sldId="283"/>
        </pc:sldMkLst>
      </pc:sldChg>
      <pc:sldChg chg="add">
        <pc:chgData name="saraths" userId="S::saraths@am.amrita.edu::244d0ad9-751b-45dc-a37d-eb545e66f5d8" providerId="AD" clId="Web-{C6894AF8-7A0F-C3AA-7407-BA2F3B954E98}" dt="2025-02-14T10:02:31.408" v="38"/>
        <pc:sldMkLst>
          <pc:docMk/>
          <pc:sldMk cId="0" sldId="284"/>
        </pc:sldMkLst>
      </pc:sldChg>
      <pc:sldChg chg="add">
        <pc:chgData name="saraths" userId="S::saraths@am.amrita.edu::244d0ad9-751b-45dc-a37d-eb545e66f5d8" providerId="AD" clId="Web-{C6894AF8-7A0F-C3AA-7407-BA2F3B954E98}" dt="2025-02-14T10:02:31.408" v="39"/>
        <pc:sldMkLst>
          <pc:docMk/>
          <pc:sldMk cId="0" sldId="285"/>
        </pc:sldMkLst>
      </pc:sldChg>
      <pc:sldChg chg="add">
        <pc:chgData name="saraths" userId="S::saraths@am.amrita.edu::244d0ad9-751b-45dc-a37d-eb545e66f5d8" providerId="AD" clId="Web-{C6894AF8-7A0F-C3AA-7407-BA2F3B954E98}" dt="2025-02-14T10:02:31.408" v="40"/>
        <pc:sldMkLst>
          <pc:docMk/>
          <pc:sldMk cId="0" sldId="286"/>
        </pc:sldMkLst>
      </pc:sldChg>
      <pc:sldChg chg="add">
        <pc:chgData name="saraths" userId="S::saraths@am.amrita.edu::244d0ad9-751b-45dc-a37d-eb545e66f5d8" providerId="AD" clId="Web-{C6894AF8-7A0F-C3AA-7407-BA2F3B954E98}" dt="2025-02-14T10:02:31.424" v="41"/>
        <pc:sldMkLst>
          <pc:docMk/>
          <pc:sldMk cId="0" sldId="287"/>
        </pc:sldMkLst>
      </pc:sldChg>
      <pc:sldChg chg="addSp delSp modSp new mod modClrScheme chgLayout">
        <pc:chgData name="saraths" userId="S::saraths@am.amrita.edu::244d0ad9-751b-45dc-a37d-eb545e66f5d8" providerId="AD" clId="Web-{C6894AF8-7A0F-C3AA-7407-BA2F3B954E98}" dt="2025-02-14T05:33:59.202" v="17" actId="1076"/>
        <pc:sldMkLst>
          <pc:docMk/>
          <pc:sldMk cId="925672407" sldId="289"/>
        </pc:sldMkLst>
        <pc:spChg chg="add del mod">
          <ac:chgData name="saraths" userId="S::saraths@am.amrita.edu::244d0ad9-751b-45dc-a37d-eb545e66f5d8" providerId="AD" clId="Web-{C6894AF8-7A0F-C3AA-7407-BA2F3B954E98}" dt="2025-02-14T05:33:49.295" v="14"/>
          <ac:spMkLst>
            <pc:docMk/>
            <pc:sldMk cId="925672407" sldId="289"/>
            <ac:spMk id="2" creationId="{68B0D66A-670C-46A6-7F8F-701BF23AFD61}"/>
          </ac:spMkLst>
        </pc:spChg>
        <pc:spChg chg="add del mod">
          <ac:chgData name="saraths" userId="S::saraths@am.amrita.edu::244d0ad9-751b-45dc-a37d-eb545e66f5d8" providerId="AD" clId="Web-{C6894AF8-7A0F-C3AA-7407-BA2F3B954E98}" dt="2025-02-14T05:33:01.888" v="9"/>
          <ac:spMkLst>
            <pc:docMk/>
            <pc:sldMk cId="925672407" sldId="289"/>
            <ac:spMk id="3" creationId="{FE0BD405-C6AA-C9DE-3548-BA2D55269E65}"/>
          </ac:spMkLst>
        </pc:spChg>
        <pc:spChg chg="add mod">
          <ac:chgData name="saraths" userId="S::saraths@am.amrita.edu::244d0ad9-751b-45dc-a37d-eb545e66f5d8" providerId="AD" clId="Web-{C6894AF8-7A0F-C3AA-7407-BA2F3B954E98}" dt="2025-02-14T05:33:59.202" v="17" actId="1076"/>
          <ac:spMkLst>
            <pc:docMk/>
            <pc:sldMk cId="925672407" sldId="289"/>
            <ac:spMk id="5" creationId="{63C6B4BB-2CF0-F924-EF02-6FD6AC62D242}"/>
          </ac:spMkLst>
        </pc:spChg>
        <pc:picChg chg="add mod">
          <ac:chgData name="saraths" userId="S::saraths@am.amrita.edu::244d0ad9-751b-45dc-a37d-eb545e66f5d8" providerId="AD" clId="Web-{C6894AF8-7A0F-C3AA-7407-BA2F3B954E98}" dt="2025-02-14T05:33:45.702" v="13" actId="1076"/>
          <ac:picMkLst>
            <pc:docMk/>
            <pc:sldMk cId="925672407" sldId="289"/>
            <ac:picMk id="4" creationId="{85858B26-0E35-C6DA-E276-916194C81B48}"/>
          </ac:picMkLst>
        </pc:picChg>
      </pc:sldChg>
      <pc:sldChg chg="add">
        <pc:chgData name="saraths" userId="S::saraths@am.amrita.edu::244d0ad9-751b-45dc-a37d-eb545e66f5d8" providerId="AD" clId="Web-{C6894AF8-7A0F-C3AA-7407-BA2F3B954E98}" dt="2025-02-14T10:02:31.439" v="42"/>
        <pc:sldMkLst>
          <pc:docMk/>
          <pc:sldMk cId="383288450" sldId="290"/>
        </pc:sldMkLst>
      </pc:sldChg>
      <pc:sldChg chg="add">
        <pc:chgData name="saraths" userId="S::saraths@am.amrita.edu::244d0ad9-751b-45dc-a37d-eb545e66f5d8" providerId="AD" clId="Web-{C6894AF8-7A0F-C3AA-7407-BA2F3B954E98}" dt="2025-02-14T10:02:31.439" v="43"/>
        <pc:sldMkLst>
          <pc:docMk/>
          <pc:sldMk cId="3835344394" sldId="291"/>
        </pc:sldMkLst>
      </pc:sldChg>
      <pc:sldChg chg="add">
        <pc:chgData name="saraths" userId="S::saraths@am.amrita.edu::244d0ad9-751b-45dc-a37d-eb545e66f5d8" providerId="AD" clId="Web-{C6894AF8-7A0F-C3AA-7407-BA2F3B954E98}" dt="2025-02-14T10:02:31.455" v="44"/>
        <pc:sldMkLst>
          <pc:docMk/>
          <pc:sldMk cId="1454580102" sldId="292"/>
        </pc:sldMkLst>
      </pc:sldChg>
      <pc:sldChg chg="add">
        <pc:chgData name="saraths" userId="S::saraths@am.amrita.edu::244d0ad9-751b-45dc-a37d-eb545e66f5d8" providerId="AD" clId="Web-{C6894AF8-7A0F-C3AA-7407-BA2F3B954E98}" dt="2025-02-14T10:02:31.455" v="45"/>
        <pc:sldMkLst>
          <pc:docMk/>
          <pc:sldMk cId="888967153" sldId="293"/>
        </pc:sldMkLst>
      </pc:sldChg>
    </pc:docChg>
  </pc:docChgLst>
  <pc:docChgLst>
    <pc:chgData name="saraths" userId="S::saraths@am.amrita.edu::244d0ad9-751b-45dc-a37d-eb545e66f5d8" providerId="AD" clId="Web-{754D2BAE-04FA-74E4-17E0-72B49120643C}"/>
    <pc:docChg chg="addSld">
      <pc:chgData name="saraths" userId="S::saraths@am.amrita.edu::244d0ad9-751b-45dc-a37d-eb545e66f5d8" providerId="AD" clId="Web-{754D2BAE-04FA-74E4-17E0-72B49120643C}" dt="2025-02-14T10:48:44.535" v="21"/>
      <pc:docMkLst>
        <pc:docMk/>
      </pc:docMkLst>
      <pc:sldChg chg="add">
        <pc:chgData name="saraths" userId="S::saraths@am.amrita.edu::244d0ad9-751b-45dc-a37d-eb545e66f5d8" providerId="AD" clId="Web-{754D2BAE-04FA-74E4-17E0-72B49120643C}" dt="2025-02-14T10:48:44.379" v="0"/>
        <pc:sldMkLst>
          <pc:docMk/>
          <pc:sldMk cId="4218982955" sldId="294"/>
        </pc:sldMkLst>
      </pc:sldChg>
      <pc:sldChg chg="add">
        <pc:chgData name="saraths" userId="S::saraths@am.amrita.edu::244d0ad9-751b-45dc-a37d-eb545e66f5d8" providerId="AD" clId="Web-{754D2BAE-04FA-74E4-17E0-72B49120643C}" dt="2025-02-14T10:48:44.394" v="1"/>
        <pc:sldMkLst>
          <pc:docMk/>
          <pc:sldMk cId="1573733911" sldId="295"/>
        </pc:sldMkLst>
      </pc:sldChg>
      <pc:sldChg chg="add">
        <pc:chgData name="saraths" userId="S::saraths@am.amrita.edu::244d0ad9-751b-45dc-a37d-eb545e66f5d8" providerId="AD" clId="Web-{754D2BAE-04FA-74E4-17E0-72B49120643C}" dt="2025-02-14T10:48:44.410" v="2"/>
        <pc:sldMkLst>
          <pc:docMk/>
          <pc:sldMk cId="2476704150" sldId="296"/>
        </pc:sldMkLst>
      </pc:sldChg>
      <pc:sldChg chg="add">
        <pc:chgData name="saraths" userId="S::saraths@am.amrita.edu::244d0ad9-751b-45dc-a37d-eb545e66f5d8" providerId="AD" clId="Web-{754D2BAE-04FA-74E4-17E0-72B49120643C}" dt="2025-02-14T10:48:44.410" v="3"/>
        <pc:sldMkLst>
          <pc:docMk/>
          <pc:sldMk cId="4130042430" sldId="297"/>
        </pc:sldMkLst>
      </pc:sldChg>
      <pc:sldChg chg="add">
        <pc:chgData name="saraths" userId="S::saraths@am.amrita.edu::244d0ad9-751b-45dc-a37d-eb545e66f5d8" providerId="AD" clId="Web-{754D2BAE-04FA-74E4-17E0-72B49120643C}" dt="2025-02-14T10:48:44.426" v="4"/>
        <pc:sldMkLst>
          <pc:docMk/>
          <pc:sldMk cId="0" sldId="299"/>
        </pc:sldMkLst>
      </pc:sldChg>
      <pc:sldChg chg="add">
        <pc:chgData name="saraths" userId="S::saraths@am.amrita.edu::244d0ad9-751b-45dc-a37d-eb545e66f5d8" providerId="AD" clId="Web-{754D2BAE-04FA-74E4-17E0-72B49120643C}" dt="2025-02-14T10:48:44.426" v="5"/>
        <pc:sldMkLst>
          <pc:docMk/>
          <pc:sldMk cId="0" sldId="300"/>
        </pc:sldMkLst>
      </pc:sldChg>
      <pc:sldChg chg="add">
        <pc:chgData name="saraths" userId="S::saraths@am.amrita.edu::244d0ad9-751b-45dc-a37d-eb545e66f5d8" providerId="AD" clId="Web-{754D2BAE-04FA-74E4-17E0-72B49120643C}" dt="2025-02-14T10:48:44.426" v="6"/>
        <pc:sldMkLst>
          <pc:docMk/>
          <pc:sldMk cId="0" sldId="301"/>
        </pc:sldMkLst>
      </pc:sldChg>
      <pc:sldChg chg="add">
        <pc:chgData name="saraths" userId="S::saraths@am.amrita.edu::244d0ad9-751b-45dc-a37d-eb545e66f5d8" providerId="AD" clId="Web-{754D2BAE-04FA-74E4-17E0-72B49120643C}" dt="2025-02-14T10:48:44.441" v="7"/>
        <pc:sldMkLst>
          <pc:docMk/>
          <pc:sldMk cId="0" sldId="302"/>
        </pc:sldMkLst>
      </pc:sldChg>
      <pc:sldChg chg="add">
        <pc:chgData name="saraths" userId="S::saraths@am.amrita.edu::244d0ad9-751b-45dc-a37d-eb545e66f5d8" providerId="AD" clId="Web-{754D2BAE-04FA-74E4-17E0-72B49120643C}" dt="2025-02-14T10:48:44.441" v="8"/>
        <pc:sldMkLst>
          <pc:docMk/>
          <pc:sldMk cId="0" sldId="303"/>
        </pc:sldMkLst>
      </pc:sldChg>
      <pc:sldChg chg="add">
        <pc:chgData name="saraths" userId="S::saraths@am.amrita.edu::244d0ad9-751b-45dc-a37d-eb545e66f5d8" providerId="AD" clId="Web-{754D2BAE-04FA-74E4-17E0-72B49120643C}" dt="2025-02-14T10:48:44.457" v="9"/>
        <pc:sldMkLst>
          <pc:docMk/>
          <pc:sldMk cId="0" sldId="304"/>
        </pc:sldMkLst>
      </pc:sldChg>
      <pc:sldChg chg="add">
        <pc:chgData name="saraths" userId="S::saraths@am.amrita.edu::244d0ad9-751b-45dc-a37d-eb545e66f5d8" providerId="AD" clId="Web-{754D2BAE-04FA-74E4-17E0-72B49120643C}" dt="2025-02-14T10:48:44.457" v="10"/>
        <pc:sldMkLst>
          <pc:docMk/>
          <pc:sldMk cId="0" sldId="305"/>
        </pc:sldMkLst>
      </pc:sldChg>
      <pc:sldChg chg="add">
        <pc:chgData name="saraths" userId="S::saraths@am.amrita.edu::244d0ad9-751b-45dc-a37d-eb545e66f5d8" providerId="AD" clId="Web-{754D2BAE-04FA-74E4-17E0-72B49120643C}" dt="2025-02-14T10:48:44.457" v="11"/>
        <pc:sldMkLst>
          <pc:docMk/>
          <pc:sldMk cId="0" sldId="306"/>
        </pc:sldMkLst>
      </pc:sldChg>
      <pc:sldChg chg="add">
        <pc:chgData name="saraths" userId="S::saraths@am.amrita.edu::244d0ad9-751b-45dc-a37d-eb545e66f5d8" providerId="AD" clId="Web-{754D2BAE-04FA-74E4-17E0-72B49120643C}" dt="2025-02-14T10:48:44.472" v="12"/>
        <pc:sldMkLst>
          <pc:docMk/>
          <pc:sldMk cId="0" sldId="307"/>
        </pc:sldMkLst>
      </pc:sldChg>
      <pc:sldChg chg="add">
        <pc:chgData name="saraths" userId="S::saraths@am.amrita.edu::244d0ad9-751b-45dc-a37d-eb545e66f5d8" providerId="AD" clId="Web-{754D2BAE-04FA-74E4-17E0-72B49120643C}" dt="2025-02-14T10:48:44.472" v="13"/>
        <pc:sldMkLst>
          <pc:docMk/>
          <pc:sldMk cId="0" sldId="308"/>
        </pc:sldMkLst>
      </pc:sldChg>
      <pc:sldChg chg="add">
        <pc:chgData name="saraths" userId="S::saraths@am.amrita.edu::244d0ad9-751b-45dc-a37d-eb545e66f5d8" providerId="AD" clId="Web-{754D2BAE-04FA-74E4-17E0-72B49120643C}" dt="2025-02-14T10:48:44.488" v="14"/>
        <pc:sldMkLst>
          <pc:docMk/>
          <pc:sldMk cId="0" sldId="309"/>
        </pc:sldMkLst>
      </pc:sldChg>
      <pc:sldChg chg="add">
        <pc:chgData name="saraths" userId="S::saraths@am.amrita.edu::244d0ad9-751b-45dc-a37d-eb545e66f5d8" providerId="AD" clId="Web-{754D2BAE-04FA-74E4-17E0-72B49120643C}" dt="2025-02-14T10:48:44.488" v="15"/>
        <pc:sldMkLst>
          <pc:docMk/>
          <pc:sldMk cId="0" sldId="310"/>
        </pc:sldMkLst>
      </pc:sldChg>
      <pc:sldChg chg="add">
        <pc:chgData name="saraths" userId="S::saraths@am.amrita.edu::244d0ad9-751b-45dc-a37d-eb545e66f5d8" providerId="AD" clId="Web-{754D2BAE-04FA-74E4-17E0-72B49120643C}" dt="2025-02-14T10:48:44.504" v="16"/>
        <pc:sldMkLst>
          <pc:docMk/>
          <pc:sldMk cId="0" sldId="311"/>
        </pc:sldMkLst>
      </pc:sldChg>
      <pc:sldChg chg="add">
        <pc:chgData name="saraths" userId="S::saraths@am.amrita.edu::244d0ad9-751b-45dc-a37d-eb545e66f5d8" providerId="AD" clId="Web-{754D2BAE-04FA-74E4-17E0-72B49120643C}" dt="2025-02-14T10:48:44.504" v="17"/>
        <pc:sldMkLst>
          <pc:docMk/>
          <pc:sldMk cId="0" sldId="312"/>
        </pc:sldMkLst>
      </pc:sldChg>
      <pc:sldChg chg="add">
        <pc:chgData name="saraths" userId="S::saraths@am.amrita.edu::244d0ad9-751b-45dc-a37d-eb545e66f5d8" providerId="AD" clId="Web-{754D2BAE-04FA-74E4-17E0-72B49120643C}" dt="2025-02-14T10:48:44.504" v="18"/>
        <pc:sldMkLst>
          <pc:docMk/>
          <pc:sldMk cId="0" sldId="313"/>
        </pc:sldMkLst>
      </pc:sldChg>
      <pc:sldChg chg="add">
        <pc:chgData name="saraths" userId="S::saraths@am.amrita.edu::244d0ad9-751b-45dc-a37d-eb545e66f5d8" providerId="AD" clId="Web-{754D2BAE-04FA-74E4-17E0-72B49120643C}" dt="2025-02-14T10:48:44.519" v="19"/>
        <pc:sldMkLst>
          <pc:docMk/>
          <pc:sldMk cId="0" sldId="314"/>
        </pc:sldMkLst>
      </pc:sldChg>
      <pc:sldChg chg="add">
        <pc:chgData name="saraths" userId="S::saraths@am.amrita.edu::244d0ad9-751b-45dc-a37d-eb545e66f5d8" providerId="AD" clId="Web-{754D2BAE-04FA-74E4-17E0-72B49120643C}" dt="2025-02-14T10:48:44.519" v="20"/>
        <pc:sldMkLst>
          <pc:docMk/>
          <pc:sldMk cId="0" sldId="315"/>
        </pc:sldMkLst>
      </pc:sldChg>
      <pc:sldChg chg="add">
        <pc:chgData name="saraths" userId="S::saraths@am.amrita.edu::244d0ad9-751b-45dc-a37d-eb545e66f5d8" providerId="AD" clId="Web-{754D2BAE-04FA-74E4-17E0-72B49120643C}" dt="2025-02-14T10:48:44.535" v="21"/>
        <pc:sldMkLst>
          <pc:docMk/>
          <pc:sldMk cId="0" sldId="316"/>
        </pc:sldMkLst>
      </pc:sldChg>
    </pc:docChg>
  </pc:docChgLst>
  <pc:docChgLst>
    <pc:chgData name="saraths" userId="S::saraths@am.amrita.edu::244d0ad9-751b-45dc-a37d-eb545e66f5d8" providerId="AD" clId="Web-{ADD5430C-0842-9F1C-DA86-A52EFB7141EE}"/>
    <pc:docChg chg="modSld">
      <pc:chgData name="saraths" userId="S::saraths@am.amrita.edu::244d0ad9-751b-45dc-a37d-eb545e66f5d8" providerId="AD" clId="Web-{ADD5430C-0842-9F1C-DA86-A52EFB7141EE}" dt="2025-02-21T06:03:22.711" v="1"/>
      <pc:docMkLst>
        <pc:docMk/>
      </pc:docMkLst>
      <pc:sldChg chg="modNotes">
        <pc:chgData name="saraths" userId="S::saraths@am.amrita.edu::244d0ad9-751b-45dc-a37d-eb545e66f5d8" providerId="AD" clId="Web-{ADD5430C-0842-9F1C-DA86-A52EFB7141EE}" dt="2025-02-21T06:03:22.711" v="1"/>
        <pc:sldMkLst>
          <pc:docMk/>
          <pc:sldMk cId="4218982955" sldId="294"/>
        </pc:sldMkLst>
      </pc:sldChg>
    </pc:docChg>
  </pc:docChgLst>
  <pc:docChgLst>
    <pc:chgData name="saraths" userId="S::saraths@am.amrita.edu::244d0ad9-751b-45dc-a37d-eb545e66f5d8" providerId="AD" clId="Web-{4F4EAE94-359E-908A-1A71-0D7DD86EA5FC}"/>
    <pc:docChg chg="delSld">
      <pc:chgData name="saraths" userId="S::saraths@am.amrita.edu::244d0ad9-751b-45dc-a37d-eb545e66f5d8" providerId="AD" clId="Web-{4F4EAE94-359E-908A-1A71-0D7DD86EA5FC}" dt="2025-02-13T06:09:03.175" v="43"/>
      <pc:docMkLst>
        <pc:docMk/>
      </pc:docMkLst>
      <pc:sldChg chg="del">
        <pc:chgData name="saraths" userId="S::saraths@am.amrita.edu::244d0ad9-751b-45dc-a37d-eb545e66f5d8" providerId="AD" clId="Web-{4F4EAE94-359E-908A-1A71-0D7DD86EA5FC}" dt="2025-02-13T06:09:03.175" v="43"/>
        <pc:sldMkLst>
          <pc:docMk/>
          <pc:sldMk cId="0" sldId="273"/>
        </pc:sldMkLst>
      </pc:sldChg>
      <pc:sldChg chg="del">
        <pc:chgData name="saraths" userId="S::saraths@am.amrita.edu::244d0ad9-751b-45dc-a37d-eb545e66f5d8" providerId="AD" clId="Web-{4F4EAE94-359E-908A-1A71-0D7DD86EA5FC}" dt="2025-02-13T06:09:03.175" v="42"/>
        <pc:sldMkLst>
          <pc:docMk/>
          <pc:sldMk cId="0" sldId="274"/>
        </pc:sldMkLst>
      </pc:sldChg>
      <pc:sldChg chg="del">
        <pc:chgData name="saraths" userId="S::saraths@am.amrita.edu::244d0ad9-751b-45dc-a37d-eb545e66f5d8" providerId="AD" clId="Web-{4F4EAE94-359E-908A-1A71-0D7DD86EA5FC}" dt="2025-02-13T06:09:03.175" v="41"/>
        <pc:sldMkLst>
          <pc:docMk/>
          <pc:sldMk cId="0" sldId="275"/>
        </pc:sldMkLst>
      </pc:sldChg>
      <pc:sldChg chg="del">
        <pc:chgData name="saraths" userId="S::saraths@am.amrita.edu::244d0ad9-751b-45dc-a37d-eb545e66f5d8" providerId="AD" clId="Web-{4F4EAE94-359E-908A-1A71-0D7DD86EA5FC}" dt="2025-02-13T06:09:03.175" v="40"/>
        <pc:sldMkLst>
          <pc:docMk/>
          <pc:sldMk cId="0" sldId="276"/>
        </pc:sldMkLst>
      </pc:sldChg>
      <pc:sldChg chg="del">
        <pc:chgData name="saraths" userId="S::saraths@am.amrita.edu::244d0ad9-751b-45dc-a37d-eb545e66f5d8" providerId="AD" clId="Web-{4F4EAE94-359E-908A-1A71-0D7DD86EA5FC}" dt="2025-02-13T06:09:03.175" v="39"/>
        <pc:sldMkLst>
          <pc:docMk/>
          <pc:sldMk cId="0" sldId="277"/>
        </pc:sldMkLst>
      </pc:sldChg>
      <pc:sldChg chg="del">
        <pc:chgData name="saraths" userId="S::saraths@am.amrita.edu::244d0ad9-751b-45dc-a37d-eb545e66f5d8" providerId="AD" clId="Web-{4F4EAE94-359E-908A-1A71-0D7DD86EA5FC}" dt="2025-02-13T06:09:03.175" v="38"/>
        <pc:sldMkLst>
          <pc:docMk/>
          <pc:sldMk cId="0" sldId="278"/>
        </pc:sldMkLst>
      </pc:sldChg>
      <pc:sldChg chg="del">
        <pc:chgData name="saraths" userId="S::saraths@am.amrita.edu::244d0ad9-751b-45dc-a37d-eb545e66f5d8" providerId="AD" clId="Web-{4F4EAE94-359E-908A-1A71-0D7DD86EA5FC}" dt="2025-02-13T06:09:03.175" v="37"/>
        <pc:sldMkLst>
          <pc:docMk/>
          <pc:sldMk cId="0" sldId="279"/>
        </pc:sldMkLst>
      </pc:sldChg>
      <pc:sldChg chg="del">
        <pc:chgData name="saraths" userId="S::saraths@am.amrita.edu::244d0ad9-751b-45dc-a37d-eb545e66f5d8" providerId="AD" clId="Web-{4F4EAE94-359E-908A-1A71-0D7DD86EA5FC}" dt="2025-02-13T06:09:03.175" v="36"/>
        <pc:sldMkLst>
          <pc:docMk/>
          <pc:sldMk cId="0" sldId="280"/>
        </pc:sldMkLst>
      </pc:sldChg>
      <pc:sldChg chg="del">
        <pc:chgData name="saraths" userId="S::saraths@am.amrita.edu::244d0ad9-751b-45dc-a37d-eb545e66f5d8" providerId="AD" clId="Web-{4F4EAE94-359E-908A-1A71-0D7DD86EA5FC}" dt="2025-02-13T06:09:03.159" v="35"/>
        <pc:sldMkLst>
          <pc:docMk/>
          <pc:sldMk cId="0" sldId="281"/>
        </pc:sldMkLst>
      </pc:sldChg>
      <pc:sldChg chg="del">
        <pc:chgData name="saraths" userId="S::saraths@am.amrita.edu::244d0ad9-751b-45dc-a37d-eb545e66f5d8" providerId="AD" clId="Web-{4F4EAE94-359E-908A-1A71-0D7DD86EA5FC}" dt="2025-02-13T06:09:03.159" v="34"/>
        <pc:sldMkLst>
          <pc:docMk/>
          <pc:sldMk cId="0" sldId="282"/>
        </pc:sldMkLst>
      </pc:sldChg>
      <pc:sldChg chg="del">
        <pc:chgData name="saraths" userId="S::saraths@am.amrita.edu::244d0ad9-751b-45dc-a37d-eb545e66f5d8" providerId="AD" clId="Web-{4F4EAE94-359E-908A-1A71-0D7DD86EA5FC}" dt="2025-02-13T06:09:03.159" v="33"/>
        <pc:sldMkLst>
          <pc:docMk/>
          <pc:sldMk cId="0" sldId="283"/>
        </pc:sldMkLst>
      </pc:sldChg>
      <pc:sldChg chg="del">
        <pc:chgData name="saraths" userId="S::saraths@am.amrita.edu::244d0ad9-751b-45dc-a37d-eb545e66f5d8" providerId="AD" clId="Web-{4F4EAE94-359E-908A-1A71-0D7DD86EA5FC}" dt="2025-02-13T06:09:03.159" v="32"/>
        <pc:sldMkLst>
          <pc:docMk/>
          <pc:sldMk cId="0" sldId="284"/>
        </pc:sldMkLst>
      </pc:sldChg>
      <pc:sldChg chg="del">
        <pc:chgData name="saraths" userId="S::saraths@am.amrita.edu::244d0ad9-751b-45dc-a37d-eb545e66f5d8" providerId="AD" clId="Web-{4F4EAE94-359E-908A-1A71-0D7DD86EA5FC}" dt="2025-02-13T06:09:03.159" v="31"/>
        <pc:sldMkLst>
          <pc:docMk/>
          <pc:sldMk cId="0" sldId="285"/>
        </pc:sldMkLst>
      </pc:sldChg>
      <pc:sldChg chg="del">
        <pc:chgData name="saraths" userId="S::saraths@am.amrita.edu::244d0ad9-751b-45dc-a37d-eb545e66f5d8" providerId="AD" clId="Web-{4F4EAE94-359E-908A-1A71-0D7DD86EA5FC}" dt="2025-02-13T06:09:03.159" v="30"/>
        <pc:sldMkLst>
          <pc:docMk/>
          <pc:sldMk cId="0" sldId="286"/>
        </pc:sldMkLst>
      </pc:sldChg>
      <pc:sldChg chg="del">
        <pc:chgData name="saraths" userId="S::saraths@am.amrita.edu::244d0ad9-751b-45dc-a37d-eb545e66f5d8" providerId="AD" clId="Web-{4F4EAE94-359E-908A-1A71-0D7DD86EA5FC}" dt="2025-02-13T06:09:03.159" v="29"/>
        <pc:sldMkLst>
          <pc:docMk/>
          <pc:sldMk cId="0" sldId="287"/>
        </pc:sldMkLst>
      </pc:sldChg>
      <pc:sldChg chg="del">
        <pc:chgData name="saraths" userId="S::saraths@am.amrita.edu::244d0ad9-751b-45dc-a37d-eb545e66f5d8" providerId="AD" clId="Web-{4F4EAE94-359E-908A-1A71-0D7DD86EA5FC}" dt="2025-02-13T06:09:03.159" v="28"/>
        <pc:sldMkLst>
          <pc:docMk/>
          <pc:sldMk cId="0" sldId="289"/>
        </pc:sldMkLst>
      </pc:sldChg>
      <pc:sldChg chg="del">
        <pc:chgData name="saraths" userId="S::saraths@am.amrita.edu::244d0ad9-751b-45dc-a37d-eb545e66f5d8" providerId="AD" clId="Web-{4F4EAE94-359E-908A-1A71-0D7DD86EA5FC}" dt="2025-02-13T06:09:03.159" v="27"/>
        <pc:sldMkLst>
          <pc:docMk/>
          <pc:sldMk cId="383288450" sldId="290"/>
        </pc:sldMkLst>
      </pc:sldChg>
      <pc:sldChg chg="del">
        <pc:chgData name="saraths" userId="S::saraths@am.amrita.edu::244d0ad9-751b-45dc-a37d-eb545e66f5d8" providerId="AD" clId="Web-{4F4EAE94-359E-908A-1A71-0D7DD86EA5FC}" dt="2025-02-13T06:09:03.159" v="26"/>
        <pc:sldMkLst>
          <pc:docMk/>
          <pc:sldMk cId="3835344394" sldId="291"/>
        </pc:sldMkLst>
      </pc:sldChg>
      <pc:sldChg chg="del">
        <pc:chgData name="saraths" userId="S::saraths@am.amrita.edu::244d0ad9-751b-45dc-a37d-eb545e66f5d8" providerId="AD" clId="Web-{4F4EAE94-359E-908A-1A71-0D7DD86EA5FC}" dt="2025-02-13T06:09:03.143" v="25"/>
        <pc:sldMkLst>
          <pc:docMk/>
          <pc:sldMk cId="1454580102" sldId="292"/>
        </pc:sldMkLst>
      </pc:sldChg>
      <pc:sldChg chg="del">
        <pc:chgData name="saraths" userId="S::saraths@am.amrita.edu::244d0ad9-751b-45dc-a37d-eb545e66f5d8" providerId="AD" clId="Web-{4F4EAE94-359E-908A-1A71-0D7DD86EA5FC}" dt="2025-02-13T06:09:03.143" v="24"/>
        <pc:sldMkLst>
          <pc:docMk/>
          <pc:sldMk cId="888967153" sldId="293"/>
        </pc:sldMkLst>
      </pc:sldChg>
      <pc:sldChg chg="del">
        <pc:chgData name="saraths" userId="S::saraths@am.amrita.edu::244d0ad9-751b-45dc-a37d-eb545e66f5d8" providerId="AD" clId="Web-{4F4EAE94-359E-908A-1A71-0D7DD86EA5FC}" dt="2025-02-13T06:09:03.143" v="23"/>
        <pc:sldMkLst>
          <pc:docMk/>
          <pc:sldMk cId="4218982955" sldId="294"/>
        </pc:sldMkLst>
      </pc:sldChg>
      <pc:sldChg chg="del">
        <pc:chgData name="saraths" userId="S::saraths@am.amrita.edu::244d0ad9-751b-45dc-a37d-eb545e66f5d8" providerId="AD" clId="Web-{4F4EAE94-359E-908A-1A71-0D7DD86EA5FC}" dt="2025-02-13T06:09:03.143" v="22"/>
        <pc:sldMkLst>
          <pc:docMk/>
          <pc:sldMk cId="1573733911" sldId="295"/>
        </pc:sldMkLst>
      </pc:sldChg>
      <pc:sldChg chg="del">
        <pc:chgData name="saraths" userId="S::saraths@am.amrita.edu::244d0ad9-751b-45dc-a37d-eb545e66f5d8" providerId="AD" clId="Web-{4F4EAE94-359E-908A-1A71-0D7DD86EA5FC}" dt="2025-02-13T06:09:03.143" v="21"/>
        <pc:sldMkLst>
          <pc:docMk/>
          <pc:sldMk cId="2476704150" sldId="296"/>
        </pc:sldMkLst>
      </pc:sldChg>
      <pc:sldChg chg="del">
        <pc:chgData name="saraths" userId="S::saraths@am.amrita.edu::244d0ad9-751b-45dc-a37d-eb545e66f5d8" providerId="AD" clId="Web-{4F4EAE94-359E-908A-1A71-0D7DD86EA5FC}" dt="2025-02-13T06:09:03.143" v="20"/>
        <pc:sldMkLst>
          <pc:docMk/>
          <pc:sldMk cId="4130042430" sldId="297"/>
        </pc:sldMkLst>
      </pc:sldChg>
      <pc:sldChg chg="del">
        <pc:chgData name="saraths" userId="S::saraths@am.amrita.edu::244d0ad9-751b-45dc-a37d-eb545e66f5d8" providerId="AD" clId="Web-{4F4EAE94-359E-908A-1A71-0D7DD86EA5FC}" dt="2025-02-13T06:09:03.143" v="19"/>
        <pc:sldMkLst>
          <pc:docMk/>
          <pc:sldMk cId="0" sldId="298"/>
        </pc:sldMkLst>
      </pc:sldChg>
      <pc:sldChg chg="del">
        <pc:chgData name="saraths" userId="S::saraths@am.amrita.edu::244d0ad9-751b-45dc-a37d-eb545e66f5d8" providerId="AD" clId="Web-{4F4EAE94-359E-908A-1A71-0D7DD86EA5FC}" dt="2025-02-13T06:09:03.143" v="18"/>
        <pc:sldMkLst>
          <pc:docMk/>
          <pc:sldMk cId="0" sldId="299"/>
        </pc:sldMkLst>
      </pc:sldChg>
      <pc:sldChg chg="del">
        <pc:chgData name="saraths" userId="S::saraths@am.amrita.edu::244d0ad9-751b-45dc-a37d-eb545e66f5d8" providerId="AD" clId="Web-{4F4EAE94-359E-908A-1A71-0D7DD86EA5FC}" dt="2025-02-13T06:09:03.143" v="17"/>
        <pc:sldMkLst>
          <pc:docMk/>
          <pc:sldMk cId="0" sldId="300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6"/>
        <pc:sldMkLst>
          <pc:docMk/>
          <pc:sldMk cId="0" sldId="301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5"/>
        <pc:sldMkLst>
          <pc:docMk/>
          <pc:sldMk cId="0" sldId="302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4"/>
        <pc:sldMkLst>
          <pc:docMk/>
          <pc:sldMk cId="0" sldId="303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3"/>
        <pc:sldMkLst>
          <pc:docMk/>
          <pc:sldMk cId="0" sldId="304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2"/>
        <pc:sldMkLst>
          <pc:docMk/>
          <pc:sldMk cId="0" sldId="305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1"/>
        <pc:sldMkLst>
          <pc:docMk/>
          <pc:sldMk cId="0" sldId="306"/>
        </pc:sldMkLst>
      </pc:sldChg>
      <pc:sldChg chg="del">
        <pc:chgData name="saraths" userId="S::saraths@am.amrita.edu::244d0ad9-751b-45dc-a37d-eb545e66f5d8" providerId="AD" clId="Web-{4F4EAE94-359E-908A-1A71-0D7DD86EA5FC}" dt="2025-02-13T06:09:03.128" v="10"/>
        <pc:sldMkLst>
          <pc:docMk/>
          <pc:sldMk cId="0" sldId="307"/>
        </pc:sldMkLst>
      </pc:sldChg>
      <pc:sldChg chg="del">
        <pc:chgData name="saraths" userId="S::saraths@am.amrita.edu::244d0ad9-751b-45dc-a37d-eb545e66f5d8" providerId="AD" clId="Web-{4F4EAE94-359E-908A-1A71-0D7DD86EA5FC}" dt="2025-02-13T06:09:03.112" v="9"/>
        <pc:sldMkLst>
          <pc:docMk/>
          <pc:sldMk cId="0" sldId="308"/>
        </pc:sldMkLst>
      </pc:sldChg>
      <pc:sldChg chg="del">
        <pc:chgData name="saraths" userId="S::saraths@am.amrita.edu::244d0ad9-751b-45dc-a37d-eb545e66f5d8" providerId="AD" clId="Web-{4F4EAE94-359E-908A-1A71-0D7DD86EA5FC}" dt="2025-02-13T06:09:03.112" v="8"/>
        <pc:sldMkLst>
          <pc:docMk/>
          <pc:sldMk cId="0" sldId="309"/>
        </pc:sldMkLst>
      </pc:sldChg>
      <pc:sldChg chg="del">
        <pc:chgData name="saraths" userId="S::saraths@am.amrita.edu::244d0ad9-751b-45dc-a37d-eb545e66f5d8" providerId="AD" clId="Web-{4F4EAE94-359E-908A-1A71-0D7DD86EA5FC}" dt="2025-02-13T06:09:03.112" v="7"/>
        <pc:sldMkLst>
          <pc:docMk/>
          <pc:sldMk cId="0" sldId="310"/>
        </pc:sldMkLst>
      </pc:sldChg>
      <pc:sldChg chg="del">
        <pc:chgData name="saraths" userId="S::saraths@am.amrita.edu::244d0ad9-751b-45dc-a37d-eb545e66f5d8" providerId="AD" clId="Web-{4F4EAE94-359E-908A-1A71-0D7DD86EA5FC}" dt="2025-02-13T06:09:03.112" v="6"/>
        <pc:sldMkLst>
          <pc:docMk/>
          <pc:sldMk cId="0" sldId="311"/>
        </pc:sldMkLst>
      </pc:sldChg>
      <pc:sldChg chg="del">
        <pc:chgData name="saraths" userId="S::saraths@am.amrita.edu::244d0ad9-751b-45dc-a37d-eb545e66f5d8" providerId="AD" clId="Web-{4F4EAE94-359E-908A-1A71-0D7DD86EA5FC}" dt="2025-02-13T06:09:03.112" v="5"/>
        <pc:sldMkLst>
          <pc:docMk/>
          <pc:sldMk cId="0" sldId="312"/>
        </pc:sldMkLst>
      </pc:sldChg>
      <pc:sldChg chg="del">
        <pc:chgData name="saraths" userId="S::saraths@am.amrita.edu::244d0ad9-751b-45dc-a37d-eb545e66f5d8" providerId="AD" clId="Web-{4F4EAE94-359E-908A-1A71-0D7DD86EA5FC}" dt="2025-02-13T06:09:03.112" v="4"/>
        <pc:sldMkLst>
          <pc:docMk/>
          <pc:sldMk cId="0" sldId="313"/>
        </pc:sldMkLst>
      </pc:sldChg>
      <pc:sldChg chg="del">
        <pc:chgData name="saraths" userId="S::saraths@am.amrita.edu::244d0ad9-751b-45dc-a37d-eb545e66f5d8" providerId="AD" clId="Web-{4F4EAE94-359E-908A-1A71-0D7DD86EA5FC}" dt="2025-02-13T06:09:03.112" v="3"/>
        <pc:sldMkLst>
          <pc:docMk/>
          <pc:sldMk cId="0" sldId="314"/>
        </pc:sldMkLst>
      </pc:sldChg>
      <pc:sldChg chg="del">
        <pc:chgData name="saraths" userId="S::saraths@am.amrita.edu::244d0ad9-751b-45dc-a37d-eb545e66f5d8" providerId="AD" clId="Web-{4F4EAE94-359E-908A-1A71-0D7DD86EA5FC}" dt="2025-02-13T06:09:03.096" v="2"/>
        <pc:sldMkLst>
          <pc:docMk/>
          <pc:sldMk cId="0" sldId="315"/>
        </pc:sldMkLst>
      </pc:sldChg>
      <pc:sldChg chg="del">
        <pc:chgData name="saraths" userId="S::saraths@am.amrita.edu::244d0ad9-751b-45dc-a37d-eb545e66f5d8" providerId="AD" clId="Web-{4F4EAE94-359E-908A-1A71-0D7DD86EA5FC}" dt="2025-02-13T06:09:03.096" v="1"/>
        <pc:sldMkLst>
          <pc:docMk/>
          <pc:sldMk cId="0" sldId="316"/>
        </pc:sldMkLst>
      </pc:sldChg>
      <pc:sldChg chg="del">
        <pc:chgData name="saraths" userId="S::saraths@am.amrita.edu::244d0ad9-751b-45dc-a37d-eb545e66f5d8" providerId="AD" clId="Web-{4F4EAE94-359E-908A-1A71-0D7DD86EA5FC}" dt="2025-02-13T06:09:03.096" v="0"/>
        <pc:sldMkLst>
          <pc:docMk/>
          <pc:sldMk cId="0" sldId="317"/>
        </pc:sldMkLst>
      </pc:sldChg>
    </pc:docChg>
  </pc:docChgLst>
  <pc:docChgLst>
    <pc:chgData name="saraths" userId="S::saraths@am.amrita.edu::244d0ad9-751b-45dc-a37d-eb545e66f5d8" providerId="AD" clId="Web-{F87D4667-A529-7CEF-F043-3690AE3B1688}"/>
    <pc:docChg chg="modSld">
      <pc:chgData name="saraths" userId="S::saraths@am.amrita.edu::244d0ad9-751b-45dc-a37d-eb545e66f5d8" providerId="AD" clId="Web-{F87D4667-A529-7CEF-F043-3690AE3B1688}" dt="2025-02-20T07:53:53.630" v="258"/>
      <pc:docMkLst>
        <pc:docMk/>
      </pc:docMkLst>
      <pc:sldChg chg="addSp modSp">
        <pc:chgData name="saraths" userId="S::saraths@am.amrita.edu::244d0ad9-751b-45dc-a37d-eb545e66f5d8" providerId="AD" clId="Web-{F87D4667-A529-7CEF-F043-3690AE3B1688}" dt="2025-02-20T05:24:08.060" v="86" actId="20577"/>
        <pc:sldMkLst>
          <pc:docMk/>
          <pc:sldMk cId="0" sldId="276"/>
        </pc:sldMkLst>
        <pc:spChg chg="mod">
          <ac:chgData name="saraths" userId="S::saraths@am.amrita.edu::244d0ad9-751b-45dc-a37d-eb545e66f5d8" providerId="AD" clId="Web-{F87D4667-A529-7CEF-F043-3690AE3B1688}" dt="2025-02-20T05:22:17.293" v="55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saraths" userId="S::saraths@am.amrita.edu::244d0ad9-751b-45dc-a37d-eb545e66f5d8" providerId="AD" clId="Web-{F87D4667-A529-7CEF-F043-3690AE3B1688}" dt="2025-02-20T05:24:08.060" v="86" actId="20577"/>
          <ac:spMkLst>
            <pc:docMk/>
            <pc:sldMk cId="0" sldId="276"/>
            <ac:spMk id="5" creationId="{00000000-0000-0000-0000-000000000000}"/>
          </ac:spMkLst>
        </pc:spChg>
        <pc:spChg chg="add mod">
          <ac:chgData name="saraths" userId="S::saraths@am.amrita.edu::244d0ad9-751b-45dc-a37d-eb545e66f5d8" providerId="AD" clId="Web-{F87D4667-A529-7CEF-F043-3690AE3B1688}" dt="2025-02-20T05:20:45.760" v="46"/>
          <ac:spMkLst>
            <pc:docMk/>
            <pc:sldMk cId="0" sldId="276"/>
            <ac:spMk id="6" creationId="{C362C162-1064-B7EE-06C4-8B786B90A8F8}"/>
          </ac:spMkLst>
        </pc:spChg>
        <pc:spChg chg="add mod">
          <ac:chgData name="saraths" userId="S::saraths@am.amrita.edu::244d0ad9-751b-45dc-a37d-eb545e66f5d8" providerId="AD" clId="Web-{F87D4667-A529-7CEF-F043-3690AE3B1688}" dt="2025-02-20T05:20:50.088" v="47" actId="1076"/>
          <ac:spMkLst>
            <pc:docMk/>
            <pc:sldMk cId="0" sldId="276"/>
            <ac:spMk id="7" creationId="{DB444E09-2CF7-F68D-F1B1-B508630572CD}"/>
          </ac:spMkLst>
        </pc:spChg>
        <pc:spChg chg="add mod">
          <ac:chgData name="saraths" userId="S::saraths@am.amrita.edu::244d0ad9-751b-45dc-a37d-eb545e66f5d8" providerId="AD" clId="Web-{F87D4667-A529-7CEF-F043-3690AE3B1688}" dt="2025-02-20T05:23:21.122" v="73" actId="1076"/>
          <ac:spMkLst>
            <pc:docMk/>
            <pc:sldMk cId="0" sldId="276"/>
            <ac:spMk id="8" creationId="{14E8DF93-6EDF-6F66-B159-408F56C9E1B3}"/>
          </ac:spMkLst>
        </pc:spChg>
      </pc:sldChg>
      <pc:sldChg chg="addSp delSp modSp modNotes">
        <pc:chgData name="saraths" userId="S::saraths@am.amrita.edu::244d0ad9-751b-45dc-a37d-eb545e66f5d8" providerId="AD" clId="Web-{F87D4667-A529-7CEF-F043-3690AE3B1688}" dt="2025-02-20T07:53:53.630" v="258"/>
        <pc:sldMkLst>
          <pc:docMk/>
          <pc:sldMk cId="0" sldId="277"/>
        </pc:sldMkLst>
        <pc:spChg chg="add del mod">
          <ac:chgData name="saraths" userId="S::saraths@am.amrita.edu::244d0ad9-751b-45dc-a37d-eb545e66f5d8" providerId="AD" clId="Web-{F87D4667-A529-7CEF-F043-3690AE3B1688}" dt="2025-02-20T05:31:18.239" v="117"/>
          <ac:spMkLst>
            <pc:docMk/>
            <pc:sldMk cId="0" sldId="277"/>
            <ac:spMk id="7" creationId="{7FA6EE1C-CCAC-0086-074C-8F886AB3B25B}"/>
          </ac:spMkLst>
        </pc:spChg>
        <pc:spChg chg="add del mod">
          <ac:chgData name="saraths" userId="S::saraths@am.amrita.edu::244d0ad9-751b-45dc-a37d-eb545e66f5d8" providerId="AD" clId="Web-{F87D4667-A529-7CEF-F043-3690AE3B1688}" dt="2025-02-20T05:31:16.348" v="116"/>
          <ac:spMkLst>
            <pc:docMk/>
            <pc:sldMk cId="0" sldId="277"/>
            <ac:spMk id="8" creationId="{0B6960E6-686F-AF1C-D0B2-8FDBD8BADB39}"/>
          </ac:spMkLst>
        </pc:spChg>
        <pc:spChg chg="add mod">
          <ac:chgData name="saraths" userId="S::saraths@am.amrita.edu::244d0ad9-751b-45dc-a37d-eb545e66f5d8" providerId="AD" clId="Web-{F87D4667-A529-7CEF-F043-3690AE3B1688}" dt="2025-02-20T06:03:55.583" v="128" actId="20577"/>
          <ac:spMkLst>
            <pc:docMk/>
            <pc:sldMk cId="0" sldId="277"/>
            <ac:spMk id="9" creationId="{7096D798-7C25-661E-F7B4-BD90CAAB0D0E}"/>
          </ac:spMkLst>
        </pc:spChg>
        <pc:spChg chg="add del">
          <ac:chgData name="saraths" userId="S::saraths@am.amrita.edu::244d0ad9-751b-45dc-a37d-eb545e66f5d8" providerId="AD" clId="Web-{F87D4667-A529-7CEF-F043-3690AE3B1688}" dt="2025-02-20T05:30:24.051" v="106"/>
          <ac:spMkLst>
            <pc:docMk/>
            <pc:sldMk cId="0" sldId="277"/>
            <ac:spMk id="10" creationId="{74C0C615-09D1-FE07-6757-E9A2FAC1A8D3}"/>
          </ac:spMkLst>
        </pc:spChg>
        <pc:spChg chg="add del">
          <ac:chgData name="saraths" userId="S::saraths@am.amrita.edu::244d0ad9-751b-45dc-a37d-eb545e66f5d8" providerId="AD" clId="Web-{F87D4667-A529-7CEF-F043-3690AE3B1688}" dt="2025-02-20T05:30:28.488" v="108"/>
          <ac:spMkLst>
            <pc:docMk/>
            <pc:sldMk cId="0" sldId="277"/>
            <ac:spMk id="11" creationId="{42E9C49D-2F5A-53C9-9458-249D6F40F850}"/>
          </ac:spMkLst>
        </pc:spChg>
        <pc:spChg chg="add del">
          <ac:chgData name="saraths" userId="S::saraths@am.amrita.edu::244d0ad9-751b-45dc-a37d-eb545e66f5d8" providerId="AD" clId="Web-{F87D4667-A529-7CEF-F043-3690AE3B1688}" dt="2025-02-20T05:31:03.770" v="112"/>
          <ac:spMkLst>
            <pc:docMk/>
            <pc:sldMk cId="0" sldId="277"/>
            <ac:spMk id="12" creationId="{535F99F3-D532-DC1A-6333-CDD47D8381C6}"/>
          </ac:spMkLst>
        </pc:spChg>
        <pc:spChg chg="add mod">
          <ac:chgData name="saraths" userId="S::saraths@am.amrita.edu::244d0ad9-751b-45dc-a37d-eb545e66f5d8" providerId="AD" clId="Web-{F87D4667-A529-7CEF-F043-3690AE3B1688}" dt="2025-02-20T06:04:00.301" v="129" actId="20577"/>
          <ac:spMkLst>
            <pc:docMk/>
            <pc:sldMk cId="0" sldId="277"/>
            <ac:spMk id="13" creationId="{9E54039B-51F9-91DE-51EF-D5C590DBC7A2}"/>
          </ac:spMkLst>
        </pc:spChg>
        <pc:picChg chg="del">
          <ac:chgData name="saraths" userId="S::saraths@am.amrita.edu::244d0ad9-751b-45dc-a37d-eb545e66f5d8" providerId="AD" clId="Web-{F87D4667-A529-7CEF-F043-3690AE3B1688}" dt="2025-02-20T05:27:49.361" v="87"/>
          <ac:picMkLst>
            <pc:docMk/>
            <pc:sldMk cId="0" sldId="277"/>
            <ac:picMk id="3" creationId="{00000000-0000-0000-0000-000000000000}"/>
          </ac:picMkLst>
        </pc:picChg>
        <pc:picChg chg="del">
          <ac:chgData name="saraths" userId="S::saraths@am.amrita.edu::244d0ad9-751b-45dc-a37d-eb545e66f5d8" providerId="AD" clId="Web-{F87D4667-A529-7CEF-F043-3690AE3B1688}" dt="2025-02-20T05:27:51.329" v="88"/>
          <ac:picMkLst>
            <pc:docMk/>
            <pc:sldMk cId="0" sldId="277"/>
            <ac:picMk id="4" creationId="{00000000-0000-0000-0000-000000000000}"/>
          </ac:picMkLst>
        </pc:picChg>
        <pc:picChg chg="add mod">
          <ac:chgData name="saraths" userId="S::saraths@am.amrita.edu::244d0ad9-751b-45dc-a37d-eb545e66f5d8" providerId="AD" clId="Web-{F87D4667-A529-7CEF-F043-3690AE3B1688}" dt="2025-02-20T05:31:22.333" v="118" actId="1076"/>
          <ac:picMkLst>
            <pc:docMk/>
            <pc:sldMk cId="0" sldId="277"/>
            <ac:picMk id="5" creationId="{1A98EF26-1FF0-8BD4-9A7D-167AC882C4DE}"/>
          </ac:picMkLst>
        </pc:picChg>
        <pc:picChg chg="add mod">
          <ac:chgData name="saraths" userId="S::saraths@am.amrita.edu::244d0ad9-751b-45dc-a37d-eb545e66f5d8" providerId="AD" clId="Web-{F87D4667-A529-7CEF-F043-3690AE3B1688}" dt="2025-02-20T05:31:52.974" v="125" actId="1076"/>
          <ac:picMkLst>
            <pc:docMk/>
            <pc:sldMk cId="0" sldId="277"/>
            <ac:picMk id="6" creationId="{DD4E1AFC-C038-0805-8486-0D870496F816}"/>
          </ac:picMkLst>
        </pc:picChg>
      </pc:sldChg>
      <pc:sldChg chg="modNotes">
        <pc:chgData name="saraths" userId="S::saraths@am.amrita.edu::244d0ad9-751b-45dc-a37d-eb545e66f5d8" providerId="AD" clId="Web-{F87D4667-A529-7CEF-F043-3690AE3B1688}" dt="2025-02-20T07:52:38.738" v="256"/>
        <pc:sldMkLst>
          <pc:docMk/>
          <pc:sldMk cId="0" sldId="286"/>
        </pc:sldMkLst>
      </pc:sldChg>
      <pc:sldChg chg="addSp modSp modNotes">
        <pc:chgData name="saraths" userId="S::saraths@am.amrita.edu::244d0ad9-751b-45dc-a37d-eb545e66f5d8" providerId="AD" clId="Web-{F87D4667-A529-7CEF-F043-3690AE3B1688}" dt="2025-02-20T07:51:23.175" v="249"/>
        <pc:sldMkLst>
          <pc:docMk/>
          <pc:sldMk cId="0" sldId="287"/>
        </pc:sldMkLst>
        <pc:spChg chg="add mod">
          <ac:chgData name="saraths" userId="S::saraths@am.amrita.edu::244d0ad9-751b-45dc-a37d-eb545e66f5d8" providerId="AD" clId="Web-{F87D4667-A529-7CEF-F043-3690AE3B1688}" dt="2025-02-20T06:41:18.114" v="134" actId="1076"/>
          <ac:spMkLst>
            <pc:docMk/>
            <pc:sldMk cId="0" sldId="287"/>
            <ac:spMk id="6" creationId="{D40C8AD0-40AA-19CE-235A-5658AB697972}"/>
          </ac:spMkLst>
        </pc:spChg>
        <pc:spChg chg="add mod">
          <ac:chgData name="saraths" userId="S::saraths@am.amrita.edu::244d0ad9-751b-45dc-a37d-eb545e66f5d8" providerId="AD" clId="Web-{F87D4667-A529-7CEF-F043-3690AE3B1688}" dt="2025-02-20T06:42:08.427" v="141" actId="1076"/>
          <ac:spMkLst>
            <pc:docMk/>
            <pc:sldMk cId="0" sldId="287"/>
            <ac:spMk id="8" creationId="{4B6EACEC-5E3C-7C64-24EE-1B8290479152}"/>
          </ac:spMkLst>
        </pc:spChg>
        <pc:grpChg chg="mod">
          <ac:chgData name="saraths" userId="S::saraths@am.amrita.edu::244d0ad9-751b-45dc-a37d-eb545e66f5d8" providerId="AD" clId="Web-{F87D4667-A529-7CEF-F043-3690AE3B1688}" dt="2025-02-20T06:41:49.333" v="137" actId="1076"/>
          <ac:grpSpMkLst>
            <pc:docMk/>
            <pc:sldMk cId="0" sldId="287"/>
            <ac:grpSpMk id="7" creationId="{046946F6-C806-51BC-1CF9-FA35BCA3B3A9}"/>
          </ac:grpSpMkLst>
        </pc:grpChg>
      </pc:sldChg>
      <pc:sldChg chg="addSp delSp modSp">
        <pc:chgData name="saraths" userId="S::saraths@am.amrita.edu::244d0ad9-751b-45dc-a37d-eb545e66f5d8" providerId="AD" clId="Web-{F87D4667-A529-7CEF-F043-3690AE3B1688}" dt="2025-02-20T04:59:38.427" v="17" actId="1076"/>
        <pc:sldMkLst>
          <pc:docMk/>
          <pc:sldMk cId="925672407" sldId="289"/>
        </pc:sldMkLst>
        <pc:spChg chg="add del mod">
          <ac:chgData name="saraths" userId="S::saraths@am.amrita.edu::244d0ad9-751b-45dc-a37d-eb545e66f5d8" providerId="AD" clId="Web-{F87D4667-A529-7CEF-F043-3690AE3B1688}" dt="2025-02-20T04:57:58.597" v="2"/>
          <ac:spMkLst>
            <pc:docMk/>
            <pc:sldMk cId="925672407" sldId="289"/>
            <ac:spMk id="2" creationId="{16809875-6219-96A6-1DE8-02EC216D1FEF}"/>
          </ac:spMkLst>
        </pc:spChg>
        <pc:spChg chg="mod">
          <ac:chgData name="saraths" userId="S::saraths@am.amrita.edu::244d0ad9-751b-45dc-a37d-eb545e66f5d8" providerId="AD" clId="Web-{F87D4667-A529-7CEF-F043-3690AE3B1688}" dt="2025-02-20T04:58:16.847" v="7" actId="1076"/>
          <ac:spMkLst>
            <pc:docMk/>
            <pc:sldMk cId="925672407" sldId="289"/>
            <ac:spMk id="5" creationId="{63C6B4BB-2CF0-F924-EF02-6FD6AC62D242}"/>
          </ac:spMkLst>
        </pc:spChg>
        <pc:spChg chg="add mod">
          <ac:chgData name="saraths" userId="S::saraths@am.amrita.edu::244d0ad9-751b-45dc-a37d-eb545e66f5d8" providerId="AD" clId="Web-{F87D4667-A529-7CEF-F043-3690AE3B1688}" dt="2025-02-20T04:59:38.427" v="17" actId="1076"/>
          <ac:spMkLst>
            <pc:docMk/>
            <pc:sldMk cId="925672407" sldId="289"/>
            <ac:spMk id="6" creationId="{9CEA9401-8C74-06D4-CBF0-898A00B6821F}"/>
          </ac:spMkLst>
        </pc:spChg>
        <pc:picChg chg="add mod">
          <ac:chgData name="saraths" userId="S::saraths@am.amrita.edu::244d0ad9-751b-45dc-a37d-eb545e66f5d8" providerId="AD" clId="Web-{F87D4667-A529-7CEF-F043-3690AE3B1688}" dt="2025-02-20T04:58:46.614" v="12" actId="14100"/>
          <ac:picMkLst>
            <pc:docMk/>
            <pc:sldMk cId="925672407" sldId="289"/>
            <ac:picMk id="3" creationId="{2848EF76-5FB8-360B-782E-96CB738A38DA}"/>
          </ac:picMkLst>
        </pc:picChg>
        <pc:picChg chg="mod">
          <ac:chgData name="saraths" userId="S::saraths@am.amrita.edu::244d0ad9-751b-45dc-a37d-eb545e66f5d8" providerId="AD" clId="Web-{F87D4667-A529-7CEF-F043-3690AE3B1688}" dt="2025-02-20T04:58:10.644" v="6" actId="1076"/>
          <ac:picMkLst>
            <pc:docMk/>
            <pc:sldMk cId="925672407" sldId="289"/>
            <ac:picMk id="4" creationId="{85858B26-0E35-C6DA-E276-916194C81B48}"/>
          </ac:picMkLst>
        </pc:picChg>
      </pc:sldChg>
      <pc:sldChg chg="addSp modSp modNotes">
        <pc:chgData name="saraths" userId="S::saraths@am.amrita.edu::244d0ad9-751b-45dc-a37d-eb545e66f5d8" providerId="AD" clId="Web-{F87D4667-A529-7CEF-F043-3690AE3B1688}" dt="2025-02-20T07:50:08.908" v="247"/>
        <pc:sldMkLst>
          <pc:docMk/>
          <pc:sldMk cId="383288450" sldId="290"/>
        </pc:sldMkLst>
        <pc:spChg chg="add mod">
          <ac:chgData name="saraths" userId="S::saraths@am.amrita.edu::244d0ad9-751b-45dc-a37d-eb545e66f5d8" providerId="AD" clId="Web-{F87D4667-A529-7CEF-F043-3690AE3B1688}" dt="2025-02-20T07:09:36.655" v="181" actId="20577"/>
          <ac:spMkLst>
            <pc:docMk/>
            <pc:sldMk cId="383288450" sldId="290"/>
            <ac:spMk id="10" creationId="{58799794-E4E5-A5D8-5D70-FE94AFE29C4C}"/>
          </ac:spMkLst>
        </pc:spChg>
      </pc:sldChg>
      <pc:sldChg chg="modNotes">
        <pc:chgData name="saraths" userId="S::saraths@am.amrita.edu::244d0ad9-751b-45dc-a37d-eb545e66f5d8" providerId="AD" clId="Web-{F87D4667-A529-7CEF-F043-3690AE3B1688}" dt="2025-02-20T07:48:43.672" v="243"/>
        <pc:sldMkLst>
          <pc:docMk/>
          <pc:sldMk cId="3835344394" sldId="291"/>
        </pc:sldMkLst>
      </pc:sldChg>
      <pc:sldChg chg="addSp delSp modSp modNotes">
        <pc:chgData name="saraths" userId="S::saraths@am.amrita.edu::244d0ad9-751b-45dc-a37d-eb545e66f5d8" providerId="AD" clId="Web-{F87D4667-A529-7CEF-F043-3690AE3B1688}" dt="2025-02-20T07:45:37.623" v="221"/>
        <pc:sldMkLst>
          <pc:docMk/>
          <pc:sldMk cId="1454580102" sldId="292"/>
        </pc:sldMkLst>
        <pc:spChg chg="mod">
          <ac:chgData name="saraths" userId="S::saraths@am.amrita.edu::244d0ad9-751b-45dc-a37d-eb545e66f5d8" providerId="AD" clId="Web-{F87D4667-A529-7CEF-F043-3690AE3B1688}" dt="2025-02-20T07:40:22.119" v="182" actId="1076"/>
          <ac:spMkLst>
            <pc:docMk/>
            <pc:sldMk cId="1454580102" sldId="292"/>
            <ac:spMk id="5" creationId="{00000000-0000-0000-0000-000000000000}"/>
          </ac:spMkLst>
        </pc:spChg>
        <pc:spChg chg="add del mod">
          <ac:chgData name="saraths" userId="S::saraths@am.amrita.edu::244d0ad9-751b-45dc-a37d-eb545e66f5d8" providerId="AD" clId="Web-{F87D4667-A529-7CEF-F043-3690AE3B1688}" dt="2025-02-20T07:43:22.434" v="190"/>
          <ac:spMkLst>
            <pc:docMk/>
            <pc:sldMk cId="1454580102" sldId="292"/>
            <ac:spMk id="6" creationId="{DB01C74E-98C1-149E-0D8F-BE456710134F}"/>
          </ac:spMkLst>
        </pc:spChg>
        <pc:spChg chg="add del mod">
          <ac:chgData name="saraths" userId="S::saraths@am.amrita.edu::244d0ad9-751b-45dc-a37d-eb545e66f5d8" providerId="AD" clId="Web-{F87D4667-A529-7CEF-F043-3690AE3B1688}" dt="2025-02-20T07:43:37.247" v="196"/>
          <ac:spMkLst>
            <pc:docMk/>
            <pc:sldMk cId="1454580102" sldId="292"/>
            <ac:spMk id="9" creationId="{6D14FC3D-3FA0-346B-D329-421FAEA04C9E}"/>
          </ac:spMkLst>
        </pc:spChg>
        <pc:spChg chg="add del mod">
          <ac:chgData name="saraths" userId="S::saraths@am.amrita.edu::244d0ad9-751b-45dc-a37d-eb545e66f5d8" providerId="AD" clId="Web-{F87D4667-A529-7CEF-F043-3690AE3B1688}" dt="2025-02-20T07:43:44.168" v="200"/>
          <ac:spMkLst>
            <pc:docMk/>
            <pc:sldMk cId="1454580102" sldId="292"/>
            <ac:spMk id="10" creationId="{C567E2D4-A16C-18E5-52D3-94019B79913F}"/>
          </ac:spMkLst>
        </pc:spChg>
      </pc:sldChg>
    </pc:docChg>
  </pc:docChgLst>
  <pc:docChgLst>
    <pc:chgData name="saraths" userId="S::saraths@am.amrita.edu::244d0ad9-751b-45dc-a37d-eb545e66f5d8" providerId="AD" clId="Web-{6AC35A6C-62F2-EF52-1316-AD68269F4633}"/>
    <pc:docChg chg="modSld">
      <pc:chgData name="saraths" userId="S::saraths@am.amrita.edu::244d0ad9-751b-45dc-a37d-eb545e66f5d8" providerId="AD" clId="Web-{6AC35A6C-62F2-EF52-1316-AD68269F4633}" dt="2025-02-13T06:16:42.230" v="34" actId="1076"/>
      <pc:docMkLst>
        <pc:docMk/>
      </pc:docMkLst>
      <pc:sldChg chg="modSp">
        <pc:chgData name="saraths" userId="S::saraths@am.amrita.edu::244d0ad9-751b-45dc-a37d-eb545e66f5d8" providerId="AD" clId="Web-{6AC35A6C-62F2-EF52-1316-AD68269F4633}" dt="2025-02-13T06:12:39.241" v="5" actId="20577"/>
        <pc:sldMkLst>
          <pc:docMk/>
          <pc:sldMk cId="0" sldId="258"/>
        </pc:sldMkLst>
        <pc:spChg chg="mod">
          <ac:chgData name="saraths" userId="S::saraths@am.amrita.edu::244d0ad9-751b-45dc-a37d-eb545e66f5d8" providerId="AD" clId="Web-{6AC35A6C-62F2-EF52-1316-AD68269F4633}" dt="2025-02-13T06:12:39.241" v="5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6AC35A6C-62F2-EF52-1316-AD68269F4633}" dt="2025-02-13T06:12:46.226" v="6"/>
        <pc:sldMkLst>
          <pc:docMk/>
          <pc:sldMk cId="0" sldId="259"/>
        </pc:sldMkLst>
        <pc:spChg chg="mod">
          <ac:chgData name="saraths" userId="S::saraths@am.amrita.edu::244d0ad9-751b-45dc-a37d-eb545e66f5d8" providerId="AD" clId="Web-{6AC35A6C-62F2-EF52-1316-AD68269F4633}" dt="2025-02-13T06:12:46.226" v="6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6AC35A6C-62F2-EF52-1316-AD68269F4633}" dt="2025-02-13T06:15:16.416" v="29" actId="1076"/>
        <pc:sldMkLst>
          <pc:docMk/>
          <pc:sldMk cId="0" sldId="260"/>
        </pc:sldMkLst>
        <pc:spChg chg="mod">
          <ac:chgData name="saraths" userId="S::saraths@am.amrita.edu::244d0ad9-751b-45dc-a37d-eb545e66f5d8" providerId="AD" clId="Web-{6AC35A6C-62F2-EF52-1316-AD68269F4633}" dt="2025-02-13T06:13:00.601" v="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raths" userId="S::saraths@am.amrita.edu::244d0ad9-751b-45dc-a37d-eb545e66f5d8" providerId="AD" clId="Web-{6AC35A6C-62F2-EF52-1316-AD68269F4633}" dt="2025-02-13T06:15:05.697" v="28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raths" userId="S::saraths@am.amrita.edu::244d0ad9-751b-45dc-a37d-eb545e66f5d8" providerId="AD" clId="Web-{6AC35A6C-62F2-EF52-1316-AD68269F4633}" dt="2025-02-13T06:14:12.821" v="17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raths" userId="S::saraths@am.amrita.edu::244d0ad9-751b-45dc-a37d-eb545e66f5d8" providerId="AD" clId="Web-{6AC35A6C-62F2-EF52-1316-AD68269F4633}" dt="2025-02-13T06:15:16.416" v="29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raths" userId="S::saraths@am.amrita.edu::244d0ad9-751b-45dc-a37d-eb545e66f5d8" providerId="AD" clId="Web-{6AC35A6C-62F2-EF52-1316-AD68269F4633}" dt="2025-02-13T06:14:48.259" v="24"/>
          <ac:spMkLst>
            <pc:docMk/>
            <pc:sldMk cId="0" sldId="260"/>
            <ac:spMk id="8" creationId="{00000000-0000-0000-0000-000000000000}"/>
          </ac:spMkLst>
        </pc:spChg>
        <pc:picChg chg="mod">
          <ac:chgData name="saraths" userId="S::saraths@am.amrita.edu::244d0ad9-751b-45dc-a37d-eb545e66f5d8" providerId="AD" clId="Web-{6AC35A6C-62F2-EF52-1316-AD68269F4633}" dt="2025-02-13T06:14:17.368" v="18" actId="1076"/>
          <ac:picMkLst>
            <pc:docMk/>
            <pc:sldMk cId="0" sldId="260"/>
            <ac:picMk id="7" creationId="{00000000-0000-0000-0000-000000000000}"/>
          </ac:picMkLst>
        </pc:picChg>
      </pc:sldChg>
      <pc:sldChg chg="modSp">
        <pc:chgData name="saraths" userId="S::saraths@am.amrita.edu::244d0ad9-751b-45dc-a37d-eb545e66f5d8" providerId="AD" clId="Web-{6AC35A6C-62F2-EF52-1316-AD68269F4633}" dt="2025-02-13T06:16:42.230" v="34" actId="1076"/>
        <pc:sldMkLst>
          <pc:docMk/>
          <pc:sldMk cId="0" sldId="261"/>
        </pc:sldMkLst>
        <pc:spChg chg="mod">
          <ac:chgData name="saraths" userId="S::saraths@am.amrita.edu::244d0ad9-751b-45dc-a37d-eb545e66f5d8" providerId="AD" clId="Web-{6AC35A6C-62F2-EF52-1316-AD68269F4633}" dt="2025-02-13T06:16:10.917" v="31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raths" userId="S::saraths@am.amrita.edu::244d0ad9-751b-45dc-a37d-eb545e66f5d8" providerId="AD" clId="Web-{6AC35A6C-62F2-EF52-1316-AD68269F4633}" dt="2025-02-13T06:16:26.277" v="33" actId="20577"/>
          <ac:spMkLst>
            <pc:docMk/>
            <pc:sldMk cId="0" sldId="261"/>
            <ac:spMk id="3" creationId="{00000000-0000-0000-0000-000000000000}"/>
          </ac:spMkLst>
        </pc:spChg>
        <pc:picChg chg="mod">
          <ac:chgData name="saraths" userId="S::saraths@am.amrita.edu::244d0ad9-751b-45dc-a37d-eb545e66f5d8" providerId="AD" clId="Web-{6AC35A6C-62F2-EF52-1316-AD68269F4633}" dt="2025-02-13T06:16:42.230" v="34" actId="1076"/>
          <ac:picMkLst>
            <pc:docMk/>
            <pc:sldMk cId="0" sldId="261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29F6E-F326-4F08-BABE-76DB4AF1C3F9}" type="datetimeFigureOut"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4EEC3-3AC1-4894-A66D-0EE3676E1C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4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71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7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949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68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saddle point</a:t>
            </a:r>
            <a:r>
              <a:rPr lang="en-US" dirty="0"/>
              <a:t> is a point in a function where the gradient is </a:t>
            </a:r>
            <a:r>
              <a:rPr lang="en-US" b="1" dirty="0"/>
              <a:t>zero</a:t>
            </a:r>
            <a:r>
              <a:rPr lang="en-US" dirty="0"/>
              <a:t>, but it is </a:t>
            </a:r>
            <a:r>
              <a:rPr lang="en-US" b="1" dirty="0"/>
              <a:t>neither a local minimum nor a local maximum</a:t>
            </a:r>
            <a:r>
              <a:rPr lang="en-US" dirty="0"/>
              <a:t>. Instead, it acts like a </a:t>
            </a:r>
            <a:r>
              <a:rPr lang="en-US" b="1" dirty="0"/>
              <a:t>high point in one direction and a low point in another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23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Bias</a:t>
            </a:r>
            <a:r>
              <a:rPr lang="en-US" dirty="0"/>
              <a:t> – "Error due to overly simple assumptions"</a:t>
            </a:r>
          </a:p>
          <a:p>
            <a:r>
              <a:rPr lang="en-US" b="1" dirty="0"/>
              <a:t>Variance</a:t>
            </a:r>
            <a:r>
              <a:rPr lang="en-US" dirty="0"/>
              <a:t> – "Error due to sensitivity to small fluctuations"</a:t>
            </a:r>
          </a:p>
          <a:p>
            <a:endParaRPr lang="en-US" b="1" dirty="0"/>
          </a:p>
          <a:p>
            <a:r>
              <a:rPr lang="en-US" b="1"/>
              <a:t>Bias and Variance: A Simple Real-World Analogy (Cooking 🍳)</a:t>
            </a:r>
            <a:endParaRPr lang="en-US">
              <a:ea typeface="Calibri"/>
              <a:cs typeface="Calibri"/>
            </a:endParaRPr>
          </a:p>
          <a:p>
            <a:r>
              <a:rPr lang="en-US" dirty="0"/>
              <a:t>Imagine you're </a:t>
            </a:r>
            <a:r>
              <a:rPr lang="en-US" b="1" dirty="0"/>
              <a:t>trying to cook a dish</a:t>
            </a:r>
            <a:r>
              <a:rPr lang="en-US" dirty="0"/>
              <a:t> following a recipe. Your goal is to make the perfect dish, just like a professional chef.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High Bias (Underfitting) – The Inexperienced Cook 👩‍🍳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You </a:t>
            </a:r>
            <a:r>
              <a:rPr lang="en-US" b="1" dirty="0"/>
              <a:t>follow a very basic version of the recipe</a:t>
            </a:r>
            <a:r>
              <a:rPr lang="en-US" dirty="0"/>
              <a:t> without adjusting for taste.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You </a:t>
            </a:r>
            <a:r>
              <a:rPr lang="en-US" b="1" dirty="0"/>
              <a:t>ignore important details</a:t>
            </a:r>
            <a:r>
              <a:rPr lang="en-US" dirty="0"/>
              <a:t> like seasoning and cooking time.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The food </a:t>
            </a:r>
            <a:r>
              <a:rPr lang="en-US" b="1" dirty="0"/>
              <a:t>always turns out bland and undercooked</a:t>
            </a:r>
            <a:r>
              <a:rPr lang="en-US" dirty="0"/>
              <a:t>—consistently bad.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🔹 </a:t>
            </a:r>
            <a:r>
              <a:rPr lang="en-US" b="1" dirty="0"/>
              <a:t>Real-world example:</a:t>
            </a:r>
            <a:r>
              <a:rPr lang="en-US" dirty="0"/>
              <a:t> A simple model (like linear regression) that doesn’t learn complex patterns and always makes similar mistakes.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High Variance (Overfitting) – The Overthinker Cook 👨‍🍳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You </a:t>
            </a:r>
            <a:r>
              <a:rPr lang="en-US" b="1" dirty="0"/>
              <a:t>change the recipe too much</a:t>
            </a:r>
            <a:r>
              <a:rPr lang="en-US" dirty="0"/>
              <a:t> based on every small feedback.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One day, you add </a:t>
            </a:r>
            <a:r>
              <a:rPr lang="en-US" b="1" dirty="0"/>
              <a:t>too much salt</a:t>
            </a:r>
            <a:r>
              <a:rPr lang="en-US" dirty="0"/>
              <a:t>, another day </a:t>
            </a:r>
            <a:r>
              <a:rPr lang="en-US" b="1" dirty="0"/>
              <a:t>too little spice</a:t>
            </a:r>
            <a:r>
              <a:rPr lang="en-US" dirty="0"/>
              <a:t>, and the results </a:t>
            </a:r>
            <a:r>
              <a:rPr lang="en-US" b="1" dirty="0"/>
              <a:t>vary wildly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Your dish is </a:t>
            </a:r>
            <a:r>
              <a:rPr lang="en-US" b="1" dirty="0"/>
              <a:t>sometimes perfect but often terrible</a:t>
            </a:r>
            <a:r>
              <a:rPr lang="en-US" dirty="0"/>
              <a:t> because you </a:t>
            </a:r>
            <a:r>
              <a:rPr lang="en-US" b="1" dirty="0"/>
              <a:t>memorize small details instead of learning general principles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🔹 </a:t>
            </a:r>
            <a:r>
              <a:rPr lang="en-US" b="1" dirty="0"/>
              <a:t>Real-world example:</a:t>
            </a:r>
            <a:r>
              <a:rPr lang="en-US" dirty="0"/>
              <a:t> A deep learning model that memorizes training data but fails on new test data.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Low Bias, Low Variance (Good Cooking) – The Skilled Chef 👩‍🍳👨‍🍳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You </a:t>
            </a:r>
            <a:r>
              <a:rPr lang="en-US" b="1" dirty="0"/>
              <a:t>understand the recipe well but also adjust it wisely based on experience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Your dishes </a:t>
            </a:r>
            <a:r>
              <a:rPr lang="en-US" b="1" dirty="0"/>
              <a:t>consistently turn out delicious</a:t>
            </a:r>
            <a:r>
              <a:rPr lang="en-US" dirty="0"/>
              <a:t> because you balance </a:t>
            </a:r>
            <a:r>
              <a:rPr lang="en-US" b="1" dirty="0"/>
              <a:t>creativity with structure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You’ve </a:t>
            </a:r>
            <a:r>
              <a:rPr lang="en-US" b="1" dirty="0"/>
              <a:t>learned the general rules</a:t>
            </a:r>
            <a:r>
              <a:rPr lang="en-US" dirty="0"/>
              <a:t> of cooking rather than just memorizing the steps.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🔹 </a:t>
            </a:r>
            <a:r>
              <a:rPr lang="en-US" b="1" dirty="0"/>
              <a:t>Real-world example:</a:t>
            </a:r>
            <a:r>
              <a:rPr lang="en-US" dirty="0"/>
              <a:t> A well-trained machine learning model that generalizes well to new data.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38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Top Row (High Bias - Underfitting)</a:t>
            </a:r>
            <a:endParaRPr lang="en-US" dirty="0"/>
          </a:p>
          <a:p>
            <a:r>
              <a:rPr lang="en-US" dirty="0"/>
              <a:t>The top row shows models that are too simple (low-degree polynomial or linear models).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First plot (Left):</a:t>
            </a:r>
            <a:r>
              <a:rPr lang="en-US" dirty="0"/>
              <a:t> The model is a straight line (linear regression). It </a:t>
            </a:r>
            <a:r>
              <a:rPr lang="en-US" b="1" dirty="0"/>
              <a:t>fails to capture</a:t>
            </a:r>
            <a:r>
              <a:rPr lang="en-US" dirty="0"/>
              <a:t> the sinusoidal trend and always predicts a nearly constant slope.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Second plot (Middle):</a:t>
            </a:r>
            <a:r>
              <a:rPr lang="en-US" dirty="0"/>
              <a:t> Another linear fit with slight variation in slope, but still unable to capture the actual function.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Third plot (Right):</a:t>
            </a:r>
            <a:r>
              <a:rPr lang="en-US" dirty="0"/>
              <a:t> Different linear fits trained on different subsets of data result in </a:t>
            </a:r>
            <a:r>
              <a:rPr lang="en-US" b="1" dirty="0"/>
              <a:t>slight variations</a:t>
            </a:r>
            <a:r>
              <a:rPr lang="en-US" dirty="0"/>
              <a:t>, but they all remain close to a straight line.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🔹 </a:t>
            </a:r>
            <a:r>
              <a:rPr lang="en-US" b="1" dirty="0"/>
              <a:t>Key Observation:</a:t>
            </a:r>
            <a:br>
              <a:rPr lang="en-US" b="1" dirty="0">
                <a:cs typeface="+mn-lt"/>
              </a:rPr>
            </a:br>
            <a:r>
              <a:rPr lang="en-US" b="1" dirty="0"/>
              <a:t>These models have high bias</a:t>
            </a:r>
            <a:r>
              <a:rPr lang="en-US" dirty="0"/>
              <a:t> because they are too simple and unable to capture the complexity of the data. They consistently make similar errors, leading to </a:t>
            </a:r>
            <a:r>
              <a:rPr lang="en-US" b="1" dirty="0"/>
              <a:t>underfitting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Row (High Variance - Overfitting)</a:t>
            </a:r>
            <a:endParaRPr lang="en-US" dirty="0"/>
          </a:p>
          <a:p>
            <a:r>
              <a:rPr lang="en-US" dirty="0"/>
              <a:t>The bottom row shows more complex models (higher-degree polynomials).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First plot (Left):</a:t>
            </a:r>
            <a:r>
              <a:rPr lang="en-US" dirty="0"/>
              <a:t> The model fits the sine wave but also captures </a:t>
            </a:r>
            <a:r>
              <a:rPr lang="en-US" b="1" dirty="0"/>
              <a:t>extra fluctuations</a:t>
            </a:r>
            <a:r>
              <a:rPr lang="en-US" dirty="0"/>
              <a:t>, indicating some level of overfitting.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Second plot (Middle):</a:t>
            </a:r>
            <a:r>
              <a:rPr lang="en-US" dirty="0"/>
              <a:t> As the polynomial degree increases, the model begins to fit noise in the data, resulting in </a:t>
            </a:r>
            <a:r>
              <a:rPr lang="en-US" b="1" dirty="0"/>
              <a:t>high variance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Third plot (Right):</a:t>
            </a:r>
            <a:r>
              <a:rPr lang="en-US" dirty="0"/>
              <a:t> Different complex models trained on different subsets of data result in wildly different predictions, showing how high-variance models are sensitive to small changes in the training set.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🔹 </a:t>
            </a:r>
            <a:r>
              <a:rPr lang="en-US" b="1" dirty="0"/>
              <a:t>Key Observation:</a:t>
            </a:r>
            <a:br>
              <a:rPr lang="en-US" b="1" dirty="0">
                <a:cs typeface="+mn-lt"/>
              </a:rPr>
            </a:br>
            <a:r>
              <a:rPr lang="en-US" b="1" dirty="0"/>
              <a:t>These models have high variance</a:t>
            </a:r>
            <a:r>
              <a:rPr lang="en-US" dirty="0"/>
              <a:t> because they are overly flexible and adapt too much to the training data, capturing noise instead of general patterns. This leads to </a:t>
            </a:r>
            <a:r>
              <a:rPr lang="en-US" b="1" dirty="0"/>
              <a:t>overfitting</a:t>
            </a:r>
            <a:r>
              <a:rPr lang="en-US" dirty="0"/>
              <a:t>, where the model performs well on training data but poorly on new, unseen data.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47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 measures how much </a:t>
            </a:r>
            <a:r>
              <a:rPr lang="en-US" b="1" dirty="0"/>
              <a:t>the model’s predictions fluctuate</a:t>
            </a:r>
            <a:r>
              <a:rPr lang="en-US" dirty="0"/>
              <a:t> when trained on different datasets.</a:t>
            </a:r>
          </a:p>
          <a:p>
            <a:r>
              <a:rPr lang="en-US" dirty="0"/>
              <a:t>The variance formula calculates the </a:t>
            </a:r>
            <a:r>
              <a:rPr lang="en-US" b="1" dirty="0"/>
              <a:t>expected squared deviation</a:t>
            </a:r>
            <a:r>
              <a:rPr lang="en-US" dirty="0"/>
              <a:t> of predictions from their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18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Left Side: Model Behavior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/>
              <a:t>Top Plot (High Bias / Underfitting)</a:t>
            </a:r>
            <a:endParaRPr lang="en-US" dirty="0"/>
          </a:p>
          <a:p>
            <a:pPr marL="742950" lvl="2" indent="-285750">
              <a:buFont typeface="Wingdings"/>
              <a:buChar char="§"/>
            </a:pPr>
            <a:r>
              <a:rPr lang="en-US"/>
              <a:t>The black curve represents the </a:t>
            </a:r>
            <a:r>
              <a:rPr lang="en-US" b="1"/>
              <a:t>true function</a:t>
            </a:r>
            <a:r>
              <a:rPr lang="en-US"/>
              <a:t> (ground truth).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2" indent="-285750">
              <a:buFont typeface="Wingdings"/>
              <a:buChar char="§"/>
            </a:pPr>
            <a:r>
              <a:rPr lang="en-US"/>
              <a:t>The blue line represents a </a:t>
            </a:r>
            <a:r>
              <a:rPr lang="en-US" b="1"/>
              <a:t>simple model (low complexity)</a:t>
            </a:r>
            <a:r>
              <a:rPr lang="en-US"/>
              <a:t> that fails to capture the true function.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2" indent="-285750">
              <a:buFont typeface="Wingdings"/>
              <a:buChar char="§"/>
            </a:pPr>
            <a:r>
              <a:rPr lang="en-US"/>
              <a:t>The model has a </a:t>
            </a:r>
            <a:r>
              <a:rPr lang="en-US" b="1"/>
              <a:t>high test error</a:t>
            </a:r>
            <a:r>
              <a:rPr lang="en-US"/>
              <a:t> because it </a:t>
            </a:r>
            <a:r>
              <a:rPr lang="en-US" b="1"/>
              <a:t>fails to learn</a:t>
            </a:r>
            <a:r>
              <a:rPr lang="en-US"/>
              <a:t> the patterns in the data.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2" indent="-285750">
              <a:buFont typeface="Wingdings"/>
              <a:buChar char="§"/>
            </a:pPr>
            <a:r>
              <a:rPr lang="en-US"/>
              <a:t>This is an example of </a:t>
            </a:r>
            <a:r>
              <a:rPr lang="en-US" b="1"/>
              <a:t>underfitting</a:t>
            </a:r>
            <a:r>
              <a:rPr lang="en-US"/>
              <a:t>, where the model is too simple and has </a:t>
            </a:r>
            <a:r>
              <a:rPr lang="en-US" b="1"/>
              <a:t>high bias</a:t>
            </a:r>
            <a:r>
              <a:rPr lang="en-US"/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Bottom Plot (High Variance / Overfitting)</a:t>
            </a:r>
            <a:endParaRPr lang="en-US" dirty="0"/>
          </a:p>
          <a:p>
            <a:pPr marL="742950" lvl="2" indent="-285750">
              <a:buFont typeface="Wingdings"/>
              <a:buChar char="§"/>
            </a:pPr>
            <a:r>
              <a:rPr lang="en-US"/>
              <a:t>The model (blue curve) fits the training data </a:t>
            </a:r>
            <a:r>
              <a:rPr lang="en-US" b="1"/>
              <a:t>too well</a:t>
            </a:r>
            <a:r>
              <a:rPr lang="en-US"/>
              <a:t>, capturing even the noise.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2" indent="-285750">
              <a:buFont typeface="Wingdings"/>
              <a:buChar char="§"/>
            </a:pPr>
            <a:r>
              <a:rPr lang="en-US"/>
              <a:t>The test error is still high, but now due to </a:t>
            </a:r>
            <a:r>
              <a:rPr lang="en-US" b="1"/>
              <a:t>high variance</a:t>
            </a:r>
            <a:r>
              <a:rPr lang="en-US"/>
              <a:t>—the model performs well on training data but generalizes poorly.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2" indent="-285750">
              <a:buFont typeface="Wingdings"/>
              <a:buChar char="§"/>
            </a:pPr>
            <a:r>
              <a:rPr lang="en-US" dirty="0"/>
              <a:t>This is an example of </a:t>
            </a:r>
            <a:r>
              <a:rPr lang="en-US" b="1" dirty="0"/>
              <a:t>overfitting</a:t>
            </a:r>
            <a:r>
              <a:rPr lang="en-US" dirty="0"/>
              <a:t>, where the model is too complex.</a:t>
            </a:r>
          </a:p>
          <a:p>
            <a:pPr indent="-285750">
              <a:buFont typeface="Arial"/>
              <a:buChar char="•"/>
            </a:pPr>
            <a:r>
              <a:rPr lang="en-US" b="1" dirty="0"/>
              <a:t>Right Side: The Bias-Variance Tradeoff Graph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The x-axis represents </a:t>
            </a:r>
            <a:r>
              <a:rPr lang="en-US" b="1"/>
              <a:t>model complexity</a:t>
            </a:r>
            <a:r>
              <a:rPr lang="en-US"/>
              <a:t> (simpler → more complex).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The y-axis represents </a:t>
            </a:r>
            <a:r>
              <a:rPr lang="en-US" b="1"/>
              <a:t>error</a:t>
            </a:r>
            <a:r>
              <a:rPr lang="en-US"/>
              <a:t> (lower is better).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blue curve</a:t>
            </a:r>
            <a:r>
              <a:rPr lang="en-US"/>
              <a:t> represents training error, which decreases as model complexity increases.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red curve</a:t>
            </a:r>
            <a:r>
              <a:rPr lang="en-US"/>
              <a:t> represents test error, which decreases initially but rises if the model becomes too complex.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9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Top-Left: High Bias, Low Variance (Underfitting)  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Predictions are clustered together, but they are far from the true value.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The model is too simple and consistently wrong → systematic error.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 b="1" dirty="0"/>
              <a:t>Top-Right: High Bias, High Variance</a:t>
            </a:r>
            <a:endParaRPr lang="en-US" b="1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Predictions are spread out and far from the target.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The model is neither learning correctly nor consistently.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endParaRPr lang="en-US" dirty="0"/>
          </a:p>
          <a:p>
            <a:r>
              <a:rPr lang="en-US" b="1" dirty="0"/>
              <a:t>Bottom-Left: Low Bias, Low Variance (Ideal Model)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Predictions are </a:t>
            </a:r>
            <a:r>
              <a:rPr lang="en-US" b="1" dirty="0"/>
              <a:t>clustered close to the true value</a:t>
            </a:r>
            <a:r>
              <a:rPr lang="en-US" dirty="0"/>
              <a:t> (center of the target).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The model is </a:t>
            </a:r>
            <a:r>
              <a:rPr lang="en-US" b="1" dirty="0"/>
              <a:t>both accurate and consistent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dirty="0"/>
          </a:p>
          <a:p>
            <a:r>
              <a:rPr lang="en-US" b="1" dirty="0"/>
              <a:t>Bottom-Right: Low Bias, High Variance (Overfitting)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Predictions are </a:t>
            </a:r>
            <a:r>
              <a:rPr lang="en-US" b="1" dirty="0"/>
              <a:t>scattered</a:t>
            </a:r>
            <a:r>
              <a:rPr lang="en-US" dirty="0"/>
              <a:t> but </a:t>
            </a:r>
            <a:r>
              <a:rPr lang="en-US" b="1" dirty="0"/>
              <a:t>close to the true value on average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The model learns too much, including </a:t>
            </a:r>
            <a:r>
              <a:rPr lang="en-US" b="1" dirty="0"/>
              <a:t>noise</a:t>
            </a:r>
            <a:r>
              <a:rPr lang="en-US" dirty="0"/>
              <a:t>, leading to instability.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61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Insights from the Text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/>
              <a:t>Low Data, Low Complexity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When training data is </a:t>
            </a:r>
            <a:r>
              <a:rPr lang="en-US" b="1" dirty="0"/>
              <a:t>small</a:t>
            </a:r>
            <a:r>
              <a:rPr lang="en-US" dirty="0"/>
              <a:t>, a highly complex model can </a:t>
            </a:r>
            <a:r>
              <a:rPr lang="en-US" b="1" dirty="0"/>
              <a:t>memorize</a:t>
            </a:r>
            <a:r>
              <a:rPr lang="en-US" dirty="0"/>
              <a:t> the data, driving the training error </a:t>
            </a:r>
            <a:r>
              <a:rPr lang="en-US" b="1" dirty="0"/>
              <a:t>to zero</a:t>
            </a:r>
            <a:r>
              <a:rPr lang="en-US" dirty="0"/>
              <a:t> (overfitting).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Impact of Data Augmentation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Increasing data size (via augmentation) makes it harder for the model to memorize training data, preventing overfitting.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Training error </a:t>
            </a:r>
            <a:r>
              <a:rPr lang="en-US" b="1" dirty="0"/>
              <a:t>may not reach zero</a:t>
            </a:r>
            <a:r>
              <a:rPr lang="en-US" dirty="0"/>
              <a:t>, but test error improves (better generalization).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Overlapping with Test Data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Excessive data augmentation might introduce samples </a:t>
            </a:r>
            <a:r>
              <a:rPr lang="en-US" b="1" dirty="0"/>
              <a:t>too similar</a:t>
            </a:r>
            <a:r>
              <a:rPr lang="en-US" dirty="0"/>
              <a:t> to test data.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This could artificially lower test error but reduce the true evaluation quality.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4EEC3-3AC1-4894-A66D-0EE3676E1C13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5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2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0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414-CEA1-4751-B4F1-497A70F6A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0B34C-6ACD-4D78-BC86-B0BF5E83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621FA-F2A4-45BB-A75D-8B6A2538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BE85-2FA0-4E61-A93E-F7A231CC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E0C-F01C-4E74-981E-86D131C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837" y="1235990"/>
            <a:ext cx="3660496" cy="455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9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95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6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D080-B51B-44B8-862D-984950A7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3F68-356E-4D3D-86AE-CD4367C5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7366-8120-47E4-ADDF-4EC8201C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0F8E-A193-4B55-B497-5485ADB8870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D4EFD-8FD2-40BA-8A46-224D48F6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FF29-4989-4580-BE30-F964FB13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5E7F-D1D9-400F-B9C2-95429B4E6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52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14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012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24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83305"/>
            <a:ext cx="12192000" cy="27431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92" y="3651026"/>
            <a:ext cx="1781556" cy="17659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3548" y="1880806"/>
            <a:ext cx="4381500" cy="1714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88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887254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887254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5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18248-39AE-B24D-B571-E8695ACF8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2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g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60.jpg"/><Relationship Id="rId7" Type="http://schemas.openxmlformats.org/officeDocument/2006/relationships/image" Target="../media/image64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jpg"/><Relationship Id="rId5" Type="http://schemas.openxmlformats.org/officeDocument/2006/relationships/image" Target="../media/image62.jpg"/><Relationship Id="rId10" Type="http://schemas.openxmlformats.org/officeDocument/2006/relationships/image" Target="../media/image67.jpg"/><Relationship Id="rId4" Type="http://schemas.openxmlformats.org/officeDocument/2006/relationships/image" Target="../media/image61.jpg"/><Relationship Id="rId9" Type="http://schemas.openxmlformats.org/officeDocument/2006/relationships/image" Target="../media/image66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g"/><Relationship Id="rId3" Type="http://schemas.openxmlformats.org/officeDocument/2006/relationships/image" Target="../media/image69.jpg"/><Relationship Id="rId7" Type="http://schemas.openxmlformats.org/officeDocument/2006/relationships/image" Target="../media/image73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10" Type="http://schemas.openxmlformats.org/officeDocument/2006/relationships/image" Target="../media/image76.jpg"/><Relationship Id="rId4" Type="http://schemas.openxmlformats.org/officeDocument/2006/relationships/image" Target="../media/image70.jpg"/><Relationship Id="rId9" Type="http://schemas.openxmlformats.org/officeDocument/2006/relationships/image" Target="../media/image7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jpg"/><Relationship Id="rId4" Type="http://schemas.openxmlformats.org/officeDocument/2006/relationships/image" Target="../media/image8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jpg"/><Relationship Id="rId4" Type="http://schemas.openxmlformats.org/officeDocument/2006/relationships/image" Target="../media/image9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jpg"/><Relationship Id="rId5" Type="http://schemas.openxmlformats.org/officeDocument/2006/relationships/image" Target="../media/image99.jpg"/><Relationship Id="rId4" Type="http://schemas.openxmlformats.org/officeDocument/2006/relationships/image" Target="../media/image9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3.jpg"/><Relationship Id="rId4" Type="http://schemas.openxmlformats.org/officeDocument/2006/relationships/image" Target="../media/image10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jpg"/><Relationship Id="rId4" Type="http://schemas.openxmlformats.org/officeDocument/2006/relationships/image" Target="../media/image11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jpg"/><Relationship Id="rId5" Type="http://schemas.openxmlformats.org/officeDocument/2006/relationships/image" Target="../media/image125.jpg"/><Relationship Id="rId4" Type="http://schemas.openxmlformats.org/officeDocument/2006/relationships/image" Target="../media/image124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1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9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5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g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495803" y="2596836"/>
            <a:ext cx="7010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Feed forward Neural Network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1200" dirty="0">
                <a:solidFill>
                  <a:prstClr val="white"/>
                </a:solidFill>
                <a:latin typeface="Georgia" panose="02040502050405020303" pitchFamily="18" charset="0"/>
                <a:ea typeface="+mn-ea"/>
                <a:cs typeface="+mn-cs"/>
              </a:rPr>
              <a:t>Hyperparameter Tuning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47976"/>
            <a:ext cx="11209376" cy="465372"/>
          </a:xfrm>
          <a:prstGeom prst="rect">
            <a:avLst/>
          </a:prstGeom>
        </p:spPr>
        <p:txBody>
          <a:bodyPr vert="horz" wrap="square" lIns="0" tIns="95111" rIns="0" bIns="0" rtlCol="0" anchor="ctr">
            <a:spAutoFit/>
          </a:bodyPr>
          <a:lstStyle/>
          <a:p>
            <a:pPr marL="156210">
              <a:lnSpc>
                <a:spcPct val="100000"/>
              </a:lnSpc>
              <a:spcBef>
                <a:spcPts val="53"/>
              </a:spcBef>
            </a:pPr>
            <a:r>
              <a:rPr sz="2400" spc="-239" dirty="0">
                <a:latin typeface="Georgia"/>
              </a:rPr>
              <a:t>Feed Forward NN </a:t>
            </a:r>
            <a:r>
              <a:rPr sz="2400" dirty="0">
                <a:latin typeface="Georgia"/>
              </a:rPr>
              <a:t>-</a:t>
            </a:r>
            <a:r>
              <a:rPr sz="2400" spc="-53" dirty="0">
                <a:latin typeface="Georgia"/>
              </a:rPr>
              <a:t> </a:t>
            </a:r>
            <a:r>
              <a:rPr sz="2400" spc="-197" dirty="0">
                <a:latin typeface="Georgia"/>
              </a:rPr>
              <a:t>Hyper</a:t>
            </a:r>
            <a:r>
              <a:rPr sz="2400" spc="-59" dirty="0">
                <a:latin typeface="Georgia"/>
              </a:rPr>
              <a:t> </a:t>
            </a:r>
            <a:r>
              <a:rPr sz="2400" spc="-177" dirty="0">
                <a:latin typeface="Georgia"/>
              </a:rPr>
              <a:t>Parameter</a:t>
            </a:r>
            <a:r>
              <a:rPr sz="2400" spc="-53" dirty="0">
                <a:latin typeface="Georgia"/>
              </a:rPr>
              <a:t> </a:t>
            </a:r>
            <a:r>
              <a:rPr sz="2400" spc="-239" dirty="0">
                <a:latin typeface="Georgia"/>
              </a:rPr>
              <a:t>Tunings</a:t>
            </a:r>
            <a:endParaRPr lang="en-US" sz="240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990600"/>
            <a:ext cx="92964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297542"/>
            <a:ext cx="11209376" cy="566241"/>
          </a:xfrm>
          <a:prstGeom prst="rect">
            <a:avLst/>
          </a:prstGeom>
        </p:spPr>
        <p:txBody>
          <a:bodyPr vert="horz" wrap="square" lIns="0" tIns="134045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800" spc="-143" dirty="0"/>
              <a:t>Recap-Gradient</a:t>
            </a:r>
            <a:r>
              <a:rPr sz="2800" spc="-28" dirty="0"/>
              <a:t> </a:t>
            </a:r>
            <a:r>
              <a:rPr sz="2800" spc="-160" dirty="0"/>
              <a:t>Descent</a:t>
            </a:r>
            <a:endParaRPr sz="28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C5A460-FDA5-37B5-2E71-814FD8FCE0B2}"/>
              </a:ext>
            </a:extLst>
          </p:cNvPr>
          <p:cNvGrpSpPr/>
          <p:nvPr/>
        </p:nvGrpSpPr>
        <p:grpSpPr>
          <a:xfrm>
            <a:off x="990598" y="1295400"/>
            <a:ext cx="10790277" cy="4495800"/>
            <a:chOff x="2590798" y="291399"/>
            <a:chExt cx="6879385" cy="2752536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1725" y="291399"/>
              <a:ext cx="3224497" cy="1946732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2590798" y="459586"/>
              <a:ext cx="3505201" cy="492240"/>
            </a:xfrm>
            <a:prstGeom prst="rect">
              <a:avLst/>
            </a:prstGeom>
            <a:solidFill>
              <a:srgbClr val="D0CECE"/>
            </a:solidFill>
          </p:spPr>
          <p:txBody>
            <a:bodyPr vert="horz" wrap="square" lIns="0" tIns="22503" rIns="0" bIns="0" rtlCol="0">
              <a:spAutoFit/>
            </a:bodyPr>
            <a:lstStyle/>
            <a:p>
              <a:pPr marL="51435" marR="255032" algn="just">
                <a:spcBef>
                  <a:spcPts val="177"/>
                </a:spcBef>
                <a:tabLst>
                  <a:tab pos="2142768" algn="l"/>
                </a:tabLst>
              </a:pPr>
              <a:r>
                <a:rPr sz="1400" spc="-62" dirty="0">
                  <a:latin typeface="Tahoma"/>
                  <a:cs typeface="Tahoma"/>
                </a:rPr>
                <a:t>Gradient</a:t>
              </a:r>
              <a:r>
                <a:rPr sz="1400" spc="-25" dirty="0">
                  <a:latin typeface="Tahoma"/>
                  <a:cs typeface="Tahoma"/>
                </a:rPr>
                <a:t> </a:t>
              </a:r>
              <a:r>
                <a:rPr sz="1400" spc="-48" dirty="0">
                  <a:latin typeface="Tahoma"/>
                  <a:cs typeface="Tahoma"/>
                </a:rPr>
                <a:t>descent</a:t>
              </a:r>
              <a:r>
                <a:rPr sz="1400" spc="-17" dirty="0">
                  <a:latin typeface="Tahoma"/>
                  <a:cs typeface="Tahoma"/>
                </a:rPr>
                <a:t> </a:t>
              </a:r>
              <a:r>
                <a:rPr sz="1400" dirty="0">
                  <a:latin typeface="Tahoma"/>
                  <a:cs typeface="Tahoma"/>
                </a:rPr>
                <a:t>is</a:t>
              </a:r>
              <a:r>
                <a:rPr sz="1400" spc="-25" dirty="0">
                  <a:latin typeface="Tahoma"/>
                  <a:cs typeface="Tahoma"/>
                </a:rPr>
                <a:t> </a:t>
              </a:r>
              <a:r>
                <a:rPr sz="1400" spc="-90" dirty="0">
                  <a:latin typeface="Tahoma"/>
                  <a:cs typeface="Tahoma"/>
                </a:rPr>
                <a:t>a</a:t>
              </a:r>
              <a:r>
                <a:rPr sz="1400" spc="-25" dirty="0">
                  <a:latin typeface="Tahoma"/>
                  <a:cs typeface="Tahoma"/>
                </a:rPr>
                <a:t> </a:t>
              </a:r>
              <a:r>
                <a:rPr sz="1400" spc="-84" dirty="0">
                  <a:latin typeface="Tahoma"/>
                  <a:cs typeface="Tahoma"/>
                </a:rPr>
                <a:t>way</a:t>
              </a:r>
              <a:r>
                <a:rPr sz="1400" spc="-37" dirty="0">
                  <a:latin typeface="Tahoma"/>
                  <a:cs typeface="Tahoma"/>
                </a:rPr>
                <a:t> </a:t>
              </a:r>
              <a:r>
                <a:rPr sz="1400" spc="-56" dirty="0">
                  <a:latin typeface="Tahoma"/>
                  <a:cs typeface="Tahoma"/>
                </a:rPr>
                <a:t>to</a:t>
              </a:r>
              <a:r>
                <a:rPr sz="1400" spc="-14" dirty="0">
                  <a:latin typeface="Tahoma"/>
                  <a:cs typeface="Tahoma"/>
                </a:rPr>
                <a:t> </a:t>
              </a:r>
              <a:r>
                <a:rPr sz="1400" spc="-53" dirty="0">
                  <a:latin typeface="Tahoma"/>
                  <a:cs typeface="Tahoma"/>
                </a:rPr>
                <a:t>minimize</a:t>
              </a:r>
              <a:r>
                <a:rPr sz="1400" spc="-11" dirty="0">
                  <a:latin typeface="Tahoma"/>
                  <a:cs typeface="Tahoma"/>
                </a:rPr>
                <a:t> </a:t>
              </a:r>
              <a:r>
                <a:rPr sz="1400" spc="-76" dirty="0">
                  <a:latin typeface="Tahoma"/>
                  <a:cs typeface="Tahoma"/>
                </a:rPr>
                <a:t>an</a:t>
              </a:r>
              <a:r>
                <a:rPr sz="1400" spc="-28" dirty="0">
                  <a:latin typeface="Tahoma"/>
                  <a:cs typeface="Tahoma"/>
                </a:rPr>
                <a:t> </a:t>
              </a:r>
              <a:r>
                <a:rPr sz="1400" spc="-56" dirty="0">
                  <a:latin typeface="Tahoma"/>
                  <a:cs typeface="Tahoma"/>
                </a:rPr>
                <a:t>objective</a:t>
              </a:r>
              <a:r>
                <a:rPr sz="1400" spc="-17" dirty="0">
                  <a:latin typeface="Tahoma"/>
                  <a:cs typeface="Tahoma"/>
                </a:rPr>
                <a:t> </a:t>
              </a:r>
              <a:r>
                <a:rPr sz="1400" spc="-28" dirty="0">
                  <a:latin typeface="Tahoma"/>
                  <a:cs typeface="Tahoma"/>
                </a:rPr>
                <a:t>function </a:t>
              </a:r>
              <a:r>
                <a:rPr sz="1400" spc="-62" dirty="0">
                  <a:latin typeface="Tahoma"/>
                  <a:cs typeface="Tahoma"/>
                </a:rPr>
                <a:t>parameterized</a:t>
              </a:r>
              <a:r>
                <a:rPr sz="1400" spc="-37" dirty="0">
                  <a:latin typeface="Tahoma"/>
                  <a:cs typeface="Tahoma"/>
                </a:rPr>
                <a:t> </a:t>
              </a:r>
              <a:r>
                <a:rPr sz="1400" spc="-62" dirty="0">
                  <a:latin typeface="Tahoma"/>
                  <a:cs typeface="Tahoma"/>
                </a:rPr>
                <a:t>by</a:t>
              </a:r>
              <a:r>
                <a:rPr sz="1400" spc="-39" dirty="0">
                  <a:latin typeface="Tahoma"/>
                  <a:cs typeface="Tahoma"/>
                </a:rPr>
                <a:t> </a:t>
              </a:r>
              <a:r>
                <a:rPr sz="1400" spc="-90" dirty="0">
                  <a:latin typeface="Tahoma"/>
                  <a:cs typeface="Tahoma"/>
                </a:rPr>
                <a:t>a</a:t>
              </a:r>
              <a:r>
                <a:rPr sz="1400" spc="-39" dirty="0">
                  <a:latin typeface="Tahoma"/>
                  <a:cs typeface="Tahoma"/>
                </a:rPr>
                <a:t> </a:t>
              </a:r>
              <a:r>
                <a:rPr sz="1400" spc="-34" dirty="0">
                  <a:latin typeface="Tahoma"/>
                  <a:cs typeface="Tahoma"/>
                </a:rPr>
                <a:t>model's</a:t>
              </a:r>
              <a:r>
                <a:rPr sz="1400" spc="-17" dirty="0">
                  <a:latin typeface="Tahoma"/>
                  <a:cs typeface="Tahoma"/>
                </a:rPr>
                <a:t> </a:t>
              </a:r>
              <a:r>
                <a:rPr sz="1400" spc="-6" dirty="0">
                  <a:latin typeface="Tahoma"/>
                  <a:cs typeface="Tahoma"/>
                </a:rPr>
                <a:t>parameters</a:t>
              </a:r>
              <a:r>
                <a:rPr lang="en-US" sz="1400" spc="-6" dirty="0">
                  <a:latin typeface="Tahoma"/>
                  <a:cs typeface="Tahoma"/>
                </a:rPr>
                <a:t> </a:t>
              </a:r>
              <a:r>
                <a:rPr sz="1400" spc="-62" dirty="0">
                  <a:latin typeface="Tahoma"/>
                  <a:cs typeface="Tahoma"/>
                </a:rPr>
                <a:t>by</a:t>
              </a:r>
              <a:r>
                <a:rPr sz="1400" spc="-25" dirty="0">
                  <a:latin typeface="Tahoma"/>
                  <a:cs typeface="Tahoma"/>
                </a:rPr>
                <a:t> </a:t>
              </a:r>
              <a:r>
                <a:rPr sz="1400" spc="-64" dirty="0">
                  <a:latin typeface="Tahoma"/>
                  <a:cs typeface="Tahoma"/>
                </a:rPr>
                <a:t>updating</a:t>
              </a:r>
              <a:r>
                <a:rPr sz="1400" spc="-17" dirty="0">
                  <a:latin typeface="Tahoma"/>
                  <a:cs typeface="Tahoma"/>
                </a:rPr>
                <a:t> </a:t>
              </a:r>
              <a:r>
                <a:rPr sz="1400" spc="-14" dirty="0">
                  <a:latin typeface="Tahoma"/>
                  <a:cs typeface="Tahoma"/>
                </a:rPr>
                <a:t>the </a:t>
              </a:r>
              <a:r>
                <a:rPr sz="1400" spc="-62" dirty="0">
                  <a:latin typeface="Tahoma"/>
                  <a:cs typeface="Tahoma"/>
                </a:rPr>
                <a:t>parameters</a:t>
              </a:r>
              <a:r>
                <a:rPr sz="1400" spc="-14" dirty="0">
                  <a:latin typeface="Tahoma"/>
                  <a:cs typeface="Tahoma"/>
                </a:rPr>
                <a:t> </a:t>
              </a:r>
              <a:r>
                <a:rPr sz="1400" spc="-45" dirty="0">
                  <a:latin typeface="Tahoma"/>
                  <a:cs typeface="Tahoma"/>
                </a:rPr>
                <a:t>in</a:t>
              </a:r>
              <a:r>
                <a:rPr sz="1400" spc="-23" dirty="0">
                  <a:latin typeface="Tahoma"/>
                  <a:cs typeface="Tahoma"/>
                </a:rPr>
                <a:t> </a:t>
              </a:r>
              <a:r>
                <a:rPr sz="1400" spc="-62" dirty="0">
                  <a:latin typeface="Tahoma"/>
                  <a:cs typeface="Tahoma"/>
                </a:rPr>
                <a:t>the</a:t>
              </a:r>
              <a:r>
                <a:rPr sz="1400" spc="-17" dirty="0">
                  <a:latin typeface="Tahoma"/>
                  <a:cs typeface="Tahoma"/>
                </a:rPr>
                <a:t> </a:t>
              </a:r>
              <a:r>
                <a:rPr sz="1400" spc="-48" dirty="0">
                  <a:latin typeface="Tahoma"/>
                  <a:cs typeface="Tahoma"/>
                </a:rPr>
                <a:t>opposite</a:t>
              </a:r>
              <a:r>
                <a:rPr sz="1400" spc="-11" dirty="0">
                  <a:latin typeface="Tahoma"/>
                  <a:cs typeface="Tahoma"/>
                </a:rPr>
                <a:t> </a:t>
              </a:r>
              <a:r>
                <a:rPr sz="1400" spc="-48" dirty="0">
                  <a:latin typeface="Tahoma"/>
                  <a:cs typeface="Tahoma"/>
                </a:rPr>
                <a:t>direction</a:t>
              </a:r>
              <a:r>
                <a:rPr sz="1400" spc="-20" dirty="0">
                  <a:latin typeface="Tahoma"/>
                  <a:cs typeface="Tahoma"/>
                </a:rPr>
                <a:t> </a:t>
              </a:r>
              <a:r>
                <a:rPr sz="1400" spc="-42" dirty="0">
                  <a:latin typeface="Tahoma"/>
                  <a:cs typeface="Tahoma"/>
                </a:rPr>
                <a:t>of</a:t>
              </a:r>
              <a:r>
                <a:rPr sz="1400" spc="-11" dirty="0">
                  <a:latin typeface="Tahoma"/>
                  <a:cs typeface="Tahoma"/>
                </a:rPr>
                <a:t> </a:t>
              </a:r>
              <a:r>
                <a:rPr sz="1400" spc="-62" dirty="0">
                  <a:latin typeface="Tahoma"/>
                  <a:cs typeface="Tahoma"/>
                </a:rPr>
                <a:t>the</a:t>
              </a:r>
              <a:r>
                <a:rPr sz="1400" spc="-14" dirty="0">
                  <a:latin typeface="Tahoma"/>
                  <a:cs typeface="Tahoma"/>
                </a:rPr>
                <a:t> </a:t>
              </a:r>
              <a:r>
                <a:rPr sz="1400" spc="-62" dirty="0">
                  <a:latin typeface="Tahoma"/>
                  <a:cs typeface="Tahoma"/>
                </a:rPr>
                <a:t>gradient</a:t>
              </a:r>
              <a:r>
                <a:rPr sz="1400" spc="-23" dirty="0">
                  <a:latin typeface="Tahoma"/>
                  <a:cs typeface="Tahoma"/>
                </a:rPr>
                <a:t> </a:t>
              </a:r>
              <a:r>
                <a:rPr sz="1400" spc="-42" dirty="0">
                  <a:latin typeface="Tahoma"/>
                  <a:cs typeface="Tahoma"/>
                </a:rPr>
                <a:t>of</a:t>
              </a:r>
              <a:r>
                <a:rPr sz="1400" spc="-11" dirty="0">
                  <a:latin typeface="Tahoma"/>
                  <a:cs typeface="Tahoma"/>
                </a:rPr>
                <a:t> </a:t>
              </a:r>
              <a:r>
                <a:rPr sz="1400" spc="-14" dirty="0">
                  <a:latin typeface="Tahoma"/>
                  <a:cs typeface="Tahoma"/>
                </a:rPr>
                <a:t>the </a:t>
              </a:r>
              <a:r>
                <a:rPr sz="1400" spc="-56" dirty="0">
                  <a:latin typeface="Tahoma"/>
                  <a:cs typeface="Tahoma"/>
                </a:rPr>
                <a:t>objective</a:t>
              </a:r>
              <a:r>
                <a:rPr sz="1400" spc="6" dirty="0">
                  <a:latin typeface="Tahoma"/>
                  <a:cs typeface="Tahoma"/>
                </a:rPr>
                <a:t> </a:t>
              </a:r>
              <a:r>
                <a:rPr sz="1400" spc="-6" dirty="0">
                  <a:latin typeface="Tahoma"/>
                  <a:cs typeface="Tahoma"/>
                </a:rPr>
                <a:t>function</a:t>
              </a:r>
              <a:endParaRPr sz="1400" dirty="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628898" y="1264765"/>
              <a:ext cx="3429000" cy="651012"/>
            </a:xfrm>
            <a:prstGeom prst="rect">
              <a:avLst/>
            </a:prstGeom>
            <a:solidFill>
              <a:srgbClr val="BCD6ED"/>
            </a:solidFill>
          </p:spPr>
          <p:txBody>
            <a:bodyPr vert="horz" wrap="square" lIns="0" tIns="22860" rIns="0" bIns="0" rtlCol="0">
              <a:spAutoFit/>
            </a:bodyPr>
            <a:lstStyle/>
            <a:p>
              <a:pPr marL="45720" marR="86082">
                <a:spcBef>
                  <a:spcPts val="180"/>
                </a:spcBef>
              </a:pPr>
              <a:r>
                <a:rPr sz="1400" spc="-82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3" dirty="0">
                  <a:solidFill>
                    <a:srgbClr val="303A3E"/>
                  </a:solidFill>
                  <a:latin typeface="Tahoma"/>
                  <a:cs typeface="Tahoma"/>
                </a:rPr>
                <a:t>learning</a:t>
              </a:r>
              <a:r>
                <a:rPr sz="1400" spc="-23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8" dirty="0">
                  <a:solidFill>
                    <a:srgbClr val="303A3E"/>
                  </a:solidFill>
                  <a:latin typeface="Tahoma"/>
                  <a:cs typeface="Tahoma"/>
                </a:rPr>
                <a:t>rate</a:t>
              </a:r>
              <a:r>
                <a:rPr sz="14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η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determines</a:t>
              </a:r>
              <a:r>
                <a:rPr sz="14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37" dirty="0">
                  <a:solidFill>
                    <a:srgbClr val="303A3E"/>
                  </a:solidFill>
                  <a:latin typeface="Tahoma"/>
                  <a:cs typeface="Tahoma"/>
                </a:rPr>
                <a:t>size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303A3E"/>
                  </a:solidFill>
                  <a:latin typeface="Tahoma"/>
                  <a:cs typeface="Tahoma"/>
                </a:rPr>
                <a:t>of</a:t>
              </a:r>
              <a:r>
                <a:rPr sz="14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4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37" dirty="0">
                  <a:solidFill>
                    <a:srgbClr val="303A3E"/>
                  </a:solidFill>
                  <a:latin typeface="Tahoma"/>
                  <a:cs typeface="Tahoma"/>
                </a:rPr>
                <a:t>steps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76" dirty="0">
                  <a:solidFill>
                    <a:srgbClr val="303A3E"/>
                  </a:solidFill>
                  <a:latin typeface="Tahoma"/>
                  <a:cs typeface="Tahoma"/>
                </a:rPr>
                <a:t>we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76" dirty="0">
                  <a:solidFill>
                    <a:srgbClr val="303A3E"/>
                  </a:solidFill>
                  <a:latin typeface="Tahoma"/>
                  <a:cs typeface="Tahoma"/>
                </a:rPr>
                <a:t>take</a:t>
              </a:r>
              <a:r>
                <a:rPr sz="1400" spc="-23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14" dirty="0">
                  <a:solidFill>
                    <a:srgbClr val="303A3E"/>
                  </a:solidFill>
                  <a:latin typeface="Tahoma"/>
                  <a:cs typeface="Tahoma"/>
                </a:rPr>
                <a:t>to </a:t>
              </a:r>
              <a:r>
                <a:rPr sz="1400" spc="-53" dirty="0">
                  <a:solidFill>
                    <a:srgbClr val="303A3E"/>
                  </a:solidFill>
                  <a:latin typeface="Tahoma"/>
                  <a:cs typeface="Tahoma"/>
                </a:rPr>
                <a:t>reach</a:t>
              </a:r>
              <a:r>
                <a:rPr sz="1400" spc="-3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90" dirty="0">
                  <a:solidFill>
                    <a:srgbClr val="303A3E"/>
                  </a:solidFill>
                  <a:latin typeface="Tahoma"/>
                  <a:cs typeface="Tahoma"/>
                </a:rPr>
                <a:t>a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2" dirty="0">
                  <a:solidFill>
                    <a:srgbClr val="303A3E"/>
                  </a:solidFill>
                  <a:latin typeface="Tahoma"/>
                  <a:cs typeface="Tahoma"/>
                </a:rPr>
                <a:t>(local)</a:t>
              </a:r>
              <a:r>
                <a:rPr sz="1400" spc="-3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9" dirty="0">
                  <a:solidFill>
                    <a:srgbClr val="303A3E"/>
                  </a:solidFill>
                  <a:latin typeface="Tahoma"/>
                  <a:cs typeface="Tahoma"/>
                </a:rPr>
                <a:t>minimum.</a:t>
              </a:r>
              <a:r>
                <a:rPr sz="1400" spc="-1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98" dirty="0">
                  <a:solidFill>
                    <a:srgbClr val="303A3E"/>
                  </a:solidFill>
                  <a:latin typeface="Tahoma"/>
                  <a:cs typeface="Tahoma"/>
                </a:rPr>
                <a:t>In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other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303A3E"/>
                  </a:solidFill>
                  <a:latin typeface="Tahoma"/>
                  <a:cs typeface="Tahoma"/>
                </a:rPr>
                <a:t>words,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76" dirty="0">
                  <a:solidFill>
                    <a:srgbClr val="303A3E"/>
                  </a:solidFill>
                  <a:latin typeface="Tahoma"/>
                  <a:cs typeface="Tahoma"/>
                </a:rPr>
                <a:t>we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8" dirty="0">
                  <a:solidFill>
                    <a:srgbClr val="303A3E"/>
                  </a:solidFill>
                  <a:latin typeface="Tahoma"/>
                  <a:cs typeface="Tahoma"/>
                </a:rPr>
                <a:t>follow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direction </a:t>
              </a:r>
              <a:r>
                <a:rPr sz="1400" spc="-45" dirty="0">
                  <a:solidFill>
                    <a:srgbClr val="303A3E"/>
                  </a:solidFill>
                  <a:latin typeface="Tahoma"/>
                  <a:cs typeface="Tahoma"/>
                </a:rPr>
                <a:t>of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4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1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39" dirty="0">
                  <a:solidFill>
                    <a:srgbClr val="303A3E"/>
                  </a:solidFill>
                  <a:latin typeface="Tahoma"/>
                  <a:cs typeface="Tahoma"/>
                </a:rPr>
                <a:t>slope</a:t>
              </a:r>
              <a:r>
                <a:rPr sz="1400" spc="-23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303A3E"/>
                  </a:solidFill>
                  <a:latin typeface="Tahoma"/>
                  <a:cs typeface="Tahoma"/>
                </a:rPr>
                <a:t>of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4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1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2" dirty="0">
                  <a:solidFill>
                    <a:srgbClr val="303A3E"/>
                  </a:solidFill>
                  <a:latin typeface="Tahoma"/>
                  <a:cs typeface="Tahoma"/>
                </a:rPr>
                <a:t>surface</a:t>
              </a:r>
              <a:r>
                <a:rPr sz="1400" spc="-23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created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303A3E"/>
                  </a:solidFill>
                  <a:latin typeface="Tahoma"/>
                  <a:cs typeface="Tahoma"/>
                </a:rPr>
                <a:t>by</a:t>
              </a:r>
              <a:r>
                <a:rPr sz="1400" spc="-3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objective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303A3E"/>
                  </a:solidFill>
                  <a:latin typeface="Tahoma"/>
                  <a:cs typeface="Tahoma"/>
                </a:rPr>
                <a:t>function </a:t>
              </a:r>
              <a:r>
                <a:rPr sz="1400" spc="-51" dirty="0">
                  <a:solidFill>
                    <a:srgbClr val="303A3E"/>
                  </a:solidFill>
                  <a:latin typeface="Tahoma"/>
                  <a:cs typeface="Tahoma"/>
                </a:rPr>
                <a:t>downhill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8" dirty="0">
                  <a:solidFill>
                    <a:srgbClr val="303A3E"/>
                  </a:solidFill>
                  <a:latin typeface="Tahoma"/>
                  <a:cs typeface="Tahoma"/>
                </a:rPr>
                <a:t>until</a:t>
              </a:r>
              <a:r>
                <a:rPr sz="14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76" dirty="0">
                  <a:solidFill>
                    <a:srgbClr val="303A3E"/>
                  </a:solidFill>
                  <a:latin typeface="Tahoma"/>
                  <a:cs typeface="Tahoma"/>
                </a:rPr>
                <a:t>we</a:t>
              </a:r>
              <a:r>
                <a:rPr sz="1400" spc="-20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3" dirty="0">
                  <a:solidFill>
                    <a:srgbClr val="303A3E"/>
                  </a:solidFill>
                  <a:latin typeface="Tahoma"/>
                  <a:cs typeface="Tahoma"/>
                </a:rPr>
                <a:t>reach</a:t>
              </a:r>
              <a:r>
                <a:rPr sz="1400" spc="-3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90" dirty="0">
                  <a:solidFill>
                    <a:srgbClr val="303A3E"/>
                  </a:solidFill>
                  <a:latin typeface="Tahoma"/>
                  <a:cs typeface="Tahoma"/>
                </a:rPr>
                <a:t>a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303A3E"/>
                  </a:solidFill>
                  <a:latin typeface="Tahoma"/>
                  <a:cs typeface="Tahoma"/>
                </a:rPr>
                <a:t>valley</a:t>
              </a:r>
              <a:endParaRPr sz="14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640549" y="2238131"/>
              <a:ext cx="3449003" cy="805804"/>
            </a:xfrm>
            <a:prstGeom prst="rect">
              <a:avLst/>
            </a:prstGeom>
            <a:solidFill>
              <a:srgbClr val="E1EFD9"/>
            </a:solidFill>
          </p:spPr>
          <p:txBody>
            <a:bodyPr vert="horz" wrap="square" lIns="0" tIns="17859" rIns="0" bIns="0" rtlCol="0">
              <a:spAutoFit/>
            </a:bodyPr>
            <a:lstStyle/>
            <a:p>
              <a:pPr marL="51435">
                <a:spcBef>
                  <a:spcPts val="141"/>
                </a:spcBef>
              </a:pPr>
              <a:r>
                <a:rPr sz="1400" b="1" spc="-6" dirty="0">
                  <a:solidFill>
                    <a:srgbClr val="C00000"/>
                  </a:solidFill>
                  <a:latin typeface="Calibri"/>
                  <a:cs typeface="Calibri"/>
                </a:rPr>
                <a:t>Steps</a:t>
              </a:r>
              <a:endParaRPr sz="1400" dirty="0">
                <a:latin typeface="Calibri"/>
                <a:cs typeface="Calibri"/>
              </a:endParaRPr>
            </a:p>
            <a:p>
              <a:pPr marL="51435" marR="93940" indent="-1786">
                <a:buSzPct val="94444"/>
                <a:buAutoNum type="arabicPeriod"/>
                <a:tabLst>
                  <a:tab pos="148947" algn="l"/>
                </a:tabLst>
              </a:pP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Compute</a:t>
              </a:r>
              <a:r>
                <a:rPr sz="14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slope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(gradient)</a:t>
              </a:r>
              <a:r>
                <a:rPr sz="14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that</a:t>
              </a:r>
              <a:r>
                <a:rPr sz="14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is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first-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order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derivative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of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function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at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current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point</a:t>
              </a:r>
              <a:endParaRPr sz="1400" dirty="0">
                <a:latin typeface="Calibri"/>
                <a:cs typeface="Calibri"/>
              </a:endParaRPr>
            </a:p>
            <a:p>
              <a:pPr marL="148947" indent="-99298">
                <a:buSzPct val="94444"/>
                <a:buAutoNum type="arabicPeriod"/>
                <a:tabLst>
                  <a:tab pos="148947" algn="l"/>
                </a:tabLst>
              </a:pP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Move-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4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opposite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direction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of</a:t>
              </a:r>
              <a:r>
                <a:rPr sz="14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slope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increase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from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endParaRPr sz="1400" dirty="0">
                <a:latin typeface="Calibri"/>
                <a:cs typeface="Calibri"/>
              </a:endParaRPr>
            </a:p>
            <a:p>
              <a:pPr marL="51435"/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current</a:t>
              </a:r>
              <a:r>
                <a:rPr sz="14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point</a:t>
              </a:r>
              <a:r>
                <a:rPr sz="14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by</a:t>
              </a:r>
              <a:r>
                <a:rPr sz="14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computed</a:t>
              </a:r>
              <a:r>
                <a:rPr sz="14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amount</a:t>
              </a:r>
              <a:endParaRPr sz="1400" dirty="0">
                <a:latin typeface="Calibri"/>
                <a:cs typeface="Calibri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7217" y="2379567"/>
              <a:ext cx="3152966" cy="6643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92209"/>
            <a:ext cx="11209376" cy="376906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</a:pPr>
            <a:r>
              <a:rPr sz="2400" spc="-143" dirty="0"/>
              <a:t>Gradient</a:t>
            </a:r>
            <a:r>
              <a:rPr sz="2400" spc="-45" dirty="0"/>
              <a:t> </a:t>
            </a:r>
            <a:r>
              <a:rPr sz="2400" spc="-155" dirty="0"/>
              <a:t>Descent</a:t>
            </a:r>
            <a:r>
              <a:rPr sz="2400" spc="-45" dirty="0"/>
              <a:t> </a:t>
            </a:r>
            <a:r>
              <a:rPr sz="2400" spc="-141" dirty="0"/>
              <a:t>Algorithm-</a:t>
            </a:r>
            <a:r>
              <a:rPr sz="2400" spc="-53" dirty="0"/>
              <a:t> </a:t>
            </a:r>
            <a:r>
              <a:rPr sz="2400" spc="-188" dirty="0"/>
              <a:t>Tuning</a:t>
            </a:r>
            <a:endParaRPr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04D535-1A99-6EE2-D0F6-CCADB914EAE3}"/>
              </a:ext>
            </a:extLst>
          </p:cNvPr>
          <p:cNvGrpSpPr/>
          <p:nvPr/>
        </p:nvGrpSpPr>
        <p:grpSpPr>
          <a:xfrm>
            <a:off x="1936249" y="1444016"/>
            <a:ext cx="9074004" cy="4743734"/>
            <a:chOff x="2863196" y="423045"/>
            <a:chExt cx="6848529" cy="3377518"/>
          </a:xfrm>
        </p:grpSpPr>
        <p:sp>
          <p:nvSpPr>
            <p:cNvPr id="3" name="object 3"/>
            <p:cNvSpPr txBox="1"/>
            <p:nvPr/>
          </p:nvSpPr>
          <p:spPr>
            <a:xfrm>
              <a:off x="2871728" y="615981"/>
              <a:ext cx="2442454" cy="708122"/>
            </a:xfrm>
            <a:prstGeom prst="rect">
              <a:avLst/>
            </a:prstGeom>
          </p:spPr>
          <p:txBody>
            <a:bodyPr vert="horz" wrap="square" lIns="0" tIns="6787" rIns="0" bIns="0" rtlCol="0" anchor="t">
              <a:spAutoFit/>
            </a:bodyPr>
            <a:lstStyle/>
            <a:p>
              <a:pPr marL="134620" indent="-127635">
                <a:lnSpc>
                  <a:spcPct val="150000"/>
                </a:lnSpc>
                <a:spcBef>
                  <a:spcPts val="53"/>
                </a:spcBef>
                <a:buFont typeface="Arial MT"/>
                <a:buChar char="•"/>
                <a:tabLst>
                  <a:tab pos="135016" algn="l"/>
                </a:tabLst>
              </a:pPr>
              <a:r>
                <a:rPr sz="1600" b="1" spc="-6" dirty="0">
                  <a:latin typeface="Calibri"/>
                  <a:cs typeface="Calibri"/>
                </a:rPr>
                <a:t>Gradient</a:t>
              </a:r>
              <a:r>
                <a:rPr sz="1600" b="1" spc="-56" dirty="0">
                  <a:latin typeface="Calibri"/>
                  <a:cs typeface="Calibri"/>
                </a:rPr>
                <a:t> </a:t>
              </a:r>
              <a:r>
                <a:rPr sz="1600" b="1" dirty="0">
                  <a:latin typeface="Calibri"/>
                  <a:cs typeface="Calibri"/>
                </a:rPr>
                <a:t>Descent</a:t>
              </a:r>
              <a:r>
                <a:rPr sz="1600" b="1" spc="-68" dirty="0">
                  <a:latin typeface="Calibri"/>
                  <a:cs typeface="Calibri"/>
                </a:rPr>
                <a:t> </a:t>
              </a:r>
              <a:r>
                <a:rPr sz="1600" b="1" spc="-6" dirty="0">
                  <a:latin typeface="Calibri"/>
                  <a:cs typeface="Calibri"/>
                </a:rPr>
                <a:t>Variants</a:t>
              </a:r>
              <a:endParaRPr sz="1600"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ts val="1581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z="1600" dirty="0">
                  <a:latin typeface="Calibri"/>
                  <a:cs typeface="Calibri"/>
                </a:rPr>
                <a:t>Batch</a:t>
              </a:r>
              <a:r>
                <a:rPr sz="1600" spc="-39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gradient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descent</a:t>
              </a:r>
              <a:endParaRPr sz="1600"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ts val="1575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z="1600" dirty="0">
                  <a:latin typeface="Calibri"/>
                  <a:cs typeface="Calibri"/>
                </a:rPr>
                <a:t>Stochastic</a:t>
              </a:r>
              <a:r>
                <a:rPr sz="1600" spc="-39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gradient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descent</a:t>
              </a:r>
              <a:endParaRPr sz="1600"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ts val="16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z="1600" spc="-6" dirty="0">
                  <a:latin typeface="Calibri"/>
                  <a:cs typeface="Calibri"/>
                </a:rPr>
                <a:t>Mini-</a:t>
              </a:r>
              <a:r>
                <a:rPr sz="1600" dirty="0">
                  <a:latin typeface="Calibri"/>
                  <a:cs typeface="Calibri"/>
                </a:rPr>
                <a:t>batch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gradient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descent</a:t>
              </a:r>
              <a:endParaRPr sz="1600" dirty="0">
                <a:latin typeface="Calibri"/>
                <a:cs typeface="Calibri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888289" y="423045"/>
              <a:ext cx="2914650" cy="3377518"/>
            </a:xfrm>
            <a:custGeom>
              <a:avLst/>
              <a:gdLst/>
              <a:ahLst/>
              <a:cxnLst/>
              <a:rect l="l" t="t" r="r" b="b"/>
              <a:pathLst>
                <a:path w="5181600" h="4351020">
                  <a:moveTo>
                    <a:pt x="5181599" y="0"/>
                  </a:moveTo>
                  <a:lnTo>
                    <a:pt x="0" y="0"/>
                  </a:lnTo>
                  <a:lnTo>
                    <a:pt x="0" y="4351020"/>
                  </a:lnTo>
                  <a:lnTo>
                    <a:pt x="5181599" y="4351020"/>
                  </a:lnTo>
                  <a:lnTo>
                    <a:pt x="518159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999802" y="534006"/>
              <a:ext cx="2664587" cy="3261582"/>
            </a:xfrm>
            <a:prstGeom prst="rect">
              <a:avLst/>
            </a:prstGeom>
          </p:spPr>
          <p:txBody>
            <a:bodyPr vert="horz" wrap="square" lIns="0" tIns="52864" rIns="0" bIns="0" rtlCol="0" anchor="t">
              <a:spAutoFit/>
            </a:bodyPr>
            <a:lstStyle/>
            <a:p>
              <a:pPr marL="134620" marR="2540" indent="-127635">
                <a:lnSpc>
                  <a:spcPct val="150000"/>
                </a:lnSpc>
                <a:spcBef>
                  <a:spcPts val="416"/>
                </a:spcBef>
                <a:buFont typeface="Arial MT"/>
                <a:buChar char="•"/>
                <a:tabLst>
                  <a:tab pos="135731" algn="l"/>
                </a:tabLst>
              </a:pPr>
              <a:r>
                <a:rPr b="1" spc="-6" dirty="0">
                  <a:latin typeface="Calibri"/>
                  <a:cs typeface="Calibri"/>
                </a:rPr>
                <a:t>Gradient</a:t>
              </a:r>
              <a:r>
                <a:rPr b="1" spc="-51" dirty="0">
                  <a:latin typeface="Calibri"/>
                  <a:cs typeface="Calibri"/>
                </a:rPr>
                <a:t> </a:t>
              </a:r>
              <a:r>
                <a:rPr b="1" dirty="0">
                  <a:latin typeface="Calibri"/>
                  <a:cs typeface="Calibri"/>
                </a:rPr>
                <a:t>descent</a:t>
              </a:r>
              <a:r>
                <a:rPr b="1" spc="-62" dirty="0">
                  <a:latin typeface="Calibri"/>
                  <a:cs typeface="Calibri"/>
                </a:rPr>
                <a:t> </a:t>
              </a:r>
              <a:r>
                <a:rPr b="1" spc="-6" dirty="0">
                  <a:latin typeface="Calibri"/>
                  <a:cs typeface="Calibri"/>
                </a:rPr>
                <a:t>optimization 	algorithms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spcBef>
                  <a:spcPts val="3"/>
                </a:spcBef>
                <a:buFont typeface="Arial MT"/>
                <a:buChar char="•"/>
                <a:tabLst>
                  <a:tab pos="392192" algn="l"/>
                </a:tabLst>
              </a:pPr>
              <a:r>
                <a:rPr b="1" spc="-6" dirty="0">
                  <a:solidFill>
                    <a:srgbClr val="C00000"/>
                  </a:solidFill>
                  <a:latin typeface="Calibri"/>
                  <a:cs typeface="Calibri"/>
                </a:rPr>
                <a:t>Momentum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b="1" spc="-6" dirty="0">
                  <a:solidFill>
                    <a:srgbClr val="C00000"/>
                  </a:solidFill>
                  <a:latin typeface="Calibri"/>
                  <a:cs typeface="Calibri"/>
                </a:rPr>
                <a:t>Nesterov</a:t>
              </a:r>
              <a:r>
                <a:rPr b="1" spc="-45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b="1" spc="-6" dirty="0">
                  <a:solidFill>
                    <a:srgbClr val="C00000"/>
                  </a:solidFill>
                  <a:latin typeface="Calibri"/>
                  <a:cs typeface="Calibri"/>
                </a:rPr>
                <a:t>accelerated</a:t>
              </a:r>
              <a:r>
                <a:rPr b="1" spc="-37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b="1" spc="-6" dirty="0">
                  <a:solidFill>
                    <a:srgbClr val="C00000"/>
                  </a:solidFill>
                  <a:latin typeface="Calibri"/>
                  <a:cs typeface="Calibri"/>
                </a:rPr>
                <a:t>gradient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b="1" spc="-6" dirty="0">
                  <a:solidFill>
                    <a:srgbClr val="C00000"/>
                  </a:solidFill>
                  <a:latin typeface="Calibri"/>
                  <a:cs typeface="Calibri"/>
                </a:rPr>
                <a:t>Adagrad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pc="-6" dirty="0">
                  <a:latin typeface="Calibri"/>
                  <a:cs typeface="Calibri"/>
                </a:rPr>
                <a:t>Adadelta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b="1" spc="-6" dirty="0">
                  <a:solidFill>
                    <a:srgbClr val="C00000"/>
                  </a:solidFill>
                  <a:latin typeface="Calibri"/>
                  <a:cs typeface="Calibri"/>
                </a:rPr>
                <a:t>RMSprop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b="1" spc="-11" dirty="0">
                  <a:solidFill>
                    <a:srgbClr val="C00000"/>
                  </a:solidFill>
                  <a:latin typeface="Calibri"/>
                  <a:cs typeface="Calibri"/>
                </a:rPr>
                <a:t>Adam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pc="-6" dirty="0">
                  <a:latin typeface="Calibri"/>
                  <a:cs typeface="Calibri"/>
                </a:rPr>
                <a:t>AdaMax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pc="-6" dirty="0">
                  <a:latin typeface="Calibri"/>
                  <a:cs typeface="Calibri"/>
                </a:rPr>
                <a:t>Nadam</a:t>
              </a:r>
              <a:endParaRPr dirty="0">
                <a:latin typeface="Calibri"/>
                <a:cs typeface="Calibri"/>
              </a:endParaRPr>
            </a:p>
            <a:p>
              <a:pPr marL="391795" lvl="1" indent="-127635">
                <a:lnSpc>
                  <a:spcPct val="150000"/>
                </a:lnSpc>
                <a:buFont typeface="Arial MT"/>
                <a:buChar char="•"/>
                <a:tabLst>
                  <a:tab pos="392192" algn="l"/>
                </a:tabLst>
              </a:pPr>
              <a:r>
                <a:rPr spc="-6" dirty="0">
                  <a:latin typeface="Calibri"/>
                  <a:cs typeface="Calibri"/>
                </a:rPr>
                <a:t>AMSGrad</a:t>
              </a:r>
              <a:endParaRPr dirty="0">
                <a:latin typeface="Calibri"/>
                <a:cs typeface="Calibri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0532" y="1546479"/>
              <a:ext cx="2037827" cy="11264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9462" y="2028629"/>
              <a:ext cx="2112263" cy="1120426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2863196" y="3046552"/>
              <a:ext cx="2878370" cy="613534"/>
            </a:xfrm>
            <a:prstGeom prst="rect">
              <a:avLst/>
            </a:prstGeom>
          </p:spPr>
          <p:txBody>
            <a:bodyPr vert="horz" wrap="square" lIns="0" tIns="8573" rIns="0" bIns="0" rtlCol="0" anchor="t">
              <a:spAutoFit/>
            </a:bodyPr>
            <a:lstStyle/>
            <a:p>
              <a:pPr marL="6985" marR="2540" algn="just">
                <a:lnSpc>
                  <a:spcPct val="98900"/>
                </a:lnSpc>
                <a:spcBef>
                  <a:spcPts val="68"/>
                </a:spcBef>
              </a:pP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Depending</a:t>
              </a:r>
              <a:r>
                <a:rPr sz="1400" spc="-25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on</a:t>
              </a:r>
              <a:r>
                <a:rPr sz="1400" spc="-20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the</a:t>
              </a:r>
              <a:r>
                <a:rPr sz="1400" spc="-11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amount</a:t>
              </a:r>
              <a:r>
                <a:rPr sz="1400" spc="-14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of</a:t>
              </a:r>
              <a:r>
                <a:rPr sz="1400" spc="-14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data,</a:t>
              </a:r>
              <a:r>
                <a:rPr sz="1400" spc="-17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we</a:t>
              </a:r>
              <a:r>
                <a:rPr sz="1400" spc="-17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make</a:t>
              </a:r>
              <a:r>
                <a:rPr sz="1400" spc="-17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a</a:t>
              </a:r>
              <a:r>
                <a:rPr sz="1400" spc="-20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spc="-6" dirty="0">
                  <a:solidFill>
                    <a:srgbClr val="303A3E"/>
                  </a:solidFill>
                  <a:latin typeface="Georgia"/>
                  <a:cs typeface="Georgia"/>
                </a:rPr>
                <a:t>trade-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off</a:t>
              </a:r>
              <a:r>
                <a:rPr sz="1400" spc="-8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between</a:t>
              </a:r>
              <a:r>
                <a:rPr sz="1400" spc="-23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spc="-14" dirty="0">
                  <a:solidFill>
                    <a:srgbClr val="303A3E"/>
                  </a:solidFill>
                  <a:latin typeface="Georgia"/>
                  <a:cs typeface="Georgia"/>
                </a:rPr>
                <a:t>the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accuracy</a:t>
              </a:r>
              <a:r>
                <a:rPr sz="1400" spc="-20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of</a:t>
              </a:r>
              <a:r>
                <a:rPr sz="1400" spc="-25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the</a:t>
              </a:r>
              <a:r>
                <a:rPr sz="1400" spc="-23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parameter</a:t>
              </a:r>
              <a:r>
                <a:rPr sz="1400" spc="-23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update</a:t>
              </a:r>
              <a:r>
                <a:rPr sz="1400" spc="-20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and</a:t>
              </a:r>
              <a:r>
                <a:rPr sz="1400" spc="-23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the</a:t>
              </a:r>
              <a:r>
                <a:rPr sz="1400" spc="-17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time</a:t>
              </a:r>
              <a:r>
                <a:rPr sz="1400" spc="-23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it</a:t>
              </a:r>
              <a:r>
                <a:rPr sz="1400" spc="-25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takes</a:t>
              </a:r>
              <a:r>
                <a:rPr sz="1400" spc="-20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to</a:t>
              </a:r>
              <a:r>
                <a:rPr sz="1400" spc="-25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dirty="0">
                  <a:solidFill>
                    <a:srgbClr val="303A3E"/>
                  </a:solidFill>
                  <a:latin typeface="Georgia"/>
                  <a:cs typeface="Georgia"/>
                </a:rPr>
                <a:t>perform</a:t>
              </a:r>
              <a:r>
                <a:rPr sz="1400" spc="-17" dirty="0">
                  <a:solidFill>
                    <a:srgbClr val="303A3E"/>
                  </a:solidFill>
                  <a:latin typeface="Georgia"/>
                  <a:cs typeface="Georgia"/>
                </a:rPr>
                <a:t> </a:t>
              </a:r>
              <a:r>
                <a:rPr sz="1400" spc="-14" dirty="0">
                  <a:solidFill>
                    <a:srgbClr val="303A3E"/>
                  </a:solidFill>
                  <a:latin typeface="Georgia"/>
                  <a:cs typeface="Georgia"/>
                </a:rPr>
                <a:t>an </a:t>
              </a:r>
              <a:r>
                <a:rPr sz="1400" spc="-6" dirty="0">
                  <a:solidFill>
                    <a:srgbClr val="303A3E"/>
                  </a:solidFill>
                  <a:latin typeface="Georgia"/>
                  <a:cs typeface="Georgia"/>
                </a:rPr>
                <a:t>update.</a:t>
              </a:r>
              <a:endParaRPr sz="1400">
                <a:latin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31014"/>
            <a:ext cx="11209376" cy="499296"/>
          </a:xfrm>
          <a:prstGeom prst="rect">
            <a:avLst/>
          </a:prstGeom>
        </p:spPr>
        <p:txBody>
          <a:bodyPr vert="horz" wrap="square" lIns="0" tIns="6787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3"/>
              </a:spcBef>
            </a:pPr>
            <a:r>
              <a:rPr spc="-183" dirty="0"/>
              <a:t>Variants</a:t>
            </a:r>
            <a:r>
              <a:rPr spc="-42" dirty="0"/>
              <a:t> </a:t>
            </a:r>
            <a:r>
              <a:rPr spc="-194" dirty="0"/>
              <a:t>of</a:t>
            </a:r>
            <a:r>
              <a:rPr spc="-48" dirty="0"/>
              <a:t> </a:t>
            </a:r>
            <a:r>
              <a:rPr spc="-177" dirty="0"/>
              <a:t>Gradient</a:t>
            </a:r>
            <a:r>
              <a:rPr spc="-42" dirty="0"/>
              <a:t> </a:t>
            </a:r>
            <a:r>
              <a:rPr spc="-194" dirty="0"/>
              <a:t>Descent</a:t>
            </a:r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B724F5-538D-1633-99AA-43F29446C32C}"/>
              </a:ext>
            </a:extLst>
          </p:cNvPr>
          <p:cNvGrpSpPr/>
          <p:nvPr/>
        </p:nvGrpSpPr>
        <p:grpSpPr>
          <a:xfrm>
            <a:off x="1752600" y="1219200"/>
            <a:ext cx="8994569" cy="4495800"/>
            <a:chOff x="2844172" y="414147"/>
            <a:chExt cx="6740154" cy="2811685"/>
          </a:xfrm>
        </p:grpSpPr>
        <p:sp>
          <p:nvSpPr>
            <p:cNvPr id="3" name="object 3"/>
            <p:cNvSpPr txBox="1"/>
            <p:nvPr/>
          </p:nvSpPr>
          <p:spPr>
            <a:xfrm>
              <a:off x="3182779" y="540282"/>
              <a:ext cx="2587823" cy="196770"/>
            </a:xfrm>
            <a:prstGeom prst="rect">
              <a:avLst/>
            </a:prstGeom>
          </p:spPr>
          <p:txBody>
            <a:bodyPr vert="horz" wrap="square" lIns="0" tIns="6787" rIns="0" bIns="0" rtlCol="0" anchor="t">
              <a:spAutoFit/>
            </a:bodyPr>
            <a:lstStyle/>
            <a:p>
              <a:pPr marL="134620" indent="-127635">
                <a:spcBef>
                  <a:spcPts val="53"/>
                </a:spcBef>
                <a:buFont typeface="Arial MT"/>
                <a:buChar char="•"/>
                <a:tabLst>
                  <a:tab pos="135016" algn="l"/>
                </a:tabLst>
              </a:pPr>
              <a:r>
                <a:rPr sz="2000" i="1" dirty="0">
                  <a:solidFill>
                    <a:srgbClr val="C00000"/>
                  </a:solidFill>
                  <a:latin typeface="Calibri"/>
                  <a:cs typeface="Calibri"/>
                </a:rPr>
                <a:t>What</a:t>
              </a:r>
              <a:r>
                <a:rPr sz="2000" i="1" spc="-2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i="1" dirty="0">
                  <a:solidFill>
                    <a:srgbClr val="C00000"/>
                  </a:solidFill>
                  <a:latin typeface="Calibri"/>
                  <a:cs typeface="Calibri"/>
                </a:rPr>
                <a:t>is</a:t>
              </a:r>
              <a:r>
                <a:rPr sz="2000" i="1" spc="-1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i="1" dirty="0">
                  <a:solidFill>
                    <a:srgbClr val="C00000"/>
                  </a:solidFill>
                  <a:latin typeface="Calibri"/>
                  <a:cs typeface="Calibri"/>
                </a:rPr>
                <a:t>one</a:t>
              </a:r>
              <a:r>
                <a:rPr sz="2000" i="1" spc="-1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i="1" dirty="0">
                  <a:solidFill>
                    <a:srgbClr val="C00000"/>
                  </a:solidFill>
                  <a:latin typeface="Calibri"/>
                  <a:cs typeface="Calibri"/>
                </a:rPr>
                <a:t>epoch?</a:t>
              </a:r>
              <a:r>
                <a:rPr sz="2000" i="1" spc="-17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i="1" dirty="0">
                  <a:solidFill>
                    <a:srgbClr val="C00000"/>
                  </a:solidFill>
                  <a:latin typeface="Calibri"/>
                  <a:cs typeface="Calibri"/>
                </a:rPr>
                <a:t>One</a:t>
              </a:r>
              <a:r>
                <a:rPr sz="2000" i="1" spc="-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i="1" spc="-6" dirty="0">
                  <a:solidFill>
                    <a:srgbClr val="C00000"/>
                  </a:solidFill>
                  <a:latin typeface="Calibri"/>
                  <a:cs typeface="Calibri"/>
                </a:rPr>
                <a:t>step?</a:t>
              </a:r>
              <a:endParaRPr sz="2000" dirty="0">
                <a:latin typeface="Calibri"/>
                <a:cs typeface="Calibri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1057" y="414147"/>
              <a:ext cx="1845952" cy="6191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7473" y="1380981"/>
              <a:ext cx="2764202" cy="5883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2779" y="910012"/>
              <a:ext cx="2871570" cy="9419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4172" y="2344579"/>
              <a:ext cx="3145595" cy="8812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5326" y="2355762"/>
              <a:ext cx="3429000" cy="724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60131"/>
            <a:ext cx="4038600" cy="37654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2400" b="1" spc="-203" dirty="0">
                <a:solidFill>
                  <a:srgbClr val="C00000"/>
                </a:solidFill>
                <a:latin typeface="Arial"/>
                <a:cs typeface="Arial"/>
              </a:rPr>
              <a:t>Batch</a:t>
            </a:r>
            <a:r>
              <a:rPr sz="2400" b="1" spc="-3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60" dirty="0">
                <a:solidFill>
                  <a:srgbClr val="C00000"/>
                </a:solidFill>
                <a:latin typeface="Arial"/>
                <a:cs typeface="Arial"/>
              </a:rPr>
              <a:t>Gradient</a:t>
            </a:r>
            <a:r>
              <a:rPr sz="2400" b="1" spc="-4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80" dirty="0">
                <a:solidFill>
                  <a:srgbClr val="C00000"/>
                </a:solidFill>
                <a:latin typeface="Arial"/>
                <a:cs typeface="Arial"/>
              </a:rPr>
              <a:t>Descent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493" y="1680772"/>
            <a:ext cx="4572000" cy="174266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18931" rIns="0" bIns="0" rtlCol="0">
            <a:spAutoFit/>
          </a:bodyPr>
          <a:lstStyle/>
          <a:p>
            <a:pPr marL="51435">
              <a:spcBef>
                <a:spcPts val="149"/>
              </a:spcBef>
            </a:pPr>
            <a:r>
              <a:rPr sz="1400" b="1" spc="-53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1400" b="1" spc="-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104" dirty="0">
                <a:solidFill>
                  <a:srgbClr val="C00000"/>
                </a:solidFill>
                <a:latin typeface="Arial"/>
                <a:cs typeface="Arial"/>
              </a:rPr>
              <a:t>Batch</a:t>
            </a:r>
            <a:r>
              <a:rPr sz="1400" b="1" spc="-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84" dirty="0">
                <a:solidFill>
                  <a:srgbClr val="C00000"/>
                </a:solidFill>
                <a:latin typeface="Arial"/>
                <a:cs typeface="Arial"/>
              </a:rPr>
              <a:t>Gradient</a:t>
            </a:r>
            <a:r>
              <a:rPr sz="1400" b="1" spc="-6" dirty="0">
                <a:solidFill>
                  <a:srgbClr val="C00000"/>
                </a:solidFill>
                <a:latin typeface="Arial"/>
                <a:cs typeface="Arial"/>
              </a:rPr>
              <a:t> Descent</a:t>
            </a:r>
            <a:r>
              <a:rPr sz="1400" spc="-6" dirty="0">
                <a:solidFill>
                  <a:srgbClr val="292929"/>
                </a:solidFill>
                <a:latin typeface="Calibri"/>
                <a:cs typeface="Calibri"/>
              </a:rPr>
              <a:t>,</a:t>
            </a:r>
            <a:endParaRPr sz="1400" dirty="0">
              <a:latin typeface="Calibri"/>
              <a:cs typeface="Calibri"/>
            </a:endParaRPr>
          </a:p>
          <a:p>
            <a:pPr marL="212884" indent="-161449">
              <a:spcBef>
                <a:spcPts val="25"/>
              </a:spcBef>
              <a:buFont typeface="Arial MT"/>
              <a:buChar char="•"/>
              <a:tabLst>
                <a:tab pos="212884" algn="l"/>
              </a:tabLst>
            </a:pPr>
            <a:r>
              <a:rPr sz="1400" spc="-34" dirty="0">
                <a:solidFill>
                  <a:srgbClr val="292929"/>
                </a:solidFill>
                <a:latin typeface="Tahoma"/>
                <a:cs typeface="Tahoma"/>
              </a:rPr>
              <a:t>All </a:t>
            </a:r>
            <a:r>
              <a:rPr sz="1400" spc="-62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6" dirty="0">
                <a:solidFill>
                  <a:srgbClr val="292929"/>
                </a:solidFill>
                <a:latin typeface="Tahoma"/>
                <a:cs typeface="Tahoma"/>
              </a:rPr>
              <a:t>training</a:t>
            </a:r>
            <a:r>
              <a:rPr sz="1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79" dirty="0">
                <a:solidFill>
                  <a:srgbClr val="292929"/>
                </a:solidFill>
                <a:latin typeface="Tahoma"/>
                <a:cs typeface="Tahoma"/>
              </a:rPr>
              <a:t>data</a:t>
            </a:r>
            <a:r>
              <a:rPr sz="1400" spc="-34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4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76" dirty="0">
                <a:solidFill>
                  <a:srgbClr val="292929"/>
                </a:solidFill>
                <a:latin typeface="Tahoma"/>
                <a:cs typeface="Tahoma"/>
              </a:rPr>
              <a:t>taken</a:t>
            </a:r>
            <a:r>
              <a:rPr sz="14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1" dirty="0">
                <a:solidFill>
                  <a:srgbClr val="292929"/>
                </a:solidFill>
                <a:latin typeface="Tahoma"/>
                <a:cs typeface="Tahoma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92929"/>
                </a:solidFill>
                <a:latin typeface="Tahoma"/>
                <a:cs typeface="Tahoma"/>
              </a:rPr>
              <a:t>consideration</a:t>
            </a:r>
            <a:r>
              <a:rPr sz="1400" spc="-23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6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400" spc="-23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11" dirty="0">
                <a:solidFill>
                  <a:srgbClr val="292929"/>
                </a:solidFill>
                <a:latin typeface="Tahoma"/>
                <a:cs typeface="Tahoma"/>
              </a:rPr>
              <a:t>take</a:t>
            </a:r>
            <a:endParaRPr sz="1400" dirty="0">
              <a:latin typeface="Tahoma"/>
              <a:cs typeface="Tahoma"/>
            </a:endParaRPr>
          </a:p>
          <a:p>
            <a:pPr marL="212884"/>
            <a:r>
              <a:rPr sz="1400" spc="-9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400" spc="-37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39" dirty="0">
                <a:solidFill>
                  <a:srgbClr val="292929"/>
                </a:solidFill>
                <a:latin typeface="Tahoma"/>
                <a:cs typeface="Tahoma"/>
              </a:rPr>
              <a:t>single</a:t>
            </a:r>
            <a:r>
              <a:rPr sz="1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11" dirty="0">
                <a:solidFill>
                  <a:srgbClr val="292929"/>
                </a:solidFill>
                <a:latin typeface="Tahoma"/>
                <a:cs typeface="Tahoma"/>
              </a:rPr>
              <a:t>step.</a:t>
            </a:r>
            <a:endParaRPr sz="1400" dirty="0">
              <a:latin typeface="Tahoma"/>
              <a:cs typeface="Tahoma"/>
            </a:endParaRPr>
          </a:p>
          <a:p>
            <a:pPr marL="212884" marR="63579" indent="-161449">
              <a:buFont typeface="Arial MT"/>
              <a:buChar char="•"/>
              <a:tabLst>
                <a:tab pos="212884" algn="l"/>
              </a:tabLst>
            </a:pPr>
            <a:r>
              <a:rPr sz="1400" spc="-104" dirty="0">
                <a:latin typeface="Tahoma"/>
                <a:cs typeface="Tahoma"/>
              </a:rPr>
              <a:t>We</a:t>
            </a:r>
            <a:r>
              <a:rPr sz="1400" spc="-28" dirty="0">
                <a:latin typeface="Tahoma"/>
                <a:cs typeface="Tahoma"/>
              </a:rPr>
              <a:t> </a:t>
            </a:r>
            <a:r>
              <a:rPr sz="1400" spc="-79" dirty="0">
                <a:latin typeface="Tahoma"/>
                <a:cs typeface="Tahoma"/>
              </a:rPr>
              <a:t>take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62" dirty="0">
                <a:latin typeface="Tahoma"/>
                <a:cs typeface="Tahoma"/>
              </a:rPr>
              <a:t>the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average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of</a:t>
            </a:r>
            <a:r>
              <a:rPr sz="1400" spc="-28" dirty="0">
                <a:latin typeface="Tahoma"/>
                <a:cs typeface="Tahoma"/>
              </a:rPr>
              <a:t> </a:t>
            </a:r>
            <a:r>
              <a:rPr sz="1400" spc="-62" dirty="0">
                <a:latin typeface="Tahoma"/>
                <a:cs typeface="Tahoma"/>
              </a:rPr>
              <a:t>the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56" dirty="0">
                <a:latin typeface="Tahoma"/>
                <a:cs typeface="Tahoma"/>
              </a:rPr>
              <a:t>gradients</a:t>
            </a:r>
            <a:r>
              <a:rPr sz="1400" spc="-17" dirty="0">
                <a:latin typeface="Tahoma"/>
                <a:cs typeface="Tahoma"/>
              </a:rPr>
              <a:t> </a:t>
            </a:r>
            <a:r>
              <a:rPr sz="1400" spc="-42" dirty="0">
                <a:latin typeface="Tahoma"/>
                <a:cs typeface="Tahoma"/>
              </a:rPr>
              <a:t>of</a:t>
            </a:r>
            <a:r>
              <a:rPr sz="1400" spc="-17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all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62" dirty="0">
                <a:latin typeface="Tahoma"/>
                <a:cs typeface="Tahoma"/>
              </a:rPr>
              <a:t>the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42" dirty="0">
                <a:latin typeface="Tahoma"/>
                <a:cs typeface="Tahoma"/>
              </a:rPr>
              <a:t>training </a:t>
            </a:r>
            <a:r>
              <a:rPr sz="1400" spc="-56" dirty="0">
                <a:latin typeface="Tahoma"/>
                <a:cs typeface="Tahoma"/>
              </a:rPr>
              <a:t>examples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and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64" dirty="0">
                <a:latin typeface="Tahoma"/>
                <a:cs typeface="Tahoma"/>
              </a:rPr>
              <a:t>then</a:t>
            </a:r>
            <a:r>
              <a:rPr sz="1400" spc="-17" dirty="0">
                <a:latin typeface="Tahoma"/>
                <a:cs typeface="Tahoma"/>
              </a:rPr>
              <a:t> </a:t>
            </a:r>
            <a:r>
              <a:rPr sz="1400" spc="-37" dirty="0">
                <a:latin typeface="Tahoma"/>
                <a:cs typeface="Tahoma"/>
              </a:rPr>
              <a:t>use</a:t>
            </a:r>
            <a:r>
              <a:rPr sz="1400" spc="-17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that</a:t>
            </a:r>
            <a:r>
              <a:rPr sz="1400" spc="-14" dirty="0">
                <a:latin typeface="Tahoma"/>
                <a:cs typeface="Tahoma"/>
              </a:rPr>
              <a:t> </a:t>
            </a:r>
            <a:r>
              <a:rPr sz="1400" spc="-73" dirty="0">
                <a:latin typeface="Tahoma"/>
                <a:cs typeface="Tahoma"/>
              </a:rPr>
              <a:t>mean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62" dirty="0">
                <a:latin typeface="Tahoma"/>
                <a:cs typeface="Tahoma"/>
              </a:rPr>
              <a:t>gradient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6" dirty="0">
                <a:latin typeface="Tahoma"/>
                <a:cs typeface="Tahoma"/>
              </a:rPr>
              <a:t>to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6" dirty="0">
                <a:latin typeface="Tahoma"/>
                <a:cs typeface="Tahoma"/>
              </a:rPr>
              <a:t>update </a:t>
            </a:r>
            <a:r>
              <a:rPr sz="1400" spc="-45" dirty="0">
                <a:latin typeface="Tahoma"/>
                <a:cs typeface="Tahoma"/>
              </a:rPr>
              <a:t>our</a:t>
            </a:r>
            <a:r>
              <a:rPr sz="1400" spc="-39" dirty="0">
                <a:latin typeface="Tahoma"/>
                <a:cs typeface="Tahoma"/>
              </a:rPr>
              <a:t> </a:t>
            </a:r>
            <a:r>
              <a:rPr sz="1400" spc="-11" dirty="0">
                <a:latin typeface="Tahoma"/>
                <a:cs typeface="Tahoma"/>
              </a:rPr>
              <a:t>parameters.</a:t>
            </a:r>
            <a:endParaRPr sz="1400" dirty="0">
              <a:latin typeface="Tahoma"/>
              <a:cs typeface="Tahoma"/>
            </a:endParaRPr>
          </a:p>
          <a:p>
            <a:pPr marL="212884" indent="-161449">
              <a:buFont typeface="Arial MT"/>
              <a:buChar char="•"/>
              <a:tabLst>
                <a:tab pos="212884" algn="l"/>
              </a:tabLst>
            </a:pPr>
            <a:r>
              <a:rPr sz="1400" spc="-17" dirty="0">
                <a:latin typeface="Tahoma"/>
                <a:cs typeface="Tahoma"/>
              </a:rPr>
              <a:t>So</a:t>
            </a:r>
            <a:r>
              <a:rPr sz="1400" spc="-28" dirty="0">
                <a:latin typeface="Tahoma"/>
                <a:cs typeface="Tahoma"/>
              </a:rPr>
              <a:t> </a:t>
            </a:r>
            <a:r>
              <a:rPr sz="1400" spc="-53" dirty="0">
                <a:latin typeface="Tahoma"/>
                <a:cs typeface="Tahoma"/>
              </a:rPr>
              <a:t>that’s</a:t>
            </a:r>
            <a:r>
              <a:rPr sz="1400" spc="-17" dirty="0">
                <a:latin typeface="Tahoma"/>
                <a:cs typeface="Tahoma"/>
              </a:rPr>
              <a:t> </a:t>
            </a:r>
            <a:r>
              <a:rPr sz="1400" spc="-51" dirty="0">
                <a:latin typeface="Tahoma"/>
                <a:cs typeface="Tahoma"/>
              </a:rPr>
              <a:t>just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59" dirty="0">
                <a:latin typeface="Tahoma"/>
                <a:cs typeface="Tahoma"/>
              </a:rPr>
              <a:t>one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48" dirty="0">
                <a:latin typeface="Tahoma"/>
                <a:cs typeface="Tahoma"/>
              </a:rPr>
              <a:t>step</a:t>
            </a:r>
            <a:r>
              <a:rPr sz="1400" spc="-28" dirty="0">
                <a:latin typeface="Tahoma"/>
                <a:cs typeface="Tahoma"/>
              </a:rPr>
              <a:t> </a:t>
            </a:r>
            <a:r>
              <a:rPr sz="1400" spc="-42" dirty="0">
                <a:latin typeface="Tahoma"/>
                <a:cs typeface="Tahoma"/>
              </a:rPr>
              <a:t>of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62" dirty="0">
                <a:latin typeface="Tahoma"/>
                <a:cs typeface="Tahoma"/>
              </a:rPr>
              <a:t>gradient</a:t>
            </a:r>
            <a:r>
              <a:rPr sz="1400" spc="-31" dirty="0">
                <a:latin typeface="Tahoma"/>
                <a:cs typeface="Tahoma"/>
              </a:rPr>
              <a:t> </a:t>
            </a:r>
            <a:r>
              <a:rPr sz="1400" spc="-48" dirty="0">
                <a:latin typeface="Tahoma"/>
                <a:cs typeface="Tahoma"/>
              </a:rPr>
              <a:t>descent</a:t>
            </a:r>
            <a:r>
              <a:rPr sz="1400" spc="-23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in</a:t>
            </a:r>
            <a:r>
              <a:rPr sz="1400" spc="-34" dirty="0">
                <a:latin typeface="Tahoma"/>
                <a:cs typeface="Tahoma"/>
              </a:rPr>
              <a:t> </a:t>
            </a:r>
            <a:r>
              <a:rPr sz="1400" spc="-14" dirty="0">
                <a:latin typeface="Tahoma"/>
                <a:cs typeface="Tahoma"/>
              </a:rPr>
              <a:t>one</a:t>
            </a:r>
            <a:endParaRPr sz="1400" dirty="0">
              <a:latin typeface="Tahoma"/>
              <a:cs typeface="Tahoma"/>
            </a:endParaRPr>
          </a:p>
          <a:p>
            <a:pPr marL="212884">
              <a:spcBef>
                <a:spcPts val="3"/>
              </a:spcBef>
            </a:pPr>
            <a:r>
              <a:rPr sz="1400" spc="-6" dirty="0">
                <a:latin typeface="Tahoma"/>
                <a:cs typeface="Tahoma"/>
              </a:rPr>
              <a:t>epoch.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00" y="790995"/>
            <a:ext cx="2438400" cy="25343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1600" b="1" spc="-101" dirty="0">
                <a:solidFill>
                  <a:srgbClr val="C00000"/>
                </a:solidFill>
                <a:latin typeface="Arial"/>
                <a:cs typeface="Arial"/>
              </a:rPr>
              <a:t>Batch</a:t>
            </a:r>
            <a:r>
              <a:rPr sz="1600" b="1" spc="-2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C00000"/>
                </a:solidFill>
                <a:latin typeface="Arial"/>
                <a:cs typeface="Arial"/>
              </a:rPr>
              <a:t>gradient</a:t>
            </a:r>
            <a:r>
              <a:rPr sz="1600" b="1" spc="-2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73" dirty="0">
                <a:solidFill>
                  <a:srgbClr val="C00000"/>
                </a:solidFill>
                <a:latin typeface="Arial"/>
                <a:cs typeface="Arial"/>
              </a:rPr>
              <a:t>descent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6600" y="4138106"/>
            <a:ext cx="7620000" cy="453610"/>
          </a:xfrm>
          <a:prstGeom prst="rect">
            <a:avLst/>
          </a:prstGeom>
          <a:ln w="38100">
            <a:solidFill>
              <a:srgbClr val="006FC0"/>
            </a:solidFill>
          </a:ln>
        </p:spPr>
        <p:txBody>
          <a:bodyPr vert="horz" wrap="square" lIns="0" tIns="22503" rIns="0" bIns="0" rtlCol="0">
            <a:spAutoFit/>
          </a:bodyPr>
          <a:lstStyle/>
          <a:p>
            <a:pPr marL="50721" marR="110014">
              <a:spcBef>
                <a:spcPts val="177"/>
              </a:spcBef>
            </a:pPr>
            <a:r>
              <a:rPr sz="1400" spc="-56" dirty="0">
                <a:solidFill>
                  <a:srgbClr val="292929"/>
                </a:solidFill>
                <a:latin typeface="Tahoma"/>
                <a:cs typeface="Tahoma"/>
              </a:rPr>
              <a:t>Batch</a:t>
            </a:r>
            <a:r>
              <a:rPr sz="1400" spc="-28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62" dirty="0">
                <a:solidFill>
                  <a:srgbClr val="292929"/>
                </a:solidFill>
                <a:latin typeface="Tahoma"/>
                <a:cs typeface="Tahoma"/>
              </a:rPr>
              <a:t>Gradient</a:t>
            </a:r>
            <a:r>
              <a:rPr sz="1400" spc="-28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48" dirty="0">
                <a:solidFill>
                  <a:srgbClr val="292929"/>
                </a:solidFill>
                <a:latin typeface="Tahoma"/>
                <a:cs typeface="Tahoma"/>
              </a:rPr>
              <a:t>Descent</a:t>
            </a:r>
            <a:r>
              <a:rPr sz="1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400" spc="-23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68" dirty="0">
                <a:solidFill>
                  <a:srgbClr val="292929"/>
                </a:solidFill>
                <a:latin typeface="Tahoma"/>
                <a:cs typeface="Tahoma"/>
              </a:rPr>
              <a:t>great</a:t>
            </a:r>
            <a:r>
              <a:rPr sz="1400" spc="-3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37" dirty="0">
                <a:solidFill>
                  <a:srgbClr val="292929"/>
                </a:solidFill>
                <a:latin typeface="Tahoma"/>
                <a:cs typeface="Tahoma"/>
              </a:rPr>
              <a:t>for</a:t>
            </a:r>
            <a:r>
              <a:rPr sz="1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1" dirty="0">
                <a:solidFill>
                  <a:srgbClr val="292929"/>
                </a:solidFill>
                <a:latin typeface="Tahoma"/>
                <a:cs typeface="Tahoma"/>
              </a:rPr>
              <a:t>convex</a:t>
            </a:r>
            <a:r>
              <a:rPr sz="1400" spc="-42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31" dirty="0">
                <a:solidFill>
                  <a:srgbClr val="292929"/>
                </a:solidFill>
                <a:latin typeface="Tahoma"/>
                <a:cs typeface="Tahoma"/>
              </a:rPr>
              <a:t>or</a:t>
            </a:r>
            <a:r>
              <a:rPr sz="14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3" dirty="0">
                <a:solidFill>
                  <a:srgbClr val="292929"/>
                </a:solidFill>
                <a:latin typeface="Tahoma"/>
                <a:cs typeface="Tahoma"/>
              </a:rPr>
              <a:t>relatively</a:t>
            </a:r>
            <a:r>
              <a:rPr sz="1400" spc="-3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48" dirty="0">
                <a:solidFill>
                  <a:srgbClr val="292929"/>
                </a:solidFill>
                <a:latin typeface="Tahoma"/>
                <a:cs typeface="Tahoma"/>
              </a:rPr>
              <a:t>smooth</a:t>
            </a:r>
            <a:r>
              <a:rPr sz="1400" spc="-1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42" dirty="0">
                <a:solidFill>
                  <a:srgbClr val="292929"/>
                </a:solidFill>
                <a:latin typeface="Tahoma"/>
                <a:cs typeface="Tahoma"/>
              </a:rPr>
              <a:t>error</a:t>
            </a:r>
            <a:r>
              <a:rPr sz="1400" spc="-3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48" dirty="0">
                <a:solidFill>
                  <a:srgbClr val="292929"/>
                </a:solidFill>
                <a:latin typeface="Tahoma"/>
                <a:cs typeface="Tahoma"/>
              </a:rPr>
              <a:t>manifolds.</a:t>
            </a:r>
            <a:r>
              <a:rPr sz="1400" spc="-8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98" dirty="0">
                <a:solidFill>
                  <a:srgbClr val="292929"/>
                </a:solidFill>
                <a:latin typeface="Tahoma"/>
                <a:cs typeface="Tahoma"/>
              </a:rPr>
              <a:t>In</a:t>
            </a:r>
            <a:r>
              <a:rPr sz="1400" spc="-3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34" dirty="0">
                <a:solidFill>
                  <a:srgbClr val="292929"/>
                </a:solidFill>
                <a:latin typeface="Tahoma"/>
                <a:cs typeface="Tahoma"/>
              </a:rPr>
              <a:t>this</a:t>
            </a:r>
            <a:r>
              <a:rPr sz="1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3" dirty="0">
                <a:solidFill>
                  <a:srgbClr val="292929"/>
                </a:solidFill>
                <a:latin typeface="Tahoma"/>
                <a:cs typeface="Tahoma"/>
              </a:rPr>
              <a:t>case,</a:t>
            </a:r>
            <a:r>
              <a:rPr sz="14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76" dirty="0">
                <a:solidFill>
                  <a:srgbClr val="292929"/>
                </a:solidFill>
                <a:latin typeface="Tahoma"/>
                <a:cs typeface="Tahoma"/>
              </a:rPr>
              <a:t>we</a:t>
            </a:r>
            <a:r>
              <a:rPr sz="1400" spc="-28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11" dirty="0">
                <a:solidFill>
                  <a:srgbClr val="292929"/>
                </a:solidFill>
                <a:latin typeface="Tahoma"/>
                <a:cs typeface="Tahoma"/>
              </a:rPr>
              <a:t>move </a:t>
            </a:r>
            <a:r>
              <a:rPr sz="1400" spc="-64" dirty="0">
                <a:solidFill>
                  <a:srgbClr val="292929"/>
                </a:solidFill>
                <a:latin typeface="Tahoma"/>
                <a:cs typeface="Tahoma"/>
              </a:rPr>
              <a:t>somewhat</a:t>
            </a:r>
            <a:r>
              <a:rPr sz="1400" spc="-3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48" dirty="0">
                <a:solidFill>
                  <a:srgbClr val="292929"/>
                </a:solidFill>
                <a:latin typeface="Tahoma"/>
                <a:cs typeface="Tahoma"/>
              </a:rPr>
              <a:t>directly</a:t>
            </a:r>
            <a:r>
              <a:rPr sz="1400" spc="-1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59" dirty="0">
                <a:solidFill>
                  <a:srgbClr val="292929"/>
                </a:solidFill>
                <a:latin typeface="Tahoma"/>
                <a:cs typeface="Tahoma"/>
              </a:rPr>
              <a:t>towards</a:t>
            </a:r>
            <a:r>
              <a:rPr sz="1400" spc="-11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76" dirty="0">
                <a:solidFill>
                  <a:srgbClr val="292929"/>
                </a:solidFill>
                <a:latin typeface="Tahoma"/>
                <a:cs typeface="Tahoma"/>
              </a:rPr>
              <a:t>an</a:t>
            </a:r>
            <a:r>
              <a:rPr sz="1400" spc="-6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400" spc="-62" dirty="0">
                <a:solidFill>
                  <a:srgbClr val="292929"/>
                </a:solidFill>
                <a:latin typeface="Tahoma"/>
                <a:cs typeface="Tahoma"/>
              </a:rPr>
              <a:t>optimum</a:t>
            </a:r>
            <a:r>
              <a:rPr sz="1400" spc="-6" dirty="0">
                <a:solidFill>
                  <a:srgbClr val="292929"/>
                </a:solidFill>
                <a:latin typeface="Tahoma"/>
                <a:cs typeface="Tahoma"/>
              </a:rPr>
              <a:t> solution.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0" y="5256822"/>
            <a:ext cx="7391400" cy="438101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 marR="2858">
              <a:spcBef>
                <a:spcPts val="56"/>
              </a:spcBef>
            </a:pPr>
            <a:r>
              <a:rPr sz="1400" b="1" spc="-113" dirty="0">
                <a:solidFill>
                  <a:srgbClr val="C00000"/>
                </a:solidFill>
                <a:latin typeface="Arial"/>
                <a:cs typeface="Arial"/>
              </a:rPr>
              <a:t>But</a:t>
            </a:r>
            <a:r>
              <a:rPr sz="1400" b="1" spc="-1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87" dirty="0">
                <a:solidFill>
                  <a:srgbClr val="C00000"/>
                </a:solidFill>
                <a:latin typeface="Arial"/>
                <a:cs typeface="Arial"/>
              </a:rPr>
              <a:t>what</a:t>
            </a:r>
            <a:r>
              <a:rPr sz="1400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2" dirty="0">
                <a:solidFill>
                  <a:srgbClr val="C00000"/>
                </a:solidFill>
                <a:latin typeface="Arial"/>
                <a:cs typeface="Arial"/>
              </a:rPr>
              <a:t>if</a:t>
            </a:r>
            <a:r>
              <a:rPr sz="1400" b="1" spc="-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98" dirty="0">
                <a:solidFill>
                  <a:srgbClr val="C00000"/>
                </a:solidFill>
                <a:latin typeface="Arial"/>
                <a:cs typeface="Arial"/>
              </a:rPr>
              <a:t>our</a:t>
            </a:r>
            <a:r>
              <a:rPr sz="1400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3" dirty="0">
                <a:solidFill>
                  <a:srgbClr val="C00000"/>
                </a:solidFill>
                <a:latin typeface="Arial"/>
                <a:cs typeface="Arial"/>
              </a:rPr>
              <a:t>dataset</a:t>
            </a:r>
            <a:r>
              <a:rPr sz="14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68" dirty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84" dirty="0">
                <a:solidFill>
                  <a:srgbClr val="C00000"/>
                </a:solidFill>
                <a:latin typeface="Arial"/>
                <a:cs typeface="Arial"/>
              </a:rPr>
              <a:t>very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C00000"/>
                </a:solidFill>
                <a:latin typeface="Arial"/>
                <a:cs typeface="Arial"/>
              </a:rPr>
              <a:t>huge.</a:t>
            </a:r>
            <a:r>
              <a:rPr sz="1400" b="1" spc="-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104" dirty="0">
                <a:solidFill>
                  <a:srgbClr val="C00000"/>
                </a:solidFill>
                <a:latin typeface="Arial"/>
                <a:cs typeface="Arial"/>
              </a:rPr>
              <a:t>Suppose</a:t>
            </a:r>
            <a:r>
              <a:rPr sz="1400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98" dirty="0">
                <a:solidFill>
                  <a:srgbClr val="C00000"/>
                </a:solidFill>
                <a:latin typeface="Arial"/>
                <a:cs typeface="Arial"/>
              </a:rPr>
              <a:t>our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3" dirty="0">
                <a:solidFill>
                  <a:srgbClr val="C00000"/>
                </a:solidFill>
                <a:latin typeface="Arial"/>
                <a:cs typeface="Arial"/>
              </a:rPr>
              <a:t>dataset</a:t>
            </a:r>
            <a:r>
              <a:rPr sz="14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101" dirty="0">
                <a:solidFill>
                  <a:srgbClr val="C00000"/>
                </a:solidFill>
                <a:latin typeface="Arial"/>
                <a:cs typeface="Arial"/>
              </a:rPr>
              <a:t>has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6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3" dirty="0">
                <a:solidFill>
                  <a:srgbClr val="C00000"/>
                </a:solidFill>
                <a:latin typeface="Arial"/>
                <a:cs typeface="Arial"/>
              </a:rPr>
              <a:t>million</a:t>
            </a:r>
            <a:r>
              <a:rPr sz="1400" b="1" spc="-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9" dirty="0">
                <a:solidFill>
                  <a:srgbClr val="C00000"/>
                </a:solidFill>
                <a:latin typeface="Arial"/>
                <a:cs typeface="Arial"/>
              </a:rPr>
              <a:t>examples,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9" dirty="0">
                <a:solidFill>
                  <a:srgbClr val="C00000"/>
                </a:solidFill>
                <a:latin typeface="Arial"/>
                <a:cs typeface="Arial"/>
              </a:rPr>
              <a:t>then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3" dirty="0">
                <a:solidFill>
                  <a:srgbClr val="C00000"/>
                </a:solidFill>
                <a:latin typeface="Arial"/>
                <a:cs typeface="Arial"/>
              </a:rPr>
              <a:t>just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82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6" dirty="0">
                <a:solidFill>
                  <a:srgbClr val="C00000"/>
                </a:solidFill>
                <a:latin typeface="Arial"/>
                <a:cs typeface="Arial"/>
              </a:rPr>
              <a:t>take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C00000"/>
                </a:solidFill>
                <a:latin typeface="Arial"/>
                <a:cs typeface="Arial"/>
              </a:rPr>
              <a:t>one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11" dirty="0">
                <a:solidFill>
                  <a:srgbClr val="C00000"/>
                </a:solidFill>
                <a:latin typeface="Arial"/>
                <a:cs typeface="Arial"/>
              </a:rPr>
              <a:t>step </a:t>
            </a:r>
            <a:r>
              <a:rPr sz="1400" b="1" spc="-7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4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96" dirty="0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r>
              <a:rPr sz="1400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1" dirty="0">
                <a:solidFill>
                  <a:srgbClr val="C00000"/>
                </a:solidFill>
                <a:latin typeface="Arial"/>
                <a:cs typeface="Arial"/>
              </a:rPr>
              <a:t>will</a:t>
            </a:r>
            <a:r>
              <a:rPr sz="1400" b="1" spc="-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93" dirty="0">
                <a:solidFill>
                  <a:srgbClr val="C00000"/>
                </a:solidFill>
                <a:latin typeface="Arial"/>
                <a:cs typeface="Arial"/>
              </a:rPr>
              <a:t>have</a:t>
            </a:r>
            <a:r>
              <a:rPr sz="1400" b="1" spc="-1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82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C00000"/>
                </a:solidFill>
                <a:latin typeface="Arial"/>
                <a:cs typeface="Arial"/>
              </a:rPr>
              <a:t>calculate</a:t>
            </a:r>
            <a:r>
              <a:rPr sz="14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400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3" dirty="0">
                <a:solidFill>
                  <a:srgbClr val="C00000"/>
                </a:solidFill>
                <a:latin typeface="Arial"/>
                <a:cs typeface="Arial"/>
              </a:rPr>
              <a:t>gradients</a:t>
            </a:r>
            <a:r>
              <a:rPr sz="1400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93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39" dirty="0">
                <a:solidFill>
                  <a:srgbClr val="C00000"/>
                </a:solidFill>
                <a:latin typeface="Arial"/>
                <a:cs typeface="Arial"/>
              </a:rPr>
              <a:t>all</a:t>
            </a:r>
            <a:r>
              <a:rPr sz="1400" b="1" spc="-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6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sz="1400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73" dirty="0">
                <a:solidFill>
                  <a:srgbClr val="C00000"/>
                </a:solidFill>
                <a:latin typeface="Arial"/>
                <a:cs typeface="Arial"/>
              </a:rPr>
              <a:t>million</a:t>
            </a:r>
            <a:r>
              <a:rPr sz="1400" b="1" spc="-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C00000"/>
                </a:solidFill>
                <a:latin typeface="Arial"/>
                <a:cs typeface="Arial"/>
              </a:rPr>
              <a:t>examples.??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7737" y="1269444"/>
            <a:ext cx="3756565" cy="215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10368" y="1163077"/>
            <a:ext cx="4572000" cy="267862"/>
          </a:xfrm>
          <a:prstGeom prst="rect">
            <a:avLst/>
          </a:prstGeom>
          <a:solidFill>
            <a:srgbClr val="FFF1CC"/>
          </a:solidFill>
          <a:ln w="31750">
            <a:solidFill>
              <a:srgbClr val="BE9000"/>
            </a:solidFill>
          </a:ln>
        </p:spPr>
        <p:txBody>
          <a:bodyPr vert="horz" wrap="square" lIns="0" tIns="21431" rIns="0" bIns="0" rtlCol="0" anchor="ctr">
            <a:spAutoFit/>
          </a:bodyPr>
          <a:lstStyle/>
          <a:p>
            <a:pPr marL="51792">
              <a:lnSpc>
                <a:spcPct val="100000"/>
              </a:lnSpc>
              <a:spcBef>
                <a:spcPts val="169"/>
              </a:spcBef>
            </a:pPr>
            <a:r>
              <a:rPr sz="1600" spc="-56" dirty="0"/>
              <a:t>1</a:t>
            </a:r>
            <a:r>
              <a:rPr sz="1600" spc="-31" dirty="0"/>
              <a:t> </a:t>
            </a:r>
            <a:r>
              <a:rPr sz="1600" spc="-82" dirty="0"/>
              <a:t>step</a:t>
            </a:r>
            <a:r>
              <a:rPr sz="1600" spc="-23" dirty="0"/>
              <a:t> </a:t>
            </a:r>
            <a:r>
              <a:rPr sz="1600" spc="-64" dirty="0"/>
              <a:t>in</a:t>
            </a:r>
            <a:r>
              <a:rPr sz="1600" spc="-23" dirty="0"/>
              <a:t> </a:t>
            </a:r>
            <a:r>
              <a:rPr sz="1600" spc="-56" dirty="0"/>
              <a:t>1</a:t>
            </a:r>
            <a:r>
              <a:rPr sz="1600" spc="-23" dirty="0"/>
              <a:t> </a:t>
            </a:r>
            <a:r>
              <a:rPr sz="1600" spc="-6" dirty="0"/>
              <a:t>epoch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312" y="190645"/>
            <a:ext cx="11209376" cy="438101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800" spc="-169" dirty="0"/>
              <a:t>Stochastic</a:t>
            </a:r>
            <a:r>
              <a:rPr sz="2800" spc="-31" dirty="0"/>
              <a:t> </a:t>
            </a:r>
            <a:r>
              <a:rPr sz="2800" spc="-160" dirty="0"/>
              <a:t>Gradient</a:t>
            </a:r>
            <a:r>
              <a:rPr sz="2800" spc="-45" dirty="0"/>
              <a:t> </a:t>
            </a:r>
            <a:r>
              <a:rPr sz="2800" spc="-177" dirty="0"/>
              <a:t>Descent</a:t>
            </a:r>
            <a:endParaRPr sz="2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2D620F-47A6-AD71-4475-13EA79608A39}"/>
              </a:ext>
            </a:extLst>
          </p:cNvPr>
          <p:cNvGrpSpPr/>
          <p:nvPr/>
        </p:nvGrpSpPr>
        <p:grpSpPr>
          <a:xfrm>
            <a:off x="1371600" y="685800"/>
            <a:ext cx="10329088" cy="5015620"/>
            <a:chOff x="2813611" y="13580"/>
            <a:chExt cx="6845160" cy="3565537"/>
          </a:xfrm>
        </p:grpSpPr>
        <p:sp>
          <p:nvSpPr>
            <p:cNvPr id="7" name="object 7"/>
            <p:cNvSpPr txBox="1"/>
            <p:nvPr/>
          </p:nvSpPr>
          <p:spPr>
            <a:xfrm>
              <a:off x="6429971" y="2421564"/>
              <a:ext cx="130485" cy="227171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7144">
                <a:lnSpc>
                  <a:spcPts val="1018"/>
                </a:lnSpc>
              </a:pPr>
              <a:r>
                <a:rPr sz="1013" spc="-11" dirty="0">
                  <a:latin typeface="Calibri"/>
                  <a:cs typeface="Calibri"/>
                </a:rPr>
                <a:t>cost</a:t>
              </a:r>
              <a:endParaRPr sz="1013" dirty="0">
                <a:latin typeface="Calibri"/>
                <a:cs typeface="Calibri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684199" y="3416027"/>
              <a:ext cx="335756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spc="-6" dirty="0">
                  <a:latin typeface="Calibri"/>
                  <a:cs typeface="Calibri"/>
                </a:rPr>
                <a:t>epoch</a:t>
              </a:r>
              <a:endParaRPr sz="1013" dirty="0">
                <a:latin typeface="Calibri"/>
                <a:cs typeface="Calibri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A7227DD-8F6A-9970-4B53-9B8DDD9ECAC3}"/>
                </a:ext>
              </a:extLst>
            </p:cNvPr>
            <p:cNvGrpSpPr/>
            <p:nvPr/>
          </p:nvGrpSpPr>
          <p:grpSpPr>
            <a:xfrm>
              <a:off x="2813611" y="13580"/>
              <a:ext cx="6845160" cy="3304156"/>
              <a:chOff x="2798160" y="111871"/>
              <a:chExt cx="6845160" cy="3304156"/>
            </a:xfrm>
          </p:grpSpPr>
          <p:sp>
            <p:nvSpPr>
              <p:cNvPr id="3" name="object 3"/>
              <p:cNvSpPr txBox="1"/>
              <p:nvPr/>
            </p:nvSpPr>
            <p:spPr>
              <a:xfrm>
                <a:off x="2812057" y="350060"/>
                <a:ext cx="6831263" cy="789141"/>
              </a:xfrm>
              <a:prstGeom prst="rect">
                <a:avLst/>
              </a:prstGeom>
            </p:spPr>
            <p:txBody>
              <a:bodyPr vert="horz" wrap="square" lIns="0" tIns="7144" rIns="0" bIns="0" rtlCol="0">
                <a:spAutoFit/>
              </a:bodyPr>
              <a:lstStyle/>
              <a:p>
                <a:pPr marL="7144" algn="just">
                  <a:spcBef>
                    <a:spcPts val="56"/>
                  </a:spcBef>
                </a:pPr>
                <a:r>
                  <a:rPr sz="1400" b="1" i="1" spc="-53" dirty="0">
                    <a:solidFill>
                      <a:srgbClr val="C00000"/>
                    </a:solidFill>
                    <a:latin typeface="Arial"/>
                    <a:cs typeface="Arial"/>
                  </a:rPr>
                  <a:t>In</a:t>
                </a:r>
                <a:r>
                  <a:rPr sz="1400" b="1" i="1" spc="-1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101" dirty="0">
                    <a:solidFill>
                      <a:srgbClr val="C00000"/>
                    </a:solidFill>
                    <a:latin typeface="Arial"/>
                    <a:cs typeface="Arial"/>
                  </a:rPr>
                  <a:t>Batch</a:t>
                </a:r>
                <a:r>
                  <a:rPr sz="1400" b="1" i="1" spc="-1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4" dirty="0">
                    <a:solidFill>
                      <a:srgbClr val="C00000"/>
                    </a:solidFill>
                    <a:latin typeface="Arial"/>
                    <a:cs typeface="Arial"/>
                  </a:rPr>
                  <a:t>Gradient</a:t>
                </a:r>
                <a:r>
                  <a:rPr sz="1400" b="1" i="1" spc="-1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0" dirty="0">
                    <a:solidFill>
                      <a:srgbClr val="C00000"/>
                    </a:solidFill>
                    <a:latin typeface="Arial"/>
                    <a:cs typeface="Arial"/>
                  </a:rPr>
                  <a:t>Descent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4" dirty="0">
                    <a:solidFill>
                      <a:srgbClr val="C00000"/>
                    </a:solidFill>
                    <a:latin typeface="Arial"/>
                    <a:cs typeface="Arial"/>
                  </a:rPr>
                  <a:t>we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6" dirty="0">
                    <a:solidFill>
                      <a:srgbClr val="C00000"/>
                    </a:solidFill>
                    <a:latin typeface="Arial"/>
                    <a:cs typeface="Arial"/>
                  </a:rPr>
                  <a:t>were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7" dirty="0">
                    <a:solidFill>
                      <a:srgbClr val="C00000"/>
                    </a:solidFill>
                    <a:latin typeface="Arial"/>
                    <a:cs typeface="Arial"/>
                  </a:rPr>
                  <a:t>considering</a:t>
                </a:r>
                <a:r>
                  <a:rPr sz="1400" b="1" i="1" spc="-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45" dirty="0">
                    <a:solidFill>
                      <a:srgbClr val="C00000"/>
                    </a:solidFill>
                    <a:latin typeface="Arial"/>
                    <a:cs typeface="Arial"/>
                  </a:rPr>
                  <a:t>all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0" dirty="0">
                    <a:solidFill>
                      <a:srgbClr val="C00000"/>
                    </a:solidFill>
                    <a:latin typeface="Arial"/>
                    <a:cs typeface="Arial"/>
                  </a:rPr>
                  <a:t>the</a:t>
                </a:r>
                <a:r>
                  <a:rPr sz="1400" b="1" i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7" dirty="0">
                    <a:solidFill>
                      <a:srgbClr val="C00000"/>
                    </a:solidFill>
                    <a:latin typeface="Arial"/>
                    <a:cs typeface="Arial"/>
                  </a:rPr>
                  <a:t>examples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2" dirty="0">
                    <a:solidFill>
                      <a:srgbClr val="C00000"/>
                    </a:solidFill>
                    <a:latin typeface="Arial"/>
                    <a:cs typeface="Arial"/>
                  </a:rPr>
                  <a:t>for</a:t>
                </a:r>
                <a:r>
                  <a:rPr sz="1400" b="1" i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9" dirty="0">
                    <a:solidFill>
                      <a:srgbClr val="C00000"/>
                    </a:solidFill>
                    <a:latin typeface="Arial"/>
                    <a:cs typeface="Arial"/>
                  </a:rPr>
                  <a:t>every</a:t>
                </a:r>
                <a:r>
                  <a:rPr sz="1400" b="1" i="1" spc="-1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2" dirty="0">
                    <a:solidFill>
                      <a:srgbClr val="C00000"/>
                    </a:solidFill>
                    <a:latin typeface="Arial"/>
                    <a:cs typeface="Arial"/>
                  </a:rPr>
                  <a:t>step</a:t>
                </a:r>
                <a:r>
                  <a:rPr sz="1400" b="1" i="1" spc="-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of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4" dirty="0">
                    <a:solidFill>
                      <a:srgbClr val="C00000"/>
                    </a:solidFill>
                    <a:latin typeface="Arial"/>
                    <a:cs typeface="Arial"/>
                  </a:rPr>
                  <a:t>Gradient</a:t>
                </a:r>
                <a:r>
                  <a:rPr sz="1400" b="1" i="1" spc="-1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3" dirty="0">
                    <a:solidFill>
                      <a:srgbClr val="C00000"/>
                    </a:solidFill>
                    <a:latin typeface="Arial"/>
                    <a:cs typeface="Arial"/>
                  </a:rPr>
                  <a:t>Descent.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107" dirty="0">
                    <a:solidFill>
                      <a:srgbClr val="C00000"/>
                    </a:solidFill>
                    <a:latin typeface="Arial"/>
                    <a:cs typeface="Arial"/>
                  </a:rPr>
                  <a:t>But</a:t>
                </a:r>
                <a:r>
                  <a:rPr sz="1400" b="1" i="1" spc="-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0" dirty="0">
                    <a:solidFill>
                      <a:srgbClr val="C00000"/>
                    </a:solidFill>
                    <a:latin typeface="Arial"/>
                    <a:cs typeface="Arial"/>
                  </a:rPr>
                  <a:t>what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37" dirty="0">
                    <a:solidFill>
                      <a:srgbClr val="C00000"/>
                    </a:solidFill>
                    <a:latin typeface="Arial"/>
                    <a:cs typeface="Arial"/>
                  </a:rPr>
                  <a:t>if</a:t>
                </a:r>
                <a:r>
                  <a:rPr sz="1400" b="1" i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our</a:t>
                </a:r>
                <a:r>
                  <a:rPr lang="en-US"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6" dirty="0">
                    <a:solidFill>
                      <a:srgbClr val="C00000"/>
                    </a:solidFill>
                    <a:latin typeface="Arial"/>
                    <a:cs typeface="Arial"/>
                  </a:rPr>
                  <a:t>dataset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68" dirty="0">
                    <a:solidFill>
                      <a:srgbClr val="C00000"/>
                    </a:solidFill>
                    <a:latin typeface="Arial"/>
                    <a:cs typeface="Arial"/>
                  </a:rPr>
                  <a:t>is</a:t>
                </a:r>
                <a:r>
                  <a:rPr sz="1400" b="1" i="1" spc="-25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4" dirty="0">
                    <a:solidFill>
                      <a:srgbClr val="C00000"/>
                    </a:solidFill>
                    <a:latin typeface="Arial"/>
                    <a:cs typeface="Arial"/>
                  </a:rPr>
                  <a:t>very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68" dirty="0">
                    <a:solidFill>
                      <a:srgbClr val="C00000"/>
                    </a:solidFill>
                    <a:latin typeface="Arial"/>
                    <a:cs typeface="Arial"/>
                  </a:rPr>
                  <a:t>huge.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4" dirty="0">
                    <a:solidFill>
                      <a:srgbClr val="C00000"/>
                    </a:solidFill>
                    <a:latin typeface="Arial"/>
                    <a:cs typeface="Arial"/>
                  </a:rPr>
                  <a:t>Deep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0" dirty="0">
                    <a:solidFill>
                      <a:srgbClr val="C00000"/>
                    </a:solidFill>
                    <a:latin typeface="Arial"/>
                    <a:cs typeface="Arial"/>
                  </a:rPr>
                  <a:t>learning</a:t>
                </a:r>
                <a:r>
                  <a:rPr sz="1400" b="1" i="1" spc="-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models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7" dirty="0">
                    <a:solidFill>
                      <a:srgbClr val="C00000"/>
                    </a:solidFill>
                    <a:latin typeface="Arial"/>
                    <a:cs typeface="Arial"/>
                  </a:rPr>
                  <a:t>crave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2" dirty="0">
                    <a:solidFill>
                      <a:srgbClr val="C00000"/>
                    </a:solidFill>
                    <a:latin typeface="Arial"/>
                    <a:cs typeface="Arial"/>
                  </a:rPr>
                  <a:t>for</a:t>
                </a:r>
                <a:r>
                  <a:rPr sz="1400" b="1" i="1" spc="-1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51" dirty="0">
                    <a:solidFill>
                      <a:srgbClr val="C00000"/>
                    </a:solidFill>
                    <a:latin typeface="Arial"/>
                    <a:cs typeface="Arial"/>
                  </a:rPr>
                  <a:t>data.</a:t>
                </a:r>
                <a:r>
                  <a:rPr sz="1400" b="1" i="1" spc="-20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101" dirty="0">
                    <a:solidFill>
                      <a:srgbClr val="C00000"/>
                    </a:solidFill>
                    <a:latin typeface="Arial"/>
                    <a:cs typeface="Arial"/>
                  </a:rPr>
                  <a:t>The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more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0" dirty="0">
                    <a:solidFill>
                      <a:srgbClr val="C00000"/>
                    </a:solidFill>
                    <a:latin typeface="Arial"/>
                    <a:cs typeface="Arial"/>
                  </a:rPr>
                  <a:t>the</a:t>
                </a:r>
                <a:r>
                  <a:rPr sz="1400" b="1" i="1" spc="-25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6" dirty="0">
                    <a:solidFill>
                      <a:srgbClr val="C00000"/>
                    </a:solidFill>
                    <a:latin typeface="Arial"/>
                    <a:cs typeface="Arial"/>
                  </a:rPr>
                  <a:t>data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0" dirty="0">
                    <a:solidFill>
                      <a:srgbClr val="C00000"/>
                    </a:solidFill>
                    <a:latin typeface="Arial"/>
                    <a:cs typeface="Arial"/>
                  </a:rPr>
                  <a:t>the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more</a:t>
                </a:r>
                <a:r>
                  <a:rPr sz="1400" b="1" i="1" spc="-25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chances</a:t>
                </a:r>
                <a:r>
                  <a:rPr sz="1400" b="1" i="1" spc="-25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of</a:t>
                </a:r>
                <a:r>
                  <a:rPr sz="1400" b="1" i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73" dirty="0">
                    <a:solidFill>
                      <a:srgbClr val="C00000"/>
                    </a:solidFill>
                    <a:latin typeface="Arial"/>
                    <a:cs typeface="Arial"/>
                  </a:rPr>
                  <a:t>a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96" dirty="0">
                    <a:solidFill>
                      <a:srgbClr val="C00000"/>
                    </a:solidFill>
                    <a:latin typeface="Arial"/>
                    <a:cs typeface="Arial"/>
                  </a:rPr>
                  <a:t>model</a:t>
                </a:r>
                <a:r>
                  <a:rPr sz="1400" b="1" i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2" dirty="0">
                    <a:solidFill>
                      <a:srgbClr val="C00000"/>
                    </a:solidFill>
                    <a:latin typeface="Arial"/>
                    <a:cs typeface="Arial"/>
                  </a:rPr>
                  <a:t>to</a:t>
                </a:r>
                <a:r>
                  <a:rPr sz="1400" b="1" i="1" spc="-20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82" dirty="0">
                    <a:solidFill>
                      <a:srgbClr val="C00000"/>
                    </a:solidFill>
                    <a:latin typeface="Arial"/>
                    <a:cs typeface="Arial"/>
                  </a:rPr>
                  <a:t>be</a:t>
                </a:r>
                <a:r>
                  <a:rPr sz="1400" b="1" i="1" spc="-20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400" b="1" i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good</a:t>
                </a:r>
                <a:endParaRPr lang="en-US" sz="1400" b="1" spc="-17" dirty="0">
                  <a:latin typeface="Arial"/>
                  <a:cs typeface="Arial"/>
                </a:endParaRPr>
              </a:p>
              <a:p>
                <a:pPr marL="7144" algn="just">
                  <a:spcBef>
                    <a:spcPts val="56"/>
                  </a:spcBef>
                </a:pPr>
                <a:endParaRPr lang="en-IN" sz="1400" b="1" i="1" spc="-17" dirty="0">
                  <a:solidFill>
                    <a:srgbClr val="C00000"/>
                  </a:solidFill>
                  <a:latin typeface="Arial"/>
                  <a:cs typeface="Arial"/>
                </a:endParaRPr>
              </a:p>
              <a:p>
                <a:pPr marL="7144" algn="just">
                  <a:spcBef>
                    <a:spcPts val="56"/>
                  </a:spcBef>
                </a:pP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Suppose</a:t>
                </a:r>
                <a:r>
                  <a:rPr sz="1400" i="1" spc="-11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our</a:t>
                </a:r>
                <a:r>
                  <a:rPr sz="1400" i="1" spc="-23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dataset</a:t>
                </a:r>
                <a:r>
                  <a:rPr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has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5</a:t>
                </a:r>
                <a:r>
                  <a:rPr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million</a:t>
                </a:r>
                <a:r>
                  <a:rPr sz="1400" i="1" spc="-11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spc="-6" dirty="0">
                    <a:solidFill>
                      <a:srgbClr val="C00000"/>
                    </a:solidFill>
                    <a:latin typeface="Calibri"/>
                    <a:cs typeface="Calibri"/>
                  </a:rPr>
                  <a:t>examples,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then</a:t>
                </a:r>
                <a:r>
                  <a:rPr sz="1400" i="1" spc="-20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just</a:t>
                </a:r>
                <a:r>
                  <a:rPr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to</a:t>
                </a:r>
                <a:r>
                  <a:rPr sz="1400" i="1" spc="-20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spc="-6" dirty="0">
                    <a:solidFill>
                      <a:srgbClr val="C00000"/>
                    </a:solidFill>
                    <a:latin typeface="Calibri"/>
                    <a:cs typeface="Calibri"/>
                  </a:rPr>
                  <a:t>take</a:t>
                </a:r>
                <a:r>
                  <a:rPr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one</a:t>
                </a:r>
                <a:r>
                  <a:rPr sz="1400" i="1" spc="-11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step</a:t>
                </a:r>
                <a:r>
                  <a:rPr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the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model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will</a:t>
                </a:r>
                <a:r>
                  <a:rPr sz="1400" i="1" spc="-8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have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1400" i="1" spc="-14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calculate</a:t>
                </a:r>
                <a:r>
                  <a:rPr sz="1400" i="1" spc="3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the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gradients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of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all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the</a:t>
                </a:r>
                <a:r>
                  <a:rPr sz="1400" i="1" spc="-11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5</a:t>
                </a:r>
                <a:r>
                  <a:rPr sz="1400" i="1" spc="-17" dirty="0">
                    <a:solidFill>
                      <a:srgbClr val="C00000"/>
                    </a:solidFill>
                    <a:latin typeface="Calibri"/>
                    <a:cs typeface="Calibri"/>
                  </a:rPr>
                  <a:t> </a:t>
                </a:r>
                <a:r>
                  <a:rPr sz="1400" i="1" dirty="0">
                    <a:solidFill>
                      <a:srgbClr val="C00000"/>
                    </a:solidFill>
                    <a:latin typeface="Calibri"/>
                    <a:cs typeface="Calibri"/>
                  </a:rPr>
                  <a:t>million</a:t>
                </a:r>
                <a:r>
                  <a:rPr sz="1400" i="1" spc="-6" dirty="0">
                    <a:solidFill>
                      <a:srgbClr val="C00000"/>
                    </a:solidFill>
                    <a:latin typeface="Calibri"/>
                    <a:cs typeface="Calibri"/>
                  </a:rPr>
                  <a:t> examples</a:t>
                </a:r>
                <a:endParaRPr sz="1400" dirty="0">
                  <a:latin typeface="Calibri"/>
                  <a:cs typeface="Calibri"/>
                </a:endParaRPr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3128944" y="1263443"/>
                <a:ext cx="5526762" cy="147173"/>
              </a:xfrm>
              <a:prstGeom prst="rect">
                <a:avLst/>
              </a:prstGeom>
              <a:solidFill>
                <a:srgbClr val="FFF1CC"/>
              </a:solidFill>
            </p:spPr>
            <p:txBody>
              <a:bodyPr vert="horz" wrap="square" lIns="0" tIns="22146" rIns="0" bIns="0" rtlCol="0">
                <a:spAutoFit/>
              </a:bodyPr>
              <a:lstStyle/>
              <a:p>
                <a:pPr marL="51435">
                  <a:spcBef>
                    <a:spcPts val="174"/>
                  </a:spcBef>
                </a:pPr>
                <a:r>
                  <a:rPr sz="1200" b="1" spc="-53" dirty="0">
                    <a:solidFill>
                      <a:srgbClr val="292929"/>
                    </a:solidFill>
                    <a:latin typeface="Arial"/>
                    <a:cs typeface="Arial"/>
                  </a:rPr>
                  <a:t>In</a:t>
                </a:r>
                <a:r>
                  <a:rPr sz="1200" b="1" spc="-17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4" dirty="0">
                    <a:solidFill>
                      <a:srgbClr val="292929"/>
                    </a:solidFill>
                    <a:latin typeface="Arial"/>
                    <a:cs typeface="Arial"/>
                  </a:rPr>
                  <a:t>Stochastic</a:t>
                </a:r>
                <a:r>
                  <a:rPr sz="1200" b="1" spc="-20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4" dirty="0">
                    <a:solidFill>
                      <a:srgbClr val="292929"/>
                    </a:solidFill>
                    <a:latin typeface="Arial"/>
                    <a:cs typeface="Arial"/>
                  </a:rPr>
                  <a:t>Gradient</a:t>
                </a:r>
                <a:r>
                  <a:rPr sz="1200" b="1" spc="-6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90" dirty="0">
                    <a:solidFill>
                      <a:srgbClr val="292929"/>
                    </a:solidFill>
                    <a:latin typeface="Arial"/>
                    <a:cs typeface="Arial"/>
                  </a:rPr>
                  <a:t>Descent</a:t>
                </a:r>
                <a:r>
                  <a:rPr sz="1200" b="1" spc="-20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4" dirty="0">
                    <a:solidFill>
                      <a:srgbClr val="292929"/>
                    </a:solidFill>
                    <a:latin typeface="Arial"/>
                    <a:cs typeface="Arial"/>
                  </a:rPr>
                  <a:t>(SGD),</a:t>
                </a:r>
                <a:r>
                  <a:rPr sz="1200" b="1" spc="-8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93" dirty="0">
                    <a:solidFill>
                      <a:srgbClr val="292929"/>
                    </a:solidFill>
                    <a:latin typeface="Arial"/>
                    <a:cs typeface="Arial"/>
                  </a:rPr>
                  <a:t>we</a:t>
                </a:r>
                <a:r>
                  <a:rPr sz="1200" b="1" spc="-20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7" dirty="0">
                    <a:solidFill>
                      <a:srgbClr val="292929"/>
                    </a:solidFill>
                    <a:latin typeface="Arial"/>
                    <a:cs typeface="Arial"/>
                  </a:rPr>
                  <a:t>consider</a:t>
                </a:r>
                <a:r>
                  <a:rPr sz="1200" b="1" spc="-17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3" dirty="0">
                    <a:solidFill>
                      <a:srgbClr val="292929"/>
                    </a:solidFill>
                    <a:latin typeface="Arial"/>
                    <a:cs typeface="Arial"/>
                  </a:rPr>
                  <a:t>just</a:t>
                </a:r>
                <a:r>
                  <a:rPr sz="1200" b="1" spc="-14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90" dirty="0">
                    <a:solidFill>
                      <a:srgbClr val="292929"/>
                    </a:solidFill>
                    <a:latin typeface="Arial"/>
                    <a:cs typeface="Arial"/>
                  </a:rPr>
                  <a:t>one</a:t>
                </a:r>
                <a:r>
                  <a:rPr sz="1200" b="1" spc="-11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4" dirty="0">
                    <a:solidFill>
                      <a:srgbClr val="292929"/>
                    </a:solidFill>
                    <a:latin typeface="Arial"/>
                    <a:cs typeface="Arial"/>
                  </a:rPr>
                  <a:t>example</a:t>
                </a:r>
                <a:r>
                  <a:rPr sz="1200" b="1" spc="-23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4" dirty="0">
                    <a:solidFill>
                      <a:srgbClr val="292929"/>
                    </a:solidFill>
                    <a:latin typeface="Arial"/>
                    <a:cs typeface="Arial"/>
                  </a:rPr>
                  <a:t>at</a:t>
                </a:r>
                <a:r>
                  <a:rPr sz="1200" b="1" spc="-17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3" dirty="0">
                    <a:solidFill>
                      <a:srgbClr val="292929"/>
                    </a:solidFill>
                    <a:latin typeface="Arial"/>
                    <a:cs typeface="Arial"/>
                  </a:rPr>
                  <a:t>a</a:t>
                </a:r>
                <a:r>
                  <a:rPr sz="1200" b="1" spc="-14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3" dirty="0">
                    <a:solidFill>
                      <a:srgbClr val="292929"/>
                    </a:solidFill>
                    <a:latin typeface="Arial"/>
                    <a:cs typeface="Arial"/>
                  </a:rPr>
                  <a:t>time</a:t>
                </a:r>
                <a:r>
                  <a:rPr sz="1200" b="1" spc="-17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2" dirty="0">
                    <a:solidFill>
                      <a:srgbClr val="292929"/>
                    </a:solidFill>
                    <a:latin typeface="Arial"/>
                    <a:cs typeface="Arial"/>
                  </a:rPr>
                  <a:t>to</a:t>
                </a:r>
                <a:r>
                  <a:rPr sz="1200" b="1" spc="-25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6" dirty="0">
                    <a:solidFill>
                      <a:srgbClr val="292929"/>
                    </a:solidFill>
                    <a:latin typeface="Arial"/>
                    <a:cs typeface="Arial"/>
                  </a:rPr>
                  <a:t>take</a:t>
                </a:r>
                <a:r>
                  <a:rPr sz="1200" b="1" spc="-20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3" dirty="0">
                    <a:solidFill>
                      <a:srgbClr val="292929"/>
                    </a:solidFill>
                    <a:latin typeface="Arial"/>
                    <a:cs typeface="Arial"/>
                  </a:rPr>
                  <a:t>a</a:t>
                </a:r>
                <a:r>
                  <a:rPr sz="1200" b="1" spc="-14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3" dirty="0">
                    <a:solidFill>
                      <a:srgbClr val="292929"/>
                    </a:solidFill>
                    <a:latin typeface="Arial"/>
                    <a:cs typeface="Arial"/>
                  </a:rPr>
                  <a:t>single</a:t>
                </a:r>
                <a:r>
                  <a:rPr sz="1200" b="1" spc="-17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" dirty="0">
                    <a:solidFill>
                      <a:srgbClr val="292929"/>
                    </a:solidFill>
                    <a:latin typeface="Arial"/>
                    <a:cs typeface="Arial"/>
                  </a:rPr>
                  <a:t>step.</a:t>
                </a:r>
                <a:endParaRPr sz="1200" dirty="0">
                  <a:latin typeface="Arial"/>
                  <a:cs typeface="Arial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2798160" y="1552480"/>
                <a:ext cx="3589377" cy="1613607"/>
              </a:xfrm>
              <a:prstGeom prst="rect">
                <a:avLst/>
              </a:prstGeom>
              <a:solidFill>
                <a:srgbClr val="DEEBF7"/>
              </a:solidFill>
            </p:spPr>
            <p:txBody>
              <a:bodyPr vert="horz" wrap="square" lIns="0" tIns="22860" rIns="0" bIns="0" rtlCol="0">
                <a:spAutoFit/>
              </a:bodyPr>
              <a:lstStyle/>
              <a:p>
                <a:pPr marL="51435" algn="just">
                  <a:spcBef>
                    <a:spcPts val="180"/>
                  </a:spcBef>
                </a:pPr>
                <a:r>
                  <a:rPr sz="2000" b="1" spc="-45" dirty="0">
                    <a:solidFill>
                      <a:srgbClr val="C00000"/>
                    </a:solidFill>
                    <a:latin typeface="Arial"/>
                    <a:cs typeface="Arial"/>
                  </a:rPr>
                  <a:t>Observations</a:t>
                </a:r>
                <a:endParaRPr sz="1400" dirty="0">
                  <a:latin typeface="Arial"/>
                  <a:cs typeface="Arial"/>
                </a:endParaRPr>
              </a:p>
              <a:p>
                <a:pPr marL="212527" marR="247531" indent="-161449" algn="just">
                  <a:spcBef>
                    <a:spcPts val="3"/>
                  </a:spcBef>
                  <a:buFont typeface="Arial MT"/>
                  <a:buChar char="•"/>
                  <a:tabLst>
                    <a:tab pos="212527" algn="l"/>
                  </a:tabLst>
                </a:pP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Since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76" dirty="0">
                    <a:solidFill>
                      <a:srgbClr val="292929"/>
                    </a:solidFill>
                    <a:latin typeface="Tahoma"/>
                    <a:cs typeface="Tahoma"/>
                  </a:rPr>
                  <a:t>we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8" dirty="0">
                    <a:solidFill>
                      <a:srgbClr val="292929"/>
                    </a:solidFill>
                    <a:latin typeface="Tahoma"/>
                    <a:cs typeface="Tahoma"/>
                  </a:rPr>
                  <a:t>are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9" dirty="0">
                    <a:solidFill>
                      <a:srgbClr val="292929"/>
                    </a:solidFill>
                    <a:latin typeface="Tahoma"/>
                    <a:cs typeface="Tahoma"/>
                  </a:rPr>
                  <a:t>considering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just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one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example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79" dirty="0">
                    <a:solidFill>
                      <a:srgbClr val="292929"/>
                    </a:solidFill>
                    <a:latin typeface="Tahoma"/>
                    <a:cs typeface="Tahoma"/>
                  </a:rPr>
                  <a:t>at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90" dirty="0">
                    <a:solidFill>
                      <a:srgbClr val="292929"/>
                    </a:solidFill>
                    <a:latin typeface="Tahoma"/>
                    <a:cs typeface="Tahoma"/>
                  </a:rPr>
                  <a:t>a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time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cost 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will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fluctuate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over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training</a:t>
                </a:r>
                <a:r>
                  <a:rPr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examples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70" dirty="0">
                    <a:solidFill>
                      <a:srgbClr val="292929"/>
                    </a:solidFill>
                    <a:latin typeface="Tahoma"/>
                    <a:cs typeface="Tahoma"/>
                  </a:rPr>
                  <a:t>and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it</a:t>
                </a:r>
                <a:r>
                  <a:rPr lang="en-US"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will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b="1" spc="-96" dirty="0">
                    <a:solidFill>
                      <a:srgbClr val="292929"/>
                    </a:solidFill>
                    <a:latin typeface="Arial"/>
                    <a:cs typeface="Arial"/>
                  </a:rPr>
                  <a:t>not</a:t>
                </a:r>
                <a:r>
                  <a:rPr sz="1400" b="1" spc="-14" dirty="0">
                    <a:solidFill>
                      <a:srgbClr val="292929"/>
                    </a:solidFill>
                    <a:latin typeface="Arial"/>
                    <a:cs typeface="Arial"/>
                  </a:rPr>
                  <a:t> </a:t>
                </a:r>
                <a:r>
                  <a:rPr sz="1400" spc="-39" dirty="0">
                    <a:solidFill>
                      <a:srgbClr val="292929"/>
                    </a:solidFill>
                    <a:latin typeface="Tahoma"/>
                    <a:cs typeface="Tahoma"/>
                  </a:rPr>
                  <a:t>necessarily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decrease.</a:t>
                </a:r>
                <a:endParaRPr sz="1400" dirty="0">
                  <a:latin typeface="Tahoma"/>
                  <a:cs typeface="Tahoma"/>
                </a:endParaRPr>
              </a:p>
              <a:p>
                <a:pPr marL="212527" indent="-161092" algn="just">
                  <a:buFont typeface="Arial MT"/>
                  <a:buChar char="•"/>
                  <a:tabLst>
                    <a:tab pos="212527" algn="l"/>
                  </a:tabLst>
                </a:pP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But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2" dirty="0">
                    <a:solidFill>
                      <a:srgbClr val="292929"/>
                    </a:solidFill>
                    <a:latin typeface="Tahoma"/>
                    <a:cs typeface="Tahoma"/>
                  </a:rPr>
                  <a:t>in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long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run,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you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will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see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cost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decreasing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with</a:t>
                </a:r>
                <a:r>
                  <a:rPr lang="en-US"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fluctuations.</a:t>
                </a:r>
                <a:endParaRPr sz="1400" dirty="0">
                  <a:latin typeface="Tahoma"/>
                  <a:cs typeface="Tahoma"/>
                </a:endParaRPr>
              </a:p>
              <a:p>
                <a:pPr marL="212527" marR="65722" indent="-161449" algn="just">
                  <a:buFont typeface="Arial MT"/>
                  <a:buChar char="•"/>
                  <a:tabLst>
                    <a:tab pos="212527" algn="l"/>
                  </a:tabLst>
                </a:pP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Because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cost </a:t>
                </a:r>
                <a:r>
                  <a:rPr sz="1400" dirty="0">
                    <a:solidFill>
                      <a:srgbClr val="292929"/>
                    </a:solidFill>
                    <a:latin typeface="Tahoma"/>
                    <a:cs typeface="Tahoma"/>
                  </a:rPr>
                  <a:t>is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so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fluctuating,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it</a:t>
                </a:r>
                <a:r>
                  <a:rPr sz="1400" spc="-39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will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never</a:t>
                </a:r>
                <a:r>
                  <a:rPr sz="1400" spc="-39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3" dirty="0">
                    <a:solidFill>
                      <a:srgbClr val="292929"/>
                    </a:solidFill>
                    <a:latin typeface="Tahoma"/>
                    <a:cs typeface="Tahoma"/>
                  </a:rPr>
                  <a:t>reach</a:t>
                </a: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minima </a:t>
                </a:r>
                <a:r>
                  <a:rPr sz="14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but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it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will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8" dirty="0">
                    <a:solidFill>
                      <a:srgbClr val="292929"/>
                    </a:solidFill>
                    <a:latin typeface="Tahoma"/>
                    <a:cs typeface="Tahoma"/>
                  </a:rPr>
                  <a:t>keep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3" dirty="0">
                    <a:solidFill>
                      <a:srgbClr val="292929"/>
                    </a:solidFill>
                    <a:latin typeface="Tahoma"/>
                    <a:cs typeface="Tahoma"/>
                  </a:rPr>
                  <a:t>dancing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around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it.</a:t>
                </a:r>
                <a:endParaRPr sz="1400" dirty="0">
                  <a:latin typeface="Tahoma"/>
                  <a:cs typeface="Tahoma"/>
                </a:endParaRPr>
              </a:p>
              <a:p>
                <a:pPr marL="212527" marR="75367" indent="-161449" algn="just">
                  <a:buFont typeface="Arial MT"/>
                  <a:buChar char="•"/>
                  <a:tabLst>
                    <a:tab pos="212527" algn="l"/>
                  </a:tabLst>
                </a:pP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SGD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can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be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used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for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3" dirty="0">
                    <a:solidFill>
                      <a:srgbClr val="292929"/>
                    </a:solidFill>
                    <a:latin typeface="Tahoma"/>
                    <a:cs typeface="Tahoma"/>
                  </a:rPr>
                  <a:t>larger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datasets.</a:t>
                </a:r>
                <a:r>
                  <a:rPr sz="1400" spc="-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01" dirty="0">
                    <a:solidFill>
                      <a:srgbClr val="292929"/>
                    </a:solidFill>
                    <a:latin typeface="Tahoma"/>
                    <a:cs typeface="Tahoma"/>
                  </a:rPr>
                  <a:t>It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converges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faster</a:t>
                </a:r>
                <a:r>
                  <a:rPr sz="1400" spc="-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when </a:t>
                </a:r>
                <a:r>
                  <a:rPr sz="14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dataset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dirty="0">
                    <a:solidFill>
                      <a:srgbClr val="292929"/>
                    </a:solidFill>
                    <a:latin typeface="Tahoma"/>
                    <a:cs typeface="Tahoma"/>
                  </a:rPr>
                  <a:t>is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large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as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it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2" dirty="0">
                    <a:solidFill>
                      <a:srgbClr val="292929"/>
                    </a:solidFill>
                    <a:latin typeface="Tahoma"/>
                    <a:cs typeface="Tahoma"/>
                  </a:rPr>
                  <a:t>causes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updates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to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parameters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more 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frequently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pic>
            <p:nvPicPr>
              <p:cNvPr id="6" name="object 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602890" y="1509503"/>
                <a:ext cx="2428589" cy="1906524"/>
              </a:xfrm>
              <a:prstGeom prst="rect">
                <a:avLst/>
              </a:prstGeom>
            </p:spPr>
          </p:pic>
          <p:sp>
            <p:nvSpPr>
              <p:cNvPr id="9" name="object 9"/>
              <p:cNvSpPr txBox="1"/>
              <p:nvPr/>
            </p:nvSpPr>
            <p:spPr>
              <a:xfrm>
                <a:off x="7393447" y="111871"/>
                <a:ext cx="1714500" cy="146660"/>
              </a:xfrm>
              <a:prstGeom prst="rect">
                <a:avLst/>
              </a:prstGeom>
              <a:solidFill>
                <a:srgbClr val="FFF1CC"/>
              </a:solidFill>
              <a:ln w="31750">
                <a:solidFill>
                  <a:srgbClr val="BE9000"/>
                </a:solidFill>
              </a:ln>
            </p:spPr>
            <p:txBody>
              <a:bodyPr vert="horz" wrap="square" lIns="0" tIns="21431" rIns="0" bIns="0" rtlCol="0">
                <a:spAutoFit/>
              </a:bodyPr>
              <a:lstStyle/>
              <a:p>
                <a:pPr marL="51792">
                  <a:spcBef>
                    <a:spcPts val="169"/>
                  </a:spcBef>
                </a:pPr>
                <a:r>
                  <a:rPr sz="1200" b="1" spc="-110" dirty="0">
                    <a:solidFill>
                      <a:srgbClr val="C00000"/>
                    </a:solidFill>
                    <a:latin typeface="Arial"/>
                    <a:cs typeface="Arial"/>
                  </a:rPr>
                  <a:t>N</a:t>
                </a:r>
                <a:r>
                  <a:rPr sz="1200" b="1" spc="-3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7" dirty="0">
                    <a:solidFill>
                      <a:srgbClr val="C00000"/>
                    </a:solidFill>
                    <a:latin typeface="Arial"/>
                    <a:cs typeface="Arial"/>
                  </a:rPr>
                  <a:t>steps</a:t>
                </a:r>
                <a:r>
                  <a:rPr sz="1200" b="1" spc="-2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4" dirty="0">
                    <a:solidFill>
                      <a:srgbClr val="C00000"/>
                    </a:solidFill>
                    <a:latin typeface="Arial"/>
                    <a:cs typeface="Arial"/>
                  </a:rPr>
                  <a:t>in</a:t>
                </a:r>
                <a:r>
                  <a:rPr sz="1200" b="1" spc="-20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56" dirty="0">
                    <a:solidFill>
                      <a:srgbClr val="C00000"/>
                    </a:solidFill>
                    <a:latin typeface="Arial"/>
                    <a:cs typeface="Arial"/>
                  </a:rPr>
                  <a:t>1</a:t>
                </a:r>
                <a:r>
                  <a:rPr sz="1200" b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epoch</a:t>
                </a:r>
                <a:endParaRPr sz="1200">
                  <a:latin typeface="Arial"/>
                  <a:cs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61611"/>
            <a:ext cx="4229101" cy="438101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800" spc="-107" dirty="0"/>
              <a:t>Mini</a:t>
            </a:r>
            <a:r>
              <a:rPr sz="2800" spc="-48" dirty="0"/>
              <a:t> </a:t>
            </a:r>
            <a:r>
              <a:rPr sz="2800" spc="-203" dirty="0"/>
              <a:t>Batch</a:t>
            </a:r>
            <a:r>
              <a:rPr sz="2800" spc="-45" dirty="0"/>
              <a:t> </a:t>
            </a:r>
            <a:r>
              <a:rPr sz="2800" spc="-160" dirty="0"/>
              <a:t>Gradient</a:t>
            </a:r>
            <a:r>
              <a:rPr sz="2800" spc="-45" dirty="0"/>
              <a:t> </a:t>
            </a:r>
            <a:r>
              <a:rPr sz="2800" spc="-177" dirty="0"/>
              <a:t>Descent</a:t>
            </a:r>
            <a:endParaRPr sz="2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375812-0E77-BE83-5A9F-3815F6D69A47}"/>
              </a:ext>
            </a:extLst>
          </p:cNvPr>
          <p:cNvGrpSpPr/>
          <p:nvPr/>
        </p:nvGrpSpPr>
        <p:grpSpPr>
          <a:xfrm>
            <a:off x="754024" y="1066799"/>
            <a:ext cx="10820400" cy="4594146"/>
            <a:chOff x="2727756" y="152399"/>
            <a:chExt cx="6736485" cy="3119478"/>
          </a:xfrm>
        </p:grpSpPr>
        <p:sp>
          <p:nvSpPr>
            <p:cNvPr id="5" name="object 5"/>
            <p:cNvSpPr txBox="1"/>
            <p:nvPr/>
          </p:nvSpPr>
          <p:spPr>
            <a:xfrm>
              <a:off x="2824698" y="1168080"/>
              <a:ext cx="6542603" cy="346130"/>
            </a:xfrm>
            <a:prstGeom prst="rect">
              <a:avLst/>
            </a:prstGeom>
            <a:ln w="34925">
              <a:solidFill>
                <a:srgbClr val="006FC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51078" marR="71438">
                <a:spcBef>
                  <a:spcPts val="135"/>
                </a:spcBef>
              </a:pP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But,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since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SGD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we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use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only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one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example</a:t>
              </a:r>
              <a:r>
                <a:rPr sz="16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at</a:t>
              </a:r>
              <a:r>
                <a:rPr sz="16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time,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we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cannot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implement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vectorized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implementation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on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it.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This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can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slow</a:t>
              </a:r>
              <a:r>
                <a:rPr sz="16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down</a:t>
              </a:r>
              <a:r>
                <a:rPr sz="16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computations.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42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tackle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this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problem,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mixture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of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Batch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Gradient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Descent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and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SGD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is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used-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C00000"/>
                  </a:solidFill>
                  <a:latin typeface="Calibri"/>
                  <a:cs typeface="Calibri"/>
                </a:rPr>
                <a:t>Mini</a:t>
              </a:r>
              <a:r>
                <a:rPr sz="1600" b="1" spc="-3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C00000"/>
                  </a:solidFill>
                  <a:latin typeface="Calibri"/>
                  <a:cs typeface="Calibri"/>
                </a:rPr>
                <a:t>Batch</a:t>
              </a:r>
              <a:r>
                <a:rPr sz="1600" b="1" spc="-20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600" b="1" spc="-14" dirty="0">
                  <a:solidFill>
                    <a:srgbClr val="C00000"/>
                  </a:solidFill>
                  <a:latin typeface="Calibri"/>
                  <a:cs typeface="Calibri"/>
                </a:rPr>
                <a:t>GD.</a:t>
              </a:r>
              <a:endParaRPr sz="1600">
                <a:latin typeface="Calibri"/>
                <a:cs typeface="Calibri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2FDF82B-07B3-AA0A-F610-8B53BCB101FE}"/>
                </a:ext>
              </a:extLst>
            </p:cNvPr>
            <p:cNvGrpSpPr/>
            <p:nvPr/>
          </p:nvGrpSpPr>
          <p:grpSpPr>
            <a:xfrm>
              <a:off x="2727756" y="152399"/>
              <a:ext cx="6736485" cy="3119478"/>
              <a:chOff x="2727865" y="111870"/>
              <a:chExt cx="6736485" cy="3119478"/>
            </a:xfrm>
          </p:grpSpPr>
          <p:sp>
            <p:nvSpPr>
              <p:cNvPr id="3" name="object 3"/>
              <p:cNvSpPr txBox="1"/>
              <p:nvPr/>
            </p:nvSpPr>
            <p:spPr>
              <a:xfrm>
                <a:off x="2727865" y="600932"/>
                <a:ext cx="3257550" cy="308006"/>
              </a:xfrm>
              <a:prstGeom prst="rect">
                <a:avLst/>
              </a:prstGeom>
              <a:solidFill>
                <a:srgbClr val="FFF1CC"/>
              </a:solidFill>
            </p:spPr>
            <p:txBody>
              <a:bodyPr vert="horz" wrap="square" lIns="0" tIns="22503" rIns="0" bIns="0" rtlCol="0">
                <a:spAutoFit/>
              </a:bodyPr>
              <a:lstStyle/>
              <a:p>
                <a:pPr marL="51435">
                  <a:spcBef>
                    <a:spcPts val="177"/>
                  </a:spcBef>
                </a:pP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Gradient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Descent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can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be</a:t>
                </a:r>
                <a:r>
                  <a:rPr sz="14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used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for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smoother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 curves.</a:t>
                </a:r>
                <a:endParaRPr sz="1400" dirty="0">
                  <a:latin typeface="Tahoma"/>
                  <a:cs typeface="Tahoma"/>
                </a:endParaRPr>
              </a:p>
              <a:p>
                <a:pPr marL="51435"/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SGD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can</a:t>
                </a:r>
                <a:r>
                  <a:rPr sz="1400" spc="-39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be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used</a:t>
                </a:r>
                <a:r>
                  <a:rPr sz="14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70" dirty="0">
                    <a:solidFill>
                      <a:srgbClr val="292929"/>
                    </a:solidFill>
                    <a:latin typeface="Tahoma"/>
                    <a:cs typeface="Tahoma"/>
                  </a:rPr>
                  <a:t>when</a:t>
                </a:r>
                <a:r>
                  <a:rPr sz="14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8" dirty="0">
                    <a:solidFill>
                      <a:srgbClr val="292929"/>
                    </a:solidFill>
                    <a:latin typeface="Tahoma"/>
                    <a:cs typeface="Tahoma"/>
                  </a:rPr>
                  <a:t>dataset</a:t>
                </a:r>
                <a:r>
                  <a:rPr sz="14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dirty="0">
                    <a:solidFill>
                      <a:srgbClr val="292929"/>
                    </a:solidFill>
                    <a:latin typeface="Tahoma"/>
                    <a:cs typeface="Tahoma"/>
                  </a:rPr>
                  <a:t>is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large.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6029992" y="600932"/>
                <a:ext cx="3434358" cy="308006"/>
              </a:xfrm>
              <a:prstGeom prst="rect">
                <a:avLst/>
              </a:prstGeom>
              <a:solidFill>
                <a:srgbClr val="DEEBF7"/>
              </a:solidFill>
            </p:spPr>
            <p:txBody>
              <a:bodyPr vert="horz" wrap="square" lIns="0" tIns="22503" rIns="0" bIns="0" rtlCol="0">
                <a:spAutoFit/>
              </a:bodyPr>
              <a:lstStyle/>
              <a:p>
                <a:pPr marL="51078">
                  <a:spcBef>
                    <a:spcPts val="177"/>
                  </a:spcBef>
                </a:pPr>
                <a:r>
                  <a:rPr sz="14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Gradient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Descent</a:t>
                </a:r>
                <a:r>
                  <a:rPr sz="1400" spc="-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converges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directly</a:t>
                </a:r>
                <a:r>
                  <a:rPr sz="14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to</a:t>
                </a:r>
                <a:r>
                  <a:rPr sz="14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minima.</a:t>
                </a:r>
                <a:r>
                  <a:rPr sz="1400" spc="-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SGD</a:t>
                </a:r>
                <a:r>
                  <a:rPr lang="en-US" sz="14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converges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faster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for</a:t>
                </a:r>
                <a:r>
                  <a:rPr sz="14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53" dirty="0">
                    <a:solidFill>
                      <a:srgbClr val="292929"/>
                    </a:solidFill>
                    <a:latin typeface="Tahoma"/>
                    <a:cs typeface="Tahoma"/>
                  </a:rPr>
                  <a:t>larger</a:t>
                </a:r>
                <a:r>
                  <a:rPr sz="14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4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datasets.</a:t>
                </a:r>
                <a:endParaRPr sz="1400" dirty="0">
                  <a:latin typeface="Tahoma"/>
                  <a:cs typeface="Tahoma"/>
                </a:endParaRPr>
              </a:p>
            </p:txBody>
          </p:sp>
          <p:sp>
            <p:nvSpPr>
              <p:cNvPr id="6" name="object 6"/>
              <p:cNvSpPr txBox="1"/>
              <p:nvPr/>
            </p:nvSpPr>
            <p:spPr>
              <a:xfrm>
                <a:off x="2772441" y="1691354"/>
                <a:ext cx="3660712" cy="1185494"/>
              </a:xfrm>
              <a:prstGeom prst="rect">
                <a:avLst/>
              </a:prstGeom>
              <a:solidFill>
                <a:srgbClr val="E7E6E6"/>
              </a:solidFill>
            </p:spPr>
            <p:txBody>
              <a:bodyPr vert="horz" wrap="square" lIns="0" tIns="22146" rIns="0" bIns="0" rtlCol="0">
                <a:spAutoFit/>
              </a:bodyPr>
              <a:lstStyle/>
              <a:p>
                <a:pPr marL="51078">
                  <a:spcBef>
                    <a:spcPts val="174"/>
                  </a:spcBef>
                </a:pPr>
                <a:r>
                  <a:rPr sz="1600" b="1" spc="-56" dirty="0">
                    <a:solidFill>
                      <a:srgbClr val="C00000"/>
                    </a:solidFill>
                    <a:latin typeface="Arial"/>
                    <a:cs typeface="Arial"/>
                  </a:rPr>
                  <a:t>Mini</a:t>
                </a:r>
                <a:r>
                  <a:rPr sz="1600" b="1" spc="-2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600" b="1" spc="-96" dirty="0">
                    <a:solidFill>
                      <a:srgbClr val="C00000"/>
                    </a:solidFill>
                    <a:latin typeface="Arial"/>
                    <a:cs typeface="Arial"/>
                  </a:rPr>
                  <a:t>Batch</a:t>
                </a:r>
                <a:r>
                  <a:rPr sz="1600" b="1" spc="-20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600" b="1" spc="-70" dirty="0">
                    <a:solidFill>
                      <a:srgbClr val="C00000"/>
                    </a:solidFill>
                    <a:latin typeface="Arial"/>
                    <a:cs typeface="Arial"/>
                  </a:rPr>
                  <a:t>gradient</a:t>
                </a:r>
                <a:r>
                  <a:rPr sz="1600" b="1" spc="-3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600" b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Descent</a:t>
                </a:r>
                <a:endParaRPr sz="1600" dirty="0">
                  <a:latin typeface="Arial"/>
                  <a:cs typeface="Arial"/>
                </a:endParaRPr>
              </a:p>
              <a:p>
                <a:pPr marL="51078" marR="90368"/>
                <a:r>
                  <a:rPr sz="1600" spc="-104" dirty="0">
                    <a:solidFill>
                      <a:srgbClr val="292929"/>
                    </a:solidFill>
                    <a:latin typeface="Tahoma"/>
                    <a:cs typeface="Tahoma"/>
                  </a:rPr>
                  <a:t>We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use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90" dirty="0">
                    <a:solidFill>
                      <a:srgbClr val="292929"/>
                    </a:solidFill>
                    <a:latin typeface="Tahoma"/>
                    <a:cs typeface="Tahoma"/>
                  </a:rPr>
                  <a:t>a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2" dirty="0">
                    <a:solidFill>
                      <a:srgbClr val="292929"/>
                    </a:solidFill>
                    <a:latin typeface="Tahoma"/>
                    <a:cs typeface="Tahoma"/>
                  </a:rPr>
                  <a:t>of</a:t>
                </a:r>
                <a:r>
                  <a:rPr sz="16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90" dirty="0">
                    <a:solidFill>
                      <a:srgbClr val="292929"/>
                    </a:solidFill>
                    <a:latin typeface="Tahoma"/>
                    <a:cs typeface="Tahoma"/>
                  </a:rPr>
                  <a:t>a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fixed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number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2" dirty="0">
                    <a:solidFill>
                      <a:srgbClr val="292929"/>
                    </a:solidFill>
                    <a:latin typeface="Tahoma"/>
                    <a:cs typeface="Tahoma"/>
                  </a:rPr>
                  <a:t>of</a:t>
                </a:r>
                <a:r>
                  <a:rPr sz="16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training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examples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which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is </a:t>
                </a:r>
                <a:r>
                  <a:rPr sz="16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less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70" dirty="0">
                    <a:solidFill>
                      <a:srgbClr val="292929"/>
                    </a:solidFill>
                    <a:latin typeface="Tahoma"/>
                    <a:cs typeface="Tahoma"/>
                  </a:rPr>
                  <a:t>than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actual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dataset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70" dirty="0">
                    <a:solidFill>
                      <a:srgbClr val="292929"/>
                    </a:solidFill>
                    <a:latin typeface="Tahoma"/>
                    <a:cs typeface="Tahoma"/>
                  </a:rPr>
                  <a:t>and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call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it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90" dirty="0">
                    <a:solidFill>
                      <a:srgbClr val="292929"/>
                    </a:solidFill>
                    <a:latin typeface="Tahoma"/>
                    <a:cs typeface="Tahoma"/>
                  </a:rPr>
                  <a:t>a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mini-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batch.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Doing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this </a:t>
                </a:r>
                <a:r>
                  <a:rPr sz="1600" spc="-42" dirty="0">
                    <a:solidFill>
                      <a:srgbClr val="292929"/>
                    </a:solidFill>
                    <a:latin typeface="Tahoma"/>
                    <a:cs typeface="Tahoma"/>
                  </a:rPr>
                  <a:t>helps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us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achieve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4" dirty="0">
                    <a:solidFill>
                      <a:srgbClr val="292929"/>
                    </a:solidFill>
                    <a:latin typeface="Tahoma"/>
                    <a:cs typeface="Tahoma"/>
                  </a:rPr>
                  <a:t>advantages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of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both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3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70" dirty="0">
                    <a:solidFill>
                      <a:srgbClr val="292929"/>
                    </a:solidFill>
                    <a:latin typeface="Tahoma"/>
                    <a:cs typeface="Tahoma"/>
                  </a:rPr>
                  <a:t>and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stochastic </a:t>
                </a:r>
                <a:r>
                  <a:rPr sz="1600" spc="-68" dirty="0">
                    <a:solidFill>
                      <a:srgbClr val="292929"/>
                    </a:solidFill>
                    <a:latin typeface="Tahoma"/>
                    <a:cs typeface="Tahoma"/>
                  </a:rPr>
                  <a:t>GD.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2" dirty="0">
                    <a:solidFill>
                      <a:srgbClr val="292929"/>
                    </a:solidFill>
                    <a:latin typeface="Tahoma"/>
                    <a:cs typeface="Tahoma"/>
                  </a:rPr>
                  <a:t>So,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after</a:t>
                </a:r>
                <a:r>
                  <a:rPr sz="1600" spc="-17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creating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the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mini-</a:t>
                </a:r>
                <a:r>
                  <a:rPr sz="16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batches</a:t>
                </a:r>
                <a:r>
                  <a:rPr sz="16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of</a:t>
                </a:r>
                <a:r>
                  <a:rPr sz="16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fixed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8" dirty="0">
                    <a:solidFill>
                      <a:srgbClr val="292929"/>
                    </a:solidFill>
                    <a:latin typeface="Tahoma"/>
                    <a:cs typeface="Tahoma"/>
                  </a:rPr>
                  <a:t>size,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iterate</a:t>
                </a:r>
                <a:r>
                  <a:rPr sz="1600" spc="-11" dirty="0">
                    <a:solidFill>
                      <a:srgbClr val="292929"/>
                    </a:solidFill>
                    <a:latin typeface="Tahoma"/>
                    <a:cs typeface="Tahoma"/>
                  </a:rPr>
                  <a:t> over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mini-</a:t>
                </a:r>
                <a:r>
                  <a:rPr sz="16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batches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of</a:t>
                </a:r>
                <a:r>
                  <a:rPr sz="1600" spc="-20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37" dirty="0">
                    <a:solidFill>
                      <a:srgbClr val="292929"/>
                    </a:solidFill>
                    <a:latin typeface="Tahoma"/>
                    <a:cs typeface="Tahoma"/>
                  </a:rPr>
                  <a:t>size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B:</a:t>
                </a:r>
                <a:endParaRPr sz="1600" dirty="0">
                  <a:latin typeface="Tahoma"/>
                  <a:cs typeface="Tahoma"/>
                </a:endParaRPr>
              </a:p>
              <a:p>
                <a:pPr marL="51078">
                  <a:spcBef>
                    <a:spcPts val="3"/>
                  </a:spcBef>
                </a:pPr>
                <a:r>
                  <a:rPr sz="1600" spc="-82" dirty="0">
                    <a:solidFill>
                      <a:srgbClr val="292929"/>
                    </a:solidFill>
                    <a:latin typeface="Tahoma"/>
                    <a:cs typeface="Tahoma"/>
                  </a:rPr>
                  <a:t>N/B</a:t>
                </a:r>
                <a:r>
                  <a:rPr sz="1600" spc="-3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step</a:t>
                </a:r>
                <a:r>
                  <a:rPr sz="1600" spc="-14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in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2" dirty="0">
                    <a:solidFill>
                      <a:srgbClr val="292929"/>
                    </a:solidFill>
                    <a:latin typeface="Tahoma"/>
                    <a:cs typeface="Tahoma"/>
                  </a:rPr>
                  <a:t>one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epoch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3" dirty="0">
                    <a:solidFill>
                      <a:srgbClr val="292929"/>
                    </a:solidFill>
                    <a:latin typeface="Tahoma"/>
                    <a:cs typeface="Tahoma"/>
                  </a:rPr>
                  <a:t>(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N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113" dirty="0">
                    <a:solidFill>
                      <a:srgbClr val="292929"/>
                    </a:solidFill>
                    <a:latin typeface="Tahoma"/>
                    <a:cs typeface="Tahoma"/>
                  </a:rPr>
                  <a:t>: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total</a:t>
                </a:r>
                <a:r>
                  <a:rPr sz="1600" spc="-23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6" dirty="0">
                    <a:solidFill>
                      <a:srgbClr val="292929"/>
                    </a:solidFill>
                    <a:latin typeface="Tahoma"/>
                    <a:cs typeface="Tahoma"/>
                  </a:rPr>
                  <a:t>no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45" dirty="0">
                    <a:solidFill>
                      <a:srgbClr val="292929"/>
                    </a:solidFill>
                    <a:latin typeface="Tahoma"/>
                    <a:cs typeface="Tahoma"/>
                  </a:rPr>
                  <a:t>of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79" dirty="0">
                    <a:solidFill>
                      <a:srgbClr val="292929"/>
                    </a:solidFill>
                    <a:latin typeface="Tahoma"/>
                    <a:cs typeface="Tahoma"/>
                  </a:rPr>
                  <a:t>data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1" dirty="0">
                    <a:solidFill>
                      <a:srgbClr val="292929"/>
                    </a:solidFill>
                    <a:latin typeface="Tahoma"/>
                    <a:cs typeface="Tahoma"/>
                  </a:rPr>
                  <a:t>points,</a:t>
                </a:r>
                <a:r>
                  <a:rPr sz="1600" spc="-25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dirty="0">
                    <a:solidFill>
                      <a:srgbClr val="292929"/>
                    </a:solidFill>
                    <a:latin typeface="Tahoma"/>
                    <a:cs typeface="Tahoma"/>
                  </a:rPr>
                  <a:t>B</a:t>
                </a:r>
                <a:r>
                  <a:rPr sz="1600" spc="-31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59" dirty="0">
                    <a:solidFill>
                      <a:srgbClr val="292929"/>
                    </a:solidFill>
                    <a:latin typeface="Tahoma"/>
                    <a:cs typeface="Tahoma"/>
                  </a:rPr>
                  <a:t>batch</a:t>
                </a:r>
                <a:r>
                  <a:rPr sz="1600" spc="-28" dirty="0">
                    <a:solidFill>
                      <a:srgbClr val="292929"/>
                    </a:solidFill>
                    <a:latin typeface="Tahoma"/>
                    <a:cs typeface="Tahoma"/>
                  </a:rPr>
                  <a:t> </a:t>
                </a:r>
                <a:r>
                  <a:rPr sz="1600" spc="-6" dirty="0">
                    <a:solidFill>
                      <a:srgbClr val="292929"/>
                    </a:solidFill>
                    <a:latin typeface="Tahoma"/>
                    <a:cs typeface="Tahoma"/>
                  </a:rPr>
                  <a:t>size)</a:t>
                </a:r>
                <a:endParaRPr sz="1600" dirty="0">
                  <a:latin typeface="Tahoma"/>
                  <a:cs typeface="Tahoma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2922591" y="3101059"/>
                <a:ext cx="1574125" cy="130289"/>
              </a:xfrm>
              <a:prstGeom prst="rect">
                <a:avLst/>
              </a:prstGeom>
            </p:spPr>
            <p:txBody>
              <a:bodyPr vert="horz" wrap="square" lIns="0" tIns="7144" rIns="0" bIns="0" rtlCol="0">
                <a:spAutoFit/>
              </a:bodyPr>
              <a:lstStyle/>
              <a:p>
                <a:pPr marL="7144">
                  <a:spcBef>
                    <a:spcPts val="56"/>
                  </a:spcBef>
                </a:pPr>
                <a:r>
                  <a:rPr sz="1200" b="1" spc="-93" dirty="0">
                    <a:solidFill>
                      <a:srgbClr val="C00000"/>
                    </a:solidFill>
                    <a:latin typeface="Arial"/>
                    <a:cs typeface="Arial"/>
                  </a:rPr>
                  <a:t>Normal</a:t>
                </a:r>
                <a:r>
                  <a:rPr sz="1200" b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101" dirty="0">
                    <a:solidFill>
                      <a:srgbClr val="C00000"/>
                    </a:solidFill>
                    <a:latin typeface="Arial"/>
                    <a:cs typeface="Arial"/>
                  </a:rPr>
                  <a:t>Batch</a:t>
                </a:r>
                <a:r>
                  <a:rPr sz="1200" b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59" dirty="0">
                    <a:solidFill>
                      <a:srgbClr val="C00000"/>
                    </a:solidFill>
                    <a:latin typeface="Arial"/>
                    <a:cs typeface="Arial"/>
                  </a:rPr>
                  <a:t>size-</a:t>
                </a:r>
                <a:r>
                  <a:rPr sz="1200" b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23" dirty="0">
                    <a:solidFill>
                      <a:srgbClr val="C00000"/>
                    </a:solidFill>
                    <a:latin typeface="Arial"/>
                    <a:cs typeface="Arial"/>
                  </a:rPr>
                  <a:t>32,64,128</a:t>
                </a:r>
                <a:endParaRPr sz="1200" dirty="0">
                  <a:latin typeface="Arial"/>
                  <a:cs typeface="Arial"/>
                </a:endParaRPr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7393447" y="111870"/>
                <a:ext cx="1079628" cy="140084"/>
              </a:xfrm>
              <a:prstGeom prst="rect">
                <a:avLst/>
              </a:prstGeom>
              <a:solidFill>
                <a:srgbClr val="FFF1CC"/>
              </a:solidFill>
              <a:ln w="31750">
                <a:solidFill>
                  <a:srgbClr val="BE9000"/>
                </a:solidFill>
              </a:ln>
            </p:spPr>
            <p:txBody>
              <a:bodyPr vert="horz" wrap="square" lIns="0" tIns="21431" rIns="0" bIns="0" rtlCol="0">
                <a:spAutoFit/>
              </a:bodyPr>
              <a:lstStyle/>
              <a:p>
                <a:pPr marL="51792">
                  <a:spcBef>
                    <a:spcPts val="169"/>
                  </a:spcBef>
                </a:pPr>
                <a:r>
                  <a:rPr sz="1200" b="1" spc="-98" dirty="0">
                    <a:solidFill>
                      <a:srgbClr val="C00000"/>
                    </a:solidFill>
                    <a:latin typeface="Arial"/>
                    <a:cs typeface="Arial"/>
                  </a:rPr>
                  <a:t>N/B</a:t>
                </a:r>
                <a:r>
                  <a:rPr sz="1200" b="1" spc="-20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84" dirty="0">
                    <a:solidFill>
                      <a:srgbClr val="C00000"/>
                    </a:solidFill>
                    <a:latin typeface="Arial"/>
                    <a:cs typeface="Arial"/>
                  </a:rPr>
                  <a:t>steps</a:t>
                </a:r>
                <a:r>
                  <a:rPr sz="1200" b="1" spc="-2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4" dirty="0">
                    <a:solidFill>
                      <a:srgbClr val="C00000"/>
                    </a:solidFill>
                    <a:latin typeface="Arial"/>
                    <a:cs typeface="Arial"/>
                  </a:rPr>
                  <a:t>in</a:t>
                </a:r>
                <a:r>
                  <a:rPr sz="1200" b="1" spc="-17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56" dirty="0">
                    <a:solidFill>
                      <a:srgbClr val="C00000"/>
                    </a:solidFill>
                    <a:latin typeface="Arial"/>
                    <a:cs typeface="Arial"/>
                  </a:rPr>
                  <a:t>1</a:t>
                </a:r>
                <a:r>
                  <a:rPr sz="1200" b="1" spc="-14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epoch</a:t>
                </a:r>
                <a:endParaRPr sz="1200">
                  <a:latin typeface="Arial"/>
                  <a:cs typeface="Arial"/>
                </a:endParaRPr>
              </a:p>
            </p:txBody>
          </p:sp>
          <p:pic>
            <p:nvPicPr>
              <p:cNvPr id="9" name="object 9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522581" y="1691354"/>
                <a:ext cx="2829605" cy="1492706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23A4808-DD78-3610-3471-55E3EAC929C6}"/>
              </a:ext>
            </a:extLst>
          </p:cNvPr>
          <p:cNvGrpSpPr/>
          <p:nvPr/>
        </p:nvGrpSpPr>
        <p:grpSpPr>
          <a:xfrm>
            <a:off x="1447800" y="457200"/>
            <a:ext cx="9448800" cy="5334000"/>
            <a:chOff x="3289364" y="135445"/>
            <a:chExt cx="5242941" cy="2990089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9364" y="1638205"/>
              <a:ext cx="5242941" cy="1487329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5942" y="135445"/>
              <a:ext cx="5148858" cy="8570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3F06557-84A5-EEC6-7C73-BB9E4B575847}"/>
              </a:ext>
            </a:extLst>
          </p:cNvPr>
          <p:cNvGrpSpPr/>
          <p:nvPr/>
        </p:nvGrpSpPr>
        <p:grpSpPr>
          <a:xfrm>
            <a:off x="1351230" y="586277"/>
            <a:ext cx="10002569" cy="5685446"/>
            <a:chOff x="2781591" y="153124"/>
            <a:chExt cx="6872742" cy="3721265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5587" y="374412"/>
              <a:ext cx="3386138" cy="1639344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318" y="489916"/>
              <a:ext cx="3290015" cy="20724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1591" y="2195369"/>
              <a:ext cx="3386138" cy="1679020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2878929" y="153124"/>
              <a:ext cx="1930578" cy="206169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2000" b="1" spc="-70" dirty="0">
                  <a:solidFill>
                    <a:srgbClr val="C00000"/>
                  </a:solidFill>
                  <a:latin typeface="Arial"/>
                  <a:cs typeface="Arial"/>
                </a:rPr>
                <a:t>Batch gradient descent</a:t>
              </a: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812176" y="1987147"/>
              <a:ext cx="2565486" cy="206169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>
              <a:defPPr>
                <a:defRPr kern="0"/>
              </a:defPPr>
              <a:lvl1pPr marL="7144">
                <a:spcBef>
                  <a:spcPts val="56"/>
                </a:spcBef>
                <a:defRPr sz="2000" b="1" spc="-70">
                  <a:solidFill>
                    <a:srgbClr val="C00000"/>
                  </a:solidFill>
                  <a:latin typeface="Arial"/>
                  <a:cs typeface="Arial"/>
                </a:defRPr>
              </a:lvl1pPr>
            </a:lstStyle>
            <a:p>
              <a:r>
                <a:rPr dirty="0"/>
                <a:t>Stochastic gradient descent</a:t>
              </a: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512923" y="278579"/>
              <a:ext cx="2187093" cy="206169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>
              <a:defPPr>
                <a:defRPr kern="0"/>
              </a:defPPr>
              <a:lvl1pPr marL="7144">
                <a:spcBef>
                  <a:spcPts val="56"/>
                </a:spcBef>
                <a:defRPr sz="2000" b="1" spc="-70">
                  <a:solidFill>
                    <a:srgbClr val="C00000"/>
                  </a:solidFill>
                  <a:latin typeface="Arial"/>
                  <a:cs typeface="Arial"/>
                </a:defRPr>
              </a:lvl1pPr>
            </a:lstStyle>
            <a:p>
              <a:r>
                <a:rPr dirty="0"/>
                <a:t>Mini-batch gradient descent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20" rIns="0" bIns="0" rtlCol="0" anchor="ctr">
            <a:spAutoFit/>
          </a:bodyPr>
          <a:lstStyle/>
          <a:p>
            <a:pPr marL="7144" marR="2858">
              <a:lnSpc>
                <a:spcPts val="2430"/>
              </a:lnSpc>
              <a:spcBef>
                <a:spcPts val="360"/>
              </a:spcBef>
            </a:pPr>
            <a:r>
              <a:rPr sz="2250" spc="-163" dirty="0"/>
              <a:t>Issue</a:t>
            </a:r>
            <a:r>
              <a:rPr sz="2250" spc="-56" dirty="0"/>
              <a:t> </a:t>
            </a:r>
            <a:r>
              <a:rPr sz="2250" spc="-157" dirty="0"/>
              <a:t>with</a:t>
            </a:r>
            <a:r>
              <a:rPr sz="2250" spc="-51" dirty="0"/>
              <a:t> </a:t>
            </a:r>
            <a:r>
              <a:rPr sz="2250" spc="-177" dirty="0"/>
              <a:t>Gradient</a:t>
            </a:r>
            <a:r>
              <a:rPr sz="2250" spc="-51" dirty="0"/>
              <a:t> </a:t>
            </a:r>
            <a:r>
              <a:rPr sz="2250" spc="-197" dirty="0"/>
              <a:t>Descent </a:t>
            </a:r>
            <a:r>
              <a:rPr sz="2250" spc="-174" dirty="0"/>
              <a:t>optimisation</a:t>
            </a:r>
            <a:endParaRPr sz="22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7DCF66-98F6-4115-4E4F-798AA7D6C7A2}"/>
              </a:ext>
            </a:extLst>
          </p:cNvPr>
          <p:cNvGrpSpPr/>
          <p:nvPr/>
        </p:nvGrpSpPr>
        <p:grpSpPr>
          <a:xfrm>
            <a:off x="1752600" y="914400"/>
            <a:ext cx="9220200" cy="4800600"/>
            <a:chOff x="3200400" y="1973447"/>
            <a:chExt cx="6682612" cy="3432861"/>
          </a:xfrm>
        </p:grpSpPr>
        <p:sp>
          <p:nvSpPr>
            <p:cNvPr id="4" name="object 4"/>
            <p:cNvSpPr txBox="1"/>
            <p:nvPr/>
          </p:nvSpPr>
          <p:spPr>
            <a:xfrm>
              <a:off x="5221428" y="3615545"/>
              <a:ext cx="2351008" cy="180699"/>
            </a:xfrm>
            <a:prstGeom prst="rect">
              <a:avLst/>
            </a:prstGeom>
          </p:spPr>
          <p:txBody>
            <a:bodyPr vert="horz" wrap="square" lIns="0" tIns="7501" rIns="0" bIns="0" rtlCol="0">
              <a:spAutoFit/>
            </a:bodyPr>
            <a:lstStyle/>
            <a:p>
              <a:pPr marL="7144">
                <a:spcBef>
                  <a:spcPts val="59"/>
                </a:spcBef>
              </a:pPr>
              <a:r>
                <a:rPr sz="1125" b="1" spc="-98" dirty="0">
                  <a:latin typeface="Arial"/>
                  <a:cs typeface="Arial"/>
                </a:rPr>
                <a:t>2D</a:t>
              </a:r>
              <a:r>
                <a:rPr sz="1125" b="1" spc="-20" dirty="0">
                  <a:latin typeface="Arial"/>
                  <a:cs typeface="Arial"/>
                </a:rPr>
                <a:t> </a:t>
              </a:r>
              <a:r>
                <a:rPr sz="1125" b="1" spc="-110" dirty="0">
                  <a:latin typeface="Arial"/>
                  <a:cs typeface="Arial"/>
                </a:rPr>
                <a:t>contour</a:t>
              </a:r>
              <a:r>
                <a:rPr sz="1125" b="1" spc="-20" dirty="0">
                  <a:latin typeface="Arial"/>
                  <a:cs typeface="Arial"/>
                </a:rPr>
                <a:t> </a:t>
              </a:r>
              <a:r>
                <a:rPr sz="1125" b="1" spc="-73" dirty="0">
                  <a:latin typeface="Arial"/>
                  <a:cs typeface="Arial"/>
                </a:rPr>
                <a:t>Maps-</a:t>
              </a:r>
              <a:r>
                <a:rPr sz="1125" b="1" spc="-98" dirty="0">
                  <a:latin typeface="Arial"/>
                  <a:cs typeface="Arial"/>
                </a:rPr>
                <a:t>3D</a:t>
              </a:r>
              <a:r>
                <a:rPr sz="1125" b="1" spc="-17" dirty="0">
                  <a:latin typeface="Arial"/>
                  <a:cs typeface="Arial"/>
                </a:rPr>
                <a:t> </a:t>
              </a:r>
              <a:r>
                <a:rPr sz="1125" b="1" spc="-93" dirty="0">
                  <a:latin typeface="Arial"/>
                  <a:cs typeface="Arial"/>
                </a:rPr>
                <a:t>surface</a:t>
              </a:r>
              <a:r>
                <a:rPr sz="1125" b="1" spc="-11" dirty="0">
                  <a:latin typeface="Arial"/>
                  <a:cs typeface="Arial"/>
                </a:rPr>
                <a:t> </a:t>
              </a:r>
              <a:r>
                <a:rPr sz="1125" b="1" spc="-129" dirty="0">
                  <a:latin typeface="Arial"/>
                  <a:cs typeface="Arial"/>
                </a:rPr>
                <a:t>on</a:t>
              </a:r>
              <a:r>
                <a:rPr sz="1125" b="1" spc="-11" dirty="0">
                  <a:latin typeface="Arial"/>
                  <a:cs typeface="Arial"/>
                </a:rPr>
                <a:t> </a:t>
              </a:r>
              <a:r>
                <a:rPr sz="1125" b="1" spc="-98" dirty="0">
                  <a:latin typeface="Arial"/>
                  <a:cs typeface="Arial"/>
                </a:rPr>
                <a:t>2D</a:t>
              </a:r>
              <a:r>
                <a:rPr sz="1125" b="1" spc="-20" dirty="0">
                  <a:latin typeface="Arial"/>
                  <a:cs typeface="Arial"/>
                </a:rPr>
                <a:t> </a:t>
              </a:r>
              <a:r>
                <a:rPr sz="1125" b="1" spc="-56" dirty="0">
                  <a:latin typeface="Arial"/>
                  <a:cs typeface="Arial"/>
                </a:rPr>
                <a:t>map</a:t>
              </a:r>
              <a:endParaRPr sz="1125" dirty="0">
                <a:latin typeface="Arial"/>
                <a:cs typeface="Arial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C5ABB3-3D44-287C-E0E7-BC9ED0D6CBCC}"/>
                </a:ext>
              </a:extLst>
            </p:cNvPr>
            <p:cNvGrpSpPr/>
            <p:nvPr/>
          </p:nvGrpSpPr>
          <p:grpSpPr>
            <a:xfrm>
              <a:off x="3200400" y="1973447"/>
              <a:ext cx="6682612" cy="3284195"/>
              <a:chOff x="2817761" y="175737"/>
              <a:chExt cx="6682612" cy="3284195"/>
            </a:xfrm>
          </p:grpSpPr>
          <p:pic>
            <p:nvPicPr>
              <p:cNvPr id="3" name="object 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223283" y="175737"/>
                <a:ext cx="2056177" cy="1634345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084445" y="320612"/>
                <a:ext cx="1821656" cy="1393031"/>
              </a:xfrm>
              <a:prstGeom prst="rect">
                <a:avLst/>
              </a:prstGeom>
            </p:spPr>
          </p:pic>
          <p:grpSp>
            <p:nvGrpSpPr>
              <p:cNvPr id="6" name="object 6"/>
              <p:cNvGrpSpPr/>
              <p:nvPr/>
            </p:nvGrpSpPr>
            <p:grpSpPr>
              <a:xfrm>
                <a:off x="2939553" y="1259300"/>
                <a:ext cx="6560820" cy="2200632"/>
                <a:chOff x="484539" y="2238755"/>
                <a:chExt cx="11663680" cy="3912235"/>
              </a:xfrm>
            </p:grpSpPr>
            <p:pic>
              <p:nvPicPr>
                <p:cNvPr id="7" name="object 7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100060" y="3384803"/>
                  <a:ext cx="4047744" cy="2157984"/>
                </a:xfrm>
                <a:prstGeom prst="rect">
                  <a:avLst/>
                </a:prstGeom>
              </p:spPr>
            </p:pic>
            <p:pic>
              <p:nvPicPr>
                <p:cNvPr id="8" name="object 8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188451" y="5530596"/>
                  <a:ext cx="3092196" cy="620268"/>
                </a:xfrm>
                <a:prstGeom prst="rect">
                  <a:avLst/>
                </a:prstGeom>
              </p:spPr>
            </p:pic>
            <p:pic>
              <p:nvPicPr>
                <p:cNvPr id="9" name="object 9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84539" y="2238755"/>
                  <a:ext cx="2964238" cy="3275466"/>
                </a:xfrm>
                <a:prstGeom prst="rect">
                  <a:avLst/>
                </a:prstGeom>
              </p:spPr>
            </p:pic>
          </p:grpSp>
          <p:sp>
            <p:nvSpPr>
              <p:cNvPr id="10" name="object 10"/>
              <p:cNvSpPr txBox="1"/>
              <p:nvPr/>
            </p:nvSpPr>
            <p:spPr>
              <a:xfrm>
                <a:off x="2817761" y="730448"/>
                <a:ext cx="1979533" cy="249227"/>
              </a:xfrm>
              <a:prstGeom prst="rect">
                <a:avLst/>
              </a:prstGeom>
            </p:spPr>
            <p:txBody>
              <a:bodyPr vert="horz" wrap="square" lIns="0" tIns="6787" rIns="0" bIns="0" rtlCol="0">
                <a:spAutoFit/>
              </a:bodyPr>
              <a:lstStyle/>
              <a:p>
                <a:pPr marL="7144">
                  <a:spcBef>
                    <a:spcPts val="53"/>
                  </a:spcBef>
                </a:pPr>
                <a:r>
                  <a:rPr sz="1575" b="1" spc="-107" dirty="0">
                    <a:solidFill>
                      <a:srgbClr val="C00000"/>
                    </a:solidFill>
                    <a:latin typeface="Arial"/>
                    <a:cs typeface="Arial"/>
                  </a:rPr>
                  <a:t>vanilla</a:t>
                </a:r>
                <a:r>
                  <a:rPr sz="1575" b="1" spc="-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575" b="1" spc="-115" dirty="0">
                    <a:solidFill>
                      <a:srgbClr val="C00000"/>
                    </a:solidFill>
                    <a:latin typeface="Arial"/>
                    <a:cs typeface="Arial"/>
                  </a:rPr>
                  <a:t>gradient</a:t>
                </a:r>
                <a:r>
                  <a:rPr sz="1575" b="1" spc="-8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575" b="1" spc="-115" dirty="0">
                    <a:solidFill>
                      <a:srgbClr val="C00000"/>
                    </a:solidFill>
                    <a:latin typeface="Arial"/>
                    <a:cs typeface="Arial"/>
                  </a:rPr>
                  <a:t>descent</a:t>
                </a:r>
                <a:endParaRPr sz="1575">
                  <a:latin typeface="Arial"/>
                  <a:cs typeface="Arial"/>
                </a:endParaRP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991C37D-D857-C62D-D99A-67A05EA2A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9617" y="3900436"/>
              <a:ext cx="2114629" cy="15058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DD529C8-A08C-8522-0E8B-97286C44CBA8}"/>
              </a:ext>
            </a:extLst>
          </p:cNvPr>
          <p:cNvGrpSpPr/>
          <p:nvPr/>
        </p:nvGrpSpPr>
        <p:grpSpPr>
          <a:xfrm>
            <a:off x="1031646" y="914400"/>
            <a:ext cx="10632642" cy="5027234"/>
            <a:chOff x="2723579" y="125730"/>
            <a:chExt cx="6645401" cy="3467862"/>
          </a:xfrm>
        </p:grpSpPr>
        <p:grpSp>
          <p:nvGrpSpPr>
            <p:cNvPr id="2" name="object 2"/>
            <p:cNvGrpSpPr/>
            <p:nvPr/>
          </p:nvGrpSpPr>
          <p:grpSpPr>
            <a:xfrm>
              <a:off x="2812518" y="1316736"/>
              <a:ext cx="6358524" cy="2276856"/>
              <a:chOff x="258698" y="2340864"/>
              <a:chExt cx="11304042" cy="4047744"/>
            </a:xfrm>
          </p:grpSpPr>
          <p:pic>
            <p:nvPicPr>
              <p:cNvPr id="3" name="object 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58698" y="2340864"/>
                <a:ext cx="4429125" cy="2638044"/>
              </a:xfrm>
              <a:prstGeom prst="rect">
                <a:avLst/>
              </a:prstGeom>
            </p:spPr>
          </p:pic>
          <p:pic>
            <p:nvPicPr>
              <p:cNvPr id="4" name="object 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8199" y="4978908"/>
                <a:ext cx="3317748" cy="1409700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635782" y="3686545"/>
                <a:ext cx="5926958" cy="2641552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3182778" y="125730"/>
              <a:ext cx="3813691" cy="318838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2025" b="1" spc="-174" dirty="0">
                  <a:solidFill>
                    <a:srgbClr val="C00000"/>
                  </a:solidFill>
                  <a:latin typeface="Arial"/>
                  <a:cs typeface="Arial"/>
                </a:rPr>
                <a:t>Momentum-</a:t>
              </a:r>
              <a:r>
                <a:rPr sz="2025" b="1" spc="-208" dirty="0">
                  <a:solidFill>
                    <a:srgbClr val="C00000"/>
                  </a:solidFill>
                  <a:latin typeface="Arial"/>
                  <a:cs typeface="Arial"/>
                </a:rPr>
                <a:t>Based</a:t>
              </a:r>
              <a:r>
                <a:rPr sz="2025" b="1" spc="-4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2025" b="1" spc="-160" dirty="0">
                  <a:solidFill>
                    <a:srgbClr val="C00000"/>
                  </a:solidFill>
                  <a:latin typeface="Arial"/>
                  <a:cs typeface="Arial"/>
                </a:rPr>
                <a:t>Gradient</a:t>
              </a:r>
              <a:r>
                <a:rPr sz="2025" b="1" spc="-39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2025" b="1" spc="-180" dirty="0">
                  <a:solidFill>
                    <a:srgbClr val="C00000"/>
                  </a:solidFill>
                  <a:latin typeface="Arial"/>
                  <a:cs typeface="Arial"/>
                </a:rPr>
                <a:t>Descent</a:t>
              </a:r>
              <a:endParaRPr sz="2025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723579" y="625792"/>
              <a:ext cx="3515296" cy="692575"/>
            </a:xfrm>
            <a:prstGeom prst="rect">
              <a:avLst/>
            </a:prstGeom>
            <a:solidFill>
              <a:srgbClr val="E1EFD9"/>
            </a:solidFill>
          </p:spPr>
          <p:txBody>
            <a:bodyPr vert="horz" wrap="square" lIns="0" tIns="18931" rIns="0" bIns="0" rtlCol="0">
              <a:spAutoFit/>
            </a:bodyPr>
            <a:lstStyle/>
            <a:p>
              <a:pPr marL="51078" marR="219313">
                <a:lnSpc>
                  <a:spcPct val="99700"/>
                </a:lnSpc>
                <a:spcBef>
                  <a:spcPts val="149"/>
                </a:spcBef>
              </a:pPr>
              <a:r>
                <a:rPr sz="1600" b="1" spc="-68" dirty="0">
                  <a:solidFill>
                    <a:srgbClr val="C00000"/>
                  </a:solidFill>
                  <a:latin typeface="Arial"/>
                  <a:cs typeface="Arial"/>
                </a:rPr>
                <a:t>Intuition</a:t>
              </a:r>
              <a:r>
                <a:rPr sz="1600" b="1" spc="-2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600" b="1" dirty="0">
                  <a:solidFill>
                    <a:srgbClr val="C00000"/>
                  </a:solidFill>
                  <a:latin typeface="Arial"/>
                  <a:cs typeface="Arial"/>
                </a:rPr>
                <a:t>: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If</a:t>
              </a:r>
              <a:r>
                <a:rPr sz="1600" i="1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I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am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repeatedly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being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asked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move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spc="-11" dirty="0">
                  <a:solidFill>
                    <a:srgbClr val="292929"/>
                  </a:solidFill>
                  <a:latin typeface="Calibri"/>
                  <a:cs typeface="Calibri"/>
                </a:rPr>
                <a:t>same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direction,</a:t>
              </a:r>
              <a:r>
                <a:rPr sz="1600" i="1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then</a:t>
              </a:r>
              <a:r>
                <a:rPr sz="1600" i="1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I</a:t>
              </a:r>
              <a:r>
                <a:rPr sz="1600" i="1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should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probably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gain</a:t>
              </a:r>
              <a:r>
                <a:rPr sz="1600" i="1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some</a:t>
              </a:r>
              <a:r>
                <a:rPr sz="1600" i="1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confidence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and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start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taking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bigger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steps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600" i="1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that</a:t>
              </a:r>
              <a:r>
                <a:rPr sz="1600" i="1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direction.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Just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as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ball</a:t>
              </a:r>
              <a:r>
                <a:rPr sz="1600" i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gains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momentum</a:t>
              </a:r>
              <a:r>
                <a:rPr sz="1600" i="1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while</a:t>
              </a:r>
              <a:r>
                <a:rPr sz="1600" i="1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rolling</a:t>
              </a:r>
              <a:r>
                <a:rPr sz="1600" i="1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down</a:t>
              </a:r>
              <a:r>
                <a:rPr sz="1600" i="1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600" i="1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i="1" spc="-6" dirty="0">
                  <a:solidFill>
                    <a:srgbClr val="292929"/>
                  </a:solidFill>
                  <a:latin typeface="Calibri"/>
                  <a:cs typeface="Calibri"/>
                </a:rPr>
                <a:t>slope.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390036" y="506634"/>
              <a:ext cx="2978944" cy="1374452"/>
            </a:xfrm>
            <a:prstGeom prst="rect">
              <a:avLst/>
            </a:prstGeom>
            <a:solidFill>
              <a:srgbClr val="E1EFD9"/>
            </a:solidFill>
          </p:spPr>
          <p:txBody>
            <a:bodyPr vert="horz" wrap="square" lIns="0" tIns="22503" rIns="0" bIns="0" rtlCol="0">
              <a:spAutoFit/>
            </a:bodyPr>
            <a:lstStyle/>
            <a:p>
              <a:pPr marL="212884" marR="84653" indent="-161449">
                <a:spcBef>
                  <a:spcPts val="177"/>
                </a:spcBef>
                <a:buFont typeface="Arial MT"/>
                <a:buChar char="•"/>
                <a:tabLst>
                  <a:tab pos="212884" algn="l"/>
                </a:tabLst>
              </a:pPr>
              <a:r>
                <a:rPr sz="1600" spc="-98" dirty="0">
                  <a:solidFill>
                    <a:srgbClr val="292929"/>
                  </a:solidFill>
                  <a:latin typeface="Tahoma"/>
                  <a:cs typeface="Tahoma"/>
                </a:rPr>
                <a:t>In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addition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current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6" dirty="0">
                  <a:solidFill>
                    <a:srgbClr val="292929"/>
                  </a:solidFill>
                  <a:latin typeface="Tahoma"/>
                  <a:cs typeface="Tahoma"/>
                </a:rPr>
                <a:t>update,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6" dirty="0">
                  <a:solidFill>
                    <a:srgbClr val="292929"/>
                  </a:solidFill>
                  <a:latin typeface="Tahoma"/>
                  <a:cs typeface="Tahoma"/>
                </a:rPr>
                <a:t>we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also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look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9" dirty="0">
                  <a:solidFill>
                    <a:srgbClr val="292929"/>
                  </a:solidFill>
                  <a:latin typeface="Tahoma"/>
                  <a:cs typeface="Tahoma"/>
                </a:rPr>
                <a:t>at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the 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history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Tahoma"/>
                  <a:cs typeface="Tahoma"/>
                </a:rPr>
                <a:t>updates.</a:t>
              </a:r>
              <a:endParaRPr sz="1600" dirty="0">
                <a:latin typeface="Tahoma"/>
                <a:cs typeface="Tahoma"/>
              </a:endParaRPr>
            </a:p>
            <a:p>
              <a:pPr marL="212884" marR="70366" indent="-161449">
                <a:buFont typeface="Arial MT"/>
                <a:buChar char="•"/>
                <a:tabLst>
                  <a:tab pos="212884" algn="l"/>
                </a:tabLst>
              </a:pPr>
              <a:r>
                <a:rPr sz="1600" spc="-82" dirty="0">
                  <a:solidFill>
                    <a:srgbClr val="292929"/>
                  </a:solidFill>
                  <a:latin typeface="Tahoma"/>
                  <a:cs typeface="Tahoma"/>
                </a:rPr>
                <a:t>You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can</a:t>
              </a:r>
              <a:r>
                <a:rPr sz="16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see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0" dirty="0">
                  <a:solidFill>
                    <a:srgbClr val="292929"/>
                  </a:solidFill>
                  <a:latin typeface="Tahoma"/>
                  <a:cs typeface="Tahoma"/>
                </a:rPr>
                <a:t>that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current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3" dirty="0">
                  <a:solidFill>
                    <a:srgbClr val="292929"/>
                  </a:solidFill>
                  <a:latin typeface="Tahoma"/>
                  <a:cs typeface="Tahoma"/>
                </a:rPr>
                <a:t>update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Tahoma"/>
                  <a:cs typeface="Tahoma"/>
                </a:rPr>
                <a:t>is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Tahoma"/>
                  <a:cs typeface="Tahoma"/>
                </a:rPr>
                <a:t>proportional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not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3" dirty="0">
                  <a:solidFill>
                    <a:srgbClr val="292929"/>
                  </a:solidFill>
                  <a:latin typeface="Tahoma"/>
                  <a:cs typeface="Tahoma"/>
                </a:rPr>
                <a:t>just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3" dirty="0">
                  <a:solidFill>
                    <a:srgbClr val="292929"/>
                  </a:solidFill>
                  <a:latin typeface="Tahoma"/>
                  <a:cs typeface="Tahoma"/>
                </a:rPr>
                <a:t>present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9" dirty="0">
                  <a:solidFill>
                    <a:srgbClr val="292929"/>
                  </a:solidFill>
                  <a:latin typeface="Tahoma"/>
                  <a:cs typeface="Tahoma"/>
                </a:rPr>
                <a:t>gradient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but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also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3" dirty="0">
                  <a:solidFill>
                    <a:srgbClr val="292929"/>
                  </a:solidFill>
                  <a:latin typeface="Tahoma"/>
                  <a:cs typeface="Tahoma"/>
                </a:rPr>
                <a:t>gradients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of </a:t>
              </a: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previous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steps,</a:t>
              </a:r>
              <a:r>
                <a:rPr sz="160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although</a:t>
              </a:r>
              <a:r>
                <a:rPr sz="1600" spc="-1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their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contribution</a:t>
              </a:r>
              <a:r>
                <a:rPr sz="1600" spc="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Tahoma"/>
                  <a:cs typeface="Tahoma"/>
                </a:rPr>
                <a:t>reduces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every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9" dirty="0">
                  <a:solidFill>
                    <a:srgbClr val="292929"/>
                  </a:solidFill>
                  <a:latin typeface="Tahoma"/>
                  <a:cs typeface="Tahoma"/>
                </a:rPr>
                <a:t>time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step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by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b="1" i="1" spc="-79" dirty="0">
                  <a:solidFill>
                    <a:srgbClr val="292929"/>
                  </a:solidFill>
                  <a:latin typeface="Arial"/>
                  <a:cs typeface="Arial"/>
                </a:rPr>
                <a:t>γ</a:t>
              </a:r>
              <a:r>
                <a:rPr sz="1600" spc="-79" dirty="0">
                  <a:solidFill>
                    <a:srgbClr val="292929"/>
                  </a:solidFill>
                  <a:latin typeface="Tahoma"/>
                  <a:cs typeface="Tahoma"/>
                </a:rPr>
                <a:t>(gamma)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times.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And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3" dirty="0">
                  <a:solidFill>
                    <a:srgbClr val="292929"/>
                  </a:solidFill>
                  <a:latin typeface="Tahoma"/>
                  <a:cs typeface="Tahoma"/>
                </a:rPr>
                <a:t>that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Tahoma"/>
                  <a:cs typeface="Tahoma"/>
                </a:rPr>
                <a:t>is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how </a:t>
              </a:r>
              <a:r>
                <a:rPr sz="1600" spc="-76" dirty="0">
                  <a:solidFill>
                    <a:srgbClr val="292929"/>
                  </a:solidFill>
                  <a:latin typeface="Tahoma"/>
                  <a:cs typeface="Tahoma"/>
                </a:rPr>
                <a:t>we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boost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8" dirty="0">
                  <a:solidFill>
                    <a:srgbClr val="292929"/>
                  </a:solidFill>
                  <a:latin typeface="Tahoma"/>
                  <a:cs typeface="Tahoma"/>
                </a:rPr>
                <a:t>magnitude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3" dirty="0">
                  <a:solidFill>
                    <a:srgbClr val="292929"/>
                  </a:solidFill>
                  <a:latin typeface="Tahoma"/>
                  <a:cs typeface="Tahoma"/>
                </a:rPr>
                <a:t>update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9" dirty="0">
                  <a:solidFill>
                    <a:srgbClr val="292929"/>
                  </a:solidFill>
                  <a:latin typeface="Tahoma"/>
                  <a:cs typeface="Tahoma"/>
                </a:rPr>
                <a:t>at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Tahoma"/>
                  <a:cs typeface="Tahoma"/>
                </a:rPr>
                <a:t>gentle regions.</a:t>
              </a:r>
              <a:endParaRPr sz="1600" dirty="0">
                <a:latin typeface="Tahoma"/>
                <a:cs typeface="Tahoma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71499" y="392391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84" dirty="0"/>
              <a:t>Gradient</a:t>
            </a:r>
            <a:r>
              <a:rPr sz="2400" spc="3" dirty="0"/>
              <a:t> </a:t>
            </a:r>
            <a:r>
              <a:rPr sz="2400" spc="-90" dirty="0"/>
              <a:t>Descent</a:t>
            </a:r>
            <a:r>
              <a:rPr sz="2400" spc="6" dirty="0"/>
              <a:t> </a:t>
            </a:r>
            <a:r>
              <a:rPr sz="2400" spc="-76" dirty="0"/>
              <a:t>Optimisation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85858B26-0E35-C6DA-E276-916194C8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86" y="416197"/>
            <a:ext cx="6014702" cy="4726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C6B4BB-2CF0-F924-EF02-6FD6AC62D242}"/>
              </a:ext>
            </a:extLst>
          </p:cNvPr>
          <p:cNvSpPr txBox="1"/>
          <p:nvPr/>
        </p:nvSpPr>
        <p:spPr>
          <a:xfrm>
            <a:off x="269620" y="5143103"/>
            <a:ext cx="630189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6B6B6B"/>
                </a:solidFill>
                <a:latin typeface="sohne"/>
              </a:rPr>
              <a:t>Momentum-Based Gradient Descent. 100 iterations of vanilla gradient descent make the black patch.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48EF76-5FB8-360B-782E-96CB738A3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142" y="414584"/>
            <a:ext cx="5729844" cy="4237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A9401-8C74-06D4-CBF0-898A00B6821F}"/>
              </a:ext>
            </a:extLst>
          </p:cNvPr>
          <p:cNvSpPr txBox="1"/>
          <p:nvPr/>
        </p:nvSpPr>
        <p:spPr>
          <a:xfrm>
            <a:off x="6485906" y="4853049"/>
            <a:ext cx="560317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Momentum (magenta) vs. Gradient Descent (cyan) on a surface with a global minimum (the left well) and local minimum (the right well)</a:t>
            </a:r>
          </a:p>
        </p:txBody>
      </p:sp>
    </p:spTree>
    <p:extLst>
      <p:ext uri="{BB962C8B-B14F-4D97-AF65-F5344CB8AC3E}">
        <p14:creationId xmlns:p14="http://schemas.microsoft.com/office/powerpoint/2010/main" val="925672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28319"/>
            <a:ext cx="11209376" cy="504686"/>
          </a:xfrm>
          <a:prstGeom prst="rect">
            <a:avLst/>
          </a:prstGeom>
        </p:spPr>
        <p:txBody>
          <a:bodyPr vert="horz" wrap="square" lIns="0" tIns="134045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60" dirty="0"/>
              <a:t>Advantage</a:t>
            </a:r>
            <a:r>
              <a:rPr sz="2400" spc="-64" dirty="0"/>
              <a:t> </a:t>
            </a:r>
            <a:r>
              <a:rPr sz="2400" spc="-163" dirty="0"/>
              <a:t>and</a:t>
            </a:r>
            <a:r>
              <a:rPr sz="2400" spc="-45" dirty="0"/>
              <a:t> </a:t>
            </a:r>
            <a:r>
              <a:rPr sz="2400" spc="-141" dirty="0"/>
              <a:t>disadvantage</a:t>
            </a:r>
            <a:r>
              <a:rPr sz="2400" spc="-64" dirty="0"/>
              <a:t> </a:t>
            </a:r>
            <a:r>
              <a:rPr sz="2400" spc="-146" dirty="0"/>
              <a:t>of</a:t>
            </a:r>
            <a:r>
              <a:rPr sz="2400" spc="-45" dirty="0"/>
              <a:t> </a:t>
            </a:r>
            <a:r>
              <a:rPr sz="2400" spc="-188" dirty="0"/>
              <a:t>momentum</a:t>
            </a:r>
            <a:r>
              <a:rPr sz="2400" spc="-64" dirty="0"/>
              <a:t> </a:t>
            </a:r>
            <a:r>
              <a:rPr sz="2400" spc="-157" dirty="0"/>
              <a:t>based</a:t>
            </a:r>
            <a:r>
              <a:rPr sz="2400" spc="-53" dirty="0"/>
              <a:t> </a:t>
            </a:r>
            <a:r>
              <a:rPr sz="2400" spc="-258" dirty="0"/>
              <a:t>GD</a:t>
            </a:r>
            <a:endParaRPr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5C5E6B-EAF8-A4E0-E7BE-E6411340FD06}"/>
              </a:ext>
            </a:extLst>
          </p:cNvPr>
          <p:cNvGrpSpPr/>
          <p:nvPr/>
        </p:nvGrpSpPr>
        <p:grpSpPr>
          <a:xfrm>
            <a:off x="1295400" y="1784884"/>
            <a:ext cx="10223088" cy="3288260"/>
            <a:chOff x="2781414" y="968550"/>
            <a:chExt cx="6515817" cy="2314099"/>
          </a:xfrm>
        </p:grpSpPr>
        <p:sp>
          <p:nvSpPr>
            <p:cNvPr id="4" name="object 4"/>
            <p:cNvSpPr txBox="1"/>
            <p:nvPr/>
          </p:nvSpPr>
          <p:spPr>
            <a:xfrm>
              <a:off x="2781414" y="2665762"/>
              <a:ext cx="3399694" cy="524908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 algn="just">
                <a:spcBef>
                  <a:spcPts val="56"/>
                </a:spcBef>
              </a:pP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It</a:t>
              </a:r>
              <a:r>
                <a:rPr sz="16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is</a:t>
              </a:r>
              <a:r>
                <a:rPr sz="16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evident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that</a:t>
              </a:r>
              <a:r>
                <a:rPr sz="16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even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6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6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regions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having</a:t>
              </a:r>
              <a:r>
                <a:rPr sz="16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gentle</a:t>
              </a:r>
              <a:r>
                <a:rPr sz="16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slopes, </a:t>
              </a:r>
              <a:r>
                <a:rPr sz="1600" spc="-11" dirty="0">
                  <a:solidFill>
                    <a:srgbClr val="292929"/>
                  </a:solidFill>
                  <a:latin typeface="Calibri"/>
                  <a:cs typeface="Calibri"/>
                </a:rPr>
                <a:t>momentum-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based</a:t>
              </a:r>
              <a:r>
                <a:rPr sz="16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gradient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descent</a:t>
              </a:r>
              <a:r>
                <a:rPr sz="16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can</a:t>
              </a:r>
              <a:r>
                <a:rPr sz="16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take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substantial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steps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because</a:t>
              </a:r>
              <a:r>
                <a:rPr sz="16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6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momentum</a:t>
              </a:r>
              <a:r>
                <a:rPr sz="16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carries</a:t>
              </a:r>
              <a:r>
                <a:rPr sz="16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dirty="0">
                  <a:solidFill>
                    <a:srgbClr val="292929"/>
                  </a:solidFill>
                  <a:latin typeface="Calibri"/>
                  <a:cs typeface="Calibri"/>
                </a:rPr>
                <a:t>it</a:t>
              </a:r>
              <a:r>
                <a:rPr sz="16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600" spc="-6" dirty="0">
                  <a:solidFill>
                    <a:srgbClr val="292929"/>
                  </a:solidFill>
                  <a:latin typeface="Calibri"/>
                  <a:cs typeface="Calibri"/>
                </a:rPr>
                <a:t>along.</a:t>
              </a:r>
              <a:endParaRPr sz="1600" dirty="0">
                <a:latin typeface="Calibri"/>
                <a:cs typeface="Calibri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860373" y="1491655"/>
              <a:ext cx="3436858" cy="774586"/>
            </a:xfrm>
            <a:prstGeom prst="rect">
              <a:avLst/>
            </a:prstGeom>
            <a:solidFill>
              <a:srgbClr val="DEEBF7"/>
            </a:solidFill>
          </p:spPr>
          <p:txBody>
            <a:bodyPr vert="horz" wrap="square" lIns="0" tIns="23217" rIns="0" bIns="0" rtlCol="0">
              <a:spAutoFit/>
            </a:bodyPr>
            <a:lstStyle/>
            <a:p>
              <a:pPr marL="51792" marR="225743" algn="just">
                <a:spcBef>
                  <a:spcPts val="183"/>
                </a:spcBef>
              </a:pPr>
              <a:r>
                <a:rPr sz="1400" spc="-104" dirty="0">
                  <a:solidFill>
                    <a:srgbClr val="292929"/>
                  </a:solidFill>
                  <a:latin typeface="Tahoma"/>
                  <a:cs typeface="Tahoma"/>
                </a:rPr>
                <a:t>We</a:t>
              </a:r>
              <a:r>
                <a:rPr sz="14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292929"/>
                  </a:solidFill>
                  <a:latin typeface="Tahoma"/>
                  <a:cs typeface="Tahoma"/>
                </a:rPr>
                <a:t>can</a:t>
              </a:r>
              <a:r>
                <a:rPr sz="14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observe</a:t>
              </a:r>
              <a:r>
                <a:rPr sz="14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73" dirty="0">
                  <a:solidFill>
                    <a:srgbClr val="292929"/>
                  </a:solidFill>
                  <a:latin typeface="Tahoma"/>
                  <a:cs typeface="Tahoma"/>
                </a:rPr>
                <a:t>that</a:t>
              </a:r>
              <a:r>
                <a:rPr sz="1400" spc="-1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4" dirty="0">
                  <a:solidFill>
                    <a:srgbClr val="292929"/>
                  </a:solidFill>
                  <a:latin typeface="Tahoma"/>
                  <a:cs typeface="Tahoma"/>
                </a:rPr>
                <a:t>momentum-</a:t>
              </a:r>
              <a:r>
                <a:rPr sz="1400" spc="-53" dirty="0">
                  <a:solidFill>
                    <a:srgbClr val="292929"/>
                  </a:solidFill>
                  <a:latin typeface="Tahoma"/>
                  <a:cs typeface="Tahoma"/>
                </a:rPr>
                <a:t>based</a:t>
              </a:r>
              <a:r>
                <a:rPr sz="1400" spc="6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292929"/>
                  </a:solidFill>
                  <a:latin typeface="Tahoma"/>
                  <a:cs typeface="Tahoma"/>
                </a:rPr>
                <a:t>gradient</a:t>
              </a:r>
              <a:r>
                <a:rPr sz="14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Tahoma"/>
                  <a:cs typeface="Tahoma"/>
                </a:rPr>
                <a:t>descent </a:t>
              </a:r>
              <a:r>
                <a:rPr sz="1400" spc="-34" dirty="0">
                  <a:solidFill>
                    <a:srgbClr val="292929"/>
                  </a:solidFill>
                  <a:latin typeface="Tahoma"/>
                  <a:cs typeface="Tahoma"/>
                </a:rPr>
                <a:t>oscillates</a:t>
              </a:r>
              <a:r>
                <a:rPr sz="14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in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70" dirty="0">
                  <a:solidFill>
                    <a:srgbClr val="292929"/>
                  </a:solidFill>
                  <a:latin typeface="Tahoma"/>
                  <a:cs typeface="Tahoma"/>
                </a:rPr>
                <a:t>and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59" dirty="0">
                  <a:solidFill>
                    <a:srgbClr val="292929"/>
                  </a:solidFill>
                  <a:latin typeface="Tahoma"/>
                  <a:cs typeface="Tahoma"/>
                </a:rPr>
                <a:t>out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2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4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4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292929"/>
                  </a:solidFill>
                  <a:latin typeface="Tahoma"/>
                  <a:cs typeface="Tahoma"/>
                </a:rPr>
                <a:t>minima</a:t>
              </a:r>
              <a:r>
                <a:rPr sz="14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292929"/>
                  </a:solidFill>
                  <a:latin typeface="Tahoma"/>
                  <a:cs typeface="Tahoma"/>
                </a:rPr>
                <a:t>valley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as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4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Tahoma"/>
                  <a:cs typeface="Tahoma"/>
                </a:rPr>
                <a:t>momentum </a:t>
              </a:r>
              <a:r>
                <a:rPr sz="1400" spc="-37" dirty="0">
                  <a:solidFill>
                    <a:srgbClr val="292929"/>
                  </a:solidFill>
                  <a:latin typeface="Tahoma"/>
                  <a:cs typeface="Tahoma"/>
                </a:rPr>
                <a:t>carries</a:t>
              </a:r>
              <a:r>
                <a:rPr sz="14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it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292929"/>
                  </a:solidFill>
                  <a:latin typeface="Tahoma"/>
                  <a:cs typeface="Tahoma"/>
                </a:rPr>
                <a:t>out</a:t>
              </a:r>
              <a:r>
                <a:rPr sz="14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4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4" dirty="0">
                  <a:solidFill>
                    <a:srgbClr val="292929"/>
                  </a:solidFill>
                  <a:latin typeface="Tahoma"/>
                  <a:cs typeface="Tahoma"/>
                </a:rPr>
                <a:t>valley.</a:t>
              </a:r>
              <a:r>
                <a:rPr sz="14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8" dirty="0">
                  <a:solidFill>
                    <a:srgbClr val="292929"/>
                  </a:solidFill>
                  <a:latin typeface="Tahoma"/>
                  <a:cs typeface="Tahoma"/>
                </a:rPr>
                <a:t>This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64" dirty="0">
                  <a:solidFill>
                    <a:srgbClr val="292929"/>
                  </a:solidFill>
                  <a:latin typeface="Tahoma"/>
                  <a:cs typeface="Tahoma"/>
                </a:rPr>
                <a:t>makes</a:t>
              </a:r>
              <a:r>
                <a:rPr sz="1400" spc="-17" dirty="0">
                  <a:solidFill>
                    <a:srgbClr val="292929"/>
                  </a:solidFill>
                  <a:latin typeface="Tahoma"/>
                  <a:cs typeface="Tahoma"/>
                </a:rPr>
                <a:t> us</a:t>
              </a:r>
              <a:r>
                <a:rPr sz="14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79" dirty="0">
                  <a:solidFill>
                    <a:srgbClr val="292929"/>
                  </a:solidFill>
                  <a:latin typeface="Tahoma"/>
                  <a:cs typeface="Tahoma"/>
                </a:rPr>
                <a:t>take</a:t>
              </a:r>
              <a:r>
                <a:rPr sz="14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90" dirty="0">
                  <a:solidFill>
                    <a:srgbClr val="292929"/>
                  </a:solidFill>
                  <a:latin typeface="Tahoma"/>
                  <a:cs typeface="Tahoma"/>
                </a:rPr>
                <a:t>a</a:t>
              </a:r>
              <a:r>
                <a:rPr sz="14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lot</a:t>
              </a:r>
              <a:r>
                <a:rPr sz="14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400" spc="-28" dirty="0">
                  <a:solidFill>
                    <a:srgbClr val="292929"/>
                  </a:solidFill>
                  <a:latin typeface="Tahoma"/>
                  <a:cs typeface="Tahoma"/>
                </a:rPr>
                <a:t> U-</a:t>
              </a:r>
              <a:r>
                <a:rPr sz="1400" spc="-14" dirty="0">
                  <a:solidFill>
                    <a:srgbClr val="292929"/>
                  </a:solidFill>
                  <a:latin typeface="Tahoma"/>
                  <a:cs typeface="Tahoma"/>
                </a:rPr>
                <a:t>turns </a:t>
              </a:r>
              <a:r>
                <a:rPr sz="1400" spc="-56" dirty="0">
                  <a:solidFill>
                    <a:srgbClr val="292929"/>
                  </a:solidFill>
                  <a:latin typeface="Tahoma"/>
                  <a:cs typeface="Tahoma"/>
                </a:rPr>
                <a:t>before</a:t>
              </a:r>
              <a:r>
                <a:rPr sz="14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292929"/>
                  </a:solidFill>
                  <a:latin typeface="Tahoma"/>
                  <a:cs typeface="Tahoma"/>
                </a:rPr>
                <a:t>finally</a:t>
              </a:r>
              <a:r>
                <a:rPr sz="1400" spc="-6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292929"/>
                  </a:solidFill>
                  <a:latin typeface="Tahoma"/>
                  <a:cs typeface="Tahoma"/>
                </a:rPr>
                <a:t>converging.</a:t>
              </a:r>
              <a:r>
                <a:rPr sz="14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400" b="1" spc="-76" dirty="0">
                  <a:solidFill>
                    <a:srgbClr val="C00000"/>
                  </a:solidFill>
                  <a:latin typeface="Arial"/>
                  <a:cs typeface="Arial"/>
                </a:rPr>
                <a:t>Despite</a:t>
              </a:r>
              <a:r>
                <a:rPr sz="1400" b="1" spc="-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79" dirty="0">
                  <a:solidFill>
                    <a:srgbClr val="C00000"/>
                  </a:solidFill>
                  <a:latin typeface="Arial"/>
                  <a:cs typeface="Arial"/>
                </a:rPr>
                <a:t>these</a:t>
              </a:r>
              <a:r>
                <a:rPr sz="1400" b="1" spc="-1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59" dirty="0">
                  <a:solidFill>
                    <a:srgbClr val="C00000"/>
                  </a:solidFill>
                  <a:latin typeface="Arial"/>
                  <a:cs typeface="Arial"/>
                </a:rPr>
                <a:t>U-</a:t>
              </a:r>
              <a:r>
                <a:rPr sz="1400" b="1" spc="-64" dirty="0">
                  <a:solidFill>
                    <a:srgbClr val="C00000"/>
                  </a:solidFill>
                  <a:latin typeface="Arial"/>
                  <a:cs typeface="Arial"/>
                </a:rPr>
                <a:t>turns,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34" dirty="0">
                  <a:solidFill>
                    <a:srgbClr val="C00000"/>
                  </a:solidFill>
                  <a:latin typeface="Arial"/>
                  <a:cs typeface="Arial"/>
                </a:rPr>
                <a:t>it</a:t>
              </a:r>
              <a:r>
                <a:rPr sz="1400" b="1" spc="-11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still </a:t>
              </a:r>
              <a:r>
                <a:rPr sz="1400" b="1" spc="-93" dirty="0">
                  <a:solidFill>
                    <a:srgbClr val="C00000"/>
                  </a:solidFill>
                  <a:latin typeface="Arial"/>
                  <a:cs typeface="Arial"/>
                </a:rPr>
                <a:t>converges</a:t>
              </a:r>
              <a:r>
                <a:rPr sz="1400" b="1" spc="-1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73" dirty="0">
                  <a:solidFill>
                    <a:srgbClr val="C00000"/>
                  </a:solidFill>
                  <a:latin typeface="Arial"/>
                  <a:cs typeface="Arial"/>
                </a:rPr>
                <a:t>faster</a:t>
              </a:r>
              <a:r>
                <a:rPr sz="1400" b="1" spc="-1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84" dirty="0">
                  <a:solidFill>
                    <a:srgbClr val="C00000"/>
                  </a:solidFill>
                  <a:latin typeface="Arial"/>
                  <a:cs typeface="Arial"/>
                </a:rPr>
                <a:t>than</a:t>
              </a:r>
              <a:r>
                <a:rPr sz="1400" b="1" spc="-1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70" dirty="0">
                  <a:solidFill>
                    <a:srgbClr val="C00000"/>
                  </a:solidFill>
                  <a:latin typeface="Arial"/>
                  <a:cs typeface="Arial"/>
                </a:rPr>
                <a:t>vanilla</a:t>
              </a:r>
              <a:r>
                <a:rPr sz="1400" b="1" spc="-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70" dirty="0">
                  <a:solidFill>
                    <a:srgbClr val="C00000"/>
                  </a:solidFill>
                  <a:latin typeface="Arial"/>
                  <a:cs typeface="Arial"/>
                </a:rPr>
                <a:t>gradient</a:t>
              </a:r>
              <a:r>
                <a:rPr sz="1400" b="1" spc="-17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descent</a:t>
              </a: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897190" y="968550"/>
              <a:ext cx="3311128" cy="491601"/>
            </a:xfrm>
            <a:prstGeom prst="rect">
              <a:avLst/>
            </a:prstGeom>
          </p:spPr>
          <p:txBody>
            <a:bodyPr vert="horz" wrap="square" lIns="0" tIns="6787" rIns="0" bIns="0" rtlCol="0">
              <a:spAutoFit/>
            </a:bodyPr>
            <a:lstStyle/>
            <a:p>
              <a:pPr marL="7144" marR="2858">
                <a:spcBef>
                  <a:spcPts val="53"/>
                </a:spcBef>
              </a:pPr>
              <a:r>
                <a:rPr sz="1575" b="1" spc="-172" dirty="0">
                  <a:solidFill>
                    <a:srgbClr val="C00000"/>
                  </a:solidFill>
                  <a:latin typeface="Arial"/>
                  <a:cs typeface="Arial"/>
                </a:rPr>
                <a:t>momentum</a:t>
              </a:r>
              <a:r>
                <a:rPr sz="1575" b="1" spc="-42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46" dirty="0">
                  <a:solidFill>
                    <a:srgbClr val="C00000"/>
                  </a:solidFill>
                  <a:latin typeface="Arial"/>
                  <a:cs typeface="Arial"/>
                </a:rPr>
                <a:t>would</a:t>
              </a:r>
              <a:r>
                <a:rPr sz="1575" b="1" spc="-37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49" dirty="0">
                  <a:solidFill>
                    <a:srgbClr val="C00000"/>
                  </a:solidFill>
                  <a:latin typeface="Arial"/>
                  <a:cs typeface="Arial"/>
                </a:rPr>
                <a:t>cause</a:t>
              </a:r>
              <a:r>
                <a:rPr sz="1575" b="1" spc="-25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66" dirty="0">
                  <a:solidFill>
                    <a:srgbClr val="C00000"/>
                  </a:solidFill>
                  <a:latin typeface="Arial"/>
                  <a:cs typeface="Arial"/>
                </a:rPr>
                <a:t>us</a:t>
              </a:r>
              <a:r>
                <a:rPr sz="1575" b="1" spc="-2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32" dirty="0">
                  <a:solidFill>
                    <a:srgbClr val="C00000"/>
                  </a:solidFill>
                  <a:latin typeface="Arial"/>
                  <a:cs typeface="Arial"/>
                </a:rPr>
                <a:t>to</a:t>
              </a:r>
              <a:r>
                <a:rPr sz="1575" b="1" spc="-42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52" dirty="0">
                  <a:solidFill>
                    <a:srgbClr val="C00000"/>
                  </a:solidFill>
                  <a:latin typeface="Arial"/>
                  <a:cs typeface="Arial"/>
                </a:rPr>
                <a:t>overshoot </a:t>
              </a:r>
              <a:r>
                <a:rPr sz="1575" b="1" spc="-143" dirty="0">
                  <a:solidFill>
                    <a:srgbClr val="C00000"/>
                  </a:solidFill>
                  <a:latin typeface="Arial"/>
                  <a:cs typeface="Arial"/>
                </a:rPr>
                <a:t>and</a:t>
              </a:r>
              <a:r>
                <a:rPr sz="1575" b="1" spc="-37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41" dirty="0">
                  <a:solidFill>
                    <a:srgbClr val="C00000"/>
                  </a:solidFill>
                  <a:latin typeface="Arial"/>
                  <a:cs typeface="Arial"/>
                </a:rPr>
                <a:t>run</a:t>
              </a:r>
              <a:r>
                <a:rPr sz="1575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35" dirty="0">
                  <a:solidFill>
                    <a:srgbClr val="C00000"/>
                  </a:solidFill>
                  <a:latin typeface="Arial"/>
                  <a:cs typeface="Arial"/>
                </a:rPr>
                <a:t>past</a:t>
              </a:r>
              <a:r>
                <a:rPr sz="1575" b="1" spc="-37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46" dirty="0">
                  <a:solidFill>
                    <a:srgbClr val="C00000"/>
                  </a:solidFill>
                  <a:latin typeface="Arial"/>
                  <a:cs typeface="Arial"/>
                </a:rPr>
                <a:t>our</a:t>
              </a:r>
              <a:r>
                <a:rPr sz="1575" b="1" spc="-31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6" dirty="0">
                  <a:solidFill>
                    <a:srgbClr val="C00000"/>
                  </a:solidFill>
                  <a:latin typeface="Arial"/>
                  <a:cs typeface="Arial"/>
                </a:rPr>
                <a:t>goal!</a:t>
              </a:r>
              <a:endParaRPr sz="1575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326809" y="2822720"/>
              <a:ext cx="2970422" cy="459929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>
                <a:spcBef>
                  <a:spcPts val="56"/>
                </a:spcBef>
              </a:pPr>
              <a:r>
                <a:rPr sz="1400" b="1" spc="-127" dirty="0">
                  <a:solidFill>
                    <a:srgbClr val="C00000"/>
                  </a:solidFill>
                  <a:latin typeface="Arial"/>
                  <a:cs typeface="Arial"/>
                </a:rPr>
                <a:t>Can</a:t>
              </a:r>
              <a:r>
                <a:rPr sz="1400" b="1" spc="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93" dirty="0">
                  <a:solidFill>
                    <a:srgbClr val="C00000"/>
                  </a:solidFill>
                  <a:latin typeface="Arial"/>
                  <a:cs typeface="Arial"/>
                </a:rPr>
                <a:t>we</a:t>
              </a:r>
              <a:r>
                <a:rPr sz="1400" b="1" spc="-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110" dirty="0">
                  <a:solidFill>
                    <a:srgbClr val="C00000"/>
                  </a:solidFill>
                  <a:latin typeface="Arial"/>
                  <a:cs typeface="Arial"/>
                </a:rPr>
                <a:t>do</a:t>
              </a:r>
              <a:r>
                <a:rPr sz="1400" b="1" spc="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93" dirty="0">
                  <a:solidFill>
                    <a:srgbClr val="C00000"/>
                  </a:solidFill>
                  <a:latin typeface="Arial"/>
                  <a:cs typeface="Arial"/>
                </a:rPr>
                <a:t>something</a:t>
              </a:r>
              <a:r>
                <a:rPr sz="1400" b="1" spc="-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82" dirty="0">
                  <a:solidFill>
                    <a:srgbClr val="C00000"/>
                  </a:solidFill>
                  <a:latin typeface="Arial"/>
                  <a:cs typeface="Arial"/>
                </a:rPr>
                <a:t>to</a:t>
              </a:r>
              <a:r>
                <a:rPr sz="1400" b="1" spc="-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87" dirty="0">
                  <a:solidFill>
                    <a:srgbClr val="C00000"/>
                  </a:solidFill>
                  <a:latin typeface="Arial"/>
                  <a:cs typeface="Arial"/>
                </a:rPr>
                <a:t>reduce</a:t>
              </a:r>
              <a:r>
                <a:rPr sz="1400" b="1" spc="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70" dirty="0">
                  <a:solidFill>
                    <a:srgbClr val="C00000"/>
                  </a:solidFill>
                  <a:latin typeface="Arial"/>
                  <a:cs typeface="Arial"/>
                </a:rPr>
                <a:t>the</a:t>
              </a:r>
              <a:r>
                <a:rPr sz="1400" b="1" spc="-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70" dirty="0">
                  <a:solidFill>
                    <a:srgbClr val="C00000"/>
                  </a:solidFill>
                  <a:latin typeface="Arial"/>
                  <a:cs typeface="Arial"/>
                </a:rPr>
                <a:t>oscillations/U-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turns? </a:t>
              </a:r>
              <a:r>
                <a:rPr sz="1400" b="1" spc="-84" dirty="0">
                  <a:solidFill>
                    <a:srgbClr val="C00000"/>
                  </a:solidFill>
                  <a:latin typeface="Arial"/>
                  <a:cs typeface="Arial"/>
                </a:rPr>
                <a:t>Yes,</a:t>
              </a:r>
              <a:r>
                <a:rPr sz="1400" b="1" spc="-2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90" dirty="0">
                  <a:solidFill>
                    <a:srgbClr val="C00000"/>
                  </a:solidFill>
                  <a:latin typeface="Arial"/>
                  <a:cs typeface="Arial"/>
                </a:rPr>
                <a:t>Nesterov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82" dirty="0">
                  <a:solidFill>
                    <a:srgbClr val="C00000"/>
                  </a:solidFill>
                  <a:latin typeface="Arial"/>
                  <a:cs typeface="Arial"/>
                </a:rPr>
                <a:t>Accelerated</a:t>
              </a:r>
              <a:r>
                <a:rPr sz="1400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84" dirty="0">
                  <a:solidFill>
                    <a:srgbClr val="C00000"/>
                  </a:solidFill>
                  <a:latin typeface="Arial"/>
                  <a:cs typeface="Arial"/>
                </a:rPr>
                <a:t>Gradient</a:t>
              </a:r>
              <a:r>
                <a:rPr sz="1400" b="1" spc="-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90" dirty="0">
                  <a:solidFill>
                    <a:srgbClr val="C00000"/>
                  </a:solidFill>
                  <a:latin typeface="Arial"/>
                  <a:cs typeface="Arial"/>
                </a:rPr>
                <a:t>Descent</a:t>
              </a:r>
              <a:r>
                <a:rPr sz="1400" b="1" spc="-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84" dirty="0">
                  <a:solidFill>
                    <a:srgbClr val="C00000"/>
                  </a:solidFill>
                  <a:latin typeface="Arial"/>
                  <a:cs typeface="Arial"/>
                </a:rPr>
                <a:t>helps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110" dirty="0">
                  <a:solidFill>
                    <a:srgbClr val="C00000"/>
                  </a:solidFill>
                  <a:latin typeface="Arial"/>
                  <a:cs typeface="Arial"/>
                </a:rPr>
                <a:t>us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110" dirty="0">
                  <a:solidFill>
                    <a:srgbClr val="C00000"/>
                  </a:solidFill>
                  <a:latin typeface="Arial"/>
                  <a:cs typeface="Arial"/>
                </a:rPr>
                <a:t>do</a:t>
              </a:r>
              <a:r>
                <a:rPr sz="1400" b="1" spc="-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400" b="1" spc="-17" dirty="0">
                  <a:solidFill>
                    <a:srgbClr val="C00000"/>
                  </a:solidFill>
                  <a:latin typeface="Arial"/>
                  <a:cs typeface="Arial"/>
                </a:rPr>
                <a:t>just </a:t>
              </a:r>
              <a:r>
                <a:rPr sz="1400" b="1" spc="-6" dirty="0">
                  <a:solidFill>
                    <a:srgbClr val="C00000"/>
                  </a:solidFill>
                  <a:latin typeface="Arial"/>
                  <a:cs typeface="Arial"/>
                </a:rPr>
                <a:t>that.</a:t>
              </a:r>
              <a:endParaRPr sz="1400" dirty="0">
                <a:latin typeface="Arial"/>
                <a:cs typeface="Arial"/>
              </a:endParaRPr>
            </a:p>
          </p:txBody>
        </p:sp>
      </p:grpSp>
      <p:pic>
        <p:nvPicPr>
          <p:cNvPr id="8" name="Picture 7" descr="A red and blue contour&#10;&#10;AI-generated content may be incorrect.">
            <a:extLst>
              <a:ext uri="{FF2B5EF4-FFF2-40B4-BE49-F238E27FC236}">
                <a16:creationId xmlns:a16="http://schemas.microsoft.com/office/drawing/2014/main" id="{53939C28-6D1A-CCFE-5841-35ABEA24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46" y="1057409"/>
            <a:ext cx="4799526" cy="30152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87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3"/>
              </a:spcBef>
            </a:pPr>
            <a:r>
              <a:rPr sz="2250" spc="-191" dirty="0"/>
              <a:t>Nesterov</a:t>
            </a:r>
            <a:r>
              <a:rPr sz="2250" spc="-42" dirty="0"/>
              <a:t> </a:t>
            </a:r>
            <a:r>
              <a:rPr sz="2250" spc="-177" dirty="0"/>
              <a:t>Accelerated</a:t>
            </a:r>
            <a:r>
              <a:rPr sz="2250" spc="-48" dirty="0"/>
              <a:t> </a:t>
            </a:r>
            <a:r>
              <a:rPr sz="2250" spc="-177" dirty="0"/>
              <a:t>Gradient</a:t>
            </a:r>
            <a:r>
              <a:rPr sz="2250" spc="-37" dirty="0"/>
              <a:t> </a:t>
            </a:r>
            <a:r>
              <a:rPr sz="2250" spc="-188" dirty="0"/>
              <a:t>Descent</a:t>
            </a:r>
            <a:r>
              <a:rPr sz="2250" spc="-48" dirty="0"/>
              <a:t> </a:t>
            </a:r>
            <a:r>
              <a:rPr sz="2250" spc="-217" dirty="0"/>
              <a:t>(NAG)</a:t>
            </a:r>
            <a:endParaRPr sz="22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48AB0F-D0E5-89C8-92FA-D57A300694A3}"/>
              </a:ext>
            </a:extLst>
          </p:cNvPr>
          <p:cNvGrpSpPr/>
          <p:nvPr/>
        </p:nvGrpSpPr>
        <p:grpSpPr>
          <a:xfrm>
            <a:off x="533400" y="962107"/>
            <a:ext cx="11430000" cy="5167952"/>
            <a:chOff x="2667000" y="430820"/>
            <a:chExt cx="6821113" cy="297073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0" y="752665"/>
              <a:ext cx="3129387" cy="1510475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2693891" y="430820"/>
              <a:ext cx="3482940" cy="251630"/>
            </a:xfrm>
            <a:prstGeom prst="rect">
              <a:avLst/>
            </a:prstGeom>
          </p:spPr>
          <p:txBody>
            <a:bodyPr vert="horz" wrap="square" lIns="0" tIns="6787" rIns="0" bIns="0" rtlCol="0">
              <a:spAutoFit/>
            </a:bodyPr>
            <a:lstStyle/>
            <a:p>
              <a:pPr marL="7144">
                <a:spcBef>
                  <a:spcPts val="53"/>
                </a:spcBef>
              </a:pPr>
              <a:r>
                <a:rPr sz="2800" dirty="0">
                  <a:solidFill>
                    <a:srgbClr val="C00000"/>
                  </a:solidFill>
                  <a:latin typeface="Calibri"/>
                  <a:cs typeface="Calibri"/>
                </a:rPr>
                <a:t>Intuition</a:t>
              </a:r>
              <a:r>
                <a:rPr sz="2800" spc="-17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800" dirty="0">
                  <a:solidFill>
                    <a:srgbClr val="C00000"/>
                  </a:solidFill>
                  <a:latin typeface="Calibri"/>
                  <a:cs typeface="Calibri"/>
                </a:rPr>
                <a:t>:</a:t>
              </a:r>
              <a:r>
                <a:rPr sz="2800" spc="-28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800" i="1" dirty="0">
                  <a:solidFill>
                    <a:srgbClr val="C00000"/>
                  </a:solidFill>
                  <a:latin typeface="Calibri"/>
                  <a:cs typeface="Calibri"/>
                </a:rPr>
                <a:t>Look</a:t>
              </a:r>
              <a:r>
                <a:rPr sz="2800" i="1" spc="-3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800" i="1" dirty="0">
                  <a:solidFill>
                    <a:srgbClr val="C00000"/>
                  </a:solidFill>
                  <a:latin typeface="Calibri"/>
                  <a:cs typeface="Calibri"/>
                </a:rPr>
                <a:t>ahead</a:t>
              </a:r>
              <a:r>
                <a:rPr sz="2800" i="1" spc="-3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800" i="1" dirty="0">
                  <a:solidFill>
                    <a:srgbClr val="C00000"/>
                  </a:solidFill>
                  <a:latin typeface="Calibri"/>
                  <a:cs typeface="Calibri"/>
                </a:rPr>
                <a:t>before</a:t>
              </a:r>
              <a:r>
                <a:rPr sz="2800" i="1" spc="-25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800" i="1" dirty="0">
                  <a:solidFill>
                    <a:srgbClr val="C00000"/>
                  </a:solidFill>
                  <a:latin typeface="Calibri"/>
                  <a:cs typeface="Calibri"/>
                </a:rPr>
                <a:t>you</a:t>
              </a:r>
              <a:r>
                <a:rPr sz="2800" i="1" spc="-3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800" i="1" spc="-6" dirty="0">
                  <a:solidFill>
                    <a:srgbClr val="C00000"/>
                  </a:solidFill>
                  <a:latin typeface="Calibri"/>
                  <a:cs typeface="Calibri"/>
                </a:rPr>
                <a:t>leap!</a:t>
              </a:r>
              <a:endParaRPr sz="2800" dirty="0">
                <a:latin typeface="Calibri"/>
                <a:cs typeface="Calibri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923832" y="2390584"/>
              <a:ext cx="2437090" cy="1010974"/>
            </a:xfrm>
            <a:prstGeom prst="rect">
              <a:avLst/>
            </a:prstGeom>
          </p:spPr>
          <p:txBody>
            <a:bodyPr vert="horz" wrap="square" lIns="0" tIns="6787" rIns="0" bIns="0" rtlCol="0">
              <a:spAutoFit/>
            </a:bodyPr>
            <a:lstStyle/>
            <a:p>
              <a:pPr marL="21431" marR="17145">
                <a:spcBef>
                  <a:spcPts val="53"/>
                </a:spcBef>
              </a:pPr>
              <a:r>
                <a:rPr sz="1575" b="1" spc="-127" dirty="0">
                  <a:solidFill>
                    <a:srgbClr val="C00000"/>
                  </a:solidFill>
                  <a:latin typeface="Arial"/>
                  <a:cs typeface="Arial"/>
                </a:rPr>
                <a:t>Calculate</a:t>
              </a:r>
              <a:r>
                <a:rPr sz="1575" b="1" spc="-1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15" dirty="0">
                  <a:solidFill>
                    <a:srgbClr val="C00000"/>
                  </a:solidFill>
                  <a:latin typeface="Arial"/>
                  <a:cs typeface="Arial"/>
                </a:rPr>
                <a:t>the</a:t>
              </a:r>
              <a:r>
                <a:rPr sz="1575" b="1" spc="-2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15" dirty="0">
                  <a:solidFill>
                    <a:srgbClr val="C00000"/>
                  </a:solidFill>
                  <a:latin typeface="Arial"/>
                  <a:cs typeface="Arial"/>
                </a:rPr>
                <a:t>gradient</a:t>
              </a:r>
              <a:r>
                <a:rPr sz="1575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93" dirty="0">
                  <a:solidFill>
                    <a:srgbClr val="C00000"/>
                  </a:solidFill>
                  <a:latin typeface="Arial"/>
                  <a:cs typeface="Arial"/>
                </a:rPr>
                <a:t>at</a:t>
              </a:r>
              <a:r>
                <a:rPr sz="1575" b="1" spc="-14" dirty="0">
                  <a:solidFill>
                    <a:srgbClr val="C00000"/>
                  </a:solidFill>
                  <a:latin typeface="Arial"/>
                  <a:cs typeface="Arial"/>
                </a:rPr>
                <a:t> the </a:t>
              </a:r>
              <a:r>
                <a:rPr sz="1575" b="1" spc="-93" dirty="0">
                  <a:solidFill>
                    <a:srgbClr val="C00000"/>
                  </a:solidFill>
                  <a:latin typeface="Arial"/>
                  <a:cs typeface="Arial"/>
                </a:rPr>
                <a:t>partially</a:t>
              </a:r>
              <a:r>
                <a:rPr sz="1575" b="1" spc="-3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38" dirty="0">
                  <a:solidFill>
                    <a:srgbClr val="C00000"/>
                  </a:solidFill>
                  <a:latin typeface="Arial"/>
                  <a:cs typeface="Arial"/>
                </a:rPr>
                <a:t>updated</a:t>
              </a:r>
              <a:r>
                <a:rPr sz="1575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29" dirty="0">
                  <a:solidFill>
                    <a:srgbClr val="C00000"/>
                  </a:solidFill>
                  <a:latin typeface="Arial"/>
                  <a:cs typeface="Arial"/>
                </a:rPr>
                <a:t>value</a:t>
              </a:r>
              <a:r>
                <a:rPr sz="1575" b="1" spc="-11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b="1" spc="-84" dirty="0">
                  <a:latin typeface="Arial"/>
                  <a:cs typeface="Arial"/>
                </a:rPr>
                <a:t>w</a:t>
              </a:r>
              <a:r>
                <a:rPr sz="1772" b="1" spc="-127" baseline="-21164" dirty="0">
                  <a:latin typeface="Arial"/>
                  <a:cs typeface="Arial"/>
                </a:rPr>
                <a:t>temp </a:t>
              </a:r>
              <a:r>
                <a:rPr sz="1575" b="1" spc="-124" dirty="0">
                  <a:solidFill>
                    <a:srgbClr val="C00000"/>
                  </a:solidFill>
                  <a:latin typeface="Arial"/>
                  <a:cs typeface="Arial"/>
                </a:rPr>
                <a:t>instead</a:t>
              </a:r>
              <a:r>
                <a:rPr sz="1575" b="1" spc="-14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41" dirty="0">
                  <a:solidFill>
                    <a:srgbClr val="C00000"/>
                  </a:solidFill>
                  <a:latin typeface="Arial"/>
                  <a:cs typeface="Arial"/>
                </a:rPr>
                <a:t>of</a:t>
              </a:r>
              <a:r>
                <a:rPr sz="1575" b="1" spc="-25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18" dirty="0">
                  <a:solidFill>
                    <a:srgbClr val="C00000"/>
                  </a:solidFill>
                  <a:latin typeface="Arial"/>
                  <a:cs typeface="Arial"/>
                </a:rPr>
                <a:t>calculating</a:t>
              </a:r>
              <a:r>
                <a:rPr sz="1575" b="1" spc="-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1" dirty="0">
                  <a:solidFill>
                    <a:srgbClr val="C00000"/>
                  </a:solidFill>
                  <a:latin typeface="Arial"/>
                  <a:cs typeface="Arial"/>
                </a:rPr>
                <a:t>using </a:t>
              </a:r>
              <a:r>
                <a:rPr sz="1575" b="1" spc="-115" dirty="0">
                  <a:solidFill>
                    <a:srgbClr val="C00000"/>
                  </a:solidFill>
                  <a:latin typeface="Arial"/>
                  <a:cs typeface="Arial"/>
                </a:rPr>
                <a:t>the</a:t>
              </a:r>
              <a:r>
                <a:rPr sz="1575" b="1" spc="-2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29" dirty="0">
                  <a:solidFill>
                    <a:srgbClr val="C00000"/>
                  </a:solidFill>
                  <a:latin typeface="Arial"/>
                  <a:cs typeface="Arial"/>
                </a:rPr>
                <a:t>current</a:t>
              </a:r>
              <a:r>
                <a:rPr sz="1575" b="1" spc="-8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29" dirty="0">
                  <a:solidFill>
                    <a:srgbClr val="C00000"/>
                  </a:solidFill>
                  <a:latin typeface="Arial"/>
                  <a:cs typeface="Arial"/>
                </a:rPr>
                <a:t>value</a:t>
              </a:r>
              <a:r>
                <a:rPr sz="1575" b="1" spc="-17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4" dirty="0">
                  <a:latin typeface="Arial"/>
                  <a:cs typeface="Arial"/>
                </a:rPr>
                <a:t>w</a:t>
              </a:r>
              <a:r>
                <a:rPr sz="1561" b="1" spc="-21" baseline="-21021" dirty="0">
                  <a:latin typeface="Arial"/>
                  <a:cs typeface="Arial"/>
                </a:rPr>
                <a:t>t</a:t>
              </a:r>
              <a:endParaRPr sz="1561" baseline="-21021">
                <a:latin typeface="Arial"/>
                <a:cs typeface="Arial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9838" y="827246"/>
              <a:ext cx="3508275" cy="1508070"/>
            </a:xfrm>
            <a:prstGeom prst="rect">
              <a:avLst/>
            </a:prstGeom>
          </p:spPr>
        </p:pic>
        <p:sp>
          <p:nvSpPr>
            <p:cNvPr id="7" name="object 7"/>
            <p:cNvSpPr txBox="1"/>
            <p:nvPr/>
          </p:nvSpPr>
          <p:spPr>
            <a:xfrm>
              <a:off x="5460778" y="2510885"/>
              <a:ext cx="3837265" cy="862701"/>
            </a:xfrm>
            <a:prstGeom prst="rect">
              <a:avLst/>
            </a:prstGeom>
            <a:solidFill>
              <a:srgbClr val="DEEBF7"/>
            </a:solidFill>
          </p:spPr>
          <p:txBody>
            <a:bodyPr vert="horz" wrap="square" lIns="0" tIns="23217" rIns="0" bIns="0" rtlCol="0">
              <a:spAutoFit/>
            </a:bodyPr>
            <a:lstStyle/>
            <a:p>
              <a:pPr marL="51792" marR="82153" algn="just">
                <a:spcBef>
                  <a:spcPts val="183"/>
                </a:spcBef>
              </a:pP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NAG’s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case,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every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0" dirty="0">
                  <a:solidFill>
                    <a:srgbClr val="292929"/>
                  </a:solidFill>
                  <a:latin typeface="Tahoma"/>
                  <a:cs typeface="Tahoma"/>
                </a:rPr>
                <a:t>update</a:t>
              </a:r>
              <a:r>
                <a:rPr sz="16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happens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in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two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steps</a:t>
              </a:r>
              <a:r>
                <a:rPr sz="1600" spc="-1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—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first,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87" dirty="0">
                  <a:solidFill>
                    <a:srgbClr val="292929"/>
                  </a:solidFill>
                  <a:latin typeface="Tahoma"/>
                  <a:cs typeface="Tahoma"/>
                </a:rPr>
                <a:t>a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partial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8" dirty="0">
                  <a:solidFill>
                    <a:srgbClr val="292929"/>
                  </a:solidFill>
                  <a:latin typeface="Tahoma"/>
                  <a:cs typeface="Tahoma"/>
                </a:rPr>
                <a:t>update,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9" dirty="0">
                  <a:solidFill>
                    <a:srgbClr val="292929"/>
                  </a:solidFill>
                  <a:latin typeface="Tahoma"/>
                  <a:cs typeface="Tahoma"/>
                </a:rPr>
                <a:t>where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3" dirty="0">
                  <a:solidFill>
                    <a:srgbClr val="292929"/>
                  </a:solidFill>
                  <a:latin typeface="Tahoma"/>
                  <a:cs typeface="Tahoma"/>
                </a:rPr>
                <a:t>we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get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i="1" spc="-70" dirty="0">
                  <a:solidFill>
                    <a:srgbClr val="292929"/>
                  </a:solidFill>
                  <a:latin typeface="Arial"/>
                  <a:cs typeface="Arial"/>
                </a:rPr>
                <a:t>look_ahead</a:t>
              </a:r>
              <a:r>
                <a:rPr sz="1600" i="1" spc="-3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600" spc="-53" dirty="0">
                  <a:solidFill>
                    <a:srgbClr val="292929"/>
                  </a:solidFill>
                  <a:latin typeface="Tahoma"/>
                  <a:cs typeface="Tahoma"/>
                </a:rPr>
                <a:t>point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8" dirty="0">
                  <a:solidFill>
                    <a:srgbClr val="292929"/>
                  </a:solidFill>
                  <a:latin typeface="Tahoma"/>
                  <a:cs typeface="Tahoma"/>
                </a:rPr>
                <a:t>and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then</a:t>
              </a:r>
              <a:r>
                <a:rPr sz="16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final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update</a:t>
              </a:r>
              <a:r>
                <a:rPr sz="1600" spc="-3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which</a:t>
              </a:r>
              <a:r>
                <a:rPr sz="16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is </a:t>
              </a:r>
              <a:r>
                <a:rPr sz="1600" spc="-59" dirty="0">
                  <a:solidFill>
                    <a:srgbClr val="292929"/>
                  </a:solidFill>
                  <a:latin typeface="Tahoma"/>
                  <a:cs typeface="Tahoma"/>
                </a:rPr>
                <a:t>negative</a:t>
              </a:r>
              <a:endParaRPr sz="1600" dirty="0">
                <a:latin typeface="Tahoma"/>
                <a:cs typeface="Tahoma"/>
              </a:endParaRPr>
            </a:p>
            <a:p>
              <a:pPr marL="51792" marR="103584"/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This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negative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1" dirty="0">
                  <a:solidFill>
                    <a:srgbClr val="292929"/>
                  </a:solidFill>
                  <a:latin typeface="Tahoma"/>
                  <a:cs typeface="Tahoma"/>
                </a:rPr>
                <a:t>final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0" dirty="0">
                  <a:solidFill>
                    <a:srgbClr val="292929"/>
                  </a:solidFill>
                  <a:latin typeface="Tahoma"/>
                  <a:cs typeface="Tahoma"/>
                </a:rPr>
                <a:t>update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39" dirty="0">
                  <a:solidFill>
                    <a:srgbClr val="292929"/>
                  </a:solidFill>
                  <a:latin typeface="Tahoma"/>
                  <a:cs typeface="Tahoma"/>
                </a:rPr>
                <a:t>slightly</a:t>
              </a:r>
              <a:r>
                <a:rPr sz="1600" spc="-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8" dirty="0">
                  <a:solidFill>
                    <a:srgbClr val="292929"/>
                  </a:solidFill>
                  <a:latin typeface="Tahoma"/>
                  <a:cs typeface="Tahoma"/>
                </a:rPr>
                <a:t>reduces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3" dirty="0">
                  <a:solidFill>
                    <a:srgbClr val="292929"/>
                  </a:solidFill>
                  <a:latin typeface="Tahoma"/>
                  <a:cs typeface="Tahoma"/>
                </a:rPr>
                <a:t>overall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magnitude</a:t>
              </a:r>
              <a:r>
                <a:rPr sz="1600" spc="-1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14" dirty="0">
                  <a:solidFill>
                    <a:srgbClr val="292929"/>
                  </a:solidFill>
                  <a:latin typeface="Tahoma"/>
                  <a:cs typeface="Tahoma"/>
                </a:rPr>
                <a:t>the </a:t>
              </a:r>
              <a:r>
                <a:rPr sz="1600" spc="-76" dirty="0">
                  <a:solidFill>
                    <a:srgbClr val="292929"/>
                  </a:solidFill>
                  <a:latin typeface="Tahoma"/>
                  <a:cs typeface="Tahoma"/>
                </a:rPr>
                <a:t>update,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still 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resulting</a:t>
              </a:r>
              <a:r>
                <a:rPr sz="16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in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6" dirty="0">
                  <a:solidFill>
                    <a:srgbClr val="292929"/>
                  </a:solidFill>
                  <a:latin typeface="Tahoma"/>
                  <a:cs typeface="Tahoma"/>
                </a:rPr>
                <a:t>an</a:t>
              </a:r>
              <a:r>
                <a:rPr sz="16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5" dirty="0">
                  <a:solidFill>
                    <a:srgbClr val="292929"/>
                  </a:solidFill>
                  <a:latin typeface="Tahoma"/>
                  <a:cs typeface="Tahoma"/>
                </a:rPr>
                <a:t>overshoot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4" dirty="0">
                  <a:solidFill>
                    <a:srgbClr val="292929"/>
                  </a:solidFill>
                  <a:latin typeface="Tahoma"/>
                  <a:cs typeface="Tahoma"/>
                </a:rPr>
                <a:t>but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90" dirty="0">
                  <a:solidFill>
                    <a:srgbClr val="292929"/>
                  </a:solidFill>
                  <a:latin typeface="Tahoma"/>
                  <a:cs typeface="Tahoma"/>
                </a:rPr>
                <a:t>a</a:t>
              </a:r>
              <a:r>
                <a:rPr sz="1600" spc="-3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42" dirty="0">
                  <a:solidFill>
                    <a:srgbClr val="292929"/>
                  </a:solidFill>
                  <a:latin typeface="Tahoma"/>
                  <a:cs typeface="Tahoma"/>
                </a:rPr>
                <a:t>smaller</a:t>
              </a:r>
              <a:r>
                <a:rPr sz="16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one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70" dirty="0">
                  <a:solidFill>
                    <a:srgbClr val="292929"/>
                  </a:solidFill>
                  <a:latin typeface="Tahoma"/>
                  <a:cs typeface="Tahoma"/>
                </a:rPr>
                <a:t>when</a:t>
              </a:r>
              <a:r>
                <a:rPr sz="16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34" dirty="0">
                  <a:solidFill>
                    <a:srgbClr val="292929"/>
                  </a:solidFill>
                  <a:latin typeface="Tahoma"/>
                  <a:cs typeface="Tahoma"/>
                </a:rPr>
                <a:t>compared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600" spc="-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vanilla</a:t>
              </a:r>
              <a:r>
                <a:rPr sz="16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8" dirty="0">
                  <a:solidFill>
                    <a:srgbClr val="292929"/>
                  </a:solidFill>
                  <a:latin typeface="Tahoma"/>
                  <a:cs typeface="Tahoma"/>
                </a:rPr>
                <a:t>momentum-</a:t>
              </a:r>
              <a:r>
                <a:rPr sz="1600" spc="-56" dirty="0">
                  <a:solidFill>
                    <a:srgbClr val="292929"/>
                  </a:solidFill>
                  <a:latin typeface="Tahoma"/>
                  <a:cs typeface="Tahoma"/>
                </a:rPr>
                <a:t>based</a:t>
              </a:r>
              <a:r>
                <a:rPr sz="1600" spc="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600" spc="-62" dirty="0">
                  <a:solidFill>
                    <a:srgbClr val="292929"/>
                  </a:solidFill>
                  <a:latin typeface="Tahoma"/>
                  <a:cs typeface="Tahoma"/>
                </a:rPr>
                <a:t>gradient</a:t>
              </a:r>
              <a:r>
                <a:rPr sz="1600" spc="-6" dirty="0">
                  <a:solidFill>
                    <a:srgbClr val="292929"/>
                  </a:solidFill>
                  <a:latin typeface="Tahoma"/>
                  <a:cs typeface="Tahoma"/>
                </a:rPr>
                <a:t> descent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323599" y="447199"/>
              <a:ext cx="2898934" cy="101661"/>
            </a:xfrm>
            <a:prstGeom prst="rect">
              <a:avLst/>
            </a:prstGeom>
          </p:spPr>
          <p:txBody>
            <a:bodyPr vert="horz" wrap="square" lIns="0" tIns="7501" rIns="0" bIns="0" rtlCol="0">
              <a:spAutoFit/>
            </a:bodyPr>
            <a:lstStyle/>
            <a:p>
              <a:pPr marL="7144">
                <a:spcBef>
                  <a:spcPts val="59"/>
                </a:spcBef>
              </a:pPr>
              <a:r>
                <a:rPr sz="1100" spc="-39" dirty="0">
                  <a:solidFill>
                    <a:srgbClr val="303A3E"/>
                  </a:solidFill>
                  <a:latin typeface="Tahoma"/>
                  <a:cs typeface="Tahoma"/>
                </a:rPr>
                <a:t>Effectively</a:t>
              </a:r>
              <a:r>
                <a:rPr sz="1100" spc="-1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39" dirty="0">
                  <a:solidFill>
                    <a:srgbClr val="303A3E"/>
                  </a:solidFill>
                  <a:latin typeface="Tahoma"/>
                  <a:cs typeface="Tahoma"/>
                </a:rPr>
                <a:t>look</a:t>
              </a:r>
              <a:r>
                <a:rPr sz="11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59" dirty="0">
                  <a:solidFill>
                    <a:srgbClr val="303A3E"/>
                  </a:solidFill>
                  <a:latin typeface="Tahoma"/>
                  <a:cs typeface="Tahoma"/>
                </a:rPr>
                <a:t>ahead</a:t>
              </a:r>
              <a:r>
                <a:rPr sz="1100" spc="-23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8" dirty="0">
                  <a:solidFill>
                    <a:srgbClr val="303A3E"/>
                  </a:solidFill>
                  <a:latin typeface="Tahoma"/>
                  <a:cs typeface="Tahoma"/>
                </a:rPr>
                <a:t>by</a:t>
              </a:r>
              <a:r>
                <a:rPr sz="1100" spc="-1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39" dirty="0">
                  <a:solidFill>
                    <a:srgbClr val="303A3E"/>
                  </a:solidFill>
                  <a:latin typeface="Tahoma"/>
                  <a:cs typeface="Tahoma"/>
                </a:rPr>
                <a:t>calculating </a:t>
              </a:r>
              <a:r>
                <a:rPr sz="1100" spc="-51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100" spc="-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303A3E"/>
                  </a:solidFill>
                  <a:latin typeface="Tahoma"/>
                  <a:cs typeface="Tahoma"/>
                </a:rPr>
                <a:t>gradient</a:t>
              </a:r>
              <a:r>
                <a:rPr sz="11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2" dirty="0">
                  <a:solidFill>
                    <a:srgbClr val="303A3E"/>
                  </a:solidFill>
                  <a:latin typeface="Tahoma"/>
                  <a:cs typeface="Tahoma"/>
                </a:rPr>
                <a:t>not</a:t>
              </a:r>
              <a:r>
                <a:rPr sz="1100" spc="-1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303A3E"/>
                  </a:solidFill>
                  <a:latin typeface="Tahoma"/>
                  <a:cs typeface="Tahoma"/>
                </a:rPr>
                <a:t>w.r.t.</a:t>
              </a:r>
              <a:r>
                <a:rPr sz="1100" spc="-1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303A3E"/>
                  </a:solidFill>
                  <a:latin typeface="Tahoma"/>
                  <a:cs typeface="Tahoma"/>
                </a:rPr>
                <a:t>to</a:t>
              </a:r>
              <a:r>
                <a:rPr sz="1100" spc="-1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37" dirty="0">
                  <a:solidFill>
                    <a:srgbClr val="303A3E"/>
                  </a:solidFill>
                  <a:latin typeface="Tahoma"/>
                  <a:cs typeface="Tahoma"/>
                </a:rPr>
                <a:t>our</a:t>
              </a:r>
              <a:r>
                <a:rPr sz="11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6" dirty="0">
                  <a:solidFill>
                    <a:srgbClr val="303A3E"/>
                  </a:solidFill>
                  <a:latin typeface="Tahoma"/>
                  <a:cs typeface="Tahoma"/>
                </a:rPr>
                <a:t>current</a:t>
              </a:r>
              <a:endParaRPr sz="1100" dirty="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323599" y="567214"/>
              <a:ext cx="2955727" cy="101661"/>
            </a:xfrm>
            <a:prstGeom prst="rect">
              <a:avLst/>
            </a:prstGeom>
          </p:spPr>
          <p:txBody>
            <a:bodyPr vert="horz" wrap="square" lIns="0" tIns="7501" rIns="0" bIns="0" rtlCol="0">
              <a:spAutoFit/>
            </a:bodyPr>
            <a:lstStyle/>
            <a:p>
              <a:pPr marL="7144">
                <a:spcBef>
                  <a:spcPts val="59"/>
                </a:spcBef>
              </a:pPr>
              <a:r>
                <a:rPr sz="1100" spc="-48" dirty="0">
                  <a:solidFill>
                    <a:srgbClr val="303A3E"/>
                  </a:solidFill>
                  <a:latin typeface="Tahoma"/>
                  <a:cs typeface="Tahoma"/>
                </a:rPr>
                <a:t>parameters</a:t>
              </a:r>
              <a:r>
                <a:rPr sz="11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303A3E"/>
                  </a:solidFill>
                  <a:latin typeface="Tahoma"/>
                  <a:cs typeface="Tahoma"/>
                </a:rPr>
                <a:t>θ</a:t>
              </a:r>
              <a:r>
                <a:rPr sz="1100" spc="-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8" dirty="0">
                  <a:solidFill>
                    <a:srgbClr val="303A3E"/>
                  </a:solidFill>
                  <a:latin typeface="Tahoma"/>
                  <a:cs typeface="Tahoma"/>
                </a:rPr>
                <a:t>but</a:t>
              </a:r>
              <a:r>
                <a:rPr sz="11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303A3E"/>
                  </a:solidFill>
                  <a:latin typeface="Tahoma"/>
                  <a:cs typeface="Tahoma"/>
                </a:rPr>
                <a:t>w.r.t.</a:t>
              </a:r>
              <a:r>
                <a:rPr sz="1100" spc="-1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51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1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48" dirty="0">
                  <a:solidFill>
                    <a:srgbClr val="303A3E"/>
                  </a:solidFill>
                  <a:latin typeface="Tahoma"/>
                  <a:cs typeface="Tahoma"/>
                </a:rPr>
                <a:t>approximate</a:t>
              </a:r>
              <a:r>
                <a:rPr sz="1100" spc="-3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39" dirty="0">
                  <a:solidFill>
                    <a:srgbClr val="303A3E"/>
                  </a:solidFill>
                  <a:latin typeface="Tahoma"/>
                  <a:cs typeface="Tahoma"/>
                </a:rPr>
                <a:t>future</a:t>
              </a:r>
              <a:r>
                <a:rPr sz="11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34" dirty="0">
                  <a:solidFill>
                    <a:srgbClr val="303A3E"/>
                  </a:solidFill>
                  <a:latin typeface="Tahoma"/>
                  <a:cs typeface="Tahoma"/>
                </a:rPr>
                <a:t>position </a:t>
              </a:r>
              <a:r>
                <a:rPr sz="1100" spc="-37" dirty="0">
                  <a:solidFill>
                    <a:srgbClr val="303A3E"/>
                  </a:solidFill>
                  <a:latin typeface="Tahoma"/>
                  <a:cs typeface="Tahoma"/>
                </a:rPr>
                <a:t>of</a:t>
              </a:r>
              <a:r>
                <a:rPr sz="1100" spc="-1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37" dirty="0">
                  <a:solidFill>
                    <a:srgbClr val="303A3E"/>
                  </a:solidFill>
                  <a:latin typeface="Tahoma"/>
                  <a:cs typeface="Tahoma"/>
                </a:rPr>
                <a:t>our</a:t>
              </a:r>
              <a:r>
                <a:rPr sz="11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100" spc="-28" dirty="0">
                  <a:solidFill>
                    <a:srgbClr val="303A3E"/>
                  </a:solidFill>
                  <a:latin typeface="Tahoma"/>
                  <a:cs typeface="Tahoma"/>
                </a:rPr>
                <a:t>parameters:</a:t>
              </a:r>
              <a:endParaRPr sz="1100" dirty="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085392" y="536053"/>
              <a:ext cx="182880" cy="64294"/>
            </a:xfrm>
            <a:custGeom>
              <a:avLst/>
              <a:gdLst/>
              <a:ahLst/>
              <a:cxnLst/>
              <a:rect l="l" t="t" r="r" b="b"/>
              <a:pathLst>
                <a:path w="325120" h="114300">
                  <a:moveTo>
                    <a:pt x="210820" y="0"/>
                  </a:moveTo>
                  <a:lnTo>
                    <a:pt x="210820" y="114300"/>
                  </a:lnTo>
                  <a:lnTo>
                    <a:pt x="287020" y="76200"/>
                  </a:lnTo>
                  <a:lnTo>
                    <a:pt x="229870" y="76200"/>
                  </a:lnTo>
                  <a:lnTo>
                    <a:pt x="229870" y="38100"/>
                  </a:lnTo>
                  <a:lnTo>
                    <a:pt x="287020" y="38100"/>
                  </a:lnTo>
                  <a:lnTo>
                    <a:pt x="210820" y="0"/>
                  </a:lnTo>
                  <a:close/>
                </a:path>
                <a:path w="325120" h="114300">
                  <a:moveTo>
                    <a:pt x="21082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10820" y="76200"/>
                  </a:lnTo>
                  <a:lnTo>
                    <a:pt x="210820" y="38100"/>
                  </a:lnTo>
                  <a:close/>
                </a:path>
                <a:path w="325120" h="114300">
                  <a:moveTo>
                    <a:pt x="287020" y="38100"/>
                  </a:moveTo>
                  <a:lnTo>
                    <a:pt x="229870" y="38100"/>
                  </a:lnTo>
                  <a:lnTo>
                    <a:pt x="229870" y="76200"/>
                  </a:lnTo>
                  <a:lnTo>
                    <a:pt x="287020" y="76200"/>
                  </a:lnTo>
                  <a:lnTo>
                    <a:pt x="325120" y="57150"/>
                  </a:lnTo>
                  <a:lnTo>
                    <a:pt x="28702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276719"/>
            <a:ext cx="11209376" cy="607887"/>
          </a:xfrm>
          <a:prstGeom prst="rect">
            <a:avLst/>
          </a:prstGeom>
        </p:spPr>
        <p:txBody>
          <a:bodyPr vert="horz" wrap="square" lIns="0" tIns="114328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pc="-233" dirty="0"/>
              <a:t>Why</a:t>
            </a:r>
            <a:r>
              <a:rPr spc="-56" dirty="0"/>
              <a:t> </a:t>
            </a:r>
            <a:r>
              <a:rPr spc="-146" dirty="0"/>
              <a:t>adaptive</a:t>
            </a:r>
            <a:r>
              <a:rPr spc="-39" dirty="0"/>
              <a:t> </a:t>
            </a:r>
            <a:r>
              <a:rPr spc="-143" dirty="0"/>
              <a:t>learning</a:t>
            </a:r>
            <a:r>
              <a:rPr spc="-39" dirty="0"/>
              <a:t> </a:t>
            </a:r>
            <a:r>
              <a:rPr spc="-127" dirty="0"/>
              <a:t>rate</a:t>
            </a:r>
            <a:r>
              <a:rPr spc="-37" dirty="0"/>
              <a:t> </a:t>
            </a:r>
            <a:r>
              <a:rPr spc="-163" dirty="0"/>
              <a:t>needed</a:t>
            </a:r>
            <a:r>
              <a:rPr lang="en-US" spc="-163" dirty="0"/>
              <a:t> ?</a:t>
            </a:r>
            <a:endParaRPr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F1D75C-103E-A985-8207-00EB1C937DE3}"/>
              </a:ext>
            </a:extLst>
          </p:cNvPr>
          <p:cNvGrpSpPr/>
          <p:nvPr/>
        </p:nvGrpSpPr>
        <p:grpSpPr>
          <a:xfrm>
            <a:off x="1066800" y="1219200"/>
            <a:ext cx="10820401" cy="4370969"/>
            <a:chOff x="2362200" y="2286000"/>
            <a:chExt cx="7982082" cy="335940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C4D9D1-0AF7-BDA4-663A-7E577FE0163B}"/>
                </a:ext>
              </a:extLst>
            </p:cNvPr>
            <p:cNvGrpSpPr/>
            <p:nvPr/>
          </p:nvGrpSpPr>
          <p:grpSpPr>
            <a:xfrm>
              <a:off x="2362200" y="2286000"/>
              <a:ext cx="7982082" cy="3359405"/>
              <a:chOff x="3067336" y="587220"/>
              <a:chExt cx="6291573" cy="2523136"/>
            </a:xfrm>
          </p:grpSpPr>
          <p:grpSp>
            <p:nvGrpSpPr>
              <p:cNvPr id="3" name="object 3"/>
              <p:cNvGrpSpPr/>
              <p:nvPr/>
            </p:nvGrpSpPr>
            <p:grpSpPr>
              <a:xfrm>
                <a:off x="3067336" y="587220"/>
                <a:ext cx="5100638" cy="2523136"/>
                <a:chOff x="711708" y="1043946"/>
                <a:chExt cx="9067800" cy="4485574"/>
              </a:xfrm>
            </p:grpSpPr>
            <p:pic>
              <p:nvPicPr>
                <p:cNvPr id="4" name="object 4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711708" y="1043946"/>
                  <a:ext cx="9067800" cy="4343768"/>
                </a:xfrm>
                <a:prstGeom prst="rect">
                  <a:avLst/>
                </a:prstGeom>
              </p:spPr>
            </p:pic>
            <p:pic>
              <p:nvPicPr>
                <p:cNvPr id="5" name="object 5"/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044424" y="4018686"/>
                  <a:ext cx="2679025" cy="1510834"/>
                </a:xfrm>
                <a:prstGeom prst="rect">
                  <a:avLst/>
                </a:prstGeom>
              </p:spPr>
            </p:pic>
            <p:pic>
              <p:nvPicPr>
                <p:cNvPr id="6" name="object 6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5766816" y="2784347"/>
                  <a:ext cx="542543" cy="370332"/>
                </a:xfrm>
                <a:prstGeom prst="rect">
                  <a:avLst/>
                </a:prstGeom>
              </p:spPr>
            </p:pic>
            <p:pic>
              <p:nvPicPr>
                <p:cNvPr id="7" name="object 7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656831" y="2884931"/>
                  <a:ext cx="219455" cy="269748"/>
                </a:xfrm>
                <a:prstGeom prst="rect">
                  <a:avLst/>
                </a:prstGeom>
              </p:spPr>
            </p:pic>
            <p:pic>
              <p:nvPicPr>
                <p:cNvPr id="8" name="object 8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612636" y="3169919"/>
                  <a:ext cx="542544" cy="371855"/>
                </a:xfrm>
                <a:prstGeom prst="rect">
                  <a:avLst/>
                </a:prstGeom>
              </p:spPr>
            </p:pic>
            <p:pic>
              <p:nvPicPr>
                <p:cNvPr id="9" name="object 9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5986272" y="3281171"/>
                  <a:ext cx="219455" cy="295655"/>
                </a:xfrm>
                <a:prstGeom prst="rect">
                  <a:avLst/>
                </a:prstGeom>
              </p:spPr>
            </p:pic>
          </p:grpSp>
          <p:sp>
            <p:nvSpPr>
              <p:cNvPr id="13" name="object 13"/>
              <p:cNvSpPr txBox="1"/>
              <p:nvPr/>
            </p:nvSpPr>
            <p:spPr>
              <a:xfrm>
                <a:off x="6448941" y="2069401"/>
                <a:ext cx="2909968" cy="863195"/>
              </a:xfrm>
              <a:prstGeom prst="rect">
                <a:avLst/>
              </a:prstGeom>
              <a:solidFill>
                <a:srgbClr val="FFF1CC"/>
              </a:solidFill>
            </p:spPr>
            <p:txBody>
              <a:bodyPr vert="horz" wrap="square" lIns="0" tIns="17859" rIns="0" bIns="0" rtlCol="0">
                <a:spAutoFit/>
              </a:bodyPr>
              <a:lstStyle/>
              <a:p>
                <a:pPr marL="51792">
                  <a:spcBef>
                    <a:spcPts val="141"/>
                  </a:spcBef>
                </a:pPr>
                <a:r>
                  <a:rPr sz="1600" dirty="0">
                    <a:latin typeface="Calibri"/>
                    <a:cs typeface="Calibri"/>
                  </a:rPr>
                  <a:t>In</a:t>
                </a:r>
                <a:r>
                  <a:rPr sz="1600" spc="-2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real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data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some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spc="-6" dirty="0">
                    <a:latin typeface="Calibri"/>
                    <a:cs typeface="Calibri"/>
                  </a:rPr>
                  <a:t>features</a:t>
                </a:r>
                <a:r>
                  <a:rPr sz="1600" spc="-28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will</a:t>
                </a:r>
                <a:r>
                  <a:rPr sz="1600" spc="-14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be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spc="-6" dirty="0">
                    <a:latin typeface="Calibri"/>
                    <a:cs typeface="Calibri"/>
                  </a:rPr>
                  <a:t>sparse</a:t>
                </a:r>
                <a:r>
                  <a:rPr lang="en-US" sz="1600" spc="-6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and</a:t>
                </a:r>
                <a:r>
                  <a:rPr sz="1600" spc="-6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some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spc="-6" dirty="0">
                    <a:latin typeface="Calibri"/>
                    <a:cs typeface="Calibri"/>
                  </a:rPr>
                  <a:t>dense.</a:t>
                </a:r>
                <a:endParaRPr sz="1600" dirty="0">
                  <a:latin typeface="Calibri"/>
                  <a:cs typeface="Calibri"/>
                </a:endParaRPr>
              </a:p>
              <a:p>
                <a:pPr marL="51792" marR="47149"/>
                <a:r>
                  <a:rPr sz="1600" dirty="0">
                    <a:latin typeface="Calibri"/>
                    <a:cs typeface="Calibri"/>
                  </a:rPr>
                  <a:t>We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want</a:t>
                </a:r>
                <a:r>
                  <a:rPr sz="1600" spc="-2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Ƞ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to</a:t>
                </a:r>
                <a:r>
                  <a:rPr sz="1600" spc="-28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be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aggressive</a:t>
                </a:r>
                <a:r>
                  <a:rPr sz="1600" spc="-34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in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case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spc="-14" dirty="0">
                    <a:latin typeface="Calibri"/>
                    <a:cs typeface="Calibri"/>
                  </a:rPr>
                  <a:t>of </a:t>
                </a:r>
                <a:r>
                  <a:rPr sz="1600" dirty="0">
                    <a:latin typeface="Calibri"/>
                    <a:cs typeface="Calibri"/>
                  </a:rPr>
                  <a:t>sparse</a:t>
                </a:r>
                <a:r>
                  <a:rPr sz="1600" spc="-28" dirty="0">
                    <a:latin typeface="Calibri"/>
                    <a:cs typeface="Calibri"/>
                  </a:rPr>
                  <a:t> </a:t>
                </a:r>
                <a:r>
                  <a:rPr sz="1600" spc="-6" dirty="0">
                    <a:latin typeface="Calibri"/>
                    <a:cs typeface="Calibri"/>
                  </a:rPr>
                  <a:t>features</a:t>
                </a:r>
                <a:r>
                  <a:rPr sz="1600" spc="-37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and</a:t>
                </a:r>
                <a:r>
                  <a:rPr sz="1600" spc="-2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less</a:t>
                </a:r>
                <a:r>
                  <a:rPr sz="1600" spc="-34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aggressive</a:t>
                </a:r>
                <a:r>
                  <a:rPr sz="1600" spc="-37" dirty="0">
                    <a:latin typeface="Calibri"/>
                    <a:cs typeface="Calibri"/>
                  </a:rPr>
                  <a:t> </a:t>
                </a:r>
                <a:r>
                  <a:rPr sz="1600" spc="-14" dirty="0">
                    <a:latin typeface="Calibri"/>
                    <a:cs typeface="Calibri"/>
                  </a:rPr>
                  <a:t>in</a:t>
                </a:r>
                <a:r>
                  <a:rPr sz="1600" spc="281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case</a:t>
                </a:r>
                <a:r>
                  <a:rPr sz="1600" spc="-28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of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dense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features-</a:t>
                </a:r>
                <a:r>
                  <a:rPr sz="1600" spc="180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adaptive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spc="-6" dirty="0">
                    <a:latin typeface="Calibri"/>
                    <a:cs typeface="Calibri"/>
                  </a:rPr>
                  <a:t>learning </a:t>
                </a:r>
                <a:r>
                  <a:rPr sz="1600" dirty="0">
                    <a:latin typeface="Calibri"/>
                    <a:cs typeface="Calibri"/>
                  </a:rPr>
                  <a:t>rate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(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I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don’t</a:t>
                </a:r>
                <a:r>
                  <a:rPr sz="1600" spc="-14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mind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learning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slow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spc="-11" dirty="0">
                    <a:latin typeface="Calibri"/>
                    <a:cs typeface="Calibri"/>
                  </a:rPr>
                  <a:t>when </a:t>
                </a:r>
                <a:r>
                  <a:rPr sz="1600" spc="-6" dirty="0">
                    <a:latin typeface="Calibri"/>
                    <a:cs typeface="Calibri"/>
                  </a:rPr>
                  <a:t>feature</a:t>
                </a:r>
                <a:r>
                  <a:rPr sz="1600" spc="-8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is</a:t>
                </a:r>
                <a:r>
                  <a:rPr sz="1600" spc="-8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ON</a:t>
                </a:r>
                <a:r>
                  <a:rPr sz="1600" spc="-6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all</a:t>
                </a:r>
                <a:r>
                  <a:rPr sz="1600" spc="-8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the</a:t>
                </a:r>
                <a:r>
                  <a:rPr sz="1600" spc="-6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time.</a:t>
                </a:r>
                <a:r>
                  <a:rPr sz="1600" spc="-11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But</a:t>
                </a:r>
                <a:r>
                  <a:rPr sz="1600" spc="-8" dirty="0">
                    <a:latin typeface="Calibri"/>
                    <a:cs typeface="Calibri"/>
                  </a:rPr>
                  <a:t> </a:t>
                </a:r>
                <a:r>
                  <a:rPr sz="1600" spc="-11" dirty="0">
                    <a:latin typeface="Calibri"/>
                    <a:cs typeface="Calibri"/>
                  </a:rPr>
                  <a:t>when </a:t>
                </a:r>
                <a:r>
                  <a:rPr sz="1600" spc="-6" dirty="0">
                    <a:latin typeface="Calibri"/>
                    <a:cs typeface="Calibri"/>
                  </a:rPr>
                  <a:t>feature</a:t>
                </a:r>
                <a:r>
                  <a:rPr sz="1600" spc="-2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is</a:t>
                </a:r>
                <a:r>
                  <a:rPr sz="1600" spc="-2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ON</a:t>
                </a:r>
                <a:r>
                  <a:rPr sz="1600" spc="-14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less</a:t>
                </a:r>
                <a:r>
                  <a:rPr sz="1600" spc="-25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frequently</a:t>
                </a:r>
                <a:r>
                  <a:rPr sz="1600" spc="-17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then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spc="-6" dirty="0">
                    <a:latin typeface="Calibri"/>
                    <a:cs typeface="Calibri"/>
                  </a:rPr>
                  <a:t>learn aggressively</a:t>
                </a:r>
                <a:r>
                  <a:rPr sz="1600" spc="-20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when</a:t>
                </a:r>
                <a:r>
                  <a:rPr sz="1600" spc="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it</a:t>
                </a:r>
                <a:r>
                  <a:rPr sz="1600" spc="-3" dirty="0">
                    <a:latin typeface="Calibri"/>
                    <a:cs typeface="Calibri"/>
                  </a:rPr>
                  <a:t> </a:t>
                </a:r>
                <a:r>
                  <a:rPr sz="1600" dirty="0">
                    <a:latin typeface="Calibri"/>
                    <a:cs typeface="Calibri"/>
                  </a:rPr>
                  <a:t>is</a:t>
                </a:r>
                <a:r>
                  <a:rPr sz="1600" spc="-6" dirty="0">
                    <a:latin typeface="Calibri"/>
                    <a:cs typeface="Calibri"/>
                  </a:rPr>
                  <a:t> </a:t>
                </a:r>
                <a:r>
                  <a:rPr sz="1600" spc="-14" dirty="0">
                    <a:latin typeface="Calibri"/>
                    <a:cs typeface="Calibri"/>
                  </a:rPr>
                  <a:t>ON)</a:t>
                </a:r>
                <a:endParaRPr sz="1600" dirty="0">
                  <a:latin typeface="Calibri"/>
                  <a:cs typeface="Calibri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65960DD-928E-6CB9-0890-789FBD05B894}"/>
                </a:ext>
              </a:extLst>
            </p:cNvPr>
            <p:cNvGrpSpPr/>
            <p:nvPr/>
          </p:nvGrpSpPr>
          <p:grpSpPr>
            <a:xfrm>
              <a:off x="5553924" y="3647333"/>
              <a:ext cx="2798861" cy="531761"/>
              <a:chOff x="5442132" y="1514832"/>
              <a:chExt cx="2550105" cy="495419"/>
            </a:xfrm>
          </p:grpSpPr>
          <p:sp>
            <p:nvSpPr>
              <p:cNvPr id="10" name="object 10"/>
              <p:cNvSpPr txBox="1"/>
              <p:nvPr/>
            </p:nvSpPr>
            <p:spPr>
              <a:xfrm>
                <a:off x="5442132" y="1793938"/>
                <a:ext cx="465773" cy="163090"/>
              </a:xfrm>
              <a:prstGeom prst="rect">
                <a:avLst/>
              </a:prstGeom>
            </p:spPr>
            <p:txBody>
              <a:bodyPr vert="horz" wrap="square" lIns="0" tIns="7144" rIns="0" bIns="0" rtlCol="0">
                <a:spAutoFit/>
              </a:bodyPr>
              <a:lstStyle/>
              <a:p>
                <a:pPr marL="7144">
                  <a:spcBef>
                    <a:spcPts val="56"/>
                  </a:spcBef>
                </a:pPr>
                <a:r>
                  <a:rPr sz="1013" spc="-6" dirty="0">
                    <a:latin typeface="Calibri"/>
                    <a:cs typeface="Calibri"/>
                  </a:rPr>
                  <a:t>Updated</a:t>
                </a:r>
                <a:endParaRPr sz="1013" dirty="0">
                  <a:latin typeface="Calibri"/>
                  <a:cs typeface="Calibri"/>
                </a:endParaRPr>
              </a:p>
            </p:txBody>
          </p:sp>
          <p:sp>
            <p:nvSpPr>
              <p:cNvPr id="11" name="object 11"/>
              <p:cNvSpPr txBox="1"/>
              <p:nvPr/>
            </p:nvSpPr>
            <p:spPr>
              <a:xfrm>
                <a:off x="6212657" y="1514832"/>
                <a:ext cx="223242" cy="494887"/>
              </a:xfrm>
              <a:prstGeom prst="rect">
                <a:avLst/>
              </a:prstGeom>
            </p:spPr>
            <p:txBody>
              <a:bodyPr vert="horz" wrap="square" lIns="0" tIns="7501" rIns="0" bIns="0" rtlCol="0">
                <a:spAutoFit/>
              </a:bodyPr>
              <a:lstStyle/>
              <a:p>
                <a:pPr marL="7144">
                  <a:lnSpc>
                    <a:spcPts val="1915"/>
                  </a:lnSpc>
                  <a:spcBef>
                    <a:spcPts val="59"/>
                  </a:spcBef>
                </a:pPr>
                <a:r>
                  <a:rPr spc="-28" dirty="0">
                    <a:latin typeface="Calibri"/>
                    <a:cs typeface="Calibri"/>
                  </a:rPr>
                  <a:t>∞</a:t>
                </a:r>
                <a:endParaRPr dirty="0">
                  <a:latin typeface="Calibri"/>
                  <a:cs typeface="Calibri"/>
                </a:endParaRPr>
              </a:p>
              <a:p>
                <a:pPr marL="20360">
                  <a:lnSpc>
                    <a:spcPts val="1915"/>
                  </a:lnSpc>
                </a:pPr>
                <a:r>
                  <a:rPr spc="-28" dirty="0">
                    <a:latin typeface="Calibri"/>
                    <a:cs typeface="Calibri"/>
                  </a:rPr>
                  <a:t>∞</a:t>
                </a:r>
                <a:endParaRPr dirty="0">
                  <a:latin typeface="Calibri"/>
                  <a:cs typeface="Calibri"/>
                </a:endParaRPr>
              </a:p>
            </p:txBody>
          </p:sp>
          <p:pic>
            <p:nvPicPr>
              <p:cNvPr id="12" name="object 12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872668" y="1806225"/>
                <a:ext cx="1119569" cy="204026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16444"/>
            <a:ext cx="11209376" cy="49965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pc="-203" dirty="0"/>
              <a:t>Adagrad</a:t>
            </a:r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690412-92B2-84ED-1348-FC935B656E74}"/>
              </a:ext>
            </a:extLst>
          </p:cNvPr>
          <p:cNvGrpSpPr/>
          <p:nvPr/>
        </p:nvGrpSpPr>
        <p:grpSpPr>
          <a:xfrm>
            <a:off x="762000" y="1066800"/>
            <a:ext cx="10820400" cy="4876799"/>
            <a:chOff x="2691861" y="244316"/>
            <a:chExt cx="6785967" cy="33096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5319" y="835819"/>
              <a:ext cx="1715583" cy="6729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75204" y="253602"/>
              <a:ext cx="1298734" cy="1378744"/>
            </a:xfrm>
            <a:custGeom>
              <a:avLst/>
              <a:gdLst/>
              <a:ahLst/>
              <a:cxnLst/>
              <a:rect l="l" t="t" r="r" b="b"/>
              <a:pathLst>
                <a:path w="2308860" h="2451100">
                  <a:moveTo>
                    <a:pt x="2308720" y="0"/>
                  </a:moveTo>
                  <a:lnTo>
                    <a:pt x="177" y="0"/>
                  </a:lnTo>
                  <a:lnTo>
                    <a:pt x="177" y="55880"/>
                  </a:lnTo>
                  <a:lnTo>
                    <a:pt x="76" y="217170"/>
                  </a:lnTo>
                  <a:lnTo>
                    <a:pt x="0" y="271780"/>
                  </a:lnTo>
                  <a:lnTo>
                    <a:pt x="2022716" y="271780"/>
                  </a:lnTo>
                  <a:lnTo>
                    <a:pt x="2022716" y="2450846"/>
                  </a:lnTo>
                  <a:lnTo>
                    <a:pt x="2308720" y="2450846"/>
                  </a:lnTo>
                  <a:lnTo>
                    <a:pt x="2308720" y="271780"/>
                  </a:lnTo>
                  <a:lnTo>
                    <a:pt x="2308720" y="217170"/>
                  </a:lnTo>
                  <a:lnTo>
                    <a:pt x="2308720" y="55880"/>
                  </a:lnTo>
                  <a:lnTo>
                    <a:pt x="2308720" y="0"/>
                  </a:lnTo>
                  <a:close/>
                </a:path>
              </a:pathLst>
            </a:custGeom>
            <a:solidFill>
              <a:srgbClr val="0D0D0D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" name="object 5"/>
            <p:cNvGrpSpPr/>
            <p:nvPr/>
          </p:nvGrpSpPr>
          <p:grpSpPr>
            <a:xfrm>
              <a:off x="5127307" y="244316"/>
              <a:ext cx="4163735" cy="1223724"/>
              <a:chOff x="4373879" y="434340"/>
              <a:chExt cx="7402195" cy="2175510"/>
            </a:xfrm>
          </p:grpSpPr>
          <p:pic>
            <p:nvPicPr>
              <p:cNvPr id="6" name="object 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73879" y="975359"/>
                <a:ext cx="3779520" cy="1634188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28432" y="1086612"/>
                <a:ext cx="3421379" cy="1264919"/>
              </a:xfrm>
              <a:prstGeom prst="rect">
                <a:avLst/>
              </a:prstGeom>
            </p:spPr>
          </p:pic>
          <p:sp>
            <p:nvSpPr>
              <p:cNvPr id="8" name="object 8"/>
              <p:cNvSpPr/>
              <p:nvPr/>
            </p:nvSpPr>
            <p:spPr>
              <a:xfrm>
                <a:off x="9467088" y="434339"/>
                <a:ext cx="2308860" cy="1113790"/>
              </a:xfrm>
              <a:custGeom>
                <a:avLst/>
                <a:gdLst/>
                <a:ahLst/>
                <a:cxnLst/>
                <a:rect l="l" t="t" r="r" b="b"/>
                <a:pathLst>
                  <a:path w="2308859" h="1113790">
                    <a:moveTo>
                      <a:pt x="2308860" y="0"/>
                    </a:moveTo>
                    <a:lnTo>
                      <a:pt x="317" y="0"/>
                    </a:lnTo>
                    <a:lnTo>
                      <a:pt x="317" y="55880"/>
                    </a:lnTo>
                    <a:lnTo>
                      <a:pt x="215" y="215900"/>
                    </a:lnTo>
                    <a:lnTo>
                      <a:pt x="152" y="270510"/>
                    </a:lnTo>
                    <a:lnTo>
                      <a:pt x="0" y="270510"/>
                    </a:lnTo>
                    <a:lnTo>
                      <a:pt x="0" y="271780"/>
                    </a:lnTo>
                    <a:lnTo>
                      <a:pt x="1444891" y="271780"/>
                    </a:lnTo>
                    <a:lnTo>
                      <a:pt x="1444891" y="270510"/>
                    </a:lnTo>
                    <a:lnTo>
                      <a:pt x="2022856" y="270510"/>
                    </a:lnTo>
                    <a:lnTo>
                      <a:pt x="2022856" y="271780"/>
                    </a:lnTo>
                    <a:lnTo>
                      <a:pt x="2022856" y="1113790"/>
                    </a:lnTo>
                    <a:lnTo>
                      <a:pt x="2308860" y="1113790"/>
                    </a:lnTo>
                    <a:lnTo>
                      <a:pt x="2308860" y="271780"/>
                    </a:lnTo>
                    <a:lnTo>
                      <a:pt x="2308860" y="270510"/>
                    </a:lnTo>
                    <a:lnTo>
                      <a:pt x="2308860" y="215900"/>
                    </a:lnTo>
                    <a:lnTo>
                      <a:pt x="2308860" y="55880"/>
                    </a:lnTo>
                    <a:lnTo>
                      <a:pt x="2308860" y="0"/>
                    </a:lnTo>
                    <a:close/>
                  </a:path>
                </a:pathLst>
              </a:custGeom>
              <a:solidFill>
                <a:srgbClr val="0D0D0D">
                  <a:alpha val="749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2867977" y="2677095"/>
              <a:ext cx="2688908" cy="768600"/>
            </a:xfrm>
            <a:prstGeom prst="rect">
              <a:avLst/>
            </a:prstGeom>
          </p:spPr>
          <p:txBody>
            <a:bodyPr vert="horz" wrap="square" lIns="0" tIns="24289" rIns="0" bIns="0" rtlCol="0">
              <a:spAutoFit/>
            </a:bodyPr>
            <a:lstStyle/>
            <a:p>
              <a:pPr marL="7144" marR="2858" indent="128230" algn="just">
                <a:lnSpc>
                  <a:spcPct val="90000"/>
                </a:lnSpc>
                <a:spcBef>
                  <a:spcPts val="191"/>
                </a:spcBef>
                <a:buFont typeface="Arial MT"/>
                <a:buChar char="•"/>
                <a:tabLst>
                  <a:tab pos="135374" algn="l"/>
                </a:tabLst>
              </a:pPr>
              <a:r>
                <a:rPr sz="1600" dirty="0">
                  <a:latin typeface="Calibri"/>
                  <a:cs typeface="Calibri"/>
                </a:rPr>
                <a:t>Denominator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will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be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less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sparse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features </a:t>
              </a:r>
              <a:r>
                <a:rPr sz="1600" dirty="0">
                  <a:latin typeface="Calibri"/>
                  <a:cs typeface="Calibri"/>
                </a:rPr>
                <a:t>(History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taken)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and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will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be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high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dense features.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Hence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high</a:t>
              </a:r>
              <a:r>
                <a:rPr sz="1600" spc="-42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fraction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sparse features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–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aggressive.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Low</a:t>
              </a:r>
              <a:r>
                <a:rPr sz="1600" spc="-42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fraction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spc="-14" dirty="0">
                  <a:latin typeface="Calibri"/>
                  <a:cs typeface="Calibri"/>
                </a:rPr>
                <a:t>for </a:t>
              </a:r>
              <a:r>
                <a:rPr sz="1600" dirty="0">
                  <a:latin typeface="Calibri"/>
                  <a:cs typeface="Calibri"/>
                </a:rPr>
                <a:t>dense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features-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less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aggressive</a:t>
              </a:r>
              <a:endParaRPr sz="1600" dirty="0">
                <a:latin typeface="Calibri"/>
                <a:cs typeface="Calibri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9153" y="2474881"/>
              <a:ext cx="1074134" cy="6823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7921" y="1973389"/>
              <a:ext cx="1729907" cy="8058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435025" y="1641633"/>
              <a:ext cx="1420535" cy="1912382"/>
            </a:xfrm>
            <a:custGeom>
              <a:avLst/>
              <a:gdLst/>
              <a:ahLst/>
              <a:cxnLst/>
              <a:rect l="l" t="t" r="r" b="b"/>
              <a:pathLst>
                <a:path w="2525395" h="3399790">
                  <a:moveTo>
                    <a:pt x="2525268" y="3102610"/>
                  </a:moveTo>
                  <a:lnTo>
                    <a:pt x="312928" y="3102610"/>
                  </a:lnTo>
                  <a:lnTo>
                    <a:pt x="312928" y="0"/>
                  </a:lnTo>
                  <a:lnTo>
                    <a:pt x="0" y="0"/>
                  </a:lnTo>
                  <a:lnTo>
                    <a:pt x="0" y="3102610"/>
                  </a:lnTo>
                  <a:lnTo>
                    <a:pt x="0" y="3399790"/>
                  </a:lnTo>
                  <a:lnTo>
                    <a:pt x="2525268" y="3399790"/>
                  </a:lnTo>
                  <a:lnTo>
                    <a:pt x="2525268" y="3102610"/>
                  </a:lnTo>
                  <a:close/>
                </a:path>
              </a:pathLst>
            </a:custGeom>
            <a:solidFill>
              <a:srgbClr val="0D0D0D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691861" y="1632204"/>
              <a:ext cx="3435072" cy="847010"/>
            </a:xfrm>
            <a:prstGeom prst="rect">
              <a:avLst/>
            </a:prstGeom>
            <a:solidFill>
              <a:srgbClr val="DEEBF7"/>
            </a:solidFill>
          </p:spPr>
          <p:txBody>
            <a:bodyPr vert="horz" wrap="square" lIns="0" tIns="16788" rIns="0" bIns="0" rtlCol="0">
              <a:spAutoFit/>
            </a:bodyPr>
            <a:lstStyle/>
            <a:p>
              <a:pPr marL="51435" marR="122515" algn="just">
                <a:spcBef>
                  <a:spcPts val="132"/>
                </a:spcBef>
              </a:pPr>
              <a:r>
                <a:rPr sz="1600" spc="-6" dirty="0">
                  <a:latin typeface="Calibri"/>
                  <a:cs typeface="Calibri"/>
                </a:rPr>
                <a:t>Performing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smaller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updates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(i.e.</a:t>
              </a:r>
              <a:r>
                <a:rPr sz="1600" spc="-39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low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learning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rates)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spc="-14" dirty="0">
                  <a:latin typeface="Calibri"/>
                  <a:cs typeface="Calibri"/>
                </a:rPr>
                <a:t>for </a:t>
              </a:r>
              <a:r>
                <a:rPr sz="1600" spc="-11" dirty="0">
                  <a:latin typeface="Calibri"/>
                  <a:cs typeface="Calibri"/>
                </a:rPr>
                <a:t>parameters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associated</a:t>
              </a:r>
              <a:r>
                <a:rPr sz="1600" spc="-1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with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frequently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occurring features,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and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larger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updates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(i.e.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high</a:t>
              </a:r>
              <a:r>
                <a:rPr sz="1600" spc="-39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learning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rates)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spc="-14" dirty="0">
                  <a:latin typeface="Calibri"/>
                  <a:cs typeface="Calibri"/>
                </a:rPr>
                <a:t>for </a:t>
              </a:r>
              <a:r>
                <a:rPr sz="1600" spc="-11" dirty="0">
                  <a:latin typeface="Calibri"/>
                  <a:cs typeface="Calibri"/>
                </a:rPr>
                <a:t>parameters</a:t>
              </a:r>
              <a:r>
                <a:rPr sz="1600" spc="-14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associated</a:t>
              </a:r>
              <a:r>
                <a:rPr sz="1600" spc="-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with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infrequent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features.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spc="-11" dirty="0">
                  <a:latin typeface="Calibri"/>
                  <a:cs typeface="Calibri"/>
                </a:rPr>
                <a:t>this </a:t>
              </a:r>
              <a:r>
                <a:rPr sz="1600" dirty="0">
                  <a:latin typeface="Calibri"/>
                  <a:cs typeface="Calibri"/>
                </a:rPr>
                <a:t>reason,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it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is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spc="-11" dirty="0">
                  <a:latin typeface="Calibri"/>
                  <a:cs typeface="Calibri"/>
                </a:rPr>
                <a:t>well-</a:t>
              </a:r>
              <a:r>
                <a:rPr sz="1600" dirty="0">
                  <a:latin typeface="Calibri"/>
                  <a:cs typeface="Calibri"/>
                </a:rPr>
                <a:t>suited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dealing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with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sparse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spc="-11" dirty="0">
                  <a:latin typeface="Calibri"/>
                  <a:cs typeface="Calibri"/>
                </a:rPr>
                <a:t>data</a:t>
              </a:r>
              <a:endParaRPr sz="16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297542"/>
            <a:ext cx="11209376" cy="566241"/>
          </a:xfrm>
          <a:prstGeom prst="rect">
            <a:avLst/>
          </a:prstGeom>
        </p:spPr>
        <p:txBody>
          <a:bodyPr vert="horz" wrap="square" lIns="0" tIns="134045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800" spc="-188" dirty="0"/>
              <a:t>RMSProp</a:t>
            </a:r>
            <a:endParaRPr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FA3852-B622-D1BE-C766-ABE2CF0DA211}"/>
              </a:ext>
            </a:extLst>
          </p:cNvPr>
          <p:cNvGrpSpPr/>
          <p:nvPr/>
        </p:nvGrpSpPr>
        <p:grpSpPr>
          <a:xfrm>
            <a:off x="533400" y="1066801"/>
            <a:ext cx="10972800" cy="4724399"/>
            <a:chOff x="2879598" y="1"/>
            <a:chExt cx="6650217" cy="35100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9598" y="894968"/>
              <a:ext cx="6005896" cy="2615036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6258020" y="2730341"/>
              <a:ext cx="3271795" cy="496539"/>
            </a:xfrm>
            <a:prstGeom prst="rect">
              <a:avLst/>
            </a:prstGeom>
            <a:solidFill>
              <a:srgbClr val="DEEBF7"/>
            </a:solidFill>
          </p:spPr>
          <p:txBody>
            <a:bodyPr vert="horz" wrap="square" lIns="0" tIns="21788" rIns="0" bIns="0" rtlCol="0">
              <a:spAutoFit/>
            </a:bodyPr>
            <a:lstStyle/>
            <a:p>
              <a:pPr marL="212527" indent="-161092">
                <a:spcBef>
                  <a:spcPts val="172"/>
                </a:spcBef>
                <a:buFont typeface="Arial MT"/>
                <a:buChar char="•"/>
                <a:tabLst>
                  <a:tab pos="212527" algn="l"/>
                </a:tabLst>
              </a:pPr>
              <a:r>
                <a:rPr sz="1400" spc="-42" dirty="0">
                  <a:solidFill>
                    <a:srgbClr val="303A3E"/>
                  </a:solidFill>
                  <a:latin typeface="Tahoma"/>
                  <a:cs typeface="Tahoma"/>
                </a:rPr>
                <a:t>RMSprop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303A3E"/>
                  </a:solidFill>
                  <a:latin typeface="Tahoma"/>
                  <a:cs typeface="Tahoma"/>
                </a:rPr>
                <a:t>resolve</a:t>
              </a:r>
              <a:r>
                <a:rPr sz="1400" spc="-3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Adagrad's</a:t>
              </a:r>
              <a:r>
                <a:rPr sz="1400" spc="-17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303A3E"/>
                  </a:solidFill>
                  <a:latin typeface="Tahoma"/>
                  <a:cs typeface="Tahoma"/>
                </a:rPr>
                <a:t>radically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303A3E"/>
                  </a:solidFill>
                  <a:latin typeface="Tahoma"/>
                  <a:cs typeface="Tahoma"/>
                </a:rPr>
                <a:t>diminishing</a:t>
              </a:r>
              <a:r>
                <a:rPr lang="en-US" sz="1400" spc="-6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learning</a:t>
              </a:r>
              <a:r>
                <a:rPr sz="1400" spc="-4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303A3E"/>
                  </a:solidFill>
                  <a:latin typeface="Tahoma"/>
                  <a:cs typeface="Tahoma"/>
                </a:rPr>
                <a:t>rates.</a:t>
              </a:r>
              <a:endParaRPr sz="1400" dirty="0">
                <a:latin typeface="Tahoma"/>
                <a:cs typeface="Tahoma"/>
              </a:endParaRPr>
            </a:p>
            <a:p>
              <a:pPr marL="212527" marR="312539" indent="-161449">
                <a:buFont typeface="Arial MT"/>
                <a:buChar char="•"/>
                <a:tabLst>
                  <a:tab pos="212527" algn="l"/>
                </a:tabLst>
              </a:pPr>
              <a:r>
                <a:rPr sz="1400" spc="-113" dirty="0">
                  <a:solidFill>
                    <a:srgbClr val="303A3E"/>
                  </a:solidFill>
                  <a:latin typeface="Tahoma"/>
                  <a:cs typeface="Tahoma"/>
                </a:rPr>
                <a:t>It</a:t>
              </a:r>
              <a:r>
                <a:rPr sz="1400" spc="-39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45" dirty="0">
                  <a:solidFill>
                    <a:srgbClr val="303A3E"/>
                  </a:solidFill>
                  <a:latin typeface="Tahoma"/>
                  <a:cs typeface="Tahoma"/>
                </a:rPr>
                <a:t>divides </a:t>
              </a:r>
              <a:r>
                <a:rPr sz="1400" spc="-73" dirty="0">
                  <a:solidFill>
                    <a:srgbClr val="303A3E"/>
                  </a:solidFill>
                  <a:latin typeface="Tahoma"/>
                  <a:cs typeface="Tahoma"/>
                </a:rPr>
                <a:t>the</a:t>
              </a:r>
              <a:r>
                <a:rPr sz="1400" spc="-39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6" dirty="0">
                  <a:solidFill>
                    <a:srgbClr val="303A3E"/>
                  </a:solidFill>
                  <a:latin typeface="Tahoma"/>
                  <a:cs typeface="Tahoma"/>
                </a:rPr>
                <a:t>learning</a:t>
              </a:r>
              <a:r>
                <a:rPr sz="1400" spc="-51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73" dirty="0">
                  <a:solidFill>
                    <a:srgbClr val="303A3E"/>
                  </a:solidFill>
                  <a:latin typeface="Tahoma"/>
                  <a:cs typeface="Tahoma"/>
                </a:rPr>
                <a:t>rate</a:t>
              </a:r>
              <a:r>
                <a:rPr sz="1400" spc="-39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9" dirty="0">
                  <a:solidFill>
                    <a:srgbClr val="303A3E"/>
                  </a:solidFill>
                  <a:latin typeface="Tahoma"/>
                  <a:cs typeface="Tahoma"/>
                </a:rPr>
                <a:t>by</a:t>
              </a:r>
              <a:r>
                <a:rPr sz="1400" spc="-28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84" dirty="0">
                  <a:solidFill>
                    <a:srgbClr val="303A3E"/>
                  </a:solidFill>
                  <a:latin typeface="Tahoma"/>
                  <a:cs typeface="Tahoma"/>
                </a:rPr>
                <a:t>an</a:t>
              </a:r>
              <a:r>
                <a:rPr sz="1400" spc="-34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1" dirty="0">
                  <a:solidFill>
                    <a:srgbClr val="303A3E"/>
                  </a:solidFill>
                  <a:latin typeface="Tahoma"/>
                  <a:cs typeface="Tahoma"/>
                </a:rPr>
                <a:t>exponentially </a:t>
              </a:r>
              <a:r>
                <a:rPr sz="1400" spc="-59" dirty="0">
                  <a:solidFill>
                    <a:srgbClr val="303A3E"/>
                  </a:solidFill>
                  <a:latin typeface="Tahoma"/>
                  <a:cs typeface="Tahoma"/>
                </a:rPr>
                <a:t>decaying</a:t>
              </a:r>
              <a:r>
                <a:rPr sz="1400" spc="-39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76" dirty="0">
                  <a:solidFill>
                    <a:srgbClr val="303A3E"/>
                  </a:solidFill>
                  <a:latin typeface="Tahoma"/>
                  <a:cs typeface="Tahoma"/>
                </a:rPr>
                <a:t>average</a:t>
              </a:r>
              <a:r>
                <a:rPr sz="1400" spc="-42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3" dirty="0">
                  <a:solidFill>
                    <a:srgbClr val="303A3E"/>
                  </a:solidFill>
                  <a:latin typeface="Tahoma"/>
                  <a:cs typeface="Tahoma"/>
                </a:rPr>
                <a:t>of</a:t>
              </a:r>
              <a:r>
                <a:rPr sz="1400" spc="-25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59" dirty="0">
                  <a:solidFill>
                    <a:srgbClr val="303A3E"/>
                  </a:solidFill>
                  <a:latin typeface="Tahoma"/>
                  <a:cs typeface="Tahoma"/>
                </a:rPr>
                <a:t>squared</a:t>
              </a:r>
              <a:r>
                <a:rPr sz="1400" spc="-39" dirty="0">
                  <a:solidFill>
                    <a:srgbClr val="303A3E"/>
                  </a:solidFill>
                  <a:latin typeface="Tahoma"/>
                  <a:cs typeface="Tahoma"/>
                </a:rPr>
                <a:t> </a:t>
              </a:r>
              <a:r>
                <a:rPr sz="1400" spc="-6" dirty="0">
                  <a:solidFill>
                    <a:srgbClr val="303A3E"/>
                  </a:solidFill>
                  <a:latin typeface="Tahoma"/>
                  <a:cs typeface="Tahoma"/>
                </a:rPr>
                <a:t>gradients</a:t>
              </a:r>
              <a:endParaRPr sz="1400" dirty="0">
                <a:latin typeface="Tahoma"/>
                <a:cs typeface="Tahoma"/>
              </a:endParaRPr>
            </a:p>
          </p:txBody>
        </p:sp>
        <p:grpSp>
          <p:nvGrpSpPr>
            <p:cNvPr id="5" name="object 5"/>
            <p:cNvGrpSpPr/>
            <p:nvPr/>
          </p:nvGrpSpPr>
          <p:grpSpPr>
            <a:xfrm>
              <a:off x="3018145" y="1"/>
              <a:ext cx="6294258" cy="964405"/>
              <a:chOff x="624257" y="1"/>
              <a:chExt cx="11189791" cy="1714498"/>
            </a:xfrm>
          </p:grpSpPr>
          <p:pic>
            <p:nvPicPr>
              <p:cNvPr id="6" name="object 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24257" y="1"/>
                <a:ext cx="4597679" cy="1409033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071360" y="560831"/>
                <a:ext cx="4742688" cy="1153668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200" y="762000"/>
            <a:ext cx="7467600" cy="4648200"/>
            <a:chOff x="554728" y="566927"/>
            <a:chExt cx="11101070" cy="5495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728" y="681227"/>
              <a:ext cx="8048251" cy="53812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708" y="566927"/>
              <a:ext cx="6752844" cy="143865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248400" y="2438400"/>
            <a:ext cx="5822541" cy="25343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 marR="2858">
              <a:spcBef>
                <a:spcPts val="56"/>
              </a:spcBef>
            </a:pPr>
            <a:r>
              <a:rPr sz="1600" dirty="0">
                <a:latin typeface="Calibri"/>
                <a:cs typeface="Calibri"/>
              </a:rPr>
              <a:t>RMSProp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28" dirty="0">
                <a:latin typeface="Calibri"/>
                <a:cs typeface="Calibri"/>
              </a:rPr>
              <a:t> </a:t>
            </a:r>
            <a:r>
              <a:rPr sz="1600" spc="-6" dirty="0">
                <a:latin typeface="Calibri"/>
                <a:cs typeface="Calibri"/>
              </a:rPr>
              <a:t>prevent</a:t>
            </a:r>
            <a:r>
              <a:rPr sz="1600" spc="-3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blowup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spc="-14" dirty="0">
                <a:latin typeface="Calibri"/>
                <a:cs typeface="Calibri"/>
              </a:rPr>
              <a:t>of </a:t>
            </a:r>
            <a:r>
              <a:rPr sz="1600" dirty="0">
                <a:latin typeface="Calibri"/>
                <a:cs typeface="Calibri"/>
              </a:rPr>
              <a:t>denominator</a:t>
            </a:r>
            <a:r>
              <a:rPr sz="1600" spc="-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dense</a:t>
            </a:r>
            <a:r>
              <a:rPr sz="1600" spc="-34" dirty="0">
                <a:latin typeface="Calibri"/>
                <a:cs typeface="Calibri"/>
              </a:rPr>
              <a:t> </a:t>
            </a:r>
            <a:r>
              <a:rPr sz="1600" spc="-6" dirty="0">
                <a:latin typeface="Calibri"/>
                <a:cs typeface="Calibri"/>
              </a:rPr>
              <a:t>features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43818"/>
            <a:ext cx="1981200" cy="376906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7144">
              <a:spcBef>
                <a:spcPts val="59"/>
              </a:spcBef>
            </a:pPr>
            <a:r>
              <a:rPr sz="2400" b="1" spc="-208" dirty="0">
                <a:solidFill>
                  <a:srgbClr val="C00000"/>
                </a:solidFill>
                <a:latin typeface="Arial"/>
                <a:cs typeface="Arial"/>
              </a:rPr>
              <a:t>Adam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120977"/>
            <a:ext cx="8305798" cy="35702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47810" y="2479964"/>
            <a:ext cx="2751176" cy="37654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 marR="2858">
              <a:spcBef>
                <a:spcPts val="56"/>
              </a:spcBef>
            </a:pPr>
            <a:r>
              <a:rPr sz="1200" dirty="0">
                <a:latin typeface="Calibri"/>
                <a:cs typeface="Calibri"/>
              </a:rPr>
              <a:t>Combines</a:t>
            </a:r>
            <a:r>
              <a:rPr sz="1200" spc="-31" dirty="0">
                <a:latin typeface="Calibri"/>
                <a:cs typeface="Calibri"/>
              </a:rPr>
              <a:t> </a:t>
            </a:r>
            <a:r>
              <a:rPr sz="1200" spc="-14" dirty="0">
                <a:latin typeface="Calibri"/>
                <a:cs typeface="Calibri"/>
              </a:rPr>
              <a:t>the </a:t>
            </a:r>
            <a:r>
              <a:rPr sz="1200" spc="-6" dirty="0">
                <a:latin typeface="Calibri"/>
                <a:cs typeface="Calibri"/>
              </a:rPr>
              <a:t>advantage</a:t>
            </a:r>
            <a:r>
              <a:rPr sz="1200" spc="-37" dirty="0">
                <a:latin typeface="Calibri"/>
                <a:cs typeface="Calibri"/>
              </a:rPr>
              <a:t> </a:t>
            </a:r>
            <a:r>
              <a:rPr sz="1200" spc="-14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momentum</a:t>
            </a:r>
            <a:r>
              <a:rPr sz="1200" spc="-53" dirty="0">
                <a:latin typeface="Calibri"/>
                <a:cs typeface="Calibri"/>
              </a:rPr>
              <a:t> </a:t>
            </a:r>
            <a:r>
              <a:rPr sz="1200" spc="-14" dirty="0">
                <a:latin typeface="Calibri"/>
                <a:cs typeface="Calibri"/>
              </a:rPr>
              <a:t>and </a:t>
            </a:r>
            <a:r>
              <a:rPr sz="1200" spc="-6" dirty="0">
                <a:latin typeface="Calibri"/>
                <a:cs typeface="Calibri"/>
              </a:rPr>
              <a:t>RMSprop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562366"/>
            <a:ext cx="11209376" cy="526322"/>
          </a:xfrm>
          <a:prstGeom prst="rect">
            <a:avLst/>
          </a:prstGeom>
        </p:spPr>
        <p:txBody>
          <a:bodyPr vert="horz" wrap="square" lIns="0" tIns="8215" rIns="0" bIns="0" rtlCol="0" anchor="ctr">
            <a:spAutoFit/>
          </a:bodyPr>
          <a:lstStyle/>
          <a:p>
            <a:pPr marL="6985" marR="2540">
              <a:lnSpc>
                <a:spcPct val="99300"/>
              </a:lnSpc>
              <a:spcBef>
                <a:spcPts val="64"/>
              </a:spcBef>
            </a:pP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In</a:t>
            </a:r>
            <a:r>
              <a:rPr sz="1400" spc="-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addition</a:t>
            </a:r>
            <a:r>
              <a:rPr sz="1400" spc="-14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to</a:t>
            </a:r>
            <a:r>
              <a:rPr sz="1400" spc="-14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storing</a:t>
            </a:r>
            <a:r>
              <a:rPr sz="1400" spc="-2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an</a:t>
            </a:r>
            <a:r>
              <a:rPr sz="1400" spc="-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exponentially</a:t>
            </a:r>
            <a:r>
              <a:rPr sz="1400" spc="-34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decaying</a:t>
            </a:r>
            <a:r>
              <a:rPr sz="1400" spc="-23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average</a:t>
            </a:r>
            <a:r>
              <a:rPr sz="1400" spc="-11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4" dirty="0">
                <a:solidFill>
                  <a:srgbClr val="303A3E"/>
                </a:solidFill>
                <a:latin typeface="Georgia"/>
                <a:cs typeface="Georgia"/>
              </a:rPr>
              <a:t>of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past</a:t>
            </a:r>
            <a:r>
              <a:rPr sz="1400" spc="-2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squared</a:t>
            </a:r>
            <a:r>
              <a:rPr sz="1400" spc="-23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gradients</a:t>
            </a:r>
            <a:r>
              <a:rPr sz="1400" spc="-8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lang="en-US" sz="1600" i="1" err="1">
                <a:solidFill>
                  <a:srgbClr val="303A3E"/>
                </a:solidFill>
                <a:latin typeface="Calibri"/>
                <a:cs typeface="Calibri"/>
              </a:rPr>
              <a:t>v</a:t>
            </a:r>
            <a:r>
              <a:rPr lang="en-US" sz="1100" i="1" err="1">
                <a:solidFill>
                  <a:srgbClr val="303A3E"/>
                </a:solidFill>
                <a:latin typeface="Calibri"/>
                <a:cs typeface="Calibri"/>
              </a:rPr>
              <a:t>t</a:t>
            </a:r>
            <a:r>
              <a:rPr sz="1400" spc="-17" dirty="0">
                <a:solidFill>
                  <a:srgbClr val="303A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like</a:t>
            </a:r>
            <a:r>
              <a:rPr sz="1400" spc="-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err="1">
                <a:solidFill>
                  <a:srgbClr val="303A3E"/>
                </a:solidFill>
                <a:latin typeface="Georgia"/>
                <a:cs typeface="Georgia"/>
              </a:rPr>
              <a:t>Adadelta</a:t>
            </a:r>
            <a:r>
              <a:rPr sz="1400" spc="-17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and</a:t>
            </a:r>
            <a:r>
              <a:rPr sz="1400" spc="-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6" dirty="0">
                <a:solidFill>
                  <a:srgbClr val="303A3E"/>
                </a:solidFill>
                <a:latin typeface="Georgia"/>
                <a:cs typeface="Georgia"/>
              </a:rPr>
              <a:t>RMSprop,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Adam</a:t>
            </a:r>
            <a:r>
              <a:rPr sz="1400" spc="-17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also</a:t>
            </a:r>
            <a:r>
              <a:rPr sz="1400" spc="-23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keeps</a:t>
            </a:r>
            <a:r>
              <a:rPr sz="1400" spc="-17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an</a:t>
            </a:r>
            <a:r>
              <a:rPr sz="1400" spc="-17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6" dirty="0">
                <a:solidFill>
                  <a:srgbClr val="303A3E"/>
                </a:solidFill>
                <a:latin typeface="Georgia"/>
                <a:cs typeface="Georgia"/>
              </a:rPr>
              <a:t>exponentially</a:t>
            </a:r>
            <a:r>
              <a:rPr sz="1400" spc="-31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decaying</a:t>
            </a:r>
            <a:r>
              <a:rPr sz="1400" spc="-2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average</a:t>
            </a:r>
            <a:r>
              <a:rPr sz="1400" spc="-8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4" dirty="0">
                <a:solidFill>
                  <a:srgbClr val="303A3E"/>
                </a:solidFill>
                <a:latin typeface="Georgia"/>
                <a:cs typeface="Georgia"/>
              </a:rPr>
              <a:t>of</a:t>
            </a:r>
            <a:r>
              <a:rPr sz="1400" spc="281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past</a:t>
            </a:r>
            <a:r>
              <a:rPr sz="1400" spc="-2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gradients</a:t>
            </a:r>
            <a:r>
              <a:rPr sz="1400" spc="-17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lang="en-US" sz="1800" i="1" dirty="0">
                <a:solidFill>
                  <a:srgbClr val="303A3E"/>
                </a:solidFill>
                <a:latin typeface="Calibri"/>
                <a:cs typeface="Calibri"/>
              </a:rPr>
              <a:t>m</a:t>
            </a:r>
            <a:r>
              <a:rPr lang="en-US" sz="1100" i="1" dirty="0">
                <a:solidFill>
                  <a:srgbClr val="303A3E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,</a:t>
            </a:r>
            <a:r>
              <a:rPr sz="1400" spc="-23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similar</a:t>
            </a:r>
            <a:r>
              <a:rPr sz="1400" spc="-2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to</a:t>
            </a:r>
            <a:r>
              <a:rPr sz="1400" spc="-14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6" dirty="0">
                <a:solidFill>
                  <a:srgbClr val="303A3E"/>
                </a:solidFill>
                <a:latin typeface="Georgia"/>
                <a:cs typeface="Georgia"/>
              </a:rPr>
              <a:t>momentum.</a:t>
            </a:r>
            <a:endParaRPr lang="en-US" sz="1400" dirty="0">
              <a:latin typeface="Georgia"/>
              <a:cs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2C162-1064-B7EE-06C4-8B786B90A8F8}"/>
              </a:ext>
            </a:extLst>
          </p:cNvPr>
          <p:cNvSpPr txBox="1"/>
          <p:nvPr/>
        </p:nvSpPr>
        <p:spPr>
          <a:xfrm>
            <a:off x="9444842" y="1577439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First Moment (EMA of Gradients)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44E09-2CF7-F68D-F1B1-B508630572CD}"/>
              </a:ext>
            </a:extLst>
          </p:cNvPr>
          <p:cNvSpPr txBox="1"/>
          <p:nvPr/>
        </p:nvSpPr>
        <p:spPr>
          <a:xfrm>
            <a:off x="9444841" y="2042555"/>
            <a:ext cx="2743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Second Moment (EMA of Squared Gradients)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8DF93-6EDF-6F66-B159-408F56C9E1B3}"/>
              </a:ext>
            </a:extLst>
          </p:cNvPr>
          <p:cNvSpPr txBox="1"/>
          <p:nvPr/>
        </p:nvSpPr>
        <p:spPr>
          <a:xfrm>
            <a:off x="5298374" y="3101438"/>
            <a:ext cx="45244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At the start, the EMA is biased toward zero. To fix this, Adam applies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67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3"/>
              </a:spcBef>
            </a:pPr>
            <a:r>
              <a:rPr sz="2250" dirty="0">
                <a:solidFill>
                  <a:srgbClr val="000000"/>
                </a:solidFill>
              </a:rPr>
              <a:t>Comparison-</a:t>
            </a:r>
            <a:r>
              <a:rPr sz="2250" spc="-101" dirty="0">
                <a:solidFill>
                  <a:srgbClr val="000000"/>
                </a:solidFill>
              </a:rPr>
              <a:t> </a:t>
            </a:r>
            <a:r>
              <a:rPr sz="2250" spc="-6" dirty="0">
                <a:solidFill>
                  <a:srgbClr val="000000"/>
                </a:solidFill>
              </a:rPr>
              <a:t>Visualisation</a:t>
            </a:r>
            <a:endParaRPr sz="22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8EF26-1FF0-8BD4-9A7D-167AC882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49" y="1014211"/>
            <a:ext cx="5604993" cy="457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4E1AFC-C038-0805-8486-0D870496F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701" y="1014211"/>
            <a:ext cx="5905500" cy="457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96D798-7C25-661E-F7B4-BD90CAAB0D0E}"/>
              </a:ext>
            </a:extLst>
          </p:cNvPr>
          <p:cNvSpPr txBox="1"/>
          <p:nvPr/>
        </p:nvSpPr>
        <p:spPr>
          <a:xfrm>
            <a:off x="495836" y="5582991"/>
            <a:ext cx="55980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pc="-6" dirty="0"/>
              <a:t>GD optimization on loss surface contours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4039B-51F9-91DE-51EF-D5C590DBC7A2}"/>
              </a:ext>
            </a:extLst>
          </p:cNvPr>
          <p:cNvSpPr txBox="1"/>
          <p:nvPr/>
        </p:nvSpPr>
        <p:spPr>
          <a:xfrm>
            <a:off x="7235781" y="5582991"/>
            <a:ext cx="46964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GD optimization on saddle point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025" spc="-166" dirty="0"/>
              <a:t>Activation</a:t>
            </a:r>
            <a:r>
              <a:rPr sz="2025" spc="-42" dirty="0"/>
              <a:t> </a:t>
            </a:r>
            <a:r>
              <a:rPr sz="2025" spc="-174" dirty="0"/>
              <a:t>functions</a:t>
            </a:r>
            <a:endParaRPr sz="202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8EBD65-21FB-E9C6-6BDC-4A8766143789}"/>
              </a:ext>
            </a:extLst>
          </p:cNvPr>
          <p:cNvGrpSpPr/>
          <p:nvPr/>
        </p:nvGrpSpPr>
        <p:grpSpPr>
          <a:xfrm>
            <a:off x="2514600" y="1276657"/>
            <a:ext cx="7543800" cy="4362143"/>
            <a:chOff x="4008626" y="534711"/>
            <a:chExt cx="3821986" cy="286386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8626" y="534711"/>
              <a:ext cx="3821986" cy="2739183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4371641" y="1702676"/>
              <a:ext cx="892969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Logistic/Sigmoid</a:t>
              </a:r>
              <a:endParaRPr sz="1013" dirty="0">
                <a:latin typeface="Calibri"/>
                <a:cs typeface="Calibri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981282" y="1702676"/>
              <a:ext cx="259675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11" dirty="0">
                  <a:solidFill>
                    <a:srgbClr val="C00000"/>
                  </a:solidFill>
                  <a:latin typeface="Calibri"/>
                  <a:cs typeface="Calibri"/>
                </a:rPr>
                <a:t>tanh</a:t>
              </a:r>
              <a:endParaRPr sz="1013" dirty="0">
                <a:latin typeface="Calibri"/>
                <a:cs typeface="Calibri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533805" y="3228804"/>
              <a:ext cx="284321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11" dirty="0">
                  <a:solidFill>
                    <a:srgbClr val="C00000"/>
                  </a:solidFill>
                  <a:latin typeface="Calibri"/>
                  <a:cs typeface="Calibri"/>
                </a:rPr>
                <a:t>ReLU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762798" y="3235490"/>
              <a:ext cx="619006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Leaky</a:t>
              </a:r>
              <a:r>
                <a:rPr sz="1013" b="1" spc="-11" dirty="0">
                  <a:solidFill>
                    <a:srgbClr val="C00000"/>
                  </a:solidFill>
                  <a:latin typeface="Calibri"/>
                  <a:cs typeface="Calibri"/>
                </a:rPr>
                <a:t> ReLU</a:t>
              </a:r>
              <a:endParaRPr sz="1013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111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3"/>
              </a:spcBef>
            </a:pPr>
            <a:r>
              <a:rPr sz="2250" spc="-183" dirty="0"/>
              <a:t>Logistic/Sigmoid</a:t>
            </a:r>
            <a:endParaRPr sz="22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813A7D-BA69-A5BF-4110-431362F5B773}"/>
              </a:ext>
            </a:extLst>
          </p:cNvPr>
          <p:cNvGrpSpPr/>
          <p:nvPr/>
        </p:nvGrpSpPr>
        <p:grpSpPr>
          <a:xfrm>
            <a:off x="1524000" y="914400"/>
            <a:ext cx="9677400" cy="4572000"/>
            <a:chOff x="2688436" y="42005"/>
            <a:chExt cx="6743338" cy="345117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4461" y="1010697"/>
              <a:ext cx="2486025" cy="2057400"/>
            </a:xfrm>
            <a:prstGeom prst="rect">
              <a:avLst/>
            </a:prstGeom>
          </p:spPr>
        </p:pic>
        <p:grpSp>
          <p:nvGrpSpPr>
            <p:cNvPr id="4" name="object 4"/>
            <p:cNvGrpSpPr/>
            <p:nvPr/>
          </p:nvGrpSpPr>
          <p:grpSpPr>
            <a:xfrm>
              <a:off x="5748813" y="42005"/>
              <a:ext cx="3638312" cy="826532"/>
              <a:chOff x="5478779" y="74676"/>
              <a:chExt cx="6468110" cy="1469390"/>
            </a:xfrm>
          </p:grpSpPr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478779" y="396350"/>
                <a:ext cx="4719422" cy="1147156"/>
              </a:xfrm>
              <a:prstGeom prst="rect">
                <a:avLst/>
              </a:prstGeom>
            </p:spPr>
          </p:pic>
          <p:pic>
            <p:nvPicPr>
              <p:cNvPr id="6" name="object 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687055" y="74676"/>
                <a:ext cx="4259580" cy="754379"/>
              </a:xfrm>
              <a:prstGeom prst="rect">
                <a:avLst/>
              </a:prstGeom>
            </p:spPr>
          </p:pic>
        </p:grp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8305" y="785229"/>
              <a:ext cx="600075" cy="227109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43384" y="948119"/>
              <a:ext cx="2020092" cy="9485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4796" y="2142642"/>
              <a:ext cx="2392945" cy="553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6000" y="2889212"/>
              <a:ext cx="203398" cy="236321"/>
            </a:xfrm>
            <a:prstGeom prst="rect">
              <a:avLst/>
            </a:prstGeom>
          </p:spPr>
        </p:pic>
        <p:sp>
          <p:nvSpPr>
            <p:cNvPr id="11" name="object 11"/>
            <p:cNvSpPr txBox="1"/>
            <p:nvPr/>
          </p:nvSpPr>
          <p:spPr>
            <a:xfrm>
              <a:off x="6298882" y="2900791"/>
              <a:ext cx="525066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  <a:tabLst>
                  <a:tab pos="255389" algn="l"/>
                </a:tabLst>
              </a:pPr>
              <a:r>
                <a:rPr sz="1013" spc="-14" dirty="0">
                  <a:latin typeface="Calibri"/>
                  <a:cs typeface="Calibri"/>
                </a:rPr>
                <a:t>=0</a:t>
              </a:r>
              <a:r>
                <a:rPr sz="1013" dirty="0">
                  <a:latin typeface="Calibri"/>
                  <a:cs typeface="Calibri"/>
                </a:rPr>
                <a:t>	</a:t>
              </a:r>
              <a:r>
                <a:rPr sz="1013" spc="-11" dirty="0">
                  <a:latin typeface="Calibri"/>
                  <a:cs typeface="Calibri"/>
                </a:rPr>
                <a:t>Then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234728" y="610076"/>
              <a:ext cx="1965602" cy="214963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350" b="1" spc="-124" dirty="0">
                  <a:solidFill>
                    <a:srgbClr val="C00000"/>
                  </a:solidFill>
                  <a:latin typeface="Arial"/>
                  <a:cs typeface="Arial"/>
                </a:rPr>
                <a:t>Vanishing</a:t>
              </a:r>
              <a:r>
                <a:rPr sz="1350" b="1" spc="-11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350" b="1" spc="-110" dirty="0">
                  <a:solidFill>
                    <a:srgbClr val="C00000"/>
                  </a:solidFill>
                  <a:latin typeface="Arial"/>
                  <a:cs typeface="Arial"/>
                </a:rPr>
                <a:t>Gradient</a:t>
              </a:r>
              <a:r>
                <a:rPr sz="1350" b="1" spc="-6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350" b="1" spc="-98" dirty="0">
                  <a:solidFill>
                    <a:srgbClr val="C00000"/>
                  </a:solidFill>
                  <a:latin typeface="Arial"/>
                  <a:cs typeface="Arial"/>
                </a:rPr>
                <a:t>problem</a:t>
              </a:r>
              <a:endParaRPr sz="1350" dirty="0">
                <a:latin typeface="Arial"/>
                <a:cs typeface="Arial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97273" y="2905023"/>
              <a:ext cx="246286" cy="166262"/>
            </a:xfrm>
            <a:prstGeom prst="rect">
              <a:avLst/>
            </a:prstGeom>
          </p:spPr>
        </p:pic>
        <p:sp>
          <p:nvSpPr>
            <p:cNvPr id="14" name="object 14"/>
            <p:cNvSpPr txBox="1"/>
            <p:nvPr/>
          </p:nvSpPr>
          <p:spPr>
            <a:xfrm>
              <a:off x="7160561" y="2902720"/>
              <a:ext cx="1414463" cy="318966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>
                <a:spcBef>
                  <a:spcPts val="56"/>
                </a:spcBef>
              </a:pPr>
              <a:r>
                <a:rPr sz="1013" dirty="0">
                  <a:latin typeface="Calibri"/>
                  <a:cs typeface="Calibri"/>
                </a:rPr>
                <a:t>=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0</a:t>
              </a:r>
              <a:r>
                <a:rPr sz="1013" spc="-6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and</a:t>
              </a:r>
              <a:r>
                <a:rPr sz="1013" spc="-14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hence no</a:t>
              </a:r>
              <a:r>
                <a:rPr sz="1013" spc="-8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updation </a:t>
              </a:r>
              <a:r>
                <a:rPr sz="1013" dirty="0">
                  <a:latin typeface="Calibri"/>
                  <a:cs typeface="Calibri"/>
                </a:rPr>
                <a:t>in</a:t>
              </a:r>
              <a:r>
                <a:rPr sz="1013" spc="-25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weight</a:t>
              </a:r>
              <a:r>
                <a:rPr sz="1013" spc="-28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happens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780121" y="3319272"/>
              <a:ext cx="4651653" cy="173910"/>
            </a:xfrm>
            <a:prstGeom prst="rect">
              <a:avLst/>
            </a:prstGeom>
            <a:solidFill>
              <a:srgbClr val="FFE699"/>
            </a:solidFill>
          </p:spPr>
          <p:txBody>
            <a:bodyPr vert="horz" wrap="square" lIns="0" tIns="17859" rIns="0" bIns="0" rtlCol="0">
              <a:spAutoFit/>
            </a:bodyPr>
            <a:lstStyle/>
            <a:p>
              <a:pPr marL="51792">
                <a:spcBef>
                  <a:spcPts val="141"/>
                </a:spcBef>
              </a:pPr>
              <a:r>
                <a:rPr sz="1013" spc="-6" dirty="0">
                  <a:latin typeface="Calibri"/>
                  <a:cs typeface="Calibri"/>
                </a:rPr>
                <a:t>Gradient</a:t>
              </a:r>
              <a:r>
                <a:rPr sz="1013" spc="-34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at</a:t>
              </a:r>
              <a:r>
                <a:rPr sz="1013" spc="-28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some</a:t>
              </a:r>
              <a:r>
                <a:rPr sz="1013" spc="-25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neurons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vanishes</a:t>
              </a:r>
              <a:r>
                <a:rPr sz="1013" spc="-31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and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no</a:t>
              </a:r>
              <a:r>
                <a:rPr sz="1013" spc="-28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more</a:t>
              </a:r>
              <a:r>
                <a:rPr sz="1013" spc="-20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learning</a:t>
              </a:r>
              <a:r>
                <a:rPr sz="1013" spc="-20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happens-</a:t>
              </a:r>
              <a:r>
                <a:rPr sz="1013" spc="-25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Vanishing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gradient</a:t>
              </a:r>
              <a:endParaRPr sz="1013">
                <a:latin typeface="Calibri"/>
                <a:cs typeface="Calibri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88436" y="3119513"/>
              <a:ext cx="2004237" cy="3639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9AFF578-705D-E253-9F76-885F7E551BEB}"/>
              </a:ext>
            </a:extLst>
          </p:cNvPr>
          <p:cNvGrpSpPr/>
          <p:nvPr/>
        </p:nvGrpSpPr>
        <p:grpSpPr>
          <a:xfrm>
            <a:off x="1524000" y="914400"/>
            <a:ext cx="9829800" cy="4884613"/>
            <a:chOff x="2773886" y="0"/>
            <a:chExt cx="6751201" cy="3475291"/>
          </a:xfrm>
        </p:grpSpPr>
        <p:sp>
          <p:nvSpPr>
            <p:cNvPr id="2" name="object 2"/>
            <p:cNvSpPr txBox="1"/>
            <p:nvPr/>
          </p:nvSpPr>
          <p:spPr>
            <a:xfrm>
              <a:off x="8577952" y="2379083"/>
              <a:ext cx="347901" cy="353102"/>
            </a:xfrm>
            <a:prstGeom prst="rect">
              <a:avLst/>
            </a:prstGeom>
          </p:spPr>
          <p:txBody>
            <a:bodyPr vert="horz" wrap="square" lIns="0" tIns="6787" rIns="0" bIns="0" rtlCol="0">
              <a:spAutoFit/>
            </a:bodyPr>
            <a:lstStyle/>
            <a:p>
              <a:pPr marL="7144">
                <a:spcBef>
                  <a:spcPts val="53"/>
                </a:spcBef>
              </a:pPr>
              <a:r>
                <a:rPr sz="2250" spc="-14" dirty="0">
                  <a:latin typeface="Calibri Light"/>
                  <a:cs typeface="Calibri Light"/>
                </a:rPr>
                <a:t>+/-</a:t>
              </a:r>
              <a:endParaRPr sz="2250" dirty="0">
                <a:latin typeface="Calibri Light"/>
                <a:cs typeface="Calibri Light"/>
              </a:endParaRPr>
            </a:p>
          </p:txBody>
        </p:sp>
        <p:grpSp>
          <p:nvGrpSpPr>
            <p:cNvPr id="3" name="object 3"/>
            <p:cNvGrpSpPr/>
            <p:nvPr/>
          </p:nvGrpSpPr>
          <p:grpSpPr>
            <a:xfrm>
              <a:off x="2773886" y="0"/>
              <a:ext cx="6751201" cy="2464594"/>
              <a:chOff x="190019" y="0"/>
              <a:chExt cx="12002135" cy="4381500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0019" y="523857"/>
                <a:ext cx="4950006" cy="3857261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147543" y="0"/>
                <a:ext cx="4724042" cy="3758116"/>
              </a:xfrm>
              <a:prstGeom prst="rect">
                <a:avLst/>
              </a:prstGeom>
            </p:spPr>
          </p:pic>
          <p:pic>
            <p:nvPicPr>
              <p:cNvPr id="6" name="object 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478780" y="249936"/>
                <a:ext cx="3115055" cy="885444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496043" y="1504188"/>
                <a:ext cx="2695955" cy="1219200"/>
              </a:xfrm>
              <a:prstGeom prst="rect">
                <a:avLst/>
              </a:prstGeom>
            </p:spPr>
          </p:pic>
          <p:pic>
            <p:nvPicPr>
              <p:cNvPr id="8" name="object 8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558527" y="3084576"/>
                <a:ext cx="2570987" cy="1219200"/>
              </a:xfrm>
              <a:prstGeom prst="rect">
                <a:avLst/>
              </a:prstGeom>
            </p:spPr>
          </p:pic>
        </p:grpSp>
        <p:sp>
          <p:nvSpPr>
            <p:cNvPr id="9" name="object 9"/>
            <p:cNvSpPr txBox="1"/>
            <p:nvPr/>
          </p:nvSpPr>
          <p:spPr>
            <a:xfrm>
              <a:off x="9231034" y="1608459"/>
              <a:ext cx="121444" cy="266965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688" spc="-28" dirty="0">
                  <a:latin typeface="Calibri Light"/>
                  <a:cs typeface="Calibri Light"/>
                </a:rPr>
                <a:t>+</a:t>
              </a:r>
              <a:endParaRPr sz="1688">
                <a:latin typeface="Calibri Light"/>
                <a:cs typeface="Calibri Light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359408" y="2405301"/>
              <a:ext cx="121087" cy="266965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688" spc="-28" dirty="0">
                  <a:latin typeface="Calibri Light"/>
                  <a:cs typeface="Calibri Light"/>
                </a:rPr>
                <a:t>+</a:t>
              </a:r>
              <a:endParaRPr sz="1688" dirty="0">
                <a:latin typeface="Calibri Light"/>
                <a:cs typeface="Calibri Light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8570095" y="1516547"/>
              <a:ext cx="265390" cy="266965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688" spc="-14" dirty="0">
                  <a:latin typeface="Calibri Light"/>
                  <a:cs typeface="Calibri Light"/>
                </a:rPr>
                <a:t>+/-</a:t>
              </a:r>
              <a:endParaRPr sz="1688">
                <a:latin typeface="Calibri Light"/>
                <a:cs typeface="Calibri Light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4991862" y="706373"/>
              <a:ext cx="4114545" cy="2768918"/>
              <a:chOff x="4133088" y="1255775"/>
              <a:chExt cx="7314747" cy="4922520"/>
            </a:xfrm>
          </p:grpSpPr>
          <p:pic>
            <p:nvPicPr>
              <p:cNvPr id="13" name="object 13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568565" y="4097320"/>
                <a:ext cx="523875" cy="781321"/>
              </a:xfrm>
              <a:prstGeom prst="rect">
                <a:avLst/>
              </a:prstGeom>
            </p:spPr>
          </p:pic>
          <p:pic>
            <p:nvPicPr>
              <p:cNvPr id="14" name="object 14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556019" y="5065737"/>
                <a:ext cx="2891816" cy="1045502"/>
              </a:xfrm>
              <a:prstGeom prst="rect">
                <a:avLst/>
              </a:prstGeom>
            </p:spPr>
          </p:pic>
          <p:pic>
            <p:nvPicPr>
              <p:cNvPr id="15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133088" y="3922775"/>
                <a:ext cx="3236975" cy="2255520"/>
              </a:xfrm>
              <a:prstGeom prst="rect">
                <a:avLst/>
              </a:prstGeom>
            </p:spPr>
          </p:pic>
          <p:pic>
            <p:nvPicPr>
              <p:cNvPr id="16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129784" y="1255775"/>
                <a:ext cx="2903219" cy="1062227"/>
              </a:xfrm>
              <a:prstGeom prst="rect">
                <a:avLst/>
              </a:prstGeom>
            </p:spPr>
          </p:pic>
        </p:grpSp>
        <p:sp>
          <p:nvSpPr>
            <p:cNvPr id="17" name="object 17"/>
            <p:cNvSpPr txBox="1"/>
            <p:nvPr/>
          </p:nvSpPr>
          <p:spPr>
            <a:xfrm>
              <a:off x="7358586" y="2410802"/>
              <a:ext cx="964763" cy="318966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>
                <a:spcBef>
                  <a:spcPts val="56"/>
                </a:spcBef>
              </a:pPr>
              <a:r>
                <a:rPr sz="1013" dirty="0">
                  <a:latin typeface="Calibri"/>
                  <a:cs typeface="Calibri"/>
                </a:rPr>
                <a:t>Will</a:t>
              </a:r>
              <a:r>
                <a:rPr sz="1013" spc="-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be</a:t>
              </a:r>
              <a:r>
                <a:rPr sz="1013" spc="-8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either</a:t>
              </a:r>
              <a:r>
                <a:rPr sz="1013" spc="-8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all</a:t>
              </a:r>
              <a:r>
                <a:rPr sz="1013" spc="-11" dirty="0">
                  <a:latin typeface="Calibri"/>
                  <a:cs typeface="Calibri"/>
                </a:rPr>
                <a:t> </a:t>
              </a:r>
              <a:r>
                <a:rPr sz="1013" spc="-28" dirty="0">
                  <a:latin typeface="Calibri"/>
                  <a:cs typeface="Calibri"/>
                </a:rPr>
                <a:t>+ </a:t>
              </a:r>
              <a:r>
                <a:rPr sz="1013" dirty="0">
                  <a:latin typeface="Calibri"/>
                  <a:cs typeface="Calibri"/>
                </a:rPr>
                <a:t>or</a:t>
              </a:r>
              <a:r>
                <a:rPr sz="1013" spc="3" dirty="0">
                  <a:latin typeface="Calibri"/>
                  <a:cs typeface="Calibri"/>
                </a:rPr>
                <a:t> </a:t>
              </a:r>
              <a:r>
                <a:rPr sz="1013" spc="-11" dirty="0">
                  <a:latin typeface="Calibri"/>
                  <a:cs typeface="Calibri"/>
                </a:rPr>
                <a:t>all-</a:t>
              </a:r>
              <a:endParaRPr sz="1013" dirty="0">
                <a:latin typeface="Calibri"/>
                <a:cs typeface="Calibri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903924" y="2631996"/>
              <a:ext cx="2015693" cy="3992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 algn="just">
                <a:spcBef>
                  <a:spcPts val="56"/>
                </a:spcBef>
              </a:pPr>
              <a:r>
                <a:rPr sz="1200" dirty="0">
                  <a:latin typeface="Calibri"/>
                  <a:cs typeface="Calibri"/>
                </a:rPr>
                <a:t>Logistic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Neuron</a:t>
              </a:r>
              <a:r>
                <a:rPr sz="1200" spc="-37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is</a:t>
              </a:r>
              <a:r>
                <a:rPr sz="1200" spc="-31" dirty="0">
                  <a:latin typeface="Calibri"/>
                  <a:cs typeface="Calibri"/>
                </a:rPr>
                <a:t> </a:t>
              </a:r>
              <a:r>
                <a:rPr sz="1200" spc="-14" dirty="0">
                  <a:latin typeface="Calibri"/>
                  <a:cs typeface="Calibri"/>
                </a:rPr>
                <a:t>not </a:t>
              </a:r>
              <a:r>
                <a:rPr sz="1200" dirty="0">
                  <a:latin typeface="Calibri"/>
                  <a:cs typeface="Calibri"/>
                </a:rPr>
                <a:t>zero</a:t>
              </a:r>
              <a:r>
                <a:rPr sz="1200" spc="-48" dirty="0">
                  <a:latin typeface="Calibri"/>
                  <a:cs typeface="Calibri"/>
                </a:rPr>
                <a:t> </a:t>
              </a:r>
              <a:r>
                <a:rPr sz="1200" spc="-6" dirty="0">
                  <a:latin typeface="Calibri"/>
                  <a:cs typeface="Calibri"/>
                </a:rPr>
                <a:t>centered</a:t>
              </a:r>
              <a:r>
                <a:rPr sz="1200" spc="-34" dirty="0">
                  <a:latin typeface="Calibri"/>
                  <a:cs typeface="Calibri"/>
                </a:rPr>
                <a:t> </a:t>
              </a:r>
              <a:r>
                <a:rPr sz="1200" spc="-11" dirty="0">
                  <a:latin typeface="Calibri"/>
                  <a:cs typeface="Calibri"/>
                </a:rPr>
                <a:t>which </a:t>
              </a:r>
              <a:r>
                <a:rPr sz="1200" spc="-6" dirty="0">
                  <a:latin typeface="Calibri"/>
                  <a:cs typeface="Calibri"/>
                </a:rPr>
                <a:t>restricts</a:t>
              </a:r>
              <a:r>
                <a:rPr sz="1200" spc="-14" dirty="0">
                  <a:latin typeface="Calibri"/>
                  <a:cs typeface="Calibri"/>
                </a:rPr>
                <a:t> the </a:t>
              </a:r>
              <a:r>
                <a:rPr sz="1200" spc="-6" dirty="0">
                  <a:latin typeface="Calibri"/>
                  <a:cs typeface="Calibri"/>
                </a:rPr>
                <a:t>movement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of</a:t>
              </a:r>
              <a:r>
                <a:rPr sz="1200" spc="-8" dirty="0">
                  <a:latin typeface="Calibri"/>
                  <a:cs typeface="Calibri"/>
                </a:rPr>
                <a:t> </a:t>
              </a:r>
              <a:r>
                <a:rPr sz="1200" spc="-6" dirty="0">
                  <a:latin typeface="Calibri"/>
                  <a:cs typeface="Calibri"/>
                </a:rPr>
                <a:t>gradient </a:t>
              </a:r>
              <a:r>
                <a:rPr sz="1200" dirty="0">
                  <a:latin typeface="Calibri"/>
                  <a:cs typeface="Calibri"/>
                </a:rPr>
                <a:t>on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training</a:t>
              </a:r>
              <a:r>
                <a:rPr sz="1200" spc="-17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–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spc="-11" dirty="0">
                  <a:latin typeface="Calibri"/>
                  <a:cs typeface="Calibri"/>
                </a:rPr>
                <a:t>takes </a:t>
              </a:r>
              <a:r>
                <a:rPr sz="1200" dirty="0">
                  <a:latin typeface="Calibri"/>
                  <a:cs typeface="Calibri"/>
                </a:rPr>
                <a:t>time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to</a:t>
              </a:r>
              <a:r>
                <a:rPr sz="1200" spc="-17" dirty="0">
                  <a:latin typeface="Calibri"/>
                  <a:cs typeface="Calibri"/>
                </a:rPr>
                <a:t> </a:t>
              </a:r>
              <a:r>
                <a:rPr sz="1200" spc="-6" dirty="0">
                  <a:latin typeface="Calibri"/>
                  <a:cs typeface="Calibri"/>
                </a:rPr>
                <a:t>converge</a:t>
              </a:r>
              <a:endParaRPr sz="1200" dirty="0">
                <a:latin typeface="Calibri"/>
                <a:cs typeface="Calibri"/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1800" spc="-149" dirty="0"/>
              <a:t>Logistic/Sigmoid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24" dirty="0"/>
              <a:t>Better</a:t>
            </a:r>
            <a:r>
              <a:rPr sz="2400" spc="-17" dirty="0"/>
              <a:t> </a:t>
            </a:r>
            <a:r>
              <a:rPr sz="2400" spc="-138" dirty="0"/>
              <a:t>Activation</a:t>
            </a:r>
            <a:r>
              <a:rPr sz="2400" spc="-14" dirty="0"/>
              <a:t> </a:t>
            </a:r>
            <a:r>
              <a:rPr sz="2400" spc="-138" dirty="0"/>
              <a:t>Functions-</a:t>
            </a:r>
            <a:r>
              <a:rPr sz="2400" spc="-34" dirty="0"/>
              <a:t> </a:t>
            </a:r>
            <a:r>
              <a:rPr sz="2400" spc="-82" dirty="0"/>
              <a:t>tanh</a:t>
            </a:r>
            <a:endParaRPr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679A38-FE82-FA45-7180-31E7055953FD}"/>
              </a:ext>
            </a:extLst>
          </p:cNvPr>
          <p:cNvGrpSpPr/>
          <p:nvPr/>
        </p:nvGrpSpPr>
        <p:grpSpPr>
          <a:xfrm>
            <a:off x="1143000" y="1371600"/>
            <a:ext cx="9829800" cy="4419600"/>
            <a:chOff x="2827306" y="251174"/>
            <a:chExt cx="6106409" cy="3268980"/>
          </a:xfrm>
        </p:grpSpPr>
        <p:grpSp>
          <p:nvGrpSpPr>
            <p:cNvPr id="3" name="object 3"/>
            <p:cNvGrpSpPr/>
            <p:nvPr/>
          </p:nvGrpSpPr>
          <p:grpSpPr>
            <a:xfrm>
              <a:off x="2827306" y="251174"/>
              <a:ext cx="2844641" cy="3268980"/>
              <a:chOff x="284988" y="446531"/>
              <a:chExt cx="5057140" cy="5811520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6804" y="446531"/>
                <a:ext cx="4953000" cy="2581655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4988" y="2714243"/>
                <a:ext cx="5056632" cy="3543300"/>
              </a:xfrm>
              <a:prstGeom prst="rect">
                <a:avLst/>
              </a:prstGeom>
            </p:spPr>
          </p:pic>
        </p:grp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8561" y="518215"/>
              <a:ext cx="2925154" cy="8042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4856" y="1966531"/>
              <a:ext cx="2630482" cy="11572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499" y="320144"/>
            <a:ext cx="11209376" cy="521036"/>
          </a:xfrm>
          <a:prstGeom prst="rect">
            <a:avLst/>
          </a:prstGeom>
        </p:spPr>
        <p:txBody>
          <a:bodyPr vert="horz" wrap="square" lIns="0" tIns="211197" rIns="0" bIns="0" rtlCol="0" anchor="ctr">
            <a:spAutoFit/>
          </a:bodyPr>
          <a:lstStyle/>
          <a:p>
            <a:pPr marL="242530">
              <a:lnSpc>
                <a:spcPct val="100000"/>
              </a:lnSpc>
              <a:spcBef>
                <a:spcPts val="59"/>
              </a:spcBef>
            </a:pPr>
            <a:r>
              <a:rPr sz="2000" spc="-115" dirty="0"/>
              <a:t>Better</a:t>
            </a:r>
            <a:r>
              <a:rPr sz="2000" spc="-28" dirty="0"/>
              <a:t> </a:t>
            </a:r>
            <a:r>
              <a:rPr sz="2000" spc="-138" dirty="0"/>
              <a:t>Activation</a:t>
            </a:r>
            <a:r>
              <a:rPr sz="2000" spc="-25" dirty="0"/>
              <a:t> </a:t>
            </a:r>
            <a:r>
              <a:rPr sz="2000" spc="-138" dirty="0"/>
              <a:t>Functions-</a:t>
            </a:r>
            <a:r>
              <a:rPr sz="2000" spc="-51" dirty="0"/>
              <a:t> </a:t>
            </a:r>
            <a:r>
              <a:rPr sz="2000" spc="-191" dirty="0"/>
              <a:t>ReLU</a:t>
            </a:r>
            <a:r>
              <a:rPr sz="2000" spc="-23" dirty="0"/>
              <a:t> </a:t>
            </a:r>
            <a:r>
              <a:rPr sz="2000" spc="-98" dirty="0"/>
              <a:t>(Rectified</a:t>
            </a:r>
            <a:r>
              <a:rPr sz="2000" spc="-51" dirty="0"/>
              <a:t> </a:t>
            </a:r>
            <a:r>
              <a:rPr sz="2000" spc="-121" dirty="0"/>
              <a:t>Linear</a:t>
            </a:r>
            <a:r>
              <a:rPr sz="2000" spc="-34" dirty="0"/>
              <a:t> </a:t>
            </a:r>
            <a:r>
              <a:rPr sz="2000" spc="-124" dirty="0"/>
              <a:t>activation</a:t>
            </a:r>
            <a:r>
              <a:rPr sz="2000" spc="-39" dirty="0"/>
              <a:t> </a:t>
            </a:r>
            <a:r>
              <a:rPr sz="2000" spc="-118" dirty="0"/>
              <a:t>Unit</a:t>
            </a:r>
            <a:r>
              <a:rPr sz="2000" spc="-20" dirty="0"/>
              <a:t> </a:t>
            </a:r>
            <a:r>
              <a:rPr sz="2000" spc="-28" dirty="0"/>
              <a:t>)</a:t>
            </a:r>
            <a:endParaRPr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B167E8-DE4B-D009-61A0-9F5C8D101A10}"/>
              </a:ext>
            </a:extLst>
          </p:cNvPr>
          <p:cNvGrpSpPr/>
          <p:nvPr/>
        </p:nvGrpSpPr>
        <p:grpSpPr>
          <a:xfrm>
            <a:off x="1447800" y="1371600"/>
            <a:ext cx="9448800" cy="3886200"/>
            <a:chOff x="2973895" y="870974"/>
            <a:chExt cx="6004617" cy="2326569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3895" y="1023556"/>
              <a:ext cx="2593181" cy="17140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4244" y="870974"/>
              <a:ext cx="3214268" cy="10235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7114" y="2163699"/>
              <a:ext cx="2957100" cy="10338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392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3"/>
              </a:spcBef>
            </a:pPr>
            <a:r>
              <a:rPr sz="2250" spc="-177" dirty="0"/>
              <a:t>Issues</a:t>
            </a:r>
            <a:r>
              <a:rPr sz="2250" spc="-59" dirty="0"/>
              <a:t> </a:t>
            </a:r>
            <a:r>
              <a:rPr sz="2250" spc="-157" dirty="0"/>
              <a:t>with</a:t>
            </a:r>
            <a:r>
              <a:rPr sz="2250" spc="-51" dirty="0"/>
              <a:t> </a:t>
            </a:r>
            <a:r>
              <a:rPr sz="2250" spc="-270" dirty="0"/>
              <a:t>ReLU</a:t>
            </a:r>
            <a:endParaRPr sz="225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DFCD7B-B0E3-3C9C-0604-F4826F8BAE00}"/>
              </a:ext>
            </a:extLst>
          </p:cNvPr>
          <p:cNvGrpSpPr/>
          <p:nvPr/>
        </p:nvGrpSpPr>
        <p:grpSpPr>
          <a:xfrm>
            <a:off x="1447800" y="1066800"/>
            <a:ext cx="9144000" cy="4495800"/>
            <a:chOff x="2750153" y="582079"/>
            <a:chExt cx="6382226" cy="2951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1353" y="582079"/>
              <a:ext cx="5443944" cy="24433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0153" y="2890647"/>
              <a:ext cx="2576893" cy="4766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1340" y="3010662"/>
              <a:ext cx="2502313" cy="455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3548" y="3200971"/>
              <a:ext cx="2078831" cy="3326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499" y="353076"/>
            <a:ext cx="11209376" cy="455173"/>
          </a:xfrm>
          <a:prstGeom prst="rect">
            <a:avLst/>
          </a:prstGeom>
        </p:spPr>
        <p:txBody>
          <a:bodyPr vert="horz" wrap="square" lIns="0" tIns="85011" rIns="0" bIns="0" rtlCol="0" anchor="ctr">
            <a:spAutoFit/>
          </a:bodyPr>
          <a:lstStyle/>
          <a:p>
            <a:pPr marL="93226">
              <a:lnSpc>
                <a:spcPct val="100000"/>
              </a:lnSpc>
              <a:spcBef>
                <a:spcPts val="59"/>
              </a:spcBef>
            </a:pPr>
            <a:r>
              <a:rPr sz="2400" spc="-157" dirty="0"/>
              <a:t>Leaky</a:t>
            </a:r>
            <a:r>
              <a:rPr sz="2400" spc="-42" dirty="0"/>
              <a:t> </a:t>
            </a:r>
            <a:r>
              <a:rPr sz="2400" spc="-197" dirty="0"/>
              <a:t>ReLU</a:t>
            </a:r>
            <a:endParaRPr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CC4F67-0476-759E-648E-3B85378C19CE}"/>
              </a:ext>
            </a:extLst>
          </p:cNvPr>
          <p:cNvGrpSpPr/>
          <p:nvPr/>
        </p:nvGrpSpPr>
        <p:grpSpPr>
          <a:xfrm>
            <a:off x="1828800" y="1600200"/>
            <a:ext cx="8382000" cy="3733800"/>
            <a:chOff x="3296222" y="579491"/>
            <a:chExt cx="5842803" cy="2878869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6222" y="579491"/>
              <a:ext cx="2657898" cy="17890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946" y="2617184"/>
              <a:ext cx="2443163" cy="8411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725" y="1283303"/>
              <a:ext cx="2957300" cy="942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87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3"/>
              </a:spcBef>
            </a:pPr>
            <a:r>
              <a:rPr sz="2250" spc="-160" dirty="0"/>
              <a:t>Overfitting</a:t>
            </a:r>
            <a:r>
              <a:rPr sz="2250" spc="-42" dirty="0"/>
              <a:t> </a:t>
            </a:r>
            <a:r>
              <a:rPr sz="2250" dirty="0"/>
              <a:t>-</a:t>
            </a:r>
            <a:r>
              <a:rPr sz="2250" spc="-51" dirty="0"/>
              <a:t> </a:t>
            </a:r>
            <a:r>
              <a:rPr sz="2250" spc="-157" dirty="0"/>
              <a:t>Underfitting</a:t>
            </a:r>
            <a:endParaRPr sz="22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C2162A-08A7-EFA9-BC28-0E89966844FA}"/>
              </a:ext>
            </a:extLst>
          </p:cNvPr>
          <p:cNvGrpSpPr/>
          <p:nvPr/>
        </p:nvGrpSpPr>
        <p:grpSpPr>
          <a:xfrm>
            <a:off x="2057400" y="1524000"/>
            <a:ext cx="9448802" cy="4038600"/>
            <a:chOff x="2756153" y="532066"/>
            <a:chExt cx="6607241" cy="2996375"/>
          </a:xfrm>
        </p:grpSpPr>
        <p:grpSp>
          <p:nvGrpSpPr>
            <p:cNvPr id="3" name="object 3"/>
            <p:cNvGrpSpPr/>
            <p:nvPr/>
          </p:nvGrpSpPr>
          <p:grpSpPr>
            <a:xfrm>
              <a:off x="2756153" y="558070"/>
              <a:ext cx="6095048" cy="2970371"/>
              <a:chOff x="158495" y="992124"/>
              <a:chExt cx="10835640" cy="5280660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58495" y="992124"/>
                <a:ext cx="6647692" cy="3200400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367" y="2548127"/>
                <a:ext cx="10716768" cy="3724655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6495481" y="532066"/>
              <a:ext cx="2867913" cy="7474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>
                <a:spcBef>
                  <a:spcPts val="56"/>
                </a:spcBef>
              </a:pP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supervised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learning,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underfitting</a:t>
              </a:r>
              <a:r>
                <a:rPr sz="1200" b="1" spc="-4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happens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when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28" dirty="0">
                  <a:solidFill>
                    <a:srgbClr val="292929"/>
                  </a:solidFill>
                  <a:latin typeface="Calibri"/>
                  <a:cs typeface="Calibri"/>
                </a:rPr>
                <a:t>a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model</a:t>
              </a:r>
              <a:r>
                <a:rPr sz="12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unable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capture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underlying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pattern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of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2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data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(</a:t>
              </a:r>
              <a:r>
                <a:rPr sz="12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Not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able</a:t>
              </a:r>
              <a:r>
                <a:rPr sz="12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learn)</a:t>
              </a:r>
              <a:endParaRPr sz="1200" dirty="0">
                <a:latin typeface="Calibri"/>
                <a:cs typeface="Calibri"/>
              </a:endParaRPr>
            </a:p>
            <a:p>
              <a:pPr marL="65365" marR="71438">
                <a:spcBef>
                  <a:spcPts val="565"/>
                </a:spcBef>
              </a:pP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overfitting</a:t>
              </a:r>
              <a:r>
                <a:rPr sz="1200" b="1" spc="-5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happens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when</a:t>
              </a:r>
              <a:r>
                <a:rPr sz="12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our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model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captures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the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noise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along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with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underlying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pattern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data.</a:t>
              </a:r>
              <a:endParaRPr sz="12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13604"/>
            <a:ext cx="11209376" cy="534117"/>
          </a:xfrm>
          <a:prstGeom prst="rect">
            <a:avLst/>
          </a:prstGeom>
        </p:spPr>
        <p:txBody>
          <a:bodyPr vert="horz" wrap="square" lIns="0" tIns="163191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10" dirty="0"/>
              <a:t>Bias-</a:t>
            </a:r>
            <a:r>
              <a:rPr sz="2400" spc="-23" dirty="0"/>
              <a:t> </a:t>
            </a:r>
            <a:r>
              <a:rPr sz="2400" spc="-115" dirty="0"/>
              <a:t>Variance</a:t>
            </a:r>
            <a:endParaRPr sz="2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438400" y="1600200"/>
            <a:ext cx="7924800" cy="3733800"/>
            <a:chOff x="460242" y="824483"/>
            <a:chExt cx="11348085" cy="50082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242" y="1184147"/>
              <a:ext cx="5047882" cy="4648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7552" y="824483"/>
              <a:ext cx="3238500" cy="15910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8461" y="2439923"/>
              <a:ext cx="5239490" cy="24475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55" dirty="0"/>
              <a:t>Bias</a:t>
            </a:r>
            <a:r>
              <a:rPr sz="2400" spc="-28" dirty="0"/>
              <a:t> </a:t>
            </a:r>
            <a:r>
              <a:rPr sz="2400" spc="-149" dirty="0"/>
              <a:t>and</a:t>
            </a:r>
            <a:r>
              <a:rPr sz="2400" spc="-23" dirty="0"/>
              <a:t> </a:t>
            </a:r>
            <a:r>
              <a:rPr sz="2400" spc="-138" dirty="0"/>
              <a:t>Variance</a:t>
            </a:r>
            <a:r>
              <a:rPr sz="2400" spc="-39" dirty="0"/>
              <a:t> </a:t>
            </a:r>
            <a:r>
              <a:rPr sz="2400" spc="-90" dirty="0"/>
              <a:t>trade-</a:t>
            </a:r>
            <a:r>
              <a:rPr sz="2400" spc="-68" dirty="0"/>
              <a:t>off</a:t>
            </a:r>
            <a:endParaRPr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6946F6-C806-51BC-1CF9-FA35BCA3B3A9}"/>
              </a:ext>
            </a:extLst>
          </p:cNvPr>
          <p:cNvGrpSpPr/>
          <p:nvPr/>
        </p:nvGrpSpPr>
        <p:grpSpPr>
          <a:xfrm>
            <a:off x="1456386" y="839273"/>
            <a:ext cx="9448800" cy="4724400"/>
            <a:chOff x="3350227" y="218814"/>
            <a:chExt cx="5526406" cy="3325499"/>
          </a:xfrm>
        </p:grpSpPr>
        <p:pic>
          <p:nvPicPr>
            <p:cNvPr id="2" name="object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0227" y="642938"/>
              <a:ext cx="5491544" cy="2657475"/>
            </a:xfrm>
            <a:prstGeom prst="rect">
              <a:avLst/>
            </a:prstGeom>
          </p:spPr>
        </p:pic>
        <p:sp>
          <p:nvSpPr>
            <p:cNvPr id="3" name="object 3"/>
            <p:cNvSpPr txBox="1"/>
            <p:nvPr/>
          </p:nvSpPr>
          <p:spPr>
            <a:xfrm>
              <a:off x="5414057" y="218814"/>
              <a:ext cx="3462576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What</a:t>
              </a:r>
              <a:r>
                <a:rPr sz="1013" b="1" i="1" spc="-25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happens</a:t>
              </a:r>
              <a:r>
                <a:rPr sz="1013" b="1" i="1" spc="-17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if</a:t>
              </a:r>
              <a:r>
                <a:rPr sz="1013" b="1" i="1" spc="-25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you</a:t>
              </a:r>
              <a:r>
                <a:rPr sz="1013" b="1" i="1" spc="-31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train</a:t>
              </a:r>
              <a:r>
                <a:rPr sz="1013" b="1" i="1" spc="-28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with</a:t>
              </a:r>
              <a:r>
                <a:rPr sz="1013" b="1" i="1" spc="-31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different</a:t>
              </a:r>
              <a:r>
                <a:rPr sz="1013" b="1" i="1" spc="-17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subsets</a:t>
              </a:r>
              <a:r>
                <a:rPr sz="1013" b="1" i="1" spc="-17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of</a:t>
              </a:r>
              <a:r>
                <a:rPr sz="1013" b="1" i="1" spc="-20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dirty="0">
                  <a:solidFill>
                    <a:srgbClr val="FF0000"/>
                  </a:solidFill>
                  <a:latin typeface="Calibri"/>
                  <a:cs typeface="Calibri"/>
                </a:rPr>
                <a:t>training</a:t>
              </a:r>
              <a:r>
                <a:rPr sz="1013" b="1" i="1" spc="-28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013" b="1" i="1" spc="-11" dirty="0">
                  <a:solidFill>
                    <a:srgbClr val="FF0000"/>
                  </a:solidFill>
                  <a:latin typeface="Calibri"/>
                  <a:cs typeface="Calibri"/>
                </a:rPr>
                <a:t>data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856220" y="3381223"/>
              <a:ext cx="2253853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sine</a:t>
              </a:r>
              <a:r>
                <a:rPr sz="1013" b="1" spc="-2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curve(Black</a:t>
              </a:r>
              <a:r>
                <a:rPr sz="1013" b="1" spc="-2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color)</a:t>
              </a:r>
              <a:r>
                <a:rPr sz="1013" b="1" spc="-1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is</a:t>
              </a:r>
              <a:r>
                <a:rPr sz="1013" b="1" spc="-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the</a:t>
              </a:r>
              <a:r>
                <a:rPr sz="1013" b="1" spc="-8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actual</a:t>
              </a: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 model</a:t>
              </a:r>
              <a:endParaRPr sz="1013">
                <a:latin typeface="Calibri"/>
                <a:cs typeface="Calibri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0C8AD0-40AA-19CE-235A-5658AB697972}"/>
              </a:ext>
            </a:extLst>
          </p:cNvPr>
          <p:cNvSpPr txBox="1"/>
          <p:nvPr/>
        </p:nvSpPr>
        <p:spPr>
          <a:xfrm>
            <a:off x="1708597" y="1118316"/>
            <a:ext cx="5254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Top Row (High Bias - Underfitting)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EACEC-5E3C-7C64-24EE-1B8290479152}"/>
              </a:ext>
            </a:extLst>
          </p:cNvPr>
          <p:cNvSpPr txBox="1"/>
          <p:nvPr/>
        </p:nvSpPr>
        <p:spPr>
          <a:xfrm>
            <a:off x="4692203" y="5293216"/>
            <a:ext cx="45462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Bottom Row (High Variance - Overfitting)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92209"/>
            <a:ext cx="11209376" cy="376906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</a:pPr>
            <a:r>
              <a:rPr sz="2400" spc="-155" dirty="0"/>
              <a:t>Bias</a:t>
            </a:r>
            <a:r>
              <a:rPr sz="2400" spc="-39" dirty="0"/>
              <a:t> </a:t>
            </a:r>
            <a:r>
              <a:rPr sz="2400" spc="-149" dirty="0"/>
              <a:t>and</a:t>
            </a:r>
            <a:r>
              <a:rPr sz="2400" spc="-39" dirty="0"/>
              <a:t> </a:t>
            </a:r>
            <a:r>
              <a:rPr sz="2400" spc="-138" dirty="0"/>
              <a:t>Variance</a:t>
            </a:r>
            <a:r>
              <a:rPr sz="2400" spc="-48" dirty="0"/>
              <a:t> </a:t>
            </a:r>
            <a:r>
              <a:rPr sz="2400" spc="-84" dirty="0"/>
              <a:t>trade-</a:t>
            </a:r>
            <a:r>
              <a:rPr sz="2400" spc="-68" dirty="0"/>
              <a:t>off</a:t>
            </a:r>
            <a:endParaRPr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D6878F-B803-EF6E-2F95-66711581E3CC}"/>
              </a:ext>
            </a:extLst>
          </p:cNvPr>
          <p:cNvGrpSpPr/>
          <p:nvPr/>
        </p:nvGrpSpPr>
        <p:grpSpPr>
          <a:xfrm>
            <a:off x="1981200" y="1066800"/>
            <a:ext cx="9448800" cy="4458540"/>
            <a:chOff x="2779300" y="86582"/>
            <a:chExt cx="6565964" cy="3110747"/>
          </a:xfrm>
        </p:grpSpPr>
        <p:grpSp>
          <p:nvGrpSpPr>
            <p:cNvPr id="3" name="object 3"/>
            <p:cNvGrpSpPr/>
            <p:nvPr/>
          </p:nvGrpSpPr>
          <p:grpSpPr>
            <a:xfrm>
              <a:off x="2779300" y="515208"/>
              <a:ext cx="3268980" cy="2682121"/>
              <a:chOff x="199644" y="915924"/>
              <a:chExt cx="5811520" cy="4768215"/>
            </a:xfrm>
          </p:grpSpPr>
          <p:pic>
            <p:nvPicPr>
              <p:cNvPr id="4" name="object 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99644" y="958613"/>
                <a:ext cx="2904748" cy="4725513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047999" y="915924"/>
                <a:ext cx="2962655" cy="2391155"/>
              </a:xfrm>
              <a:prstGeom prst="rect">
                <a:avLst/>
              </a:prstGeom>
            </p:spPr>
          </p:pic>
        </p:grpSp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6588" y="1311593"/>
              <a:ext cx="3090290" cy="7559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6577" y="86582"/>
              <a:ext cx="3006376" cy="942975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4395654" y="2336770"/>
              <a:ext cx="2336006" cy="607136"/>
            </a:xfrm>
            <a:prstGeom prst="rect">
              <a:avLst/>
            </a:prstGeom>
            <a:solidFill>
              <a:srgbClr val="DEEBF7"/>
            </a:solidFill>
          </p:spPr>
          <p:txBody>
            <a:bodyPr vert="horz" wrap="square" lIns="0" tIns="23574" rIns="0" bIns="0" rtlCol="0">
              <a:spAutoFit/>
            </a:bodyPr>
            <a:lstStyle/>
            <a:p>
              <a:pPr marL="51792" marR="112157" algn="just">
                <a:lnSpc>
                  <a:spcPct val="99600"/>
                </a:lnSpc>
                <a:spcBef>
                  <a:spcPts val="186"/>
                </a:spcBef>
              </a:pPr>
              <a:r>
                <a:rPr sz="1100" b="1" spc="-101" dirty="0">
                  <a:solidFill>
                    <a:srgbClr val="C00000"/>
                  </a:solidFill>
                  <a:latin typeface="Arial"/>
                  <a:cs typeface="Arial"/>
                </a:rPr>
                <a:t>Bias</a:t>
              </a:r>
              <a:r>
                <a:rPr sz="1100" b="1" spc="-20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292929"/>
                  </a:solidFill>
                  <a:latin typeface="Tahoma"/>
                  <a:cs typeface="Tahoma"/>
                </a:rPr>
                <a:t>is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b="1" spc="-68" dirty="0">
                  <a:solidFill>
                    <a:srgbClr val="292929"/>
                  </a:solidFill>
                  <a:latin typeface="Arial"/>
                  <a:cs typeface="Arial"/>
                </a:rPr>
                <a:t>difference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9" dirty="0">
                  <a:solidFill>
                    <a:srgbClr val="292929"/>
                  </a:solidFill>
                  <a:latin typeface="Arial"/>
                  <a:cs typeface="Arial"/>
                </a:rPr>
                <a:t>between</a:t>
              </a:r>
              <a:r>
                <a:rPr sz="1100" b="1" spc="-28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the </a:t>
              </a:r>
              <a:r>
                <a:rPr sz="1100" b="1" spc="-84" dirty="0">
                  <a:solidFill>
                    <a:srgbClr val="292929"/>
                  </a:solidFill>
                  <a:latin typeface="Arial"/>
                  <a:cs typeface="Arial"/>
                </a:rPr>
                <a:t>average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6" dirty="0">
                  <a:solidFill>
                    <a:srgbClr val="292929"/>
                  </a:solidFill>
                  <a:latin typeface="Arial"/>
                  <a:cs typeface="Arial"/>
                </a:rPr>
                <a:t>prediction</a:t>
              </a:r>
              <a:r>
                <a:rPr sz="1100" b="1" spc="-8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93" dirty="0">
                  <a:solidFill>
                    <a:srgbClr val="292929"/>
                  </a:solidFill>
                  <a:latin typeface="Arial"/>
                  <a:cs typeface="Arial"/>
                </a:rPr>
                <a:t>of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98" dirty="0">
                  <a:solidFill>
                    <a:srgbClr val="292929"/>
                  </a:solidFill>
                  <a:latin typeface="Arial"/>
                  <a:cs typeface="Arial"/>
                </a:rPr>
                <a:t>our</a:t>
              </a:r>
              <a:r>
                <a:rPr sz="1100" b="1" spc="-8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96" dirty="0">
                  <a:solidFill>
                    <a:srgbClr val="292929"/>
                  </a:solidFill>
                  <a:latin typeface="Arial"/>
                  <a:cs typeface="Arial"/>
                </a:rPr>
                <a:t>model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96" dirty="0">
                  <a:solidFill>
                    <a:srgbClr val="292929"/>
                  </a:solidFill>
                  <a:latin typeface="Arial"/>
                  <a:cs typeface="Arial"/>
                </a:rPr>
                <a:t>and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23" dirty="0">
                  <a:solidFill>
                    <a:srgbClr val="292929"/>
                  </a:solidFill>
                  <a:latin typeface="Arial"/>
                  <a:cs typeface="Arial"/>
                </a:rPr>
                <a:t>the </a:t>
              </a:r>
              <a:r>
                <a:rPr sz="1100" b="1" spc="-84" dirty="0">
                  <a:solidFill>
                    <a:srgbClr val="292929"/>
                  </a:solidFill>
                  <a:latin typeface="Arial"/>
                  <a:cs typeface="Arial"/>
                </a:rPr>
                <a:t>correct</a:t>
              </a:r>
              <a:r>
                <a:rPr sz="1100" b="1" spc="-23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84" dirty="0">
                  <a:solidFill>
                    <a:srgbClr val="292929"/>
                  </a:solidFill>
                  <a:latin typeface="Arial"/>
                  <a:cs typeface="Arial"/>
                </a:rPr>
                <a:t>value</a:t>
              </a:r>
              <a:r>
                <a:rPr sz="1100" b="1" spc="-6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spc="-51" dirty="0">
                  <a:solidFill>
                    <a:srgbClr val="292929"/>
                  </a:solidFill>
                  <a:latin typeface="Tahoma"/>
                  <a:cs typeface="Tahoma"/>
                </a:rPr>
                <a:t>which</a:t>
              </a:r>
              <a:r>
                <a:rPr sz="11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76" dirty="0">
                  <a:solidFill>
                    <a:srgbClr val="292929"/>
                  </a:solidFill>
                  <a:latin typeface="Tahoma"/>
                  <a:cs typeface="Tahoma"/>
                </a:rPr>
                <a:t>we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8" dirty="0">
                  <a:solidFill>
                    <a:srgbClr val="292929"/>
                  </a:solidFill>
                  <a:latin typeface="Tahoma"/>
                  <a:cs typeface="Tahoma"/>
                </a:rPr>
                <a:t>are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292929"/>
                  </a:solidFill>
                  <a:latin typeface="Tahoma"/>
                  <a:cs typeface="Tahoma"/>
                </a:rPr>
                <a:t>trying</a:t>
              </a:r>
              <a:r>
                <a:rPr sz="11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to </a:t>
              </a:r>
              <a:r>
                <a:rPr sz="1100" spc="-51" dirty="0">
                  <a:solidFill>
                    <a:srgbClr val="292929"/>
                  </a:solidFill>
                  <a:latin typeface="Tahoma"/>
                  <a:cs typeface="Tahoma"/>
                </a:rPr>
                <a:t>predict.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37" dirty="0">
                  <a:solidFill>
                    <a:srgbClr val="292929"/>
                  </a:solidFill>
                  <a:latin typeface="Tahoma"/>
                  <a:cs typeface="Tahoma"/>
                </a:rPr>
                <a:t>Model</a:t>
              </a:r>
              <a:r>
                <a:rPr sz="11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with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3" dirty="0">
                  <a:solidFill>
                    <a:srgbClr val="292929"/>
                  </a:solidFill>
                  <a:latin typeface="Tahoma"/>
                  <a:cs typeface="Tahoma"/>
                </a:rPr>
                <a:t>high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39" dirty="0">
                  <a:solidFill>
                    <a:srgbClr val="292929"/>
                  </a:solidFill>
                  <a:latin typeface="Tahoma"/>
                  <a:cs typeface="Tahoma"/>
                </a:rPr>
                <a:t>bias</a:t>
              </a:r>
              <a:r>
                <a:rPr sz="11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pays</a:t>
              </a:r>
              <a:r>
                <a:rPr sz="11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1" dirty="0">
                  <a:solidFill>
                    <a:srgbClr val="292929"/>
                  </a:solidFill>
                  <a:latin typeface="Tahoma"/>
                  <a:cs typeface="Tahoma"/>
                </a:rPr>
                <a:t>very </a:t>
              </a:r>
              <a:r>
                <a:rPr sz="1100" spc="-45" dirty="0">
                  <a:solidFill>
                    <a:srgbClr val="292929"/>
                  </a:solidFill>
                  <a:latin typeface="Tahoma"/>
                  <a:cs typeface="Tahoma"/>
                </a:rPr>
                <a:t>little</a:t>
              </a:r>
              <a:r>
                <a:rPr sz="1100" spc="-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attention</a:t>
              </a:r>
              <a:r>
                <a:rPr sz="1100" spc="-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6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4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100" spc="-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6" dirty="0">
                  <a:solidFill>
                    <a:srgbClr val="292929"/>
                  </a:solidFill>
                  <a:latin typeface="Tahoma"/>
                  <a:cs typeface="Tahoma"/>
                </a:rPr>
                <a:t>training</a:t>
              </a:r>
              <a:r>
                <a:rPr sz="11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79" dirty="0">
                  <a:solidFill>
                    <a:srgbClr val="292929"/>
                  </a:solidFill>
                  <a:latin typeface="Tahoma"/>
                  <a:cs typeface="Tahoma"/>
                </a:rPr>
                <a:t>data</a:t>
              </a:r>
              <a:r>
                <a:rPr sz="11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and </a:t>
              </a:r>
              <a:r>
                <a:rPr sz="1100" spc="-39" dirty="0">
                  <a:solidFill>
                    <a:srgbClr val="292929"/>
                  </a:solidFill>
                  <a:latin typeface="Tahoma"/>
                  <a:cs typeface="Tahoma"/>
                </a:rPr>
                <a:t>oversimplifies</a:t>
              </a:r>
              <a:r>
                <a:rPr sz="1100" spc="-6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6" dirty="0">
                  <a:solidFill>
                    <a:srgbClr val="292929"/>
                  </a:solidFill>
                  <a:latin typeface="Tahoma"/>
                  <a:cs typeface="Tahoma"/>
                </a:rPr>
                <a:t>model.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01" dirty="0">
                  <a:solidFill>
                    <a:srgbClr val="292929"/>
                  </a:solidFill>
                  <a:latin typeface="Tahoma"/>
                  <a:cs typeface="Tahoma"/>
                </a:rPr>
                <a:t>It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always</a:t>
              </a:r>
              <a:r>
                <a:rPr sz="11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" dirty="0">
                  <a:solidFill>
                    <a:srgbClr val="292929"/>
                  </a:solidFill>
                  <a:latin typeface="Tahoma"/>
                  <a:cs typeface="Tahoma"/>
                </a:rPr>
                <a:t>leads </a:t>
              </a:r>
              <a:r>
                <a:rPr sz="1100" spc="-59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b="1" spc="-84" dirty="0">
                  <a:solidFill>
                    <a:srgbClr val="292929"/>
                  </a:solidFill>
                  <a:latin typeface="Arial"/>
                  <a:cs typeface="Arial"/>
                </a:rPr>
                <a:t>high</a:t>
              </a:r>
              <a:r>
                <a:rPr sz="1100" b="1" spc="3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6" dirty="0">
                  <a:solidFill>
                    <a:srgbClr val="292929"/>
                  </a:solidFill>
                  <a:latin typeface="Arial"/>
                  <a:cs typeface="Arial"/>
                </a:rPr>
                <a:t>error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115" dirty="0">
                  <a:solidFill>
                    <a:srgbClr val="292929"/>
                  </a:solidFill>
                  <a:latin typeface="Arial"/>
                  <a:cs typeface="Arial"/>
                </a:rPr>
                <a:t>on</a:t>
              </a:r>
              <a:r>
                <a:rPr sz="1100" b="1" spc="-11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3" dirty="0">
                  <a:solidFill>
                    <a:srgbClr val="292929"/>
                  </a:solidFill>
                  <a:latin typeface="Arial"/>
                  <a:cs typeface="Arial"/>
                </a:rPr>
                <a:t>training</a:t>
              </a:r>
              <a:r>
                <a:rPr sz="1100" b="1" spc="-8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96" dirty="0">
                  <a:solidFill>
                    <a:srgbClr val="292929"/>
                  </a:solidFill>
                  <a:latin typeface="Arial"/>
                  <a:cs typeface="Arial"/>
                </a:rPr>
                <a:t>and</a:t>
              </a:r>
              <a:r>
                <a:rPr sz="1100" b="1" spc="-11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0" dirty="0">
                  <a:solidFill>
                    <a:srgbClr val="292929"/>
                  </a:solidFill>
                  <a:latin typeface="Arial"/>
                  <a:cs typeface="Arial"/>
                </a:rPr>
                <a:t>test</a:t>
              </a:r>
              <a:r>
                <a:rPr sz="1100" b="1" spc="-20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6" dirty="0">
                  <a:solidFill>
                    <a:srgbClr val="292929"/>
                  </a:solidFill>
                  <a:latin typeface="Arial"/>
                  <a:cs typeface="Arial"/>
                </a:rPr>
                <a:t>data</a:t>
              </a:r>
              <a:r>
                <a:rPr sz="1100" spc="-6" dirty="0">
                  <a:solidFill>
                    <a:srgbClr val="292929"/>
                  </a:solidFill>
                  <a:latin typeface="Calibri"/>
                  <a:cs typeface="Calibri"/>
                </a:rPr>
                <a:t>.</a:t>
              </a:r>
              <a:endParaRPr sz="1100" dirty="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770656" y="2219420"/>
              <a:ext cx="2574608" cy="724487"/>
            </a:xfrm>
            <a:prstGeom prst="rect">
              <a:avLst/>
            </a:prstGeom>
            <a:solidFill>
              <a:srgbClr val="FFF1CC"/>
            </a:solidFill>
          </p:spPr>
          <p:txBody>
            <a:bodyPr vert="horz" wrap="square" lIns="0" tIns="22503" rIns="0" bIns="0" rtlCol="0">
              <a:spAutoFit/>
            </a:bodyPr>
            <a:lstStyle/>
            <a:p>
              <a:pPr marL="51792" marR="102513">
                <a:spcBef>
                  <a:spcPts val="177"/>
                </a:spcBef>
              </a:pPr>
              <a:r>
                <a:rPr sz="1100" b="1" spc="-87" dirty="0">
                  <a:solidFill>
                    <a:srgbClr val="C00000"/>
                  </a:solidFill>
                  <a:latin typeface="Arial"/>
                  <a:cs typeface="Arial"/>
                </a:rPr>
                <a:t>Variance</a:t>
              </a:r>
              <a:r>
                <a:rPr sz="1100" b="1" spc="6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292929"/>
                  </a:solidFill>
                  <a:latin typeface="Tahoma"/>
                  <a:cs typeface="Tahoma"/>
                </a:rPr>
                <a:t>is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4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100" spc="-11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b="1" spc="-64" dirty="0">
                  <a:latin typeface="Arial"/>
                  <a:cs typeface="Arial"/>
                </a:rPr>
                <a:t>variability</a:t>
              </a:r>
              <a:r>
                <a:rPr sz="1100" b="1" spc="-20" dirty="0">
                  <a:latin typeface="Arial"/>
                  <a:cs typeface="Arial"/>
                </a:rPr>
                <a:t> </a:t>
              </a:r>
              <a:r>
                <a:rPr sz="1100" b="1" spc="-93" dirty="0">
                  <a:latin typeface="Arial"/>
                  <a:cs typeface="Arial"/>
                </a:rPr>
                <a:t>of</a:t>
              </a:r>
              <a:r>
                <a:rPr sz="1100" b="1" spc="-17" dirty="0">
                  <a:latin typeface="Arial"/>
                  <a:cs typeface="Arial"/>
                </a:rPr>
                <a:t> </a:t>
              </a:r>
              <a:r>
                <a:rPr sz="1100" b="1" spc="-96" dirty="0">
                  <a:latin typeface="Arial"/>
                  <a:cs typeface="Arial"/>
                </a:rPr>
                <a:t>model</a:t>
              </a:r>
              <a:r>
                <a:rPr sz="1100" b="1" spc="-23" dirty="0">
                  <a:latin typeface="Arial"/>
                  <a:cs typeface="Arial"/>
                </a:rPr>
                <a:t> </a:t>
              </a:r>
              <a:r>
                <a:rPr sz="1100" b="1" spc="-34" dirty="0">
                  <a:latin typeface="Arial"/>
                  <a:cs typeface="Arial"/>
                </a:rPr>
                <a:t>prediction </a:t>
              </a:r>
              <a:r>
                <a:rPr sz="1100" b="1" spc="-82" dirty="0">
                  <a:latin typeface="Arial"/>
                  <a:cs typeface="Arial"/>
                </a:rPr>
                <a:t>for</a:t>
              </a:r>
              <a:r>
                <a:rPr sz="1100" b="1" spc="-23" dirty="0">
                  <a:latin typeface="Arial"/>
                  <a:cs typeface="Arial"/>
                </a:rPr>
                <a:t> </a:t>
              </a:r>
              <a:r>
                <a:rPr sz="1100" b="1" spc="-73" dirty="0">
                  <a:latin typeface="Arial"/>
                  <a:cs typeface="Arial"/>
                </a:rPr>
                <a:t>a</a:t>
              </a:r>
              <a:r>
                <a:rPr sz="1100" b="1" spc="-14" dirty="0">
                  <a:latin typeface="Arial"/>
                  <a:cs typeface="Arial"/>
                </a:rPr>
                <a:t> </a:t>
              </a:r>
              <a:r>
                <a:rPr sz="1100" b="1" spc="-84" dirty="0">
                  <a:latin typeface="Arial"/>
                  <a:cs typeface="Arial"/>
                </a:rPr>
                <a:t>given</a:t>
              </a:r>
              <a:r>
                <a:rPr sz="1100" b="1" spc="-8" dirty="0">
                  <a:latin typeface="Arial"/>
                  <a:cs typeface="Arial"/>
                </a:rPr>
                <a:t> </a:t>
              </a:r>
              <a:r>
                <a:rPr sz="1100" b="1" spc="-73" dirty="0">
                  <a:latin typeface="Arial"/>
                  <a:cs typeface="Arial"/>
                </a:rPr>
                <a:t>data</a:t>
              </a:r>
              <a:r>
                <a:rPr sz="1100" b="1" spc="-20" dirty="0">
                  <a:latin typeface="Arial"/>
                  <a:cs typeface="Arial"/>
                </a:rPr>
                <a:t> </a:t>
              </a:r>
              <a:r>
                <a:rPr sz="1100" b="1" spc="-82" dirty="0">
                  <a:latin typeface="Arial"/>
                  <a:cs typeface="Arial"/>
                </a:rPr>
                <a:t>point</a:t>
              </a:r>
              <a:r>
                <a:rPr sz="1100" b="1" spc="-20" dirty="0">
                  <a:latin typeface="Arial"/>
                  <a:cs typeface="Arial"/>
                </a:rPr>
                <a:t> </a:t>
              </a:r>
              <a:r>
                <a:rPr sz="1100" b="1" spc="-93" dirty="0">
                  <a:latin typeface="Arial"/>
                  <a:cs typeface="Arial"/>
                </a:rPr>
                <a:t>or</a:t>
              </a:r>
              <a:r>
                <a:rPr sz="1100" b="1" spc="-23" dirty="0">
                  <a:latin typeface="Arial"/>
                  <a:cs typeface="Arial"/>
                </a:rPr>
                <a:t> </a:t>
              </a:r>
              <a:r>
                <a:rPr sz="1100" b="1" spc="-73" dirty="0">
                  <a:latin typeface="Arial"/>
                  <a:cs typeface="Arial"/>
                </a:rPr>
                <a:t>a</a:t>
              </a:r>
              <a:r>
                <a:rPr sz="1100" b="1" spc="-14" dirty="0">
                  <a:latin typeface="Arial"/>
                  <a:cs typeface="Arial"/>
                </a:rPr>
                <a:t> </a:t>
              </a:r>
              <a:r>
                <a:rPr sz="1100" b="1" spc="-84" dirty="0">
                  <a:latin typeface="Arial"/>
                  <a:cs typeface="Arial"/>
                </a:rPr>
                <a:t>value</a:t>
              </a:r>
              <a:r>
                <a:rPr sz="1100" b="1" spc="-31" dirty="0">
                  <a:latin typeface="Arial"/>
                  <a:cs typeface="Arial"/>
                </a:rPr>
                <a:t> </a:t>
              </a:r>
              <a:r>
                <a:rPr sz="1100" spc="-48" dirty="0">
                  <a:solidFill>
                    <a:srgbClr val="292929"/>
                  </a:solidFill>
                  <a:latin typeface="Tahoma"/>
                  <a:cs typeface="Tahoma"/>
                </a:rPr>
                <a:t>which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34" dirty="0">
                  <a:solidFill>
                    <a:srgbClr val="292929"/>
                  </a:solidFill>
                  <a:latin typeface="Tahoma"/>
                  <a:cs typeface="Tahoma"/>
                </a:rPr>
                <a:t>tells</a:t>
              </a:r>
              <a:r>
                <a:rPr sz="1100" spc="-17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us </a:t>
              </a:r>
              <a:r>
                <a:rPr sz="1100" spc="-53" dirty="0">
                  <a:solidFill>
                    <a:srgbClr val="292929"/>
                  </a:solidFill>
                  <a:latin typeface="Tahoma"/>
                  <a:cs typeface="Tahoma"/>
                </a:rPr>
                <a:t>spread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2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292929"/>
                  </a:solidFill>
                  <a:latin typeface="Tahoma"/>
                  <a:cs typeface="Tahoma"/>
                </a:rPr>
                <a:t>our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76" dirty="0">
                  <a:solidFill>
                    <a:srgbClr val="292929"/>
                  </a:solidFill>
                  <a:latin typeface="Tahoma"/>
                  <a:cs typeface="Tahoma"/>
                </a:rPr>
                <a:t>data.</a:t>
              </a:r>
              <a:r>
                <a:rPr sz="11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39" dirty="0">
                  <a:solidFill>
                    <a:srgbClr val="292929"/>
                  </a:solidFill>
                  <a:latin typeface="Tahoma"/>
                  <a:cs typeface="Tahoma"/>
                </a:rPr>
                <a:t>Model</a:t>
              </a:r>
              <a:r>
                <a:rPr sz="11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9" dirty="0">
                  <a:solidFill>
                    <a:srgbClr val="292929"/>
                  </a:solidFill>
                  <a:latin typeface="Tahoma"/>
                  <a:cs typeface="Tahoma"/>
                </a:rPr>
                <a:t>with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3" dirty="0">
                  <a:solidFill>
                    <a:srgbClr val="292929"/>
                  </a:solidFill>
                  <a:latin typeface="Tahoma"/>
                  <a:cs typeface="Tahoma"/>
                </a:rPr>
                <a:t>high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" dirty="0">
                  <a:solidFill>
                    <a:srgbClr val="292929"/>
                  </a:solidFill>
                  <a:latin typeface="Tahoma"/>
                  <a:cs typeface="Tahoma"/>
                </a:rPr>
                <a:t>variance </a:t>
              </a:r>
              <a:r>
                <a:rPr sz="1100" spc="-59" dirty="0">
                  <a:solidFill>
                    <a:srgbClr val="292929"/>
                  </a:solidFill>
                  <a:latin typeface="Tahoma"/>
                  <a:cs typeface="Tahoma"/>
                </a:rPr>
                <a:t>pays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90" dirty="0">
                  <a:solidFill>
                    <a:srgbClr val="292929"/>
                  </a:solidFill>
                  <a:latin typeface="Tahoma"/>
                  <a:cs typeface="Tahoma"/>
                </a:rPr>
                <a:t>a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1" dirty="0">
                  <a:solidFill>
                    <a:srgbClr val="292929"/>
                  </a:solidFill>
                  <a:latin typeface="Tahoma"/>
                  <a:cs typeface="Tahoma"/>
                </a:rPr>
                <a:t>lot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2" dirty="0">
                  <a:solidFill>
                    <a:srgbClr val="292929"/>
                  </a:solidFill>
                  <a:latin typeface="Tahoma"/>
                  <a:cs typeface="Tahoma"/>
                </a:rPr>
                <a:t>of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attention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6" dirty="0">
                  <a:solidFill>
                    <a:srgbClr val="292929"/>
                  </a:solidFill>
                  <a:latin typeface="Tahoma"/>
                  <a:cs typeface="Tahoma"/>
                </a:rPr>
                <a:t>to</a:t>
              </a:r>
              <a:r>
                <a:rPr sz="1100" spc="-20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3" dirty="0">
                  <a:solidFill>
                    <a:srgbClr val="292929"/>
                  </a:solidFill>
                  <a:latin typeface="Tahoma"/>
                  <a:cs typeface="Tahoma"/>
                </a:rPr>
                <a:t>training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79" dirty="0">
                  <a:solidFill>
                    <a:srgbClr val="292929"/>
                  </a:solidFill>
                  <a:latin typeface="Tahoma"/>
                  <a:cs typeface="Tahoma"/>
                </a:rPr>
                <a:t>data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70" dirty="0">
                  <a:solidFill>
                    <a:srgbClr val="292929"/>
                  </a:solidFill>
                  <a:latin typeface="Tahoma"/>
                  <a:cs typeface="Tahoma"/>
                </a:rPr>
                <a:t>and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does </a:t>
              </a:r>
              <a:r>
                <a:rPr sz="1100" spc="-59" dirty="0">
                  <a:solidFill>
                    <a:srgbClr val="292929"/>
                  </a:solidFill>
                  <a:latin typeface="Tahoma"/>
                  <a:cs typeface="Tahoma"/>
                </a:rPr>
                <a:t>not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6" dirty="0">
                  <a:solidFill>
                    <a:srgbClr val="292929"/>
                  </a:solidFill>
                  <a:latin typeface="Tahoma"/>
                  <a:cs typeface="Tahoma"/>
                </a:rPr>
                <a:t>generalize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3" dirty="0">
                  <a:solidFill>
                    <a:srgbClr val="292929"/>
                  </a:solidFill>
                  <a:latin typeface="Tahoma"/>
                  <a:cs typeface="Tahoma"/>
                </a:rPr>
                <a:t>on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2" dirty="0">
                  <a:solidFill>
                    <a:srgbClr val="292929"/>
                  </a:solidFill>
                  <a:latin typeface="Tahoma"/>
                  <a:cs typeface="Tahoma"/>
                </a:rPr>
                <a:t>the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79" dirty="0">
                  <a:solidFill>
                    <a:srgbClr val="292929"/>
                  </a:solidFill>
                  <a:latin typeface="Tahoma"/>
                  <a:cs typeface="Tahoma"/>
                </a:rPr>
                <a:t>data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1" dirty="0">
                  <a:solidFill>
                    <a:srgbClr val="292929"/>
                  </a:solidFill>
                  <a:latin typeface="Tahoma"/>
                  <a:cs typeface="Tahoma"/>
                </a:rPr>
                <a:t>which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292929"/>
                  </a:solidFill>
                  <a:latin typeface="Tahoma"/>
                  <a:cs typeface="Tahoma"/>
                </a:rPr>
                <a:t>it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1" dirty="0">
                  <a:solidFill>
                    <a:srgbClr val="292929"/>
                  </a:solidFill>
                  <a:latin typeface="Tahoma"/>
                  <a:cs typeface="Tahoma"/>
                </a:rPr>
                <a:t>hasn’t</a:t>
              </a:r>
              <a:r>
                <a:rPr sz="1100" spc="-23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11" dirty="0">
                  <a:solidFill>
                    <a:srgbClr val="292929"/>
                  </a:solidFill>
                  <a:latin typeface="Tahoma"/>
                  <a:cs typeface="Tahoma"/>
                </a:rPr>
                <a:t>seen </a:t>
              </a:r>
              <a:r>
                <a:rPr sz="1100" spc="-59" dirty="0">
                  <a:solidFill>
                    <a:srgbClr val="292929"/>
                  </a:solidFill>
                  <a:latin typeface="Tahoma"/>
                  <a:cs typeface="Tahoma"/>
                </a:rPr>
                <a:t>before.</a:t>
              </a:r>
              <a:r>
                <a:rPr sz="11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6" dirty="0">
                  <a:solidFill>
                    <a:srgbClr val="292929"/>
                  </a:solidFill>
                  <a:latin typeface="Tahoma"/>
                  <a:cs typeface="Tahoma"/>
                </a:rPr>
                <a:t>As</a:t>
              </a:r>
              <a:r>
                <a:rPr sz="1100" spc="-28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90" dirty="0">
                  <a:solidFill>
                    <a:srgbClr val="292929"/>
                  </a:solidFill>
                  <a:latin typeface="Tahoma"/>
                  <a:cs typeface="Tahoma"/>
                </a:rPr>
                <a:t>a</a:t>
              </a:r>
              <a:r>
                <a:rPr sz="1100" spc="-3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8" dirty="0">
                  <a:solidFill>
                    <a:srgbClr val="292929"/>
                  </a:solidFill>
                  <a:latin typeface="Tahoma"/>
                  <a:cs typeface="Tahoma"/>
                </a:rPr>
                <a:t>result,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31" dirty="0">
                  <a:solidFill>
                    <a:srgbClr val="292929"/>
                  </a:solidFill>
                  <a:latin typeface="Tahoma"/>
                  <a:cs typeface="Tahoma"/>
                </a:rPr>
                <a:t>such</a:t>
              </a:r>
              <a:r>
                <a:rPr sz="1100" spc="-25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45" dirty="0">
                  <a:solidFill>
                    <a:srgbClr val="292929"/>
                  </a:solidFill>
                  <a:latin typeface="Tahoma"/>
                  <a:cs typeface="Tahoma"/>
                </a:rPr>
                <a:t>models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b="1" spc="-87" dirty="0">
                  <a:solidFill>
                    <a:srgbClr val="292929"/>
                  </a:solidFill>
                  <a:latin typeface="Arial"/>
                  <a:cs typeface="Arial"/>
                </a:rPr>
                <a:t>perform</a:t>
              </a:r>
              <a:r>
                <a:rPr sz="1100" b="1" spc="-17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11" dirty="0">
                  <a:solidFill>
                    <a:srgbClr val="292929"/>
                  </a:solidFill>
                  <a:latin typeface="Arial"/>
                  <a:cs typeface="Arial"/>
                </a:rPr>
                <a:t>very </a:t>
              </a:r>
              <a:r>
                <a:rPr sz="1100" b="1" spc="-62" dirty="0">
                  <a:solidFill>
                    <a:srgbClr val="292929"/>
                  </a:solidFill>
                  <a:latin typeface="Arial"/>
                  <a:cs typeface="Arial"/>
                </a:rPr>
                <a:t>well</a:t>
              </a:r>
              <a:r>
                <a:rPr sz="1100" b="1" spc="-6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115" dirty="0">
                  <a:solidFill>
                    <a:srgbClr val="292929"/>
                  </a:solidFill>
                  <a:latin typeface="Arial"/>
                  <a:cs typeface="Arial"/>
                </a:rPr>
                <a:t>on</a:t>
              </a:r>
              <a:r>
                <a:rPr sz="1100" b="1" spc="-11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3" dirty="0">
                  <a:solidFill>
                    <a:srgbClr val="292929"/>
                  </a:solidFill>
                  <a:latin typeface="Arial"/>
                  <a:cs typeface="Arial"/>
                </a:rPr>
                <a:t>training</a:t>
              </a:r>
              <a:r>
                <a:rPr sz="1100" b="1" spc="-8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3" dirty="0">
                  <a:solidFill>
                    <a:srgbClr val="292929"/>
                  </a:solidFill>
                  <a:latin typeface="Arial"/>
                  <a:cs typeface="Arial"/>
                </a:rPr>
                <a:t>data</a:t>
              </a:r>
              <a:r>
                <a:rPr sz="1100" b="1" spc="-23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spc="-64" dirty="0">
                  <a:solidFill>
                    <a:srgbClr val="292929"/>
                  </a:solidFill>
                  <a:latin typeface="Tahoma"/>
                  <a:cs typeface="Tahoma"/>
                </a:rPr>
                <a:t>but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spc="-51" dirty="0">
                  <a:solidFill>
                    <a:srgbClr val="292929"/>
                  </a:solidFill>
                  <a:latin typeface="Tahoma"/>
                  <a:cs typeface="Tahoma"/>
                </a:rPr>
                <a:t>has</a:t>
              </a:r>
              <a:r>
                <a:rPr sz="1100" spc="-14" dirty="0">
                  <a:solidFill>
                    <a:srgbClr val="292929"/>
                  </a:solidFill>
                  <a:latin typeface="Tahoma"/>
                  <a:cs typeface="Tahoma"/>
                </a:rPr>
                <a:t> </a:t>
              </a:r>
              <a:r>
                <a:rPr sz="1100" b="1" spc="-84" dirty="0">
                  <a:solidFill>
                    <a:srgbClr val="292929"/>
                  </a:solidFill>
                  <a:latin typeface="Arial"/>
                  <a:cs typeface="Arial"/>
                </a:rPr>
                <a:t>high</a:t>
              </a:r>
              <a:r>
                <a:rPr sz="1100" b="1" spc="-8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9" dirty="0">
                  <a:solidFill>
                    <a:srgbClr val="292929"/>
                  </a:solidFill>
                  <a:latin typeface="Arial"/>
                  <a:cs typeface="Arial"/>
                </a:rPr>
                <a:t>error</a:t>
              </a:r>
              <a:r>
                <a:rPr sz="1100" b="1" spc="-14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6" dirty="0">
                  <a:solidFill>
                    <a:srgbClr val="292929"/>
                  </a:solidFill>
                  <a:latin typeface="Arial"/>
                  <a:cs typeface="Arial"/>
                </a:rPr>
                <a:t>rates </a:t>
              </a:r>
              <a:r>
                <a:rPr sz="1100" b="1" spc="-115" dirty="0">
                  <a:solidFill>
                    <a:srgbClr val="292929"/>
                  </a:solidFill>
                  <a:latin typeface="Arial"/>
                  <a:cs typeface="Arial"/>
                </a:rPr>
                <a:t>on</a:t>
              </a:r>
              <a:r>
                <a:rPr sz="1100" b="1" spc="-11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70" dirty="0">
                  <a:solidFill>
                    <a:srgbClr val="292929"/>
                  </a:solidFill>
                  <a:latin typeface="Arial"/>
                  <a:cs typeface="Arial"/>
                </a:rPr>
                <a:t>test</a:t>
              </a:r>
              <a:r>
                <a:rPr sz="1100" b="1" spc="-25" dirty="0">
                  <a:solidFill>
                    <a:srgbClr val="292929"/>
                  </a:solidFill>
                  <a:latin typeface="Arial"/>
                  <a:cs typeface="Arial"/>
                </a:rPr>
                <a:t> </a:t>
              </a:r>
              <a:r>
                <a:rPr sz="1100" b="1" spc="-11" dirty="0">
                  <a:solidFill>
                    <a:srgbClr val="292929"/>
                  </a:solidFill>
                  <a:latin typeface="Arial"/>
                  <a:cs typeface="Arial"/>
                </a:rPr>
                <a:t>data.</a:t>
              </a:r>
              <a:endParaRPr sz="1100" dirty="0">
                <a:latin typeface="Arial"/>
                <a:cs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8799794-E4E5-A5D8-5D70-FE94AFE29C4C}"/>
              </a:ext>
            </a:extLst>
          </p:cNvPr>
          <p:cNvSpPr txBox="1"/>
          <p:nvPr/>
        </p:nvSpPr>
        <p:spPr>
          <a:xfrm>
            <a:off x="7208322" y="5288478"/>
            <a:ext cx="45442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/>
              <a:t>f^​(x) is the model’s predicted function.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 dirty="0"/>
              <a:t>f</a:t>
            </a:r>
            <a:r>
              <a:rPr lang="en-US" sz="1200"/>
              <a:t>(x) is the true function (ground truth).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/>
              <a:t>E[f^(x)] is the expected prediction over multiple </a:t>
            </a:r>
            <a:r>
              <a:rPr lang="en-US" sz="1200" dirty="0"/>
              <a:t>training sets.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8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019" y="272327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55" dirty="0"/>
              <a:t>Bias</a:t>
            </a:r>
            <a:r>
              <a:rPr sz="2400" spc="-39" dirty="0"/>
              <a:t> </a:t>
            </a:r>
            <a:r>
              <a:rPr sz="2400" spc="-149" dirty="0"/>
              <a:t>and</a:t>
            </a:r>
            <a:r>
              <a:rPr sz="2400" spc="-37" dirty="0"/>
              <a:t> </a:t>
            </a:r>
            <a:r>
              <a:rPr sz="2400" spc="-135" dirty="0"/>
              <a:t>Variance</a:t>
            </a:r>
            <a:r>
              <a:rPr sz="2400" spc="-51" dirty="0"/>
              <a:t> </a:t>
            </a:r>
            <a:r>
              <a:rPr sz="2400" spc="-84" dirty="0"/>
              <a:t>trade-</a:t>
            </a:r>
            <a:r>
              <a:rPr sz="2400" spc="-73" dirty="0"/>
              <a:t>off</a:t>
            </a:r>
            <a:endParaRPr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3E3BA2-CDAD-DFC2-161F-648FE16BB7C4}"/>
              </a:ext>
            </a:extLst>
          </p:cNvPr>
          <p:cNvGrpSpPr/>
          <p:nvPr/>
        </p:nvGrpSpPr>
        <p:grpSpPr>
          <a:xfrm>
            <a:off x="1676400" y="1371600"/>
            <a:ext cx="8991600" cy="4267200"/>
            <a:chOff x="2905318" y="293894"/>
            <a:chExt cx="6048871" cy="3024923"/>
          </a:xfrm>
        </p:grpSpPr>
        <p:pic>
          <p:nvPicPr>
            <p:cNvPr id="2" name="object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5318" y="575221"/>
              <a:ext cx="3086307" cy="2743596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4625" y="460452"/>
              <a:ext cx="2819564" cy="1974995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6247448" y="293894"/>
              <a:ext cx="708660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Under-</a:t>
              </a: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fitting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8119824" y="319969"/>
              <a:ext cx="632579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Over-fitting</a:t>
              </a:r>
              <a:endParaRPr sz="1013">
                <a:latin typeface="Calibri"/>
                <a:cs typeface="Calibri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6472" y="2558463"/>
              <a:ext cx="1125682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5344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87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3"/>
              </a:spcBef>
            </a:pPr>
            <a:r>
              <a:rPr sz="2250" spc="-157" dirty="0"/>
              <a:t>Overfitting</a:t>
            </a:r>
            <a:r>
              <a:rPr sz="2250" spc="-42" dirty="0"/>
              <a:t> </a:t>
            </a:r>
            <a:r>
              <a:rPr sz="2250" spc="-160" dirty="0"/>
              <a:t>Underfitting</a:t>
            </a:r>
            <a:endParaRPr sz="22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70A9A7-16B8-8677-7C1D-83701D432686}"/>
              </a:ext>
            </a:extLst>
          </p:cNvPr>
          <p:cNvGrpSpPr/>
          <p:nvPr/>
        </p:nvGrpSpPr>
        <p:grpSpPr>
          <a:xfrm>
            <a:off x="1547611" y="914400"/>
            <a:ext cx="9958590" cy="5190884"/>
            <a:chOff x="2868288" y="183699"/>
            <a:chExt cx="6429612" cy="3482389"/>
          </a:xfrm>
        </p:grpSpPr>
        <p:sp>
          <p:nvSpPr>
            <p:cNvPr id="4" name="object 4"/>
            <p:cNvSpPr txBox="1"/>
            <p:nvPr/>
          </p:nvSpPr>
          <p:spPr>
            <a:xfrm>
              <a:off x="6715792" y="392620"/>
              <a:ext cx="2582108" cy="738709"/>
            </a:xfrm>
            <a:prstGeom prst="rect">
              <a:avLst/>
            </a:prstGeom>
            <a:solidFill>
              <a:srgbClr val="E1EFD9"/>
            </a:solidFill>
          </p:spPr>
          <p:txBody>
            <a:bodyPr vert="horz" wrap="square" lIns="0" tIns="17145" rIns="0" bIns="0" rtlCol="0">
              <a:spAutoFit/>
            </a:bodyPr>
            <a:lstStyle/>
            <a:p>
              <a:pPr marL="51435" marR="167878">
                <a:spcBef>
                  <a:spcPts val="135"/>
                </a:spcBef>
              </a:pP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In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supervised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learning,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underfitting</a:t>
              </a:r>
              <a:r>
                <a:rPr sz="1200" b="1" spc="-4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happens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when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2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model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unable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capture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the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underlying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pattern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of</a:t>
              </a:r>
              <a:r>
                <a:rPr sz="12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data.</a:t>
              </a:r>
              <a:r>
                <a:rPr sz="12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These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models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usually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have</a:t>
              </a:r>
              <a:r>
                <a:rPr sz="12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high</a:t>
              </a:r>
              <a:r>
                <a:rPr sz="1200" b="1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bias</a:t>
              </a:r>
              <a:r>
                <a:rPr sz="1200" b="1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and</a:t>
              </a:r>
              <a:r>
                <a:rPr sz="1200" b="1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low</a:t>
              </a:r>
              <a:r>
                <a:rPr sz="1200" b="1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292929"/>
                  </a:solidFill>
                  <a:latin typeface="Calibri"/>
                  <a:cs typeface="Calibri"/>
                </a:rPr>
                <a:t>variance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.</a:t>
              </a:r>
              <a:r>
                <a:rPr sz="12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It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happens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when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we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have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very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less</a:t>
              </a:r>
              <a:r>
                <a:rPr sz="12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amount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of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data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build</a:t>
              </a:r>
              <a:r>
                <a:rPr sz="12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an</a:t>
              </a:r>
              <a:r>
                <a:rPr sz="12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accurate</a:t>
              </a:r>
              <a:r>
                <a:rPr sz="12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model</a:t>
              </a:r>
              <a:r>
                <a:rPr sz="12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or</a:t>
              </a:r>
              <a:r>
                <a:rPr sz="12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when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we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try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build a</a:t>
              </a:r>
              <a:r>
                <a:rPr sz="12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linear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model</a:t>
              </a:r>
              <a:r>
                <a:rPr sz="12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with</a:t>
              </a:r>
              <a:r>
                <a:rPr sz="12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2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292929"/>
                  </a:solidFill>
                  <a:latin typeface="Calibri"/>
                  <a:cs typeface="Calibri"/>
                </a:rPr>
                <a:t>nonlinear </a:t>
              </a:r>
              <a:r>
                <a:rPr sz="1200" spc="-11" dirty="0">
                  <a:solidFill>
                    <a:srgbClr val="292929"/>
                  </a:solidFill>
                  <a:latin typeface="Calibri"/>
                  <a:cs typeface="Calibri"/>
                </a:rPr>
                <a:t>data</a:t>
              </a:r>
              <a:endParaRPr sz="1200" dirty="0">
                <a:latin typeface="Calibri"/>
                <a:cs typeface="Calibri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BDB74D-04DC-CD35-0B3B-12AF4C6AADE6}"/>
                </a:ext>
              </a:extLst>
            </p:cNvPr>
            <p:cNvGrpSpPr/>
            <p:nvPr/>
          </p:nvGrpSpPr>
          <p:grpSpPr>
            <a:xfrm>
              <a:off x="2868288" y="183699"/>
              <a:ext cx="5986463" cy="3482389"/>
              <a:chOff x="3132489" y="64727"/>
              <a:chExt cx="5986463" cy="3482389"/>
            </a:xfrm>
          </p:grpSpPr>
          <p:pic>
            <p:nvPicPr>
              <p:cNvPr id="3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467414" y="64727"/>
                <a:ext cx="3007103" cy="2995105"/>
              </a:xfrm>
              <a:prstGeom prst="rect">
                <a:avLst/>
              </a:prstGeom>
            </p:spPr>
          </p:pic>
          <p:sp>
            <p:nvSpPr>
              <p:cNvPr id="5" name="object 5"/>
              <p:cNvSpPr txBox="1"/>
              <p:nvPr/>
            </p:nvSpPr>
            <p:spPr>
              <a:xfrm>
                <a:off x="3132489" y="3171606"/>
                <a:ext cx="5986463" cy="375510"/>
              </a:xfrm>
              <a:prstGeom prst="rect">
                <a:avLst/>
              </a:prstGeom>
              <a:solidFill>
                <a:srgbClr val="FFF1CC"/>
              </a:solidFill>
            </p:spPr>
            <p:txBody>
              <a:bodyPr vert="horz" wrap="square" lIns="0" tIns="17859" rIns="0" bIns="0" rtlCol="0">
                <a:spAutoFit/>
              </a:bodyPr>
              <a:lstStyle/>
              <a:p>
                <a:pPr marL="51435" marR="190024">
                  <a:spcBef>
                    <a:spcPts val="141"/>
                  </a:spcBef>
                </a:pP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In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supervised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learning,</a:t>
                </a:r>
                <a:r>
                  <a:rPr sz="1200" spc="-11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b="1" dirty="0">
                    <a:solidFill>
                      <a:srgbClr val="292929"/>
                    </a:solidFill>
                    <a:latin typeface="Calibri"/>
                    <a:cs typeface="Calibri"/>
                  </a:rPr>
                  <a:t>overfitting</a:t>
                </a:r>
                <a:r>
                  <a:rPr sz="1200" b="1" spc="-39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happens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when</a:t>
                </a:r>
                <a:r>
                  <a:rPr sz="1200" spc="-23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our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model</a:t>
                </a:r>
                <a:r>
                  <a:rPr sz="1200" spc="-31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captures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the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noise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along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with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the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spc="-6" dirty="0">
                    <a:solidFill>
                      <a:srgbClr val="292929"/>
                    </a:solidFill>
                    <a:latin typeface="Calibri"/>
                    <a:cs typeface="Calibri"/>
                  </a:rPr>
                  <a:t>underlying pattern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in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data.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It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happens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when</a:t>
                </a:r>
                <a:r>
                  <a:rPr sz="1200" spc="-14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we</a:t>
                </a:r>
                <a:r>
                  <a:rPr sz="1200" spc="-17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train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our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model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a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lot</a:t>
                </a:r>
                <a:r>
                  <a:rPr sz="1200" spc="-23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over</a:t>
                </a:r>
                <a:r>
                  <a:rPr sz="1200" spc="-25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noisy</a:t>
                </a:r>
                <a:r>
                  <a:rPr sz="1200" spc="-17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dataset.</a:t>
                </a:r>
                <a:r>
                  <a:rPr sz="1200" spc="-31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These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models</a:t>
                </a:r>
                <a:r>
                  <a:rPr sz="1200" spc="-23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have</a:t>
                </a:r>
                <a:r>
                  <a:rPr sz="1200" spc="-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b="1" dirty="0">
                    <a:solidFill>
                      <a:srgbClr val="292929"/>
                    </a:solidFill>
                    <a:latin typeface="Calibri"/>
                    <a:cs typeface="Calibri"/>
                  </a:rPr>
                  <a:t>low</a:t>
                </a:r>
                <a:r>
                  <a:rPr sz="1200" b="1" spc="-31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b="1" dirty="0">
                    <a:solidFill>
                      <a:srgbClr val="292929"/>
                    </a:solidFill>
                    <a:latin typeface="Calibri"/>
                    <a:cs typeface="Calibri"/>
                  </a:rPr>
                  <a:t>bias</a:t>
                </a:r>
                <a:r>
                  <a:rPr sz="1200" b="1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b="1" spc="-14" dirty="0">
                    <a:solidFill>
                      <a:srgbClr val="292929"/>
                    </a:solidFill>
                    <a:latin typeface="Calibri"/>
                    <a:cs typeface="Calibri"/>
                  </a:rPr>
                  <a:t>and </a:t>
                </a:r>
                <a:r>
                  <a:rPr sz="1200" b="1" dirty="0">
                    <a:solidFill>
                      <a:srgbClr val="292929"/>
                    </a:solidFill>
                    <a:latin typeface="Calibri"/>
                    <a:cs typeface="Calibri"/>
                  </a:rPr>
                  <a:t>high</a:t>
                </a:r>
                <a:r>
                  <a:rPr sz="1200" b="1" spc="-39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b="1" dirty="0">
                    <a:solidFill>
                      <a:srgbClr val="292929"/>
                    </a:solidFill>
                    <a:latin typeface="Calibri"/>
                    <a:cs typeface="Calibri"/>
                  </a:rPr>
                  <a:t>variance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.</a:t>
                </a:r>
                <a:r>
                  <a:rPr sz="1200" spc="-31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These</a:t>
                </a:r>
                <a:r>
                  <a:rPr sz="1200" spc="-37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models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are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very</a:t>
                </a:r>
                <a:r>
                  <a:rPr sz="1200" spc="-34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complex</a:t>
                </a:r>
                <a:r>
                  <a:rPr sz="1200" spc="-23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like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Decision</a:t>
                </a:r>
                <a:r>
                  <a:rPr sz="1200" spc="-17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trees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which</a:t>
                </a:r>
                <a:r>
                  <a:rPr sz="1200" spc="-14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are</a:t>
                </a:r>
                <a:r>
                  <a:rPr sz="1200" spc="-28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prone</a:t>
                </a:r>
                <a:r>
                  <a:rPr sz="1200" spc="-20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dirty="0">
                    <a:solidFill>
                      <a:srgbClr val="292929"/>
                    </a:solidFill>
                    <a:latin typeface="Calibri"/>
                    <a:cs typeface="Calibri"/>
                  </a:rPr>
                  <a:t>to</a:t>
                </a:r>
                <a:r>
                  <a:rPr sz="1200" spc="-31" dirty="0">
                    <a:solidFill>
                      <a:srgbClr val="292929"/>
                    </a:solidFill>
                    <a:latin typeface="Calibri"/>
                    <a:cs typeface="Calibri"/>
                  </a:rPr>
                  <a:t> </a:t>
                </a:r>
                <a:r>
                  <a:rPr sz="1200" spc="-6" dirty="0">
                    <a:solidFill>
                      <a:srgbClr val="292929"/>
                    </a:solidFill>
                    <a:latin typeface="Calibri"/>
                    <a:cs typeface="Calibri"/>
                  </a:rPr>
                  <a:t>overfitting.</a:t>
                </a:r>
                <a:endParaRPr sz="1200">
                  <a:latin typeface="Calibri"/>
                  <a:cs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4580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55" dirty="0"/>
              <a:t>Bias</a:t>
            </a:r>
            <a:r>
              <a:rPr sz="2400" spc="-28" dirty="0"/>
              <a:t> </a:t>
            </a:r>
            <a:r>
              <a:rPr sz="2400" spc="-149" dirty="0"/>
              <a:t>and</a:t>
            </a:r>
            <a:r>
              <a:rPr sz="2400" spc="-23" dirty="0"/>
              <a:t> </a:t>
            </a:r>
            <a:r>
              <a:rPr sz="2400" spc="-138" dirty="0"/>
              <a:t>Variance</a:t>
            </a:r>
            <a:r>
              <a:rPr sz="2400" spc="-39" dirty="0"/>
              <a:t> </a:t>
            </a:r>
            <a:r>
              <a:rPr sz="2400" spc="-90" dirty="0"/>
              <a:t>trade-</a:t>
            </a:r>
            <a:r>
              <a:rPr sz="2400" spc="-68" dirty="0"/>
              <a:t>off</a:t>
            </a:r>
            <a:endParaRPr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BC6839-3B1F-9DBD-87D6-2A316A5EA572}"/>
              </a:ext>
            </a:extLst>
          </p:cNvPr>
          <p:cNvGrpSpPr/>
          <p:nvPr/>
        </p:nvGrpSpPr>
        <p:grpSpPr>
          <a:xfrm>
            <a:off x="1828801" y="1219200"/>
            <a:ext cx="9372600" cy="4495800"/>
            <a:chOff x="3235369" y="252789"/>
            <a:chExt cx="6209297" cy="3130565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5369" y="468912"/>
              <a:ext cx="2186610" cy="2914442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5715" y="1271638"/>
              <a:ext cx="3818951" cy="1713306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6140791" y="252789"/>
              <a:ext cx="1954887" cy="155043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400" b="1" dirty="0">
                  <a:solidFill>
                    <a:srgbClr val="C00000"/>
                  </a:solidFill>
                  <a:latin typeface="Calibri"/>
                  <a:cs typeface="Calibri"/>
                </a:rPr>
                <a:t>How</a:t>
              </a:r>
              <a:r>
                <a:rPr sz="1400" b="1" spc="-8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400" b="1" dirty="0">
                  <a:solidFill>
                    <a:srgbClr val="C00000"/>
                  </a:solidFill>
                  <a:latin typeface="Calibri"/>
                  <a:cs typeface="Calibri"/>
                </a:rPr>
                <a:t>to</a:t>
              </a:r>
              <a:r>
                <a:rPr sz="1400" b="1" spc="-6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400" b="1" dirty="0">
                  <a:solidFill>
                    <a:srgbClr val="C00000"/>
                  </a:solidFill>
                  <a:latin typeface="Calibri"/>
                  <a:cs typeface="Calibri"/>
                </a:rPr>
                <a:t>deal</a:t>
              </a:r>
              <a:r>
                <a:rPr sz="1400" b="1" spc="-1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400" b="1" dirty="0">
                  <a:solidFill>
                    <a:srgbClr val="C00000"/>
                  </a:solidFill>
                  <a:latin typeface="Calibri"/>
                  <a:cs typeface="Calibri"/>
                </a:rPr>
                <a:t>with</a:t>
              </a:r>
              <a:r>
                <a:rPr sz="1400" b="1" spc="-1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400" b="1" dirty="0">
                  <a:solidFill>
                    <a:srgbClr val="C00000"/>
                  </a:solidFill>
                  <a:latin typeface="Calibri"/>
                  <a:cs typeface="Calibri"/>
                </a:rPr>
                <a:t>it </a:t>
              </a:r>
              <a:r>
                <a:rPr sz="1400" b="1" spc="-6" dirty="0">
                  <a:solidFill>
                    <a:srgbClr val="C00000"/>
                  </a:solidFill>
                  <a:latin typeface="Calibri"/>
                  <a:cs typeface="Calibri"/>
                </a:rPr>
                <a:t>practically</a:t>
              </a:r>
              <a:r>
                <a:rPr sz="1400" b="1" spc="-2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400" b="1" dirty="0">
                  <a:solidFill>
                    <a:srgbClr val="C00000"/>
                  </a:solidFill>
                  <a:latin typeface="Calibri"/>
                  <a:cs typeface="Calibri"/>
                </a:rPr>
                <a:t>in</a:t>
              </a:r>
              <a:r>
                <a:rPr sz="1400" b="1" spc="-6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400" b="1" spc="-14" dirty="0">
                  <a:solidFill>
                    <a:srgbClr val="C00000"/>
                  </a:solidFill>
                  <a:latin typeface="Calibri"/>
                  <a:cs typeface="Calibri"/>
                </a:rPr>
                <a:t>DLL</a:t>
              </a:r>
              <a:r>
                <a:rPr lang="en-US" sz="1400" b="1" spc="-14" dirty="0">
                  <a:solidFill>
                    <a:srgbClr val="C00000"/>
                  </a:solidFill>
                  <a:latin typeface="Calibri"/>
                  <a:cs typeface="Calibri"/>
                </a:rPr>
                <a:t> ?</a:t>
              </a:r>
              <a:endParaRPr sz="1400" dirty="0">
                <a:latin typeface="Calibri"/>
                <a:cs typeface="Calibri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286166" y="1615988"/>
              <a:ext cx="708660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Under-</a:t>
              </a: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fitting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286166" y="2160841"/>
              <a:ext cx="632579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Over-fitting</a:t>
              </a:r>
              <a:endParaRPr sz="1013"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8967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38274"/>
            <a:ext cx="11209376" cy="484776"/>
          </a:xfrm>
          <a:prstGeom prst="rect">
            <a:avLst/>
          </a:prstGeom>
        </p:spPr>
        <p:txBody>
          <a:bodyPr vert="horz" wrap="square" lIns="0" tIns="114328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55" dirty="0"/>
              <a:t>Data</a:t>
            </a:r>
            <a:r>
              <a:rPr sz="2400" spc="-42" dirty="0"/>
              <a:t> </a:t>
            </a:r>
            <a:r>
              <a:rPr sz="2400" spc="-191" dirty="0"/>
              <a:t>Augmentation</a:t>
            </a:r>
            <a:endParaRPr sz="240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1485900"/>
            <a:ext cx="83058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82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13604"/>
            <a:ext cx="11209376" cy="534117"/>
          </a:xfrm>
          <a:prstGeom prst="rect">
            <a:avLst/>
          </a:prstGeom>
        </p:spPr>
        <p:txBody>
          <a:bodyPr vert="horz" wrap="square" lIns="0" tIns="163191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13" dirty="0"/>
              <a:t>Data</a:t>
            </a:r>
            <a:r>
              <a:rPr sz="2400" spc="-31" dirty="0"/>
              <a:t> </a:t>
            </a:r>
            <a:r>
              <a:rPr sz="2400" spc="-127" dirty="0"/>
              <a:t>Augmentation</a:t>
            </a:r>
            <a:endParaRPr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889B97-D81A-CEA2-7E1A-2495778BAC19}"/>
              </a:ext>
            </a:extLst>
          </p:cNvPr>
          <p:cNvGrpSpPr/>
          <p:nvPr/>
        </p:nvGrpSpPr>
        <p:grpSpPr>
          <a:xfrm>
            <a:off x="1752600" y="1045844"/>
            <a:ext cx="7924800" cy="3373755"/>
            <a:chOff x="3059620" y="1045845"/>
            <a:chExt cx="5689640" cy="1454110"/>
          </a:xfrm>
        </p:grpSpPr>
        <p:sp>
          <p:nvSpPr>
            <p:cNvPr id="3" name="object 3"/>
            <p:cNvSpPr/>
            <p:nvPr/>
          </p:nvSpPr>
          <p:spPr>
            <a:xfrm>
              <a:off x="3059620" y="1045845"/>
              <a:ext cx="5689640" cy="1454110"/>
            </a:xfrm>
            <a:custGeom>
              <a:avLst/>
              <a:gdLst/>
              <a:ahLst/>
              <a:cxnLst/>
              <a:rect l="l" t="t" r="r" b="b"/>
              <a:pathLst>
                <a:path w="10114915" h="2585085">
                  <a:moveTo>
                    <a:pt x="10114788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0114788" y="2584704"/>
                  </a:lnTo>
                  <a:lnTo>
                    <a:pt x="1011478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 sz="3600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144452" y="1186248"/>
              <a:ext cx="5519976" cy="918419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 algn="just">
                <a:spcBef>
                  <a:spcPts val="56"/>
                </a:spcBef>
              </a:pPr>
              <a:r>
                <a:rPr sz="1600" dirty="0">
                  <a:latin typeface="Calibri"/>
                  <a:cs typeface="Calibri"/>
                </a:rPr>
                <a:t>Data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augmentation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techniques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generate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different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versions</a:t>
              </a:r>
              <a:r>
                <a:rPr sz="1600" spc="18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of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real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dataset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artificially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to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increase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its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size. Computer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vision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and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natural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language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processing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(NLP)</a:t>
              </a:r>
              <a:r>
                <a:rPr sz="1600" spc="-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models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use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data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augmentation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strategy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to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handle </a:t>
              </a:r>
              <a:r>
                <a:rPr sz="1600" dirty="0">
                  <a:latin typeface="Calibri"/>
                  <a:cs typeface="Calibri"/>
                </a:rPr>
                <a:t>with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data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scarcity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and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insufficient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data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diversity.</a:t>
              </a:r>
              <a:endParaRPr sz="1600" dirty="0">
                <a:latin typeface="Calibri"/>
                <a:cs typeface="Calibri"/>
              </a:endParaRPr>
            </a:p>
            <a:p>
              <a:pPr>
                <a:spcBef>
                  <a:spcPts val="1193"/>
                </a:spcBef>
              </a:pPr>
              <a:endParaRPr sz="1600" dirty="0">
                <a:latin typeface="Calibri"/>
                <a:cs typeface="Calibri"/>
              </a:endParaRPr>
            </a:p>
            <a:p>
              <a:pPr marL="7144">
                <a:spcBef>
                  <a:spcPts val="3"/>
                </a:spcBef>
              </a:pPr>
              <a:r>
                <a:rPr sz="1600" dirty="0">
                  <a:latin typeface="Calibri"/>
                  <a:cs typeface="Calibri"/>
                </a:rPr>
                <a:t>Data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augmentation</a:t>
              </a:r>
              <a:r>
                <a:rPr sz="1600" spc="-3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algorithms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can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increase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accuracy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of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machine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learning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models.</a:t>
              </a:r>
              <a:r>
                <a:rPr sz="1600" spc="-34" dirty="0">
                  <a:latin typeface="Calibri"/>
                  <a:cs typeface="Calibri"/>
                </a:rPr>
                <a:t> </a:t>
              </a:r>
              <a:endParaRPr lang="en-US" sz="1600" spc="-34" dirty="0">
                <a:latin typeface="Calibri"/>
                <a:cs typeface="Calibri"/>
              </a:endParaRPr>
            </a:p>
            <a:p>
              <a:pPr marL="7144">
                <a:spcBef>
                  <a:spcPts val="3"/>
                </a:spcBef>
              </a:pPr>
              <a:r>
                <a:rPr sz="1600" dirty="0">
                  <a:latin typeface="Calibri"/>
                  <a:cs typeface="Calibri"/>
                </a:rPr>
                <a:t>According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14" dirty="0">
                  <a:latin typeface="Calibri"/>
                  <a:cs typeface="Calibri"/>
                </a:rPr>
                <a:t>to</a:t>
              </a:r>
              <a:r>
                <a:rPr lang="en-US" sz="1600" spc="-1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an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experiment,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deep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learning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model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after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image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augmentation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performs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better</a:t>
              </a:r>
              <a:r>
                <a:rPr sz="1600" spc="-14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in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training</a:t>
              </a:r>
              <a:r>
                <a:rPr sz="1600" spc="-1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loss</a:t>
              </a:r>
              <a:r>
                <a:rPr sz="1600" spc="-31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(i.e. </a:t>
              </a:r>
              <a:r>
                <a:rPr sz="1600" dirty="0">
                  <a:latin typeface="Calibri"/>
                  <a:cs typeface="Calibri"/>
                </a:rPr>
                <a:t>penalty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bad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prediction)</a:t>
              </a:r>
              <a:r>
                <a:rPr sz="1600" spc="-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&amp;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accuracy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and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validation</a:t>
              </a:r>
              <a:r>
                <a:rPr sz="1600" spc="-11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loss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&amp;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accuracy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than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a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deep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learning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model </a:t>
              </a:r>
              <a:r>
                <a:rPr sz="1600" dirty="0">
                  <a:latin typeface="Calibri"/>
                  <a:cs typeface="Calibri"/>
                </a:rPr>
                <a:t>without</a:t>
              </a:r>
              <a:r>
                <a:rPr sz="1600" spc="-17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augmentation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for</a:t>
              </a:r>
              <a:r>
                <a:rPr sz="1600" spc="-28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image</a:t>
              </a:r>
              <a:r>
                <a:rPr sz="1600" spc="-23" dirty="0">
                  <a:latin typeface="Calibri"/>
                  <a:cs typeface="Calibri"/>
                </a:rPr>
                <a:t> </a:t>
              </a:r>
              <a:r>
                <a:rPr sz="1600" dirty="0">
                  <a:latin typeface="Calibri"/>
                  <a:cs typeface="Calibri"/>
                </a:rPr>
                <a:t>classification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spc="-6" dirty="0">
                  <a:latin typeface="Calibri"/>
                  <a:cs typeface="Calibri"/>
                </a:rPr>
                <a:t>task.</a:t>
              </a:r>
              <a:endParaRPr sz="1600" dirty="0"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73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0E995EB-3E89-4843-D1CF-EB8CEF87652E}"/>
              </a:ext>
            </a:extLst>
          </p:cNvPr>
          <p:cNvGrpSpPr/>
          <p:nvPr/>
        </p:nvGrpSpPr>
        <p:grpSpPr>
          <a:xfrm>
            <a:off x="1905000" y="1530530"/>
            <a:ext cx="9067800" cy="3803470"/>
            <a:chOff x="2715005" y="531567"/>
            <a:chExt cx="6766588" cy="2996016"/>
          </a:xfrm>
        </p:grpSpPr>
        <p:sp>
          <p:nvSpPr>
            <p:cNvPr id="2" name="object 2"/>
            <p:cNvSpPr txBox="1"/>
            <p:nvPr/>
          </p:nvSpPr>
          <p:spPr>
            <a:xfrm>
              <a:off x="3427594" y="531567"/>
              <a:ext cx="765824" cy="175388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lang="en-US" sz="1400" spc="-135" dirty="0">
                  <a:latin typeface="+mn-lt"/>
                  <a:cs typeface="Tahoma"/>
                </a:rPr>
                <a:t>Adding </a:t>
              </a:r>
              <a:r>
                <a:rPr sz="1400" spc="-93" dirty="0">
                  <a:latin typeface="+mn-lt"/>
                  <a:cs typeface="Tahoma"/>
                </a:rPr>
                <a:t> </a:t>
              </a:r>
              <a:r>
                <a:rPr sz="1400" spc="-87" dirty="0">
                  <a:latin typeface="+mn-lt"/>
                  <a:cs typeface="Tahoma"/>
                </a:rPr>
                <a:t>noise</a:t>
              </a:r>
              <a:endParaRPr sz="1400" dirty="0">
                <a:latin typeface="+mn-lt"/>
                <a:cs typeface="Tahoma"/>
              </a:endParaRPr>
            </a:p>
          </p:txBody>
        </p:sp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5005" y="690944"/>
              <a:ext cx="2756059" cy="1425606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844672" y="607055"/>
              <a:ext cx="3227078" cy="24812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lnSpc>
                  <a:spcPts val="1195"/>
                </a:lnSpc>
                <a:spcBef>
                  <a:spcPts val="56"/>
                </a:spcBef>
              </a:pPr>
              <a:r>
                <a:rPr sz="1013" spc="76" dirty="0">
                  <a:solidFill>
                    <a:srgbClr val="393939"/>
                  </a:solidFill>
                  <a:latin typeface="Tahoma"/>
                  <a:cs typeface="Tahoma"/>
                </a:rPr>
                <a:t>A</a:t>
              </a:r>
              <a:r>
                <a:rPr sz="1013" spc="-48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section</a:t>
              </a:r>
              <a:r>
                <a:rPr sz="1013" spc="-42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of</a:t>
              </a:r>
              <a:r>
                <a:rPr sz="1013" spc="-53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the</a:t>
              </a:r>
              <a:r>
                <a:rPr sz="1013" spc="-48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17" dirty="0">
                  <a:solidFill>
                    <a:srgbClr val="393939"/>
                  </a:solidFill>
                  <a:latin typeface="Tahoma"/>
                  <a:cs typeface="Tahoma"/>
                </a:rPr>
                <a:t>image</a:t>
              </a:r>
              <a:r>
                <a:rPr sz="1013" spc="-42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is</a:t>
              </a:r>
              <a:r>
                <a:rPr sz="1013" spc="-48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6" dirty="0">
                  <a:solidFill>
                    <a:srgbClr val="393939"/>
                  </a:solidFill>
                  <a:latin typeface="Tahoma"/>
                  <a:cs typeface="Tahoma"/>
                </a:rPr>
                <a:t>selected,</a:t>
              </a:r>
              <a:r>
                <a:rPr sz="1013" spc="-37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cropped</a:t>
              </a:r>
              <a:r>
                <a:rPr sz="1013" spc="-48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6" dirty="0">
                  <a:solidFill>
                    <a:srgbClr val="393939"/>
                  </a:solidFill>
                  <a:latin typeface="Tahoma"/>
                  <a:cs typeface="Tahoma"/>
                </a:rPr>
                <a:t>and</a:t>
              </a:r>
              <a:r>
                <a:rPr sz="1013" spc="-45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11" dirty="0">
                  <a:solidFill>
                    <a:srgbClr val="393939"/>
                  </a:solidFill>
                  <a:latin typeface="Tahoma"/>
                  <a:cs typeface="Tahoma"/>
                </a:rPr>
                <a:t>then</a:t>
              </a:r>
              <a:r>
                <a:rPr lang="en-US" sz="1013" spc="-11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resized</a:t>
              </a:r>
              <a:r>
                <a:rPr sz="1013" spc="-51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to</a:t>
              </a:r>
              <a:r>
                <a:rPr sz="1013" spc="-39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the</a:t>
              </a:r>
              <a:r>
                <a:rPr sz="1013" spc="-45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6" dirty="0">
                  <a:solidFill>
                    <a:srgbClr val="393939"/>
                  </a:solidFill>
                  <a:latin typeface="Tahoma"/>
                  <a:cs typeface="Tahoma"/>
                </a:rPr>
                <a:t>original</a:t>
              </a:r>
              <a:r>
                <a:rPr sz="1013" spc="-42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14" dirty="0">
                  <a:solidFill>
                    <a:srgbClr val="393939"/>
                  </a:solidFill>
                  <a:latin typeface="Tahoma"/>
                  <a:cs typeface="Tahoma"/>
                </a:rPr>
                <a:t>image</a:t>
              </a:r>
              <a:r>
                <a:rPr sz="1013" spc="-31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11" dirty="0">
                  <a:solidFill>
                    <a:srgbClr val="393939"/>
                  </a:solidFill>
                  <a:latin typeface="Tahoma"/>
                  <a:cs typeface="Tahoma"/>
                </a:rPr>
                <a:t>size</a:t>
              </a:r>
              <a:endParaRPr sz="1013" dirty="0">
                <a:latin typeface="Tahoma"/>
                <a:cs typeface="Tahoma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7088" y="964406"/>
              <a:ext cx="3466718" cy="1195007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2857881" y="2221350"/>
              <a:ext cx="2622113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The</a:t>
              </a:r>
              <a:r>
                <a:rPr sz="1013" spc="-42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20" dirty="0">
                  <a:solidFill>
                    <a:srgbClr val="393939"/>
                  </a:solidFill>
                  <a:latin typeface="Tahoma"/>
                  <a:cs typeface="Tahoma"/>
                </a:rPr>
                <a:t>image</a:t>
              </a:r>
              <a:r>
                <a:rPr sz="1013" spc="-39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is</a:t>
              </a:r>
              <a:r>
                <a:rPr sz="1013" spc="-37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flipped</a:t>
              </a:r>
              <a:r>
                <a:rPr sz="1013" spc="-31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dirty="0">
                  <a:solidFill>
                    <a:srgbClr val="393939"/>
                  </a:solidFill>
                  <a:latin typeface="Tahoma"/>
                  <a:cs typeface="Tahoma"/>
                </a:rPr>
                <a:t>horizontally</a:t>
              </a:r>
              <a:r>
                <a:rPr sz="1013" spc="-39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6" dirty="0">
                  <a:solidFill>
                    <a:srgbClr val="393939"/>
                  </a:solidFill>
                  <a:latin typeface="Tahoma"/>
                  <a:cs typeface="Tahoma"/>
                </a:rPr>
                <a:t>and</a:t>
              </a:r>
              <a:r>
                <a:rPr sz="1013" spc="-37" dirty="0">
                  <a:solidFill>
                    <a:srgbClr val="393939"/>
                  </a:solidFill>
                  <a:latin typeface="Tahoma"/>
                  <a:cs typeface="Tahoma"/>
                </a:rPr>
                <a:t> </a:t>
              </a:r>
              <a:r>
                <a:rPr sz="1013" spc="-6" dirty="0">
                  <a:solidFill>
                    <a:srgbClr val="393939"/>
                  </a:solidFill>
                  <a:latin typeface="Tahoma"/>
                  <a:cs typeface="Tahoma"/>
                </a:rPr>
                <a:t>vertically</a:t>
              </a:r>
              <a:endParaRPr sz="1013">
                <a:latin typeface="Tahoma"/>
                <a:cs typeface="Tahoma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3590" y="2416587"/>
              <a:ext cx="3466719" cy="1110996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7116127" y="2335042"/>
              <a:ext cx="548640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149" dirty="0">
                  <a:latin typeface="Tahoma"/>
                  <a:cs typeface="Tahoma"/>
                </a:rPr>
                <a:t>Translation</a:t>
              </a:r>
              <a:endParaRPr sz="1013" dirty="0">
                <a:latin typeface="Tahoma"/>
                <a:cs typeface="Tahoma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6295" y="2570036"/>
              <a:ext cx="3095298" cy="76303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13" dirty="0"/>
              <a:t>Data</a:t>
            </a:r>
            <a:r>
              <a:rPr sz="2400" spc="-31" dirty="0"/>
              <a:t> </a:t>
            </a:r>
            <a:r>
              <a:rPr sz="2400" spc="-127" dirty="0"/>
              <a:t>Augmentation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76704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D9BBCD6-2558-B3C2-B042-F3DDFC9722AA}"/>
              </a:ext>
            </a:extLst>
          </p:cNvPr>
          <p:cNvGrpSpPr/>
          <p:nvPr/>
        </p:nvGrpSpPr>
        <p:grpSpPr>
          <a:xfrm>
            <a:off x="1752600" y="1524000"/>
            <a:ext cx="8153400" cy="4038600"/>
            <a:chOff x="3070765" y="435997"/>
            <a:chExt cx="5696435" cy="3041107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0765" y="450913"/>
              <a:ext cx="2222311" cy="2822326"/>
            </a:xfrm>
            <a:prstGeom prst="rect">
              <a:avLst/>
            </a:prstGeom>
          </p:spPr>
        </p:pic>
        <p:sp>
          <p:nvSpPr>
            <p:cNvPr id="3" name="object 3"/>
            <p:cNvSpPr txBox="1"/>
            <p:nvPr/>
          </p:nvSpPr>
          <p:spPr>
            <a:xfrm>
              <a:off x="3762423" y="3309728"/>
              <a:ext cx="941903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6" dirty="0">
                  <a:latin typeface="Calibri"/>
                  <a:cs typeface="Calibri"/>
                </a:rPr>
                <a:t>Contrast</a:t>
              </a:r>
              <a:r>
                <a:rPr sz="1013" b="1" spc="-28" dirty="0">
                  <a:latin typeface="Calibri"/>
                  <a:cs typeface="Calibri"/>
                </a:rPr>
                <a:t> </a:t>
              </a:r>
              <a:r>
                <a:rPr sz="1013" b="1" spc="-6" dirty="0">
                  <a:latin typeface="Calibri"/>
                  <a:cs typeface="Calibri"/>
                </a:rPr>
                <a:t>changed</a:t>
              </a:r>
              <a:endParaRPr sz="1013">
                <a:latin typeface="Calibri"/>
                <a:cs typeface="Calibri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4841" y="435997"/>
              <a:ext cx="2802359" cy="2771045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6972538" y="3314014"/>
              <a:ext cx="385763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spc="-6" dirty="0">
                  <a:latin typeface="Calibri"/>
                  <a:cs typeface="Calibri"/>
                </a:rPr>
                <a:t>Scaling</a:t>
              </a:r>
              <a:endParaRPr sz="1013">
                <a:latin typeface="Calibri"/>
                <a:cs typeface="Calibri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1499" y="347904"/>
            <a:ext cx="11209376" cy="465516"/>
          </a:xfrm>
          <a:prstGeom prst="rect">
            <a:avLst/>
          </a:prstGeom>
        </p:spPr>
        <p:txBody>
          <a:bodyPr vert="horz" wrap="square" lIns="0" tIns="95254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13" dirty="0"/>
              <a:t>Data</a:t>
            </a:r>
            <a:r>
              <a:rPr sz="2400" spc="-31" dirty="0"/>
              <a:t> </a:t>
            </a:r>
            <a:r>
              <a:rPr sz="2400" spc="-127" dirty="0"/>
              <a:t>Augmentation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30042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54" rIns="0" bIns="0" rtlCol="0" anchor="ctr">
            <a:spAutoFit/>
          </a:bodyPr>
          <a:lstStyle/>
          <a:p>
            <a:pPr marL="242530">
              <a:lnSpc>
                <a:spcPct val="100000"/>
              </a:lnSpc>
              <a:spcBef>
                <a:spcPts val="56"/>
              </a:spcBef>
            </a:pPr>
            <a:r>
              <a:rPr spc="-121" dirty="0"/>
              <a:t>Regularization-</a:t>
            </a:r>
            <a:r>
              <a:rPr spc="-48" dirty="0"/>
              <a:t> </a:t>
            </a:r>
            <a:r>
              <a:rPr spc="-107" dirty="0"/>
              <a:t>Intuition</a:t>
            </a:r>
            <a:r>
              <a:rPr spc="-23" dirty="0"/>
              <a:t> </a:t>
            </a:r>
            <a:r>
              <a:rPr spc="-143" dirty="0"/>
              <a:t>behind</a:t>
            </a:r>
            <a:r>
              <a:rPr spc="-20" dirty="0"/>
              <a:t> </a:t>
            </a:r>
            <a:r>
              <a:rPr spc="-149" dirty="0"/>
              <a:t>L2</a:t>
            </a:r>
            <a:r>
              <a:rPr spc="-23" dirty="0"/>
              <a:t> </a:t>
            </a:r>
            <a:r>
              <a:rPr spc="-104" dirty="0"/>
              <a:t>regularization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05F12CB-6D0D-4AD2-7644-46F469C1390C}"/>
              </a:ext>
            </a:extLst>
          </p:cNvPr>
          <p:cNvGrpSpPr/>
          <p:nvPr/>
        </p:nvGrpSpPr>
        <p:grpSpPr>
          <a:xfrm>
            <a:off x="1600200" y="1295400"/>
            <a:ext cx="8686800" cy="4419600"/>
            <a:chOff x="2831649" y="494633"/>
            <a:chExt cx="6221863" cy="304763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0467" y="934182"/>
              <a:ext cx="3193045" cy="23465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7038" y="494633"/>
              <a:ext cx="2421731" cy="2560606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2831649" y="3175654"/>
              <a:ext cx="5707856" cy="366615"/>
            </a:xfrm>
            <a:prstGeom prst="rect">
              <a:avLst/>
            </a:prstGeom>
          </p:spPr>
          <p:txBody>
            <a:bodyPr vert="horz" wrap="square" lIns="0" tIns="28932" rIns="0" bIns="0" rtlCol="0">
              <a:spAutoFit/>
            </a:bodyPr>
            <a:lstStyle/>
            <a:p>
              <a:pPr marL="7144">
                <a:spcBef>
                  <a:spcPts val="228"/>
                </a:spcBef>
              </a:pPr>
              <a:r>
                <a:rPr sz="1013" b="1" i="1" dirty="0">
                  <a:latin typeface="Calibri"/>
                  <a:cs typeface="Calibri"/>
                </a:rPr>
                <a:t>sgd</a:t>
              </a:r>
              <a:r>
                <a:rPr sz="1013" b="1" i="1" spc="20" dirty="0">
                  <a:latin typeface="Calibri"/>
                  <a:cs typeface="Calibri"/>
                </a:rPr>
                <a:t> </a:t>
              </a:r>
              <a:r>
                <a:rPr sz="1013" b="1" i="1" dirty="0">
                  <a:latin typeface="Calibri"/>
                  <a:cs typeface="Calibri"/>
                </a:rPr>
                <a:t>=</a:t>
              </a:r>
              <a:r>
                <a:rPr sz="1013" b="1" i="1" spc="17" dirty="0">
                  <a:latin typeface="Calibri"/>
                  <a:cs typeface="Calibri"/>
                </a:rPr>
                <a:t> </a:t>
              </a:r>
              <a:r>
                <a:rPr sz="1013" b="1" i="1" spc="-6" dirty="0">
                  <a:latin typeface="Calibri"/>
                  <a:cs typeface="Calibri"/>
                </a:rPr>
                <a:t>torch.optim.SGD(model.parameters(),</a:t>
              </a:r>
              <a:r>
                <a:rPr sz="1013" b="1" i="1" spc="14" dirty="0">
                  <a:latin typeface="Calibri"/>
                  <a:cs typeface="Calibri"/>
                </a:rPr>
                <a:t> </a:t>
              </a:r>
              <a:r>
                <a:rPr sz="1013" b="1" i="1" spc="-6" dirty="0">
                  <a:latin typeface="Calibri"/>
                  <a:cs typeface="Calibri"/>
                </a:rPr>
                <a:t>weight_decay=weight_decay)</a:t>
              </a:r>
              <a:endParaRPr sz="1013">
                <a:latin typeface="Calibri"/>
                <a:cs typeface="Calibri"/>
              </a:endParaRPr>
            </a:p>
            <a:p>
              <a:pPr marL="60722">
                <a:spcBef>
                  <a:spcPts val="174"/>
                </a:spcBef>
              </a:pPr>
              <a:r>
                <a:rPr sz="1013" dirty="0">
                  <a:latin typeface="Calibri"/>
                  <a:cs typeface="Calibri"/>
                </a:rPr>
                <a:t>pytorch</a:t>
              </a:r>
              <a:r>
                <a:rPr sz="1013" spc="-20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optimizers</a:t>
              </a:r>
              <a:r>
                <a:rPr sz="1013" spc="-20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have</a:t>
              </a:r>
              <a:r>
                <a:rPr sz="1013" spc="-31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a</a:t>
              </a:r>
              <a:r>
                <a:rPr sz="1013" spc="-28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parameter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called</a:t>
              </a:r>
              <a:r>
                <a:rPr sz="1013" spc="-8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weight_decay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which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corresponds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to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the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L2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regularization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factor:</a:t>
              </a:r>
              <a:endParaRPr sz="1013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DD1B7A2-7F77-F138-5FB4-36D5193A71B6}"/>
              </a:ext>
            </a:extLst>
          </p:cNvPr>
          <p:cNvGrpSpPr/>
          <p:nvPr/>
        </p:nvGrpSpPr>
        <p:grpSpPr>
          <a:xfrm>
            <a:off x="1676400" y="914400"/>
            <a:ext cx="9296400" cy="4041173"/>
            <a:chOff x="3181358" y="683227"/>
            <a:chExt cx="5599754" cy="2527174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1358" y="821231"/>
              <a:ext cx="2186390" cy="2389170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854" y="683227"/>
              <a:ext cx="2765258" cy="2491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163" rIns="0" bIns="0" rtlCol="0" anchor="ctr">
            <a:spAutoFit/>
          </a:bodyPr>
          <a:lstStyle/>
          <a:p>
            <a:pPr marL="215027">
              <a:lnSpc>
                <a:spcPct val="100000"/>
              </a:lnSpc>
              <a:spcBef>
                <a:spcPts val="56"/>
              </a:spcBef>
            </a:pPr>
            <a:r>
              <a:rPr spc="-121" dirty="0"/>
              <a:t>Regularization-</a:t>
            </a:r>
            <a:r>
              <a:rPr spc="-42" dirty="0"/>
              <a:t> </a:t>
            </a:r>
            <a:r>
              <a:rPr spc="-155" dirty="0"/>
              <a:t>Early</a:t>
            </a:r>
            <a:r>
              <a:rPr spc="-34" dirty="0"/>
              <a:t> </a:t>
            </a:r>
            <a:r>
              <a:rPr spc="-157" dirty="0"/>
              <a:t>Stopping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B84FE4-24B7-88A6-48FF-1E31697CA4EA}"/>
              </a:ext>
            </a:extLst>
          </p:cNvPr>
          <p:cNvGrpSpPr/>
          <p:nvPr/>
        </p:nvGrpSpPr>
        <p:grpSpPr>
          <a:xfrm>
            <a:off x="2782728" y="1447800"/>
            <a:ext cx="8647272" cy="3200400"/>
            <a:chOff x="2667000" y="533400"/>
            <a:chExt cx="6626543" cy="2687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F39809E-6DA4-A64B-428D-CCB335730F21}"/>
                </a:ext>
              </a:extLst>
            </p:cNvPr>
            <p:cNvGrpSpPr/>
            <p:nvPr/>
          </p:nvGrpSpPr>
          <p:grpSpPr>
            <a:xfrm>
              <a:off x="2667000" y="533400"/>
              <a:ext cx="6626543" cy="2687122"/>
              <a:chOff x="2718220" y="567082"/>
              <a:chExt cx="6626543" cy="2687122"/>
            </a:xfrm>
          </p:grpSpPr>
          <p:grpSp>
            <p:nvGrpSpPr>
              <p:cNvPr id="2" name="object 2"/>
              <p:cNvGrpSpPr/>
              <p:nvPr/>
            </p:nvGrpSpPr>
            <p:grpSpPr>
              <a:xfrm>
                <a:off x="2718220" y="567082"/>
                <a:ext cx="6626543" cy="2687122"/>
                <a:chOff x="190510" y="1057655"/>
                <a:chExt cx="11780520" cy="4777105"/>
              </a:xfrm>
            </p:grpSpPr>
            <p:pic>
              <p:nvPicPr>
                <p:cNvPr id="3" name="object 3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190510" y="1776602"/>
                  <a:ext cx="6601176" cy="4057650"/>
                </a:xfrm>
                <a:prstGeom prst="rect">
                  <a:avLst/>
                </a:prstGeom>
              </p:spPr>
            </p:pic>
            <p:sp>
              <p:nvSpPr>
                <p:cNvPr id="4" name="object 4"/>
                <p:cNvSpPr/>
                <p:nvPr/>
              </p:nvSpPr>
              <p:spPr>
                <a:xfrm>
                  <a:off x="6950964" y="1057655"/>
                  <a:ext cx="5020310" cy="28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0309" h="2862579">
                      <a:moveTo>
                        <a:pt x="5020056" y="0"/>
                      </a:moveTo>
                      <a:lnTo>
                        <a:pt x="0" y="0"/>
                      </a:lnTo>
                      <a:lnTo>
                        <a:pt x="0" y="2862072"/>
                      </a:lnTo>
                      <a:lnTo>
                        <a:pt x="5020056" y="2862072"/>
                      </a:lnTo>
                      <a:lnTo>
                        <a:pt x="5020056" y="0"/>
                      </a:lnTo>
                      <a:close/>
                    </a:path>
                  </a:pathLst>
                </a:custGeom>
                <a:solidFill>
                  <a:srgbClr val="E1EFD9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6" name="object 6"/>
              <p:cNvSpPr txBox="1"/>
              <p:nvPr/>
            </p:nvSpPr>
            <p:spPr>
              <a:xfrm>
                <a:off x="6621923" y="610076"/>
                <a:ext cx="2722840" cy="1375660"/>
              </a:xfrm>
              <a:prstGeom prst="rect">
                <a:avLst/>
              </a:prstGeom>
            </p:spPr>
            <p:txBody>
              <a:bodyPr vert="horz" wrap="square" lIns="0" tIns="7144" rIns="0" bIns="0" rtlCol="0">
                <a:spAutoFit/>
              </a:bodyPr>
              <a:lstStyle/>
              <a:p>
                <a:pPr marL="7144" marR="149662">
                  <a:spcBef>
                    <a:spcPts val="56"/>
                  </a:spcBef>
                </a:pPr>
                <a:r>
                  <a:rPr sz="1200" spc="-51" dirty="0">
                    <a:solidFill>
                      <a:srgbClr val="545454"/>
                    </a:solidFill>
                    <a:latin typeface="Tahoma"/>
                    <a:cs typeface="Tahoma"/>
                  </a:rPr>
                  <a:t>After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8" dirty="0">
                    <a:solidFill>
                      <a:srgbClr val="545454"/>
                    </a:solidFill>
                    <a:latin typeface="Tahoma"/>
                    <a:cs typeface="Tahoma"/>
                  </a:rPr>
                  <a:t>certain</a:t>
                </a:r>
                <a:r>
                  <a:rPr sz="1200" spc="-3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6" dirty="0">
                    <a:solidFill>
                      <a:srgbClr val="545454"/>
                    </a:solidFill>
                    <a:latin typeface="Tahoma"/>
                    <a:cs typeface="Tahoma"/>
                  </a:rPr>
                  <a:t>no</a:t>
                </a:r>
                <a:r>
                  <a:rPr sz="1200" spc="-31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5" dirty="0">
                    <a:solidFill>
                      <a:srgbClr val="545454"/>
                    </a:solidFill>
                    <a:latin typeface="Tahoma"/>
                    <a:cs typeface="Tahoma"/>
                  </a:rPr>
                  <a:t>of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1" dirty="0">
                    <a:solidFill>
                      <a:srgbClr val="545454"/>
                    </a:solidFill>
                    <a:latin typeface="Tahoma"/>
                    <a:cs typeface="Tahoma"/>
                  </a:rPr>
                  <a:t>epoch</a:t>
                </a:r>
                <a:r>
                  <a:rPr sz="1200" spc="-31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7" dirty="0">
                    <a:solidFill>
                      <a:srgbClr val="545454"/>
                    </a:solidFill>
                    <a:latin typeface="Tahoma"/>
                    <a:cs typeface="Tahoma"/>
                  </a:rPr>
                  <a:t>if </a:t>
                </a:r>
                <a:r>
                  <a:rPr sz="1200" spc="-53" dirty="0">
                    <a:solidFill>
                      <a:srgbClr val="545454"/>
                    </a:solidFill>
                    <a:latin typeface="Tahoma"/>
                    <a:cs typeface="Tahoma"/>
                  </a:rPr>
                  <a:t>validation</a:t>
                </a:r>
                <a:r>
                  <a:rPr sz="1200" spc="-31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2" dirty="0">
                    <a:solidFill>
                      <a:srgbClr val="545454"/>
                    </a:solidFill>
                    <a:latin typeface="Tahoma"/>
                    <a:cs typeface="Tahoma"/>
                  </a:rPr>
                  <a:t>error</a:t>
                </a:r>
                <a:r>
                  <a:rPr sz="1200" spc="-37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is </a:t>
                </a:r>
                <a:r>
                  <a:rPr sz="1200" spc="-42" dirty="0">
                    <a:solidFill>
                      <a:srgbClr val="545454"/>
                    </a:solidFill>
                    <a:latin typeface="Tahoma"/>
                    <a:cs typeface="Tahoma"/>
                  </a:rPr>
                  <a:t>increasing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2" dirty="0">
                    <a:solidFill>
                      <a:srgbClr val="545454"/>
                    </a:solidFill>
                    <a:latin typeface="Tahoma"/>
                    <a:cs typeface="Tahoma"/>
                  </a:rPr>
                  <a:t>through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6" dirty="0">
                    <a:solidFill>
                      <a:srgbClr val="545454"/>
                    </a:solidFill>
                    <a:latin typeface="Tahoma"/>
                    <a:cs typeface="Tahoma"/>
                  </a:rPr>
                  <a:t>training</a:t>
                </a:r>
                <a:r>
                  <a:rPr sz="1200" spc="-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2" dirty="0">
                    <a:solidFill>
                      <a:srgbClr val="545454"/>
                    </a:solidFill>
                    <a:latin typeface="Tahoma"/>
                    <a:cs typeface="Tahoma"/>
                  </a:rPr>
                  <a:t>error</a:t>
                </a:r>
                <a:r>
                  <a:rPr sz="1200" spc="-20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8" dirty="0">
                    <a:solidFill>
                      <a:srgbClr val="545454"/>
                    </a:solidFill>
                    <a:latin typeface="Tahoma"/>
                    <a:cs typeface="Tahoma"/>
                  </a:rPr>
                  <a:t>decreasing,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it </a:t>
                </a:r>
                <a:r>
                  <a:rPr sz="1200" spc="-59" dirty="0">
                    <a:solidFill>
                      <a:srgbClr val="545454"/>
                    </a:solidFill>
                    <a:latin typeface="Tahoma"/>
                    <a:cs typeface="Tahoma"/>
                  </a:rPr>
                  <a:t>means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3" dirty="0">
                    <a:solidFill>
                      <a:srgbClr val="545454"/>
                    </a:solidFill>
                    <a:latin typeface="Tahoma"/>
                    <a:cs typeface="Tahoma"/>
                  </a:rPr>
                  <a:t>model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dirty="0">
                    <a:solidFill>
                      <a:srgbClr val="545454"/>
                    </a:solidFill>
                    <a:latin typeface="Tahoma"/>
                    <a:cs typeface="Tahoma"/>
                  </a:rPr>
                  <a:t>is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2" dirty="0">
                    <a:solidFill>
                      <a:srgbClr val="545454"/>
                    </a:solidFill>
                    <a:latin typeface="Tahoma"/>
                    <a:cs typeface="Tahoma"/>
                  </a:rPr>
                  <a:t>getting</a:t>
                </a:r>
                <a:r>
                  <a:rPr sz="1200" spc="-17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1" dirty="0">
                    <a:solidFill>
                      <a:srgbClr val="545454"/>
                    </a:solidFill>
                    <a:latin typeface="Tahoma"/>
                    <a:cs typeface="Tahoma"/>
                  </a:rPr>
                  <a:t>over</a:t>
                </a:r>
                <a:r>
                  <a:rPr sz="1200" spc="-3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9" dirty="0">
                    <a:solidFill>
                      <a:srgbClr val="545454"/>
                    </a:solidFill>
                    <a:latin typeface="Tahoma"/>
                    <a:cs typeface="Tahoma"/>
                  </a:rPr>
                  <a:t>fitted.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7" dirty="0">
                    <a:solidFill>
                      <a:srgbClr val="545454"/>
                    </a:solidFill>
                    <a:latin typeface="Tahoma"/>
                    <a:cs typeface="Tahoma"/>
                  </a:rPr>
                  <a:t>So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76" dirty="0">
                    <a:solidFill>
                      <a:srgbClr val="545454"/>
                    </a:solidFill>
                    <a:latin typeface="Tahoma"/>
                    <a:cs typeface="Tahoma"/>
                  </a:rPr>
                  <a:t>we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4" dirty="0">
                    <a:solidFill>
                      <a:srgbClr val="545454"/>
                    </a:solidFill>
                    <a:latin typeface="Tahoma"/>
                    <a:cs typeface="Tahoma"/>
                  </a:rPr>
                  <a:t>need</a:t>
                </a:r>
                <a:r>
                  <a:rPr sz="1200" spc="-31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to </a:t>
                </a:r>
                <a:r>
                  <a:rPr sz="1200" spc="-39" dirty="0">
                    <a:solidFill>
                      <a:srgbClr val="545454"/>
                    </a:solidFill>
                    <a:latin typeface="Tahoma"/>
                    <a:cs typeface="Tahoma"/>
                  </a:rPr>
                  <a:t>stop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2" dirty="0">
                    <a:solidFill>
                      <a:srgbClr val="545454"/>
                    </a:solidFill>
                    <a:latin typeface="Tahoma"/>
                    <a:cs typeface="Tahoma"/>
                  </a:rPr>
                  <a:t>the</a:t>
                </a:r>
                <a:r>
                  <a:rPr sz="1200" spc="-3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" dirty="0">
                    <a:solidFill>
                      <a:srgbClr val="545454"/>
                    </a:solidFill>
                    <a:latin typeface="Tahoma"/>
                    <a:cs typeface="Tahoma"/>
                  </a:rPr>
                  <a:t>training</a:t>
                </a:r>
                <a:endParaRPr sz="1200" dirty="0">
                  <a:latin typeface="Tahoma"/>
                  <a:cs typeface="Tahoma"/>
                </a:endParaRPr>
              </a:p>
              <a:p>
                <a:pPr marL="7144" marR="2858">
                  <a:spcBef>
                    <a:spcPts val="1215"/>
                  </a:spcBef>
                </a:pPr>
                <a:r>
                  <a:rPr sz="1200" b="1" spc="-96" dirty="0">
                    <a:solidFill>
                      <a:srgbClr val="C00000"/>
                    </a:solidFill>
                    <a:latin typeface="Arial"/>
                    <a:cs typeface="Arial"/>
                  </a:rPr>
                  <a:t>Stopping</a:t>
                </a:r>
                <a:r>
                  <a:rPr sz="1200" b="1" spc="-6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sz="1200" b="1" spc="-76" dirty="0">
                    <a:solidFill>
                      <a:srgbClr val="C00000"/>
                    </a:solidFill>
                    <a:latin typeface="Arial"/>
                    <a:cs typeface="Arial"/>
                  </a:rPr>
                  <a:t>Criteria</a:t>
                </a:r>
                <a:r>
                  <a:rPr sz="1200" spc="-76" dirty="0">
                    <a:solidFill>
                      <a:srgbClr val="545454"/>
                    </a:solidFill>
                    <a:latin typeface="Tahoma"/>
                    <a:cs typeface="Tahoma"/>
                  </a:rPr>
                  <a:t>:</a:t>
                </a:r>
                <a:r>
                  <a:rPr sz="1200" spc="-17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70" dirty="0">
                    <a:solidFill>
                      <a:srgbClr val="545454"/>
                    </a:solidFill>
                    <a:latin typeface="Tahoma"/>
                    <a:cs typeface="Tahoma"/>
                  </a:rPr>
                  <a:t>Training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dirty="0">
                    <a:solidFill>
                      <a:srgbClr val="545454"/>
                    </a:solidFill>
                    <a:latin typeface="Tahoma"/>
                    <a:cs typeface="Tahoma"/>
                  </a:rPr>
                  <a:t>is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3" dirty="0">
                    <a:solidFill>
                      <a:srgbClr val="545454"/>
                    </a:solidFill>
                    <a:latin typeface="Tahoma"/>
                    <a:cs typeface="Tahoma"/>
                  </a:rPr>
                  <a:t>stopped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5" dirty="0">
                    <a:solidFill>
                      <a:srgbClr val="545454"/>
                    </a:solidFill>
                    <a:latin typeface="Tahoma"/>
                    <a:cs typeface="Tahoma"/>
                  </a:rPr>
                  <a:t>as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34" dirty="0">
                    <a:solidFill>
                      <a:srgbClr val="545454"/>
                    </a:solidFill>
                    <a:latin typeface="Tahoma"/>
                    <a:cs typeface="Tahoma"/>
                  </a:rPr>
                  <a:t>soon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5" dirty="0">
                    <a:solidFill>
                      <a:srgbClr val="545454"/>
                    </a:solidFill>
                    <a:latin typeface="Tahoma"/>
                    <a:cs typeface="Tahoma"/>
                  </a:rPr>
                  <a:t>as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the </a:t>
                </a:r>
                <a:r>
                  <a:rPr sz="1200" spc="-51" dirty="0">
                    <a:solidFill>
                      <a:srgbClr val="545454"/>
                    </a:solidFill>
                    <a:latin typeface="Tahoma"/>
                    <a:cs typeface="Tahoma"/>
                  </a:rPr>
                  <a:t>performance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3" dirty="0">
                    <a:solidFill>
                      <a:srgbClr val="545454"/>
                    </a:solidFill>
                    <a:latin typeface="Tahoma"/>
                    <a:cs typeface="Tahoma"/>
                  </a:rPr>
                  <a:t>on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2" dirty="0">
                    <a:solidFill>
                      <a:srgbClr val="545454"/>
                    </a:solidFill>
                    <a:latin typeface="Tahoma"/>
                    <a:cs typeface="Tahoma"/>
                  </a:rPr>
                  <a:t>the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3" dirty="0">
                    <a:solidFill>
                      <a:srgbClr val="545454"/>
                    </a:solidFill>
                    <a:latin typeface="Tahoma"/>
                    <a:cs typeface="Tahoma"/>
                  </a:rPr>
                  <a:t>validation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4" dirty="0">
                    <a:solidFill>
                      <a:srgbClr val="545454"/>
                    </a:solidFill>
                    <a:latin typeface="Tahoma"/>
                    <a:cs typeface="Tahoma"/>
                  </a:rPr>
                  <a:t>dataset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42" dirty="0">
                    <a:solidFill>
                      <a:srgbClr val="545454"/>
                    </a:solidFill>
                    <a:latin typeface="Tahoma"/>
                    <a:cs typeface="Tahoma"/>
                  </a:rPr>
                  <a:t>decreases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as </a:t>
                </a:r>
                <a:r>
                  <a:rPr sz="1200" spc="-56" dirty="0">
                    <a:solidFill>
                      <a:srgbClr val="545454"/>
                    </a:solidFill>
                    <a:latin typeface="Tahoma"/>
                    <a:cs typeface="Tahoma"/>
                  </a:rPr>
                  <a:t>compared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6" dirty="0">
                    <a:solidFill>
                      <a:srgbClr val="545454"/>
                    </a:solidFill>
                    <a:latin typeface="Tahoma"/>
                    <a:cs typeface="Tahoma"/>
                  </a:rPr>
                  <a:t>to</a:t>
                </a:r>
                <a:r>
                  <a:rPr sz="1200" spc="-28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4" dirty="0">
                    <a:solidFill>
                      <a:srgbClr val="545454"/>
                    </a:solidFill>
                    <a:latin typeface="Tahoma"/>
                    <a:cs typeface="Tahoma"/>
                  </a:rPr>
                  <a:t>the</a:t>
                </a:r>
                <a:r>
                  <a:rPr sz="1200" spc="-11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1" dirty="0">
                    <a:solidFill>
                      <a:srgbClr val="545454"/>
                    </a:solidFill>
                    <a:latin typeface="Tahoma"/>
                    <a:cs typeface="Tahoma"/>
                  </a:rPr>
                  <a:t>performance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3" dirty="0">
                    <a:solidFill>
                      <a:srgbClr val="545454"/>
                    </a:solidFill>
                    <a:latin typeface="Tahoma"/>
                    <a:cs typeface="Tahoma"/>
                  </a:rPr>
                  <a:t>on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2" dirty="0">
                    <a:solidFill>
                      <a:srgbClr val="545454"/>
                    </a:solidFill>
                    <a:latin typeface="Tahoma"/>
                    <a:cs typeface="Tahoma"/>
                  </a:rPr>
                  <a:t>the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" dirty="0">
                    <a:solidFill>
                      <a:srgbClr val="545454"/>
                    </a:solidFill>
                    <a:latin typeface="Tahoma"/>
                    <a:cs typeface="Tahoma"/>
                  </a:rPr>
                  <a:t>validation </a:t>
                </a:r>
                <a:r>
                  <a:rPr sz="1200" spc="-64" dirty="0">
                    <a:solidFill>
                      <a:srgbClr val="545454"/>
                    </a:solidFill>
                    <a:latin typeface="Tahoma"/>
                    <a:cs typeface="Tahoma"/>
                  </a:rPr>
                  <a:t>dataset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79" dirty="0">
                    <a:solidFill>
                      <a:srgbClr val="545454"/>
                    </a:solidFill>
                    <a:latin typeface="Tahoma"/>
                    <a:cs typeface="Tahoma"/>
                  </a:rPr>
                  <a:t>at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2" dirty="0">
                    <a:solidFill>
                      <a:srgbClr val="545454"/>
                    </a:solidFill>
                    <a:latin typeface="Tahoma"/>
                    <a:cs typeface="Tahoma"/>
                  </a:rPr>
                  <a:t>the</a:t>
                </a:r>
                <a:r>
                  <a:rPr sz="1200" spc="-17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39" dirty="0">
                    <a:solidFill>
                      <a:srgbClr val="545454"/>
                    </a:solidFill>
                    <a:latin typeface="Tahoma"/>
                    <a:cs typeface="Tahoma"/>
                  </a:rPr>
                  <a:t>prior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6" dirty="0">
                    <a:solidFill>
                      <a:srgbClr val="545454"/>
                    </a:solidFill>
                    <a:latin typeface="Tahoma"/>
                    <a:cs typeface="Tahoma"/>
                  </a:rPr>
                  <a:t>training</a:t>
                </a:r>
                <a:r>
                  <a:rPr sz="1200" spc="-1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51" dirty="0">
                    <a:solidFill>
                      <a:srgbClr val="545454"/>
                    </a:solidFill>
                    <a:latin typeface="Tahoma"/>
                    <a:cs typeface="Tahoma"/>
                  </a:rPr>
                  <a:t>epoch</a:t>
                </a:r>
                <a:r>
                  <a:rPr sz="1200" spc="-23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8" dirty="0">
                    <a:solidFill>
                      <a:srgbClr val="545454"/>
                    </a:solidFill>
                    <a:latin typeface="Tahoma"/>
                    <a:cs typeface="Tahoma"/>
                  </a:rPr>
                  <a:t>(e.g.</a:t>
                </a:r>
                <a:r>
                  <a:rPr sz="1200" spc="-20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79" dirty="0">
                    <a:solidFill>
                      <a:srgbClr val="545454"/>
                    </a:solidFill>
                    <a:latin typeface="Tahoma"/>
                    <a:cs typeface="Tahoma"/>
                  </a:rPr>
                  <a:t>an</a:t>
                </a:r>
                <a:r>
                  <a:rPr sz="1200" spc="-25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" dirty="0">
                    <a:solidFill>
                      <a:srgbClr val="545454"/>
                    </a:solidFill>
                    <a:latin typeface="Tahoma"/>
                    <a:cs typeface="Tahoma"/>
                  </a:rPr>
                  <a:t>increase </a:t>
                </a:r>
                <a:r>
                  <a:rPr sz="1200" spc="-42" dirty="0">
                    <a:solidFill>
                      <a:srgbClr val="545454"/>
                    </a:solidFill>
                    <a:latin typeface="Tahoma"/>
                    <a:cs typeface="Tahoma"/>
                  </a:rPr>
                  <a:t>in</a:t>
                </a:r>
                <a:r>
                  <a:rPr sz="1200" spc="-34" dirty="0">
                    <a:solidFill>
                      <a:srgbClr val="545454"/>
                    </a:solidFill>
                    <a:latin typeface="Tahoma"/>
                    <a:cs typeface="Tahoma"/>
                  </a:rPr>
                  <a:t> </a:t>
                </a:r>
                <a:r>
                  <a:rPr sz="1200" spc="-6" dirty="0">
                    <a:solidFill>
                      <a:srgbClr val="545454"/>
                    </a:solidFill>
                    <a:latin typeface="Tahoma"/>
                    <a:cs typeface="Tahoma"/>
                  </a:rPr>
                  <a:t>loss).</a:t>
                </a:r>
                <a:endParaRPr sz="1200" dirty="0">
                  <a:latin typeface="Tahoma"/>
                  <a:cs typeface="Tahoma"/>
                </a:endParaRPr>
              </a:p>
            </p:txBody>
          </p:sp>
        </p:grpSp>
        <p:sp>
          <p:nvSpPr>
            <p:cNvPr id="7" name="object 7"/>
            <p:cNvSpPr/>
            <p:nvPr/>
          </p:nvSpPr>
          <p:spPr>
            <a:xfrm>
              <a:off x="4580811" y="1440894"/>
              <a:ext cx="2050613" cy="1554123"/>
            </a:xfrm>
            <a:custGeom>
              <a:avLst/>
              <a:gdLst/>
              <a:ahLst/>
              <a:cxnLst/>
              <a:rect l="l" t="t" r="r" b="b"/>
              <a:pathLst>
                <a:path w="3645534" h="2762885">
                  <a:moveTo>
                    <a:pt x="37719" y="2686558"/>
                  </a:moveTo>
                  <a:lnTo>
                    <a:pt x="0" y="2762885"/>
                  </a:lnTo>
                  <a:lnTo>
                    <a:pt x="83693" y="2747264"/>
                  </a:lnTo>
                  <a:lnTo>
                    <a:pt x="74171" y="2734691"/>
                  </a:lnTo>
                  <a:lnTo>
                    <a:pt x="58293" y="2734691"/>
                  </a:lnTo>
                  <a:lnTo>
                    <a:pt x="42925" y="2714498"/>
                  </a:lnTo>
                  <a:lnTo>
                    <a:pt x="53067" y="2706824"/>
                  </a:lnTo>
                  <a:lnTo>
                    <a:pt x="37719" y="2686558"/>
                  </a:lnTo>
                  <a:close/>
                </a:path>
                <a:path w="3645534" h="2762885">
                  <a:moveTo>
                    <a:pt x="53067" y="2706824"/>
                  </a:moveTo>
                  <a:lnTo>
                    <a:pt x="42925" y="2714498"/>
                  </a:lnTo>
                  <a:lnTo>
                    <a:pt x="58293" y="2734691"/>
                  </a:lnTo>
                  <a:lnTo>
                    <a:pt x="68386" y="2727053"/>
                  </a:lnTo>
                  <a:lnTo>
                    <a:pt x="53067" y="2706824"/>
                  </a:lnTo>
                  <a:close/>
                </a:path>
                <a:path w="3645534" h="2762885">
                  <a:moveTo>
                    <a:pt x="68386" y="2727053"/>
                  </a:moveTo>
                  <a:lnTo>
                    <a:pt x="58293" y="2734691"/>
                  </a:lnTo>
                  <a:lnTo>
                    <a:pt x="74171" y="2734691"/>
                  </a:lnTo>
                  <a:lnTo>
                    <a:pt x="68386" y="2727053"/>
                  </a:lnTo>
                  <a:close/>
                </a:path>
                <a:path w="3645534" h="2762885">
                  <a:moveTo>
                    <a:pt x="3630295" y="0"/>
                  </a:moveTo>
                  <a:lnTo>
                    <a:pt x="53067" y="2706824"/>
                  </a:lnTo>
                  <a:lnTo>
                    <a:pt x="68386" y="2727053"/>
                  </a:lnTo>
                  <a:lnTo>
                    <a:pt x="3645535" y="20320"/>
                  </a:lnTo>
                  <a:lnTo>
                    <a:pt x="3630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3124200" y="2133600"/>
            <a:ext cx="4991338" cy="2162413"/>
            <a:chOff x="2436622" y="1506982"/>
            <a:chExt cx="8873490" cy="3844290"/>
          </a:xfrm>
        </p:grpSpPr>
        <p:sp>
          <p:nvSpPr>
            <p:cNvPr id="6" name="object 6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8860536" y="0"/>
                  </a:moveTo>
                  <a:lnTo>
                    <a:pt x="0" y="0"/>
                  </a:lnTo>
                  <a:lnTo>
                    <a:pt x="0" y="3831336"/>
                  </a:lnTo>
                  <a:lnTo>
                    <a:pt x="8860536" y="3831336"/>
                  </a:lnTo>
                  <a:lnTo>
                    <a:pt x="8860536" y="0"/>
                  </a:lnTo>
                  <a:close/>
                </a:path>
              </a:pathLst>
            </a:custGeom>
            <a:solidFill>
              <a:srgbClr val="FCD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42972" y="1513332"/>
              <a:ext cx="8860790" cy="3831590"/>
            </a:xfrm>
            <a:custGeom>
              <a:avLst/>
              <a:gdLst/>
              <a:ahLst/>
              <a:cxnLst/>
              <a:rect l="l" t="t" r="r" b="b"/>
              <a:pathLst>
                <a:path w="8860790" h="3831590">
                  <a:moveTo>
                    <a:pt x="0" y="3831336"/>
                  </a:moveTo>
                  <a:lnTo>
                    <a:pt x="8860536" y="3831336"/>
                  </a:lnTo>
                  <a:lnTo>
                    <a:pt x="8860536" y="0"/>
                  </a:lnTo>
                  <a:lnTo>
                    <a:pt x="0" y="0"/>
                  </a:lnTo>
                  <a:lnTo>
                    <a:pt x="0" y="38313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0DBDB9-7595-0681-15FF-264F9CC27EBD}"/>
              </a:ext>
            </a:extLst>
          </p:cNvPr>
          <p:cNvSpPr txBox="1"/>
          <p:nvPr/>
        </p:nvSpPr>
        <p:spPr>
          <a:xfrm>
            <a:off x="3127772" y="3059668"/>
            <a:ext cx="487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Batch Normalisation Drop out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329906"/>
            <a:ext cx="11209376" cy="501512"/>
          </a:xfrm>
          <a:prstGeom prst="rect">
            <a:avLst/>
          </a:prstGeom>
        </p:spPr>
        <p:txBody>
          <a:bodyPr vert="horz" wrap="square" lIns="0" tIns="130902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Normalizing</a:t>
            </a:r>
            <a:r>
              <a:rPr sz="2400" spc="-31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the</a:t>
            </a:r>
            <a:r>
              <a:rPr sz="2400" spc="-17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input</a:t>
            </a:r>
            <a:r>
              <a:rPr sz="2400" spc="-28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features</a:t>
            </a:r>
            <a:endParaRPr sz="2400" dirty="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447800"/>
            <a:ext cx="78486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329041"/>
            <a:ext cx="11209376" cy="503243"/>
          </a:xfrm>
          <a:prstGeom prst="rect">
            <a:avLst/>
          </a:prstGeom>
        </p:spPr>
        <p:txBody>
          <a:bodyPr vert="horz" wrap="square" lIns="0" tIns="132616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43" dirty="0"/>
              <a:t>Normalisation</a:t>
            </a:r>
            <a:r>
              <a:rPr sz="2400" spc="-68" dirty="0"/>
              <a:t> </a:t>
            </a:r>
            <a:r>
              <a:rPr sz="2400" spc="-146" dirty="0"/>
              <a:t>of</a:t>
            </a:r>
            <a:r>
              <a:rPr sz="2400" spc="-42" dirty="0"/>
              <a:t> </a:t>
            </a:r>
            <a:r>
              <a:rPr sz="2400" spc="-143" dirty="0"/>
              <a:t>hidden</a:t>
            </a:r>
            <a:r>
              <a:rPr sz="2400" spc="-59" dirty="0"/>
              <a:t> </a:t>
            </a:r>
            <a:r>
              <a:rPr sz="2400" spc="-98" dirty="0"/>
              <a:t>layers</a:t>
            </a:r>
            <a:endParaRPr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1C9AAD-6A2B-F603-B72C-A9BB1859E014}"/>
              </a:ext>
            </a:extLst>
          </p:cNvPr>
          <p:cNvGrpSpPr/>
          <p:nvPr/>
        </p:nvGrpSpPr>
        <p:grpSpPr>
          <a:xfrm>
            <a:off x="2286000" y="1447800"/>
            <a:ext cx="7768704" cy="4173350"/>
            <a:chOff x="2794959" y="253746"/>
            <a:chExt cx="6412501" cy="3248368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8504" y="491993"/>
              <a:ext cx="1995279" cy="28881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5108" y="2376297"/>
              <a:ext cx="3382352" cy="1024414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6169580" y="2091590"/>
              <a:ext cx="3037880" cy="353102"/>
            </a:xfrm>
            <a:prstGeom prst="rect">
              <a:avLst/>
            </a:prstGeom>
          </p:spPr>
          <p:txBody>
            <a:bodyPr vert="horz" wrap="square" lIns="0" tIns="6787" rIns="0" bIns="0" rtlCol="0">
              <a:spAutoFit/>
            </a:bodyPr>
            <a:lstStyle/>
            <a:p>
              <a:pPr marL="7144">
                <a:spcBef>
                  <a:spcPts val="53"/>
                </a:spcBef>
              </a:pPr>
              <a:r>
                <a:rPr sz="2250" b="1" spc="-253" dirty="0">
                  <a:solidFill>
                    <a:srgbClr val="C00000"/>
                  </a:solidFill>
                  <a:latin typeface="Arial"/>
                  <a:cs typeface="Arial"/>
                </a:rPr>
                <a:t>Why</a:t>
              </a:r>
              <a:r>
                <a:rPr sz="2250" b="1" spc="-59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2250" b="1" spc="-230" dirty="0">
                  <a:solidFill>
                    <a:srgbClr val="C00000"/>
                  </a:solidFill>
                  <a:latin typeface="Arial"/>
                  <a:cs typeface="Arial"/>
                </a:rPr>
                <a:t>Batch</a:t>
              </a:r>
              <a:r>
                <a:rPr sz="2250" b="1" spc="-45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2250" b="1" spc="-194" dirty="0">
                  <a:solidFill>
                    <a:srgbClr val="C00000"/>
                  </a:solidFill>
                  <a:latin typeface="Arial"/>
                  <a:cs typeface="Arial"/>
                </a:rPr>
                <a:t>normalization?</a:t>
              </a:r>
              <a:endParaRPr sz="2250">
                <a:latin typeface="Arial"/>
                <a:cs typeface="Arial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2425" y="253746"/>
              <a:ext cx="1844970" cy="1789938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794959" y="3352762"/>
              <a:ext cx="3207776" cy="149352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200" b="1" dirty="0">
                  <a:solidFill>
                    <a:srgbClr val="C00000"/>
                  </a:solidFill>
                  <a:latin typeface="Calibri"/>
                  <a:cs typeface="Calibri"/>
                </a:rPr>
                <a:t>Inputs</a:t>
              </a:r>
              <a:r>
                <a:rPr sz="1200" b="1" spc="-3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C00000"/>
                  </a:solidFill>
                  <a:latin typeface="Calibri"/>
                  <a:cs typeface="Calibri"/>
                </a:rPr>
                <a:t>are</a:t>
              </a:r>
              <a:r>
                <a:rPr sz="1200" b="1" spc="-6" dirty="0">
                  <a:solidFill>
                    <a:srgbClr val="C00000"/>
                  </a:solidFill>
                  <a:latin typeface="Calibri"/>
                  <a:cs typeface="Calibri"/>
                </a:rPr>
                <a:t> standardised.</a:t>
              </a:r>
              <a:r>
                <a:rPr sz="1200" b="1" spc="-3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C00000"/>
                  </a:solidFill>
                  <a:latin typeface="Calibri"/>
                  <a:cs typeface="Calibri"/>
                </a:rPr>
                <a:t>What</a:t>
              </a:r>
              <a:r>
                <a:rPr sz="1200" b="1" spc="-1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C00000"/>
                  </a:solidFill>
                  <a:latin typeface="Calibri"/>
                  <a:cs typeface="Calibri"/>
                </a:rPr>
                <a:t>about</a:t>
              </a:r>
              <a:r>
                <a:rPr sz="1200" b="1" spc="-25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C00000"/>
                  </a:solidFill>
                  <a:latin typeface="Calibri"/>
                  <a:cs typeface="Calibri"/>
                </a:rPr>
                <a:t>hidden</a:t>
              </a:r>
              <a:r>
                <a:rPr sz="1200" b="1" spc="-34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200" b="1" dirty="0">
                  <a:solidFill>
                    <a:srgbClr val="C00000"/>
                  </a:solidFill>
                  <a:latin typeface="Calibri"/>
                  <a:cs typeface="Calibri"/>
                </a:rPr>
                <a:t>layers?</a:t>
              </a:r>
              <a:r>
                <a:rPr sz="1200" b="1" spc="-11" dirty="0">
                  <a:solidFill>
                    <a:srgbClr val="C00000"/>
                  </a:solidFill>
                  <a:latin typeface="Calibri"/>
                  <a:cs typeface="Calibri"/>
                </a:rPr>
                <a:t> hij?</a:t>
              </a:r>
              <a:endParaRPr sz="12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299863"/>
            <a:ext cx="11209376" cy="561600"/>
          </a:xfrm>
          <a:prstGeom prst="rect">
            <a:avLst/>
          </a:prstGeom>
        </p:spPr>
        <p:txBody>
          <a:bodyPr vert="horz" wrap="square" lIns="0" tIns="190409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Flexibility</a:t>
            </a:r>
            <a:r>
              <a:rPr sz="2400" spc="-17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to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the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network</a:t>
            </a:r>
            <a:r>
              <a:rPr sz="2400" spc="-2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to</a:t>
            </a:r>
            <a:r>
              <a:rPr sz="2400" spc="-8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decide</a:t>
            </a:r>
            <a:r>
              <a:rPr sz="2400" spc="-2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whether</a:t>
            </a:r>
            <a:r>
              <a:rPr sz="2400" spc="-23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normalization</a:t>
            </a:r>
            <a:r>
              <a:rPr sz="2400" spc="-17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is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required</a:t>
            </a:r>
            <a:r>
              <a:rPr sz="2400" spc="-2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or</a:t>
            </a:r>
            <a:r>
              <a:rPr sz="2400" spc="-17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not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AC7867-DB21-BD24-5384-36ECB65398EA}"/>
              </a:ext>
            </a:extLst>
          </p:cNvPr>
          <p:cNvGrpSpPr/>
          <p:nvPr/>
        </p:nvGrpSpPr>
        <p:grpSpPr>
          <a:xfrm>
            <a:off x="1371600" y="1524000"/>
            <a:ext cx="9307521" cy="3962400"/>
            <a:chOff x="3038504" y="491993"/>
            <a:chExt cx="5877135" cy="288814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0942" y="1365600"/>
              <a:ext cx="1906070" cy="13915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8504" y="491993"/>
              <a:ext cx="1995279" cy="28881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5903" y="559784"/>
              <a:ext cx="3070725" cy="6720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7580" y="2083547"/>
              <a:ext cx="894755" cy="1248370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7009570" y="1201797"/>
              <a:ext cx="1906069" cy="476361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>
                <a:spcBef>
                  <a:spcPts val="56"/>
                </a:spcBef>
              </a:pPr>
              <a:r>
                <a:rPr sz="1400" dirty="0">
                  <a:latin typeface="Calibri"/>
                  <a:cs typeface="Calibri"/>
                </a:rPr>
                <a:t>Give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flexibility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to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the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network</a:t>
              </a:r>
              <a:r>
                <a:rPr sz="1400" spc="-28" dirty="0">
                  <a:latin typeface="Calibri"/>
                  <a:cs typeface="Calibri"/>
                </a:rPr>
                <a:t> </a:t>
              </a:r>
              <a:r>
                <a:rPr sz="1400" spc="-14" dirty="0">
                  <a:latin typeface="Calibri"/>
                  <a:cs typeface="Calibri"/>
                </a:rPr>
                <a:t>to </a:t>
              </a:r>
              <a:r>
                <a:rPr sz="1400" dirty="0">
                  <a:latin typeface="Calibri"/>
                  <a:cs typeface="Calibri"/>
                </a:rPr>
                <a:t>decide</a:t>
              </a:r>
              <a:r>
                <a:rPr sz="1400" spc="-2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whether</a:t>
              </a:r>
              <a:r>
                <a:rPr sz="1400" spc="-3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normalization</a:t>
              </a:r>
              <a:r>
                <a:rPr sz="1400" spc="-34" dirty="0">
                  <a:latin typeface="Calibri"/>
                  <a:cs typeface="Calibri"/>
                </a:rPr>
                <a:t> </a:t>
              </a:r>
              <a:r>
                <a:rPr sz="1400" spc="-14" dirty="0">
                  <a:latin typeface="Calibri"/>
                  <a:cs typeface="Calibri"/>
                </a:rPr>
                <a:t>is </a:t>
              </a:r>
              <a:r>
                <a:rPr sz="1400" spc="-6" dirty="0">
                  <a:latin typeface="Calibri"/>
                  <a:cs typeface="Calibri"/>
                </a:rPr>
                <a:t>required</a:t>
              </a:r>
              <a:r>
                <a:rPr sz="1400" spc="-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or</a:t>
              </a:r>
              <a:r>
                <a:rPr sz="1400" spc="-6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not.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It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learns </a:t>
              </a:r>
              <a:r>
                <a:rPr sz="1400" dirty="0">
                  <a:latin typeface="Calibri"/>
                  <a:cs typeface="Calibri"/>
                </a:rPr>
                <a:t>accordingly</a:t>
              </a:r>
              <a:r>
                <a:rPr sz="1400" spc="-59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parameters</a:t>
              </a:r>
              <a:endParaRPr sz="1400" dirty="0">
                <a:latin typeface="Calibri"/>
                <a:cs typeface="Calibri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94171" y="1742722"/>
              <a:ext cx="1081849" cy="2623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434375"/>
            <a:ext cx="11209376" cy="292573"/>
          </a:xfrm>
          <a:prstGeom prst="rect">
            <a:avLst/>
          </a:prstGeom>
        </p:spPr>
        <p:txBody>
          <a:bodyPr vert="horz" wrap="square" lIns="0" tIns="38219" rIns="0" bIns="0" rtlCol="0" anchor="ctr">
            <a:spAutoFit/>
          </a:bodyPr>
          <a:lstStyle/>
          <a:p>
            <a:pPr marL="7144" marR="2858">
              <a:lnSpc>
                <a:spcPts val="1946"/>
              </a:lnSpc>
              <a:spcBef>
                <a:spcPts val="301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Ensemble</a:t>
            </a:r>
            <a:r>
              <a:rPr sz="2400" spc="-23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methods</a:t>
            </a:r>
            <a:r>
              <a:rPr sz="2400" spc="-11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(</a:t>
            </a:r>
            <a:r>
              <a:rPr sz="2400" spc="-11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rely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on</a:t>
            </a:r>
            <a:r>
              <a:rPr sz="2400" spc="-23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multiple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models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than</a:t>
            </a:r>
            <a:r>
              <a:rPr sz="2400" spc="-23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a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single model)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EE5D7F-B929-B8D6-BADF-261C09193245}"/>
              </a:ext>
            </a:extLst>
          </p:cNvPr>
          <p:cNvGrpSpPr/>
          <p:nvPr/>
        </p:nvGrpSpPr>
        <p:grpSpPr>
          <a:xfrm>
            <a:off x="1219200" y="1752600"/>
            <a:ext cx="9448800" cy="3733800"/>
            <a:chOff x="2811623" y="744950"/>
            <a:chExt cx="6453242" cy="239107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1623" y="744950"/>
              <a:ext cx="3145123" cy="23570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0620" y="821249"/>
              <a:ext cx="3144245" cy="23147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329906"/>
            <a:ext cx="11209376" cy="501512"/>
          </a:xfrm>
          <a:prstGeom prst="rect">
            <a:avLst/>
          </a:prstGeom>
        </p:spPr>
        <p:txBody>
          <a:bodyPr vert="horz" wrap="square" lIns="0" tIns="130902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Ensemble</a:t>
            </a:r>
            <a:r>
              <a:rPr sz="2400" spc="-23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of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Neural</a:t>
            </a:r>
            <a:r>
              <a:rPr sz="2400" spc="-2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Networks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942E83-0D23-5784-D5A3-6B329CCCEF00}"/>
              </a:ext>
            </a:extLst>
          </p:cNvPr>
          <p:cNvGrpSpPr/>
          <p:nvPr/>
        </p:nvGrpSpPr>
        <p:grpSpPr>
          <a:xfrm>
            <a:off x="2590800" y="1676400"/>
            <a:ext cx="7772400" cy="3505200"/>
            <a:chOff x="2898458" y="750094"/>
            <a:chExt cx="6267564" cy="23145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8458" y="750094"/>
              <a:ext cx="4152519" cy="23145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9862" y="2207419"/>
              <a:ext cx="1886160" cy="8255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9862" y="1059561"/>
              <a:ext cx="1870519" cy="6911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Idea</a:t>
            </a:r>
            <a:r>
              <a:rPr sz="2400" spc="-11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of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Drop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Out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836516-AD2E-D892-DFE8-5726CC2CCDCA}"/>
              </a:ext>
            </a:extLst>
          </p:cNvPr>
          <p:cNvGrpSpPr/>
          <p:nvPr/>
        </p:nvGrpSpPr>
        <p:grpSpPr>
          <a:xfrm>
            <a:off x="1447800" y="1066800"/>
            <a:ext cx="9753600" cy="4495800"/>
            <a:chOff x="2879377" y="66865"/>
            <a:chExt cx="6645623" cy="3457947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9455" y="564070"/>
              <a:ext cx="2871788" cy="2100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9377" y="658178"/>
              <a:ext cx="2325089" cy="20687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9894" y="2726913"/>
              <a:ext cx="4275106" cy="797899"/>
            </a:xfrm>
            <a:prstGeom prst="rect">
              <a:avLst/>
            </a:prstGeom>
          </p:spPr>
        </p:pic>
        <p:sp>
          <p:nvSpPr>
            <p:cNvPr id="9" name="object 9"/>
            <p:cNvSpPr txBox="1"/>
            <p:nvPr/>
          </p:nvSpPr>
          <p:spPr>
            <a:xfrm>
              <a:off x="2912688" y="2812351"/>
              <a:ext cx="1723430" cy="630718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21431" marR="17145">
                <a:spcBef>
                  <a:spcPts val="56"/>
                </a:spcBef>
              </a:pPr>
              <a:r>
                <a:rPr sz="1013" dirty="0">
                  <a:latin typeface="Calibri"/>
                  <a:cs typeface="Calibri"/>
                </a:rPr>
                <a:t>If</a:t>
              </a:r>
              <a:r>
                <a:rPr sz="1013" spc="-11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I</a:t>
              </a:r>
              <a:r>
                <a:rPr sz="1013" spc="-11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have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n</a:t>
              </a:r>
              <a:r>
                <a:rPr sz="1013" spc="-14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nodes</a:t>
              </a:r>
              <a:r>
                <a:rPr sz="1013" spc="-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in</a:t>
              </a:r>
              <a:r>
                <a:rPr sz="1013" spc="-14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a</a:t>
              </a:r>
              <a:r>
                <a:rPr sz="1013" spc="-6" dirty="0">
                  <a:latin typeface="Calibri"/>
                  <a:cs typeface="Calibri"/>
                </a:rPr>
                <a:t> neural </a:t>
              </a:r>
              <a:r>
                <a:rPr sz="1013" dirty="0">
                  <a:latin typeface="Calibri"/>
                  <a:cs typeface="Calibri"/>
                </a:rPr>
                <a:t>network</a:t>
              </a:r>
              <a:r>
                <a:rPr sz="1013" spc="-14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I</a:t>
              </a:r>
              <a:r>
                <a:rPr sz="1013" spc="-17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can</a:t>
              </a:r>
              <a:r>
                <a:rPr sz="1013" spc="-6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create</a:t>
              </a:r>
              <a:r>
                <a:rPr sz="1013" spc="-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mbria Math"/>
                  <a:cs typeface="Cambria Math"/>
                </a:rPr>
                <a:t>2</a:t>
              </a:r>
              <a:r>
                <a:rPr sz="1097" baseline="27777" dirty="0">
                  <a:latin typeface="Cambria Math"/>
                  <a:cs typeface="Cambria Math"/>
                </a:rPr>
                <a:t>𝑛</a:t>
              </a:r>
              <a:r>
                <a:rPr sz="1097" spc="164" baseline="27777" dirty="0">
                  <a:latin typeface="Cambria Math"/>
                  <a:cs typeface="Cambria Math"/>
                </a:rPr>
                <a:t> </a:t>
              </a:r>
              <a:r>
                <a:rPr sz="1013" spc="-6" dirty="0">
                  <a:latin typeface="Calibri"/>
                  <a:cs typeface="Calibri"/>
                </a:rPr>
                <a:t>number </a:t>
              </a:r>
              <a:r>
                <a:rPr sz="1013" dirty="0">
                  <a:latin typeface="Calibri"/>
                  <a:cs typeface="Calibri"/>
                </a:rPr>
                <a:t>of</a:t>
              </a:r>
              <a:r>
                <a:rPr sz="1013" spc="-34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neural</a:t>
              </a:r>
              <a:r>
                <a:rPr sz="1013" spc="-25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networks</a:t>
              </a:r>
              <a:r>
                <a:rPr sz="1013" spc="-28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with</a:t>
              </a:r>
              <a:r>
                <a:rPr sz="1013" spc="-23" dirty="0">
                  <a:latin typeface="Calibri"/>
                  <a:cs typeface="Calibri"/>
                </a:rPr>
                <a:t> </a:t>
              </a:r>
              <a:r>
                <a:rPr sz="1013" spc="-11" dirty="0">
                  <a:latin typeface="Calibri"/>
                  <a:cs typeface="Calibri"/>
                </a:rPr>
                <a:t>some </a:t>
              </a:r>
              <a:r>
                <a:rPr sz="1013" dirty="0">
                  <a:latin typeface="Calibri"/>
                  <a:cs typeface="Calibri"/>
                </a:rPr>
                <a:t>weights</a:t>
              </a:r>
              <a:r>
                <a:rPr sz="1013" spc="-53" dirty="0">
                  <a:latin typeface="Calibri"/>
                  <a:cs typeface="Calibri"/>
                </a:rPr>
                <a:t> </a:t>
              </a:r>
              <a:r>
                <a:rPr sz="1013" dirty="0">
                  <a:latin typeface="Calibri"/>
                  <a:cs typeface="Calibri"/>
                </a:rPr>
                <a:t>dropped</a:t>
              </a:r>
              <a:r>
                <a:rPr sz="1013" spc="-45" dirty="0">
                  <a:latin typeface="Calibri"/>
                  <a:cs typeface="Calibri"/>
                </a:rPr>
                <a:t> </a:t>
              </a:r>
              <a:r>
                <a:rPr sz="1013" spc="-14" dirty="0">
                  <a:latin typeface="Calibri"/>
                  <a:cs typeface="Calibri"/>
                </a:rPr>
                <a:t>out</a:t>
              </a:r>
              <a:endParaRPr sz="1013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882544" y="66865"/>
              <a:ext cx="3539728" cy="439423"/>
            </a:xfrm>
            <a:prstGeom prst="rect">
              <a:avLst/>
            </a:prstGeom>
            <a:solidFill>
              <a:srgbClr val="E1EFD9"/>
            </a:solidFill>
          </p:spPr>
          <p:txBody>
            <a:bodyPr vert="horz" wrap="square" lIns="0" tIns="17145" rIns="0" bIns="0" rtlCol="0">
              <a:spAutoFit/>
            </a:bodyPr>
            <a:lstStyle/>
            <a:p>
              <a:pPr marL="51435">
                <a:spcBef>
                  <a:spcPts val="135"/>
                </a:spcBef>
              </a:pPr>
              <a:r>
                <a:rPr sz="1200" dirty="0">
                  <a:latin typeface="Calibri"/>
                  <a:cs typeface="Calibri"/>
                </a:rPr>
                <a:t>How</a:t>
              </a:r>
              <a:r>
                <a:rPr sz="1200" spc="-14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to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choose</a:t>
              </a:r>
              <a:r>
                <a:rPr sz="1200" spc="-14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which</a:t>
              </a:r>
              <a:r>
                <a:rPr sz="1200" spc="-8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nodes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to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be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spc="-6" dirty="0">
                  <a:latin typeface="Calibri"/>
                  <a:cs typeface="Calibri"/>
                </a:rPr>
                <a:t>included?</a:t>
              </a:r>
              <a:endParaRPr sz="1200" dirty="0">
                <a:latin typeface="Calibri"/>
                <a:cs typeface="Calibri"/>
              </a:endParaRPr>
            </a:p>
            <a:p>
              <a:pPr marL="51435" marR="129302"/>
              <a:r>
                <a:rPr sz="1200" dirty="0">
                  <a:latin typeface="Calibri"/>
                  <a:cs typeface="Calibri"/>
                </a:rPr>
                <a:t>For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each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node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find</a:t>
              </a:r>
              <a:r>
                <a:rPr sz="1200" spc="-8" dirty="0">
                  <a:latin typeface="Calibri"/>
                  <a:cs typeface="Calibri"/>
                </a:rPr>
                <a:t> </a:t>
              </a:r>
              <a:r>
                <a:rPr sz="1200" spc="-6" dirty="0">
                  <a:latin typeface="Calibri"/>
                  <a:cs typeface="Calibri"/>
                </a:rPr>
                <a:t>np.random(0,1)</a:t>
              </a:r>
              <a:r>
                <a:rPr sz="1200" spc="-3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if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u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get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a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value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&lt;0.5</a:t>
              </a:r>
              <a:r>
                <a:rPr sz="1200" spc="-17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drop</a:t>
              </a:r>
              <a:r>
                <a:rPr sz="1200" spc="-23" dirty="0">
                  <a:latin typeface="Calibri"/>
                  <a:cs typeface="Calibri"/>
                </a:rPr>
                <a:t> </a:t>
              </a:r>
              <a:r>
                <a:rPr sz="1200" spc="-14" dirty="0">
                  <a:latin typeface="Calibri"/>
                  <a:cs typeface="Calibri"/>
                </a:rPr>
                <a:t>the </a:t>
              </a:r>
              <a:r>
                <a:rPr sz="1200" dirty="0">
                  <a:latin typeface="Calibri"/>
                  <a:cs typeface="Calibri"/>
                </a:rPr>
                <a:t>node.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If</a:t>
              </a:r>
              <a:r>
                <a:rPr sz="1200" spc="-23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u</a:t>
              </a:r>
              <a:r>
                <a:rPr sz="1200" spc="-14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get</a:t>
              </a:r>
              <a:r>
                <a:rPr sz="1200" spc="-23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value&gt;0.5</a:t>
              </a:r>
              <a:r>
                <a:rPr sz="1200" spc="-23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include</a:t>
              </a:r>
              <a:r>
                <a:rPr sz="1200" spc="-8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the</a:t>
              </a:r>
              <a:r>
                <a:rPr sz="1200" spc="-20" dirty="0">
                  <a:latin typeface="Calibri"/>
                  <a:cs typeface="Calibri"/>
                </a:rPr>
                <a:t> </a:t>
              </a:r>
              <a:r>
                <a:rPr sz="1200" spc="-11" dirty="0">
                  <a:latin typeface="Calibri"/>
                  <a:cs typeface="Calibri"/>
                </a:rPr>
                <a:t>node</a:t>
              </a:r>
              <a:endParaRPr sz="12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Training</a:t>
            </a:r>
            <a:r>
              <a:rPr sz="2400" spc="-39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Procedure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6FEE59-ABE3-BCF8-E667-D943D7372B43}"/>
              </a:ext>
            </a:extLst>
          </p:cNvPr>
          <p:cNvGrpSpPr/>
          <p:nvPr/>
        </p:nvGrpSpPr>
        <p:grpSpPr>
          <a:xfrm>
            <a:off x="990600" y="914400"/>
            <a:ext cx="9144000" cy="4495800"/>
            <a:chOff x="3031324" y="197168"/>
            <a:chExt cx="6468959" cy="326920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1324" y="779241"/>
              <a:ext cx="2448104" cy="2186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0837" y="833247"/>
              <a:ext cx="3176974" cy="2185773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5960555" y="197168"/>
              <a:ext cx="3539728" cy="482843"/>
            </a:xfrm>
            <a:prstGeom prst="rect">
              <a:avLst/>
            </a:prstGeom>
            <a:solidFill>
              <a:srgbClr val="E1EFD9"/>
            </a:solidFill>
          </p:spPr>
          <p:txBody>
            <a:bodyPr vert="horz" wrap="square" lIns="0" tIns="17502" rIns="0" bIns="0" rtlCol="0">
              <a:spAutoFit/>
            </a:bodyPr>
            <a:lstStyle/>
            <a:p>
              <a:pPr marL="51078">
                <a:spcBef>
                  <a:spcPts val="137"/>
                </a:spcBef>
              </a:pPr>
              <a:r>
                <a:rPr sz="1400" dirty="0">
                  <a:latin typeface="Calibri"/>
                  <a:cs typeface="Calibri"/>
                </a:rPr>
                <a:t>How</a:t>
              </a:r>
              <a:r>
                <a:rPr sz="1400" spc="-14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to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choose</a:t>
              </a:r>
              <a:r>
                <a:rPr sz="1400" spc="-14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which</a:t>
              </a:r>
              <a:r>
                <a:rPr sz="1400" spc="-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nodes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to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be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included?</a:t>
              </a:r>
              <a:endParaRPr sz="1400" dirty="0">
                <a:latin typeface="Calibri"/>
                <a:cs typeface="Calibri"/>
              </a:endParaRPr>
            </a:p>
            <a:p>
              <a:pPr marL="51078"/>
              <a:r>
                <a:rPr sz="1400" dirty="0">
                  <a:latin typeface="Calibri"/>
                  <a:cs typeface="Calibri"/>
                </a:rPr>
                <a:t>For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each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node</a:t>
              </a:r>
              <a:r>
                <a:rPr sz="1400" spc="-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find</a:t>
              </a:r>
              <a:r>
                <a:rPr sz="1400" spc="-6" dirty="0">
                  <a:latin typeface="Calibri"/>
                  <a:cs typeface="Calibri"/>
                </a:rPr>
                <a:t> np.random(0,1)</a:t>
              </a:r>
              <a:r>
                <a:rPr sz="1400" spc="-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if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u</a:t>
              </a:r>
              <a:r>
                <a:rPr sz="1400" spc="-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get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value</a:t>
              </a:r>
              <a:r>
                <a:rPr sz="1400" spc="-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&lt;0.5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drop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spc="-14" dirty="0">
                  <a:latin typeface="Calibri"/>
                  <a:cs typeface="Calibri"/>
                </a:rPr>
                <a:t>the</a:t>
              </a:r>
              <a:endParaRPr sz="1400" dirty="0">
                <a:latin typeface="Calibri"/>
                <a:cs typeface="Calibri"/>
              </a:endParaRPr>
            </a:p>
            <a:p>
              <a:pPr marL="51078"/>
              <a:r>
                <a:rPr sz="1400" dirty="0">
                  <a:latin typeface="Calibri"/>
                  <a:cs typeface="Calibri"/>
                </a:rPr>
                <a:t>node.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If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u</a:t>
              </a:r>
              <a:r>
                <a:rPr sz="1400" spc="-14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get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value&gt;0.5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include</a:t>
              </a:r>
              <a:r>
                <a:rPr sz="1400" spc="-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the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spc="-11" dirty="0">
                  <a:latin typeface="Calibri"/>
                  <a:cs typeface="Calibri"/>
                </a:rPr>
                <a:t>node</a:t>
              </a:r>
              <a:endParaRPr sz="1400" dirty="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397966" y="3217145"/>
              <a:ext cx="2179915" cy="249227"/>
            </a:xfrm>
            <a:prstGeom prst="rect">
              <a:avLst/>
            </a:prstGeom>
          </p:spPr>
          <p:txBody>
            <a:bodyPr vert="horz" wrap="square" lIns="0" tIns="6787" rIns="0" bIns="0" rtlCol="0">
              <a:spAutoFit/>
            </a:bodyPr>
            <a:lstStyle/>
            <a:p>
              <a:pPr marL="7144">
                <a:spcBef>
                  <a:spcPts val="53"/>
                </a:spcBef>
              </a:pPr>
              <a:r>
                <a:rPr sz="1575" b="1" spc="-135" dirty="0">
                  <a:solidFill>
                    <a:srgbClr val="C00000"/>
                  </a:solidFill>
                  <a:latin typeface="Arial"/>
                  <a:cs typeface="Arial"/>
                </a:rPr>
                <a:t>Weights</a:t>
              </a:r>
              <a:r>
                <a:rPr sz="1575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13" dirty="0">
                  <a:solidFill>
                    <a:srgbClr val="C00000"/>
                  </a:solidFill>
                  <a:latin typeface="Arial"/>
                  <a:cs typeface="Arial"/>
                </a:rPr>
                <a:t>are</a:t>
              </a:r>
              <a:r>
                <a:rPr sz="1575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124" dirty="0">
                  <a:solidFill>
                    <a:srgbClr val="C00000"/>
                  </a:solidFill>
                  <a:latin typeface="Arial"/>
                  <a:cs typeface="Arial"/>
                </a:rPr>
                <a:t>being</a:t>
              </a:r>
              <a:r>
                <a:rPr sz="1575" b="1" spc="-23" dirty="0">
                  <a:solidFill>
                    <a:srgbClr val="C00000"/>
                  </a:solidFill>
                  <a:latin typeface="Arial"/>
                  <a:cs typeface="Arial"/>
                </a:rPr>
                <a:t> </a:t>
              </a:r>
              <a:r>
                <a:rPr sz="1575" b="1" spc="-98" dirty="0">
                  <a:solidFill>
                    <a:srgbClr val="C00000"/>
                  </a:solidFill>
                  <a:latin typeface="Arial"/>
                  <a:cs typeface="Arial"/>
                </a:rPr>
                <a:t>shared!</a:t>
              </a:r>
              <a:endParaRPr sz="1575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392389"/>
            <a:ext cx="11209376" cy="376546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spc="-163" dirty="0"/>
              <a:t>Using</a:t>
            </a:r>
            <a:r>
              <a:rPr sz="2400" spc="-53" dirty="0"/>
              <a:t> </a:t>
            </a:r>
            <a:r>
              <a:rPr sz="2400" spc="-166" dirty="0"/>
              <a:t>drop</a:t>
            </a:r>
            <a:r>
              <a:rPr sz="2400" spc="-56" dirty="0"/>
              <a:t> </a:t>
            </a:r>
            <a:r>
              <a:rPr sz="2400" spc="-152" dirty="0"/>
              <a:t>out</a:t>
            </a:r>
            <a:r>
              <a:rPr sz="2400" spc="-51" dirty="0"/>
              <a:t> </a:t>
            </a:r>
            <a:r>
              <a:rPr sz="2400" spc="-107" dirty="0"/>
              <a:t>at</a:t>
            </a:r>
            <a:r>
              <a:rPr sz="2400" spc="-42" dirty="0"/>
              <a:t> </a:t>
            </a:r>
            <a:r>
              <a:rPr sz="2400" spc="-110" dirty="0"/>
              <a:t>test</a:t>
            </a:r>
            <a:r>
              <a:rPr sz="2400" spc="-62" dirty="0"/>
              <a:t> </a:t>
            </a:r>
            <a:r>
              <a:rPr sz="2400" spc="-76" dirty="0"/>
              <a:t>time</a:t>
            </a:r>
            <a:endParaRPr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AB8A9F-DFAA-C4B4-6544-9399E766C88F}"/>
              </a:ext>
            </a:extLst>
          </p:cNvPr>
          <p:cNvGrpSpPr/>
          <p:nvPr/>
        </p:nvGrpSpPr>
        <p:grpSpPr>
          <a:xfrm>
            <a:off x="1295400" y="1371600"/>
            <a:ext cx="9418675" cy="4724400"/>
            <a:chOff x="2955893" y="79724"/>
            <a:chExt cx="6510814" cy="342299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7667" y="766381"/>
              <a:ext cx="5101266" cy="12912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6610" y="79724"/>
              <a:ext cx="2572160" cy="599862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2955893" y="2187702"/>
              <a:ext cx="6510814" cy="490712"/>
            </a:xfrm>
            <a:prstGeom prst="rect">
              <a:avLst/>
            </a:prstGeom>
            <a:solidFill>
              <a:srgbClr val="FAE4D5"/>
            </a:solidFill>
          </p:spPr>
          <p:txBody>
            <a:bodyPr vert="horz" wrap="square" lIns="0" tIns="22860" rIns="0" bIns="0" rtlCol="0">
              <a:spAutoFit/>
            </a:bodyPr>
            <a:lstStyle/>
            <a:p>
              <a:pPr marL="51435" marR="107871">
                <a:spcBef>
                  <a:spcPts val="180"/>
                </a:spcBef>
                <a:tabLst>
                  <a:tab pos="1021199" algn="l"/>
                </a:tabLst>
              </a:pPr>
              <a:r>
                <a:rPr sz="1013" spc="-101" dirty="0">
                  <a:latin typeface="Tahoma"/>
                  <a:cs typeface="Tahoma"/>
                </a:rPr>
                <a:t>It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dirty="0">
                  <a:latin typeface="Tahoma"/>
                  <a:cs typeface="Tahoma"/>
                </a:rPr>
                <a:t>is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53" dirty="0">
                  <a:latin typeface="Tahoma"/>
                  <a:cs typeface="Tahoma"/>
                </a:rPr>
                <a:t>computationally</a:t>
              </a:r>
              <a:r>
                <a:rPr sz="1013" spc="-11" dirty="0">
                  <a:latin typeface="Tahoma"/>
                  <a:cs typeface="Tahoma"/>
                </a:rPr>
                <a:t> </a:t>
              </a:r>
              <a:r>
                <a:rPr sz="1013" spc="-51" dirty="0">
                  <a:latin typeface="Tahoma"/>
                  <a:cs typeface="Tahoma"/>
                </a:rPr>
                <a:t>expensive</a:t>
              </a:r>
              <a:r>
                <a:rPr sz="1013" spc="-23" dirty="0">
                  <a:latin typeface="Tahoma"/>
                  <a:cs typeface="Tahoma"/>
                </a:rPr>
                <a:t> </a:t>
              </a:r>
              <a:r>
                <a:rPr sz="1013" spc="-56" dirty="0">
                  <a:latin typeface="Tahoma"/>
                  <a:cs typeface="Tahoma"/>
                </a:rPr>
                <a:t>to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68" dirty="0">
                  <a:latin typeface="Tahoma"/>
                  <a:cs typeface="Tahoma"/>
                </a:rPr>
                <a:t>get</a:t>
              </a:r>
              <a:r>
                <a:rPr sz="1013" spc="-17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the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output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45" dirty="0">
                  <a:latin typeface="Tahoma"/>
                  <a:cs typeface="Tahoma"/>
                </a:rPr>
                <a:t>of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48" dirty="0">
                  <a:latin typeface="Tahoma"/>
                  <a:cs typeface="Tahoma"/>
                </a:rPr>
                <a:t>all</a:t>
              </a:r>
              <a:r>
                <a:rPr sz="1013" spc="-23" dirty="0">
                  <a:latin typeface="Tahoma"/>
                  <a:cs typeface="Tahoma"/>
                </a:rPr>
                <a:t> </a:t>
              </a:r>
              <a:r>
                <a:rPr sz="1013" spc="-64" dirty="0">
                  <a:latin typeface="Tahoma"/>
                  <a:cs typeface="Tahoma"/>
                </a:rPr>
                <a:t>network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70" dirty="0">
                  <a:latin typeface="Tahoma"/>
                  <a:cs typeface="Tahoma"/>
                </a:rPr>
                <a:t>and</a:t>
              </a:r>
              <a:r>
                <a:rPr sz="1013" spc="-31" dirty="0">
                  <a:latin typeface="Tahoma"/>
                  <a:cs typeface="Tahoma"/>
                </a:rPr>
                <a:t> </a:t>
              </a:r>
              <a:r>
                <a:rPr sz="1013" spc="-70" dirty="0">
                  <a:latin typeface="Tahoma"/>
                  <a:cs typeface="Tahoma"/>
                </a:rPr>
                <a:t>aggregate.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Each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node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37" dirty="0">
                  <a:latin typeface="Tahoma"/>
                  <a:cs typeface="Tahoma"/>
                </a:rPr>
                <a:t>will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64" dirty="0">
                  <a:latin typeface="Tahoma"/>
                  <a:cs typeface="Tahoma"/>
                </a:rPr>
                <a:t>be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53" dirty="0">
                  <a:latin typeface="Tahoma"/>
                  <a:cs typeface="Tahoma"/>
                </a:rPr>
                <a:t>present</a:t>
              </a:r>
              <a:r>
                <a:rPr sz="1013" spc="-17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with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90" dirty="0">
                  <a:latin typeface="Tahoma"/>
                  <a:cs typeface="Tahoma"/>
                </a:rPr>
                <a:t>a</a:t>
              </a:r>
              <a:r>
                <a:rPr sz="1013" spc="-31" dirty="0">
                  <a:latin typeface="Tahoma"/>
                  <a:cs typeface="Tahoma"/>
                </a:rPr>
                <a:t> </a:t>
              </a:r>
              <a:r>
                <a:rPr sz="1013" spc="-51" dirty="0">
                  <a:latin typeface="Tahoma"/>
                  <a:cs typeface="Tahoma"/>
                </a:rPr>
                <a:t>probability</a:t>
              </a:r>
              <a:r>
                <a:rPr sz="1013" spc="17" dirty="0">
                  <a:latin typeface="Tahoma"/>
                  <a:cs typeface="Tahoma"/>
                </a:rPr>
                <a:t> </a:t>
              </a:r>
              <a:r>
                <a:rPr sz="1013" spc="-28" dirty="0">
                  <a:latin typeface="Tahoma"/>
                  <a:cs typeface="Tahoma"/>
                </a:rPr>
                <a:t>p </a:t>
              </a:r>
              <a:r>
                <a:rPr sz="1013" spc="-56" dirty="0">
                  <a:latin typeface="Tahoma"/>
                  <a:cs typeface="Tahoma"/>
                </a:rPr>
                <a:t>Hence</a:t>
              </a:r>
              <a:r>
                <a:rPr sz="1013" spc="-23" dirty="0">
                  <a:latin typeface="Tahoma"/>
                  <a:cs typeface="Tahoma"/>
                </a:rPr>
                <a:t> </a:t>
              </a:r>
              <a:r>
                <a:rPr sz="1013" spc="-42" dirty="0">
                  <a:latin typeface="Tahoma"/>
                  <a:cs typeface="Tahoma"/>
                </a:rPr>
                <a:t>in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6" dirty="0">
                  <a:latin typeface="Tahoma"/>
                  <a:cs typeface="Tahoma"/>
                </a:rPr>
                <a:t>testing,</a:t>
              </a:r>
              <a:r>
                <a:rPr sz="1013" dirty="0">
                  <a:latin typeface="Tahoma"/>
                  <a:cs typeface="Tahoma"/>
                </a:rPr>
                <a:t>	</a:t>
              </a:r>
              <a:r>
                <a:rPr sz="1013" spc="-76" dirty="0">
                  <a:latin typeface="Tahoma"/>
                  <a:cs typeface="Tahoma"/>
                </a:rPr>
                <a:t>we</a:t>
              </a:r>
              <a:r>
                <a:rPr sz="1013" spc="-23" dirty="0">
                  <a:latin typeface="Tahoma"/>
                  <a:cs typeface="Tahoma"/>
                </a:rPr>
                <a:t> </a:t>
              </a:r>
              <a:r>
                <a:rPr sz="1013" spc="-37" dirty="0">
                  <a:latin typeface="Tahoma"/>
                  <a:cs typeface="Tahoma"/>
                </a:rPr>
                <a:t>scale</a:t>
              </a:r>
              <a:r>
                <a:rPr sz="1013" spc="-23" dirty="0">
                  <a:latin typeface="Tahoma"/>
                  <a:cs typeface="Tahoma"/>
                </a:rPr>
                <a:t> </a:t>
              </a:r>
              <a:r>
                <a:rPr sz="1013" spc="-59" dirty="0">
                  <a:latin typeface="Tahoma"/>
                  <a:cs typeface="Tahoma"/>
                </a:rPr>
                <a:t>up</a:t>
              </a:r>
              <a:r>
                <a:rPr sz="1013" spc="-31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output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45" dirty="0">
                  <a:latin typeface="Tahoma"/>
                  <a:cs typeface="Tahoma"/>
                </a:rPr>
                <a:t>of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59" dirty="0">
                  <a:latin typeface="Tahoma"/>
                  <a:cs typeface="Tahoma"/>
                </a:rPr>
                <a:t>each</a:t>
              </a:r>
              <a:r>
                <a:rPr sz="1013" spc="-37" dirty="0">
                  <a:latin typeface="Tahoma"/>
                  <a:cs typeface="Tahoma"/>
                </a:rPr>
                <a:t> </a:t>
              </a:r>
              <a:r>
                <a:rPr sz="1013" spc="-56" dirty="0">
                  <a:latin typeface="Tahoma"/>
                  <a:cs typeface="Tahoma"/>
                </a:rPr>
                <a:t>neuron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59" dirty="0">
                  <a:latin typeface="Tahoma"/>
                  <a:cs typeface="Tahoma"/>
                </a:rPr>
                <a:t>by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spc="-56" dirty="0">
                  <a:latin typeface="Tahoma"/>
                  <a:cs typeface="Tahoma"/>
                </a:rPr>
                <a:t>p</a:t>
              </a:r>
              <a:r>
                <a:rPr sz="1013" spc="-25" dirty="0">
                  <a:latin typeface="Tahoma"/>
                  <a:cs typeface="Tahoma"/>
                </a:rPr>
                <a:t> </a:t>
              </a:r>
              <a:r>
                <a:rPr sz="1013" dirty="0">
                  <a:latin typeface="Tahoma"/>
                  <a:cs typeface="Tahoma"/>
                </a:rPr>
                <a:t>so</a:t>
              </a:r>
              <a:r>
                <a:rPr sz="1013" spc="-14" dirty="0">
                  <a:latin typeface="Tahoma"/>
                  <a:cs typeface="Tahoma"/>
                </a:rPr>
                <a:t> </a:t>
              </a:r>
              <a:r>
                <a:rPr sz="1013" spc="-70" dirty="0">
                  <a:latin typeface="Tahoma"/>
                  <a:cs typeface="Tahoma"/>
                </a:rPr>
                <a:t>that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64" dirty="0">
                  <a:latin typeface="Tahoma"/>
                  <a:cs typeface="Tahoma"/>
                </a:rPr>
                <a:t>the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51" dirty="0">
                  <a:latin typeface="Tahoma"/>
                  <a:cs typeface="Tahoma"/>
                </a:rPr>
                <a:t>contribution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45" dirty="0">
                  <a:latin typeface="Tahoma"/>
                  <a:cs typeface="Tahoma"/>
                </a:rPr>
                <a:t>of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70" dirty="0">
                  <a:latin typeface="Tahoma"/>
                  <a:cs typeface="Tahoma"/>
                </a:rPr>
                <a:t>that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node</a:t>
              </a:r>
              <a:r>
                <a:rPr sz="1013" spc="-31" dirty="0">
                  <a:latin typeface="Tahoma"/>
                  <a:cs typeface="Tahoma"/>
                </a:rPr>
                <a:t> </a:t>
              </a:r>
              <a:r>
                <a:rPr sz="1013" spc="-56" dirty="0">
                  <a:latin typeface="Tahoma"/>
                  <a:cs typeface="Tahoma"/>
                </a:rPr>
                <a:t>towards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64" dirty="0">
                  <a:latin typeface="Tahoma"/>
                  <a:cs typeface="Tahoma"/>
                </a:rPr>
                <a:t>the</a:t>
              </a:r>
              <a:r>
                <a:rPr sz="1013" spc="-28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output</a:t>
              </a:r>
              <a:r>
                <a:rPr sz="1013" spc="-20" dirty="0">
                  <a:latin typeface="Tahoma"/>
                  <a:cs typeface="Tahoma"/>
                </a:rPr>
                <a:t> </a:t>
              </a:r>
              <a:r>
                <a:rPr sz="1013" spc="-53" dirty="0">
                  <a:latin typeface="Tahoma"/>
                  <a:cs typeface="Tahoma"/>
                </a:rPr>
                <a:t>can</a:t>
              </a:r>
              <a:r>
                <a:rPr sz="1013" spc="-31" dirty="0">
                  <a:latin typeface="Tahoma"/>
                  <a:cs typeface="Tahoma"/>
                </a:rPr>
                <a:t> </a:t>
              </a:r>
              <a:r>
                <a:rPr sz="1013" spc="-14" dirty="0">
                  <a:latin typeface="Tahoma"/>
                  <a:cs typeface="Tahoma"/>
                </a:rPr>
                <a:t>be </a:t>
              </a:r>
              <a:r>
                <a:rPr sz="1013" spc="-51" dirty="0">
                  <a:latin typeface="Tahoma"/>
                  <a:cs typeface="Tahoma"/>
                </a:rPr>
                <a:t>controlled.</a:t>
              </a:r>
              <a:r>
                <a:rPr sz="1013" spc="-6" dirty="0">
                  <a:latin typeface="Tahoma"/>
                  <a:cs typeface="Tahoma"/>
                </a:rPr>
                <a:t> </a:t>
              </a:r>
              <a:r>
                <a:rPr sz="1013" spc="-59" dirty="0">
                  <a:latin typeface="Tahoma"/>
                  <a:cs typeface="Tahoma"/>
                </a:rPr>
                <a:t>Hence</a:t>
              </a:r>
              <a:r>
                <a:rPr sz="1013" spc="-8" dirty="0">
                  <a:latin typeface="Tahoma"/>
                  <a:cs typeface="Tahoma"/>
                </a:rPr>
                <a:t> </a:t>
              </a:r>
              <a:r>
                <a:rPr sz="1013" spc="-53" dirty="0">
                  <a:latin typeface="Tahoma"/>
                  <a:cs typeface="Tahoma"/>
                </a:rPr>
                <a:t>complete</a:t>
              </a:r>
              <a:r>
                <a:rPr sz="1013" spc="6" dirty="0">
                  <a:latin typeface="Tahoma"/>
                  <a:cs typeface="Tahoma"/>
                </a:rPr>
                <a:t> </a:t>
              </a:r>
              <a:r>
                <a:rPr sz="1013" spc="-62" dirty="0">
                  <a:latin typeface="Tahoma"/>
                  <a:cs typeface="Tahoma"/>
                </a:rPr>
                <a:t>the</a:t>
              </a:r>
              <a:r>
                <a:rPr sz="1013" spc="-3" dirty="0">
                  <a:latin typeface="Tahoma"/>
                  <a:cs typeface="Tahoma"/>
                </a:rPr>
                <a:t> </a:t>
              </a:r>
              <a:r>
                <a:rPr sz="1013" spc="-6" dirty="0">
                  <a:latin typeface="Tahoma"/>
                  <a:cs typeface="Tahoma"/>
                </a:rPr>
                <a:t>inference</a:t>
              </a:r>
              <a:endParaRPr sz="1013">
                <a:latin typeface="Tahoma"/>
                <a:cs typeface="Tahoma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3256" y="2768322"/>
              <a:ext cx="2879503" cy="7344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1499" y="329906"/>
            <a:ext cx="11209376" cy="501512"/>
          </a:xfrm>
          <a:prstGeom prst="rect">
            <a:avLst/>
          </a:prstGeom>
        </p:spPr>
        <p:txBody>
          <a:bodyPr vert="horz" wrap="square" lIns="0" tIns="130902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Pytorch</a:t>
            </a:r>
            <a:r>
              <a:rPr sz="2400" spc="-14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A3123E"/>
                </a:solidFill>
                <a:latin typeface="Georgia"/>
                <a:cs typeface="Georgia"/>
              </a:rPr>
              <a:t>:</a:t>
            </a:r>
            <a:r>
              <a:rPr sz="2400" spc="-11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6" dirty="0">
                <a:solidFill>
                  <a:srgbClr val="A3123E"/>
                </a:solidFill>
                <a:latin typeface="Georgia"/>
                <a:cs typeface="Georgia"/>
              </a:rPr>
              <a:t>Dropout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B21075-0723-227A-6309-3A896A126902}"/>
              </a:ext>
            </a:extLst>
          </p:cNvPr>
          <p:cNvGrpSpPr/>
          <p:nvPr/>
        </p:nvGrpSpPr>
        <p:grpSpPr>
          <a:xfrm>
            <a:off x="1752600" y="1090422"/>
            <a:ext cx="8686800" cy="3329178"/>
            <a:chOff x="3434239" y="1090422"/>
            <a:chExt cx="5523548" cy="1183862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4239" y="1090422"/>
              <a:ext cx="2149126" cy="1183862"/>
            </a:xfrm>
            <a:prstGeom prst="rect">
              <a:avLst/>
            </a:prstGeom>
          </p:spPr>
        </p:pic>
        <p:sp>
          <p:nvSpPr>
            <p:cNvPr id="7" name="object 7"/>
            <p:cNvSpPr txBox="1"/>
            <p:nvPr/>
          </p:nvSpPr>
          <p:spPr>
            <a:xfrm>
              <a:off x="6028849" y="1282517"/>
              <a:ext cx="2928938" cy="325363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 marR="2858">
                <a:spcBef>
                  <a:spcPts val="56"/>
                </a:spcBef>
                <a:tabLst>
                  <a:tab pos="2121694" algn="l"/>
                </a:tabLst>
              </a:pPr>
              <a:r>
                <a:rPr sz="1200" spc="-53" dirty="0">
                  <a:latin typeface="Tahoma"/>
                  <a:cs typeface="Tahoma"/>
                </a:rPr>
                <a:t>Adding</a:t>
              </a:r>
              <a:r>
                <a:rPr sz="1200" spc="-17" dirty="0">
                  <a:latin typeface="Tahoma"/>
                  <a:cs typeface="Tahoma"/>
                </a:rPr>
                <a:t> </a:t>
              </a:r>
              <a:r>
                <a:rPr sz="1200" spc="-56" dirty="0">
                  <a:latin typeface="Tahoma"/>
                  <a:cs typeface="Tahoma"/>
                </a:rPr>
                <a:t>dropout</a:t>
              </a:r>
              <a:r>
                <a:rPr sz="1200" spc="-20" dirty="0">
                  <a:latin typeface="Tahoma"/>
                  <a:cs typeface="Tahoma"/>
                </a:rPr>
                <a:t> </a:t>
              </a:r>
              <a:r>
                <a:rPr sz="1200" spc="-59" dirty="0">
                  <a:latin typeface="Tahoma"/>
                  <a:cs typeface="Tahoma"/>
                </a:rPr>
                <a:t>to</a:t>
              </a:r>
              <a:r>
                <a:rPr sz="1200" spc="-17" dirty="0">
                  <a:latin typeface="Tahoma"/>
                  <a:cs typeface="Tahoma"/>
                </a:rPr>
                <a:t> </a:t>
              </a:r>
              <a:r>
                <a:rPr sz="1200" spc="-48" dirty="0">
                  <a:latin typeface="Tahoma"/>
                  <a:cs typeface="Tahoma"/>
                </a:rPr>
                <a:t>your</a:t>
              </a:r>
              <a:r>
                <a:rPr sz="1200" spc="-23" dirty="0">
                  <a:latin typeface="Tahoma"/>
                  <a:cs typeface="Tahoma"/>
                </a:rPr>
                <a:t> </a:t>
              </a:r>
              <a:r>
                <a:rPr sz="1200" spc="-62" dirty="0" err="1">
                  <a:latin typeface="Tahoma"/>
                  <a:cs typeface="Tahoma"/>
                </a:rPr>
                <a:t>PyTorch</a:t>
              </a:r>
              <a:r>
                <a:rPr sz="1200" spc="-20" dirty="0">
                  <a:latin typeface="Tahoma"/>
                  <a:cs typeface="Tahoma"/>
                </a:rPr>
                <a:t> </a:t>
              </a:r>
              <a:r>
                <a:rPr sz="1200" spc="-6" dirty="0">
                  <a:latin typeface="Tahoma"/>
                  <a:cs typeface="Tahoma"/>
                </a:rPr>
                <a:t>models</a:t>
              </a:r>
              <a:r>
                <a:rPr lang="en-US" sz="1200" spc="-6" dirty="0">
                  <a:latin typeface="Tahoma"/>
                  <a:cs typeface="Tahoma"/>
                </a:rPr>
                <a:t> </a:t>
              </a:r>
              <a:r>
                <a:rPr sz="1200" spc="-62" dirty="0">
                  <a:latin typeface="Tahoma"/>
                  <a:cs typeface="Tahoma"/>
                </a:rPr>
                <a:t>with</a:t>
              </a:r>
              <a:r>
                <a:rPr sz="1200" spc="-17" dirty="0">
                  <a:latin typeface="Tahoma"/>
                  <a:cs typeface="Tahoma"/>
                </a:rPr>
                <a:t> </a:t>
              </a:r>
              <a:r>
                <a:rPr sz="1200" spc="-14" dirty="0">
                  <a:latin typeface="Tahoma"/>
                  <a:cs typeface="Tahoma"/>
                </a:rPr>
                <a:t>the </a:t>
              </a:r>
              <a:r>
                <a:rPr sz="1200" spc="-53" dirty="0">
                  <a:latin typeface="Tahoma"/>
                  <a:cs typeface="Tahoma"/>
                </a:rPr>
                <a:t>torch.nn.Dropout</a:t>
              </a:r>
              <a:r>
                <a:rPr sz="1200" spc="-17" dirty="0">
                  <a:latin typeface="Tahoma"/>
                  <a:cs typeface="Tahoma"/>
                </a:rPr>
                <a:t> </a:t>
              </a:r>
              <a:r>
                <a:rPr sz="1200" spc="-34" dirty="0">
                  <a:latin typeface="Tahoma"/>
                  <a:cs typeface="Tahoma"/>
                </a:rPr>
                <a:t>class,</a:t>
              </a:r>
              <a:r>
                <a:rPr sz="1200" spc="-17" dirty="0">
                  <a:latin typeface="Tahoma"/>
                  <a:cs typeface="Tahoma"/>
                </a:rPr>
                <a:t> </a:t>
              </a:r>
              <a:r>
                <a:rPr sz="1200" spc="-53" dirty="0">
                  <a:latin typeface="Tahoma"/>
                  <a:cs typeface="Tahoma"/>
                </a:rPr>
                <a:t>which</a:t>
              </a:r>
              <a:r>
                <a:rPr sz="1200" spc="-23" dirty="0">
                  <a:latin typeface="Tahoma"/>
                  <a:cs typeface="Tahoma"/>
                </a:rPr>
                <a:t> </a:t>
              </a:r>
              <a:r>
                <a:rPr sz="1200" spc="-64" dirty="0">
                  <a:latin typeface="Tahoma"/>
                  <a:cs typeface="Tahoma"/>
                </a:rPr>
                <a:t>takes</a:t>
              </a:r>
              <a:r>
                <a:rPr sz="1200" spc="-8" dirty="0">
                  <a:latin typeface="Tahoma"/>
                  <a:cs typeface="Tahoma"/>
                </a:rPr>
                <a:t> </a:t>
              </a:r>
              <a:r>
                <a:rPr sz="1200" spc="-45" dirty="0">
                  <a:latin typeface="Tahoma"/>
                  <a:cs typeface="Tahoma"/>
                </a:rPr>
                <a:t>in</a:t>
              </a:r>
              <a:r>
                <a:rPr sz="1200" spc="-23" dirty="0">
                  <a:latin typeface="Tahoma"/>
                  <a:cs typeface="Tahoma"/>
                </a:rPr>
                <a:t> </a:t>
              </a:r>
              <a:r>
                <a:rPr sz="1200" spc="-62" dirty="0">
                  <a:latin typeface="Tahoma"/>
                  <a:cs typeface="Tahoma"/>
                </a:rPr>
                <a:t>the</a:t>
              </a:r>
              <a:r>
                <a:rPr sz="1200" spc="-17" dirty="0">
                  <a:latin typeface="Tahoma"/>
                  <a:cs typeface="Tahoma"/>
                </a:rPr>
                <a:t> </a:t>
              </a:r>
              <a:r>
                <a:rPr sz="1200" spc="-56" dirty="0">
                  <a:latin typeface="Tahoma"/>
                  <a:cs typeface="Tahoma"/>
                </a:rPr>
                <a:t>dropout</a:t>
              </a:r>
              <a:r>
                <a:rPr sz="1200" spc="-20" dirty="0">
                  <a:latin typeface="Tahoma"/>
                  <a:cs typeface="Tahoma"/>
                </a:rPr>
                <a:t> </a:t>
              </a:r>
              <a:r>
                <a:rPr sz="1200" spc="-68" dirty="0">
                  <a:latin typeface="Tahoma"/>
                  <a:cs typeface="Tahoma"/>
                </a:rPr>
                <a:t>rate</a:t>
              </a:r>
              <a:r>
                <a:rPr sz="1200" spc="-6" dirty="0">
                  <a:latin typeface="Tahoma"/>
                  <a:cs typeface="Tahoma"/>
                </a:rPr>
                <a:t> </a:t>
              </a:r>
              <a:r>
                <a:rPr sz="1200" spc="-28" dirty="0">
                  <a:latin typeface="Tahoma"/>
                  <a:cs typeface="Tahoma"/>
                </a:rPr>
                <a:t>– </a:t>
              </a:r>
              <a:r>
                <a:rPr sz="1200" spc="-62" dirty="0">
                  <a:latin typeface="Tahoma"/>
                  <a:cs typeface="Tahoma"/>
                </a:rPr>
                <a:t>the</a:t>
              </a:r>
              <a:r>
                <a:rPr sz="1200" spc="-28" dirty="0">
                  <a:latin typeface="Tahoma"/>
                  <a:cs typeface="Tahoma"/>
                </a:rPr>
                <a:t> </a:t>
              </a:r>
              <a:r>
                <a:rPr sz="1200" spc="-51" dirty="0">
                  <a:latin typeface="Tahoma"/>
                  <a:cs typeface="Tahoma"/>
                </a:rPr>
                <a:t>probability</a:t>
              </a:r>
              <a:r>
                <a:rPr sz="1200" spc="-31" dirty="0">
                  <a:latin typeface="Tahoma"/>
                  <a:cs typeface="Tahoma"/>
                </a:rPr>
                <a:t> </a:t>
              </a:r>
              <a:r>
                <a:rPr sz="1200" spc="-42" dirty="0">
                  <a:latin typeface="Tahoma"/>
                  <a:cs typeface="Tahoma"/>
                </a:rPr>
                <a:t>of</a:t>
              </a:r>
              <a:r>
                <a:rPr sz="1200" spc="-20" dirty="0">
                  <a:latin typeface="Tahoma"/>
                  <a:cs typeface="Tahoma"/>
                </a:rPr>
                <a:t> </a:t>
              </a:r>
              <a:r>
                <a:rPr sz="1200" spc="-90" dirty="0">
                  <a:latin typeface="Tahoma"/>
                  <a:cs typeface="Tahoma"/>
                </a:rPr>
                <a:t>a</a:t>
              </a:r>
              <a:r>
                <a:rPr sz="1200" spc="-34" dirty="0">
                  <a:latin typeface="Tahoma"/>
                  <a:cs typeface="Tahoma"/>
                </a:rPr>
                <a:t> </a:t>
              </a:r>
              <a:r>
                <a:rPr sz="1200" spc="-56" dirty="0">
                  <a:latin typeface="Tahoma"/>
                  <a:cs typeface="Tahoma"/>
                </a:rPr>
                <a:t>neuron</a:t>
              </a:r>
              <a:r>
                <a:rPr sz="1200" spc="-34" dirty="0">
                  <a:latin typeface="Tahoma"/>
                  <a:cs typeface="Tahoma"/>
                </a:rPr>
                <a:t> </a:t>
              </a:r>
              <a:r>
                <a:rPr sz="1200" spc="-56" dirty="0">
                  <a:latin typeface="Tahoma"/>
                  <a:cs typeface="Tahoma"/>
                </a:rPr>
                <a:t>being</a:t>
              </a:r>
              <a:r>
                <a:rPr sz="1200" spc="-25" dirty="0">
                  <a:latin typeface="Tahoma"/>
                  <a:cs typeface="Tahoma"/>
                </a:rPr>
                <a:t> </a:t>
              </a:r>
              <a:r>
                <a:rPr sz="1200" spc="-59" dirty="0">
                  <a:latin typeface="Tahoma"/>
                  <a:cs typeface="Tahoma"/>
                </a:rPr>
                <a:t>deactivated</a:t>
              </a:r>
              <a:r>
                <a:rPr sz="1200" spc="-25" dirty="0">
                  <a:latin typeface="Tahoma"/>
                  <a:cs typeface="Tahoma"/>
                </a:rPr>
                <a:t> </a:t>
              </a:r>
              <a:r>
                <a:rPr sz="1200" spc="-104" dirty="0">
                  <a:latin typeface="Tahoma"/>
                  <a:cs typeface="Tahoma"/>
                </a:rPr>
                <a:t>–</a:t>
              </a:r>
              <a:r>
                <a:rPr sz="1200" spc="-28" dirty="0">
                  <a:latin typeface="Tahoma"/>
                  <a:cs typeface="Tahoma"/>
                </a:rPr>
                <a:t> </a:t>
              </a:r>
              <a:r>
                <a:rPr sz="1200" spc="-45" dirty="0">
                  <a:latin typeface="Tahoma"/>
                  <a:cs typeface="Tahoma"/>
                </a:rPr>
                <a:t>as</a:t>
              </a:r>
              <a:r>
                <a:rPr sz="1200" spc="-31" dirty="0">
                  <a:latin typeface="Tahoma"/>
                  <a:cs typeface="Tahoma"/>
                </a:rPr>
                <a:t> </a:t>
              </a:r>
              <a:r>
                <a:rPr sz="1200" spc="-28" dirty="0">
                  <a:latin typeface="Tahoma"/>
                  <a:cs typeface="Tahoma"/>
                </a:rPr>
                <a:t>a </a:t>
              </a:r>
              <a:r>
                <a:rPr sz="1200" spc="-14" dirty="0">
                  <a:latin typeface="Tahoma"/>
                  <a:cs typeface="Tahoma"/>
                </a:rPr>
                <a:t>parameter.</a:t>
              </a:r>
              <a:endParaRPr lang="en-US" sz="1200" spc="-14" dirty="0">
                <a:latin typeface="Tahoma"/>
                <a:cs typeface="Tahoma"/>
              </a:endParaRPr>
            </a:p>
            <a:p>
              <a:pPr marL="7144" marR="2858">
                <a:spcBef>
                  <a:spcPts val="56"/>
                </a:spcBef>
                <a:tabLst>
                  <a:tab pos="2121694" algn="l"/>
                </a:tabLst>
              </a:pPr>
              <a:endParaRPr sz="1200" dirty="0">
                <a:latin typeface="Tahoma"/>
                <a:cs typeface="Tahoma"/>
              </a:endParaRPr>
            </a:p>
            <a:p>
              <a:pPr marL="7144">
                <a:lnSpc>
                  <a:spcPts val="1249"/>
                </a:lnSpc>
              </a:pPr>
              <a:r>
                <a:rPr sz="1400" i="1" spc="-17" dirty="0">
                  <a:latin typeface="Arial"/>
                  <a:cs typeface="Arial"/>
                </a:rPr>
                <a:t>self.dropout</a:t>
              </a:r>
              <a:r>
                <a:rPr sz="1400" i="1" spc="-34" dirty="0">
                  <a:latin typeface="Arial"/>
                  <a:cs typeface="Arial"/>
                </a:rPr>
                <a:t> </a:t>
              </a:r>
              <a:r>
                <a:rPr sz="1400" i="1" spc="-163" dirty="0">
                  <a:latin typeface="Arial"/>
                  <a:cs typeface="Arial"/>
                </a:rPr>
                <a:t>=</a:t>
              </a:r>
              <a:r>
                <a:rPr sz="1400" i="1" spc="-28" dirty="0">
                  <a:latin typeface="Arial"/>
                  <a:cs typeface="Arial"/>
                </a:rPr>
                <a:t> </a:t>
              </a:r>
              <a:r>
                <a:rPr sz="1400" i="1" spc="-6" dirty="0">
                  <a:latin typeface="Arial"/>
                  <a:cs typeface="Arial"/>
                </a:rPr>
                <a:t>nn.Dropout(0.25)</a:t>
              </a:r>
              <a:endParaRPr sz="1400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0366" y="212180"/>
            <a:ext cx="10858501" cy="433532"/>
          </a:xfrm>
          <a:prstGeom prst="rect">
            <a:avLst/>
          </a:prstGeom>
        </p:spPr>
        <p:txBody>
          <a:bodyPr vert="horz" wrap="square" lIns="0" tIns="63579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01"/>
              </a:spcBef>
            </a:pPr>
            <a:r>
              <a:rPr sz="2400" dirty="0" err="1">
                <a:solidFill>
                  <a:srgbClr val="A3123E"/>
                </a:solidFill>
                <a:latin typeface="Georgia"/>
                <a:cs typeface="Georgia"/>
              </a:rPr>
              <a:t>Pytorch</a:t>
            </a:r>
            <a:r>
              <a:rPr sz="2400" spc="-2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2400" spc="-6" dirty="0" err="1">
                <a:solidFill>
                  <a:srgbClr val="A3123E"/>
                </a:solidFill>
                <a:latin typeface="Georgia"/>
                <a:cs typeface="Georgia"/>
              </a:rPr>
              <a:t>BatchNorm</a:t>
            </a:r>
            <a:endParaRPr sz="2400" dirty="0">
              <a:latin typeface="Georgia"/>
              <a:cs typeface="Georgi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C8D213-EC0C-8601-FD7D-5898483BF6A0}"/>
              </a:ext>
            </a:extLst>
          </p:cNvPr>
          <p:cNvGrpSpPr/>
          <p:nvPr/>
        </p:nvGrpSpPr>
        <p:grpSpPr>
          <a:xfrm>
            <a:off x="1413940" y="1143000"/>
            <a:ext cx="9711261" cy="5035164"/>
            <a:chOff x="2802622" y="10001"/>
            <a:chExt cx="6604007" cy="343234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369" y="526207"/>
              <a:ext cx="1935670" cy="22665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3226" y="534523"/>
              <a:ext cx="1656207" cy="2266568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5002036" y="10001"/>
              <a:ext cx="4404593" cy="275535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200" spc="-20" dirty="0">
                  <a:latin typeface="Calibri"/>
                  <a:cs typeface="Calibri"/>
                </a:rPr>
                <a:t>Two-</a:t>
              </a:r>
              <a:r>
                <a:rPr sz="1200" spc="-6" dirty="0">
                  <a:latin typeface="Calibri"/>
                  <a:cs typeface="Calibri"/>
                </a:rPr>
                <a:t>dimensional</a:t>
              </a:r>
              <a:r>
                <a:rPr sz="1200" spc="-28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Batch</a:t>
              </a:r>
              <a:r>
                <a:rPr sz="1200" spc="-28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Normalization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is</a:t>
              </a:r>
              <a:r>
                <a:rPr sz="1200" spc="-28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made</a:t>
              </a:r>
              <a:r>
                <a:rPr sz="1200" spc="-28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available</a:t>
              </a:r>
              <a:r>
                <a:rPr sz="1200" spc="-28" dirty="0">
                  <a:latin typeface="Calibri"/>
                  <a:cs typeface="Calibri"/>
                </a:rPr>
                <a:t> </a:t>
              </a:r>
              <a:r>
                <a:rPr sz="1200" spc="-14" dirty="0">
                  <a:latin typeface="Calibri"/>
                  <a:cs typeface="Calibri"/>
                </a:rPr>
                <a:t>by</a:t>
              </a:r>
              <a:r>
                <a:rPr lang="en-US" sz="1200" spc="-14" dirty="0">
                  <a:latin typeface="Calibri"/>
                  <a:cs typeface="Calibri"/>
                </a:rPr>
                <a:t> </a:t>
              </a:r>
              <a:r>
                <a:rPr sz="1200" spc="-6" dirty="0">
                  <a:solidFill>
                    <a:srgbClr val="C00000"/>
                  </a:solidFill>
                  <a:latin typeface="Calibri"/>
                  <a:cs typeface="Calibri"/>
                </a:rPr>
                <a:t>nn.BatchNorm2d.</a:t>
              </a:r>
              <a:endParaRPr sz="1200" dirty="0">
                <a:latin typeface="Calibri"/>
                <a:cs typeface="Calibri"/>
              </a:endParaRPr>
            </a:p>
            <a:p>
              <a:pPr marL="7144" marR="219670"/>
              <a:r>
                <a:rPr sz="1200" dirty="0">
                  <a:latin typeface="Calibri"/>
                  <a:cs typeface="Calibri"/>
                </a:rPr>
                <a:t>For</a:t>
              </a:r>
              <a:r>
                <a:rPr sz="1200" spc="-39" dirty="0">
                  <a:latin typeface="Calibri"/>
                  <a:cs typeface="Calibri"/>
                </a:rPr>
                <a:t> </a:t>
              </a:r>
              <a:r>
                <a:rPr sz="1200" spc="-6" dirty="0">
                  <a:latin typeface="Calibri"/>
                  <a:cs typeface="Calibri"/>
                </a:rPr>
                <a:t>one-</a:t>
              </a:r>
              <a:r>
                <a:rPr sz="1200" dirty="0">
                  <a:latin typeface="Calibri"/>
                  <a:cs typeface="Calibri"/>
                </a:rPr>
                <a:t>dimensional</a:t>
              </a:r>
              <a:r>
                <a:rPr sz="1200" spc="-2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Batch</a:t>
              </a:r>
              <a:r>
                <a:rPr sz="1200" spc="-39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Normalization,</a:t>
              </a:r>
              <a:r>
                <a:rPr sz="1200" spc="-34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you</a:t>
              </a:r>
              <a:r>
                <a:rPr sz="1200" spc="-34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can</a:t>
              </a:r>
              <a:r>
                <a:rPr sz="1200" spc="-28" dirty="0">
                  <a:latin typeface="Calibri"/>
                  <a:cs typeface="Calibri"/>
                </a:rPr>
                <a:t> </a:t>
              </a:r>
              <a:r>
                <a:rPr sz="1200" spc="-14" dirty="0">
                  <a:latin typeface="Calibri"/>
                  <a:cs typeface="Calibri"/>
                </a:rPr>
                <a:t>use </a:t>
              </a:r>
              <a:r>
                <a:rPr sz="1200" spc="-6" dirty="0">
                  <a:solidFill>
                    <a:srgbClr val="C00000"/>
                  </a:solidFill>
                  <a:latin typeface="Calibri"/>
                  <a:cs typeface="Calibri"/>
                </a:rPr>
                <a:t>nn.BatchNorm1d.</a:t>
              </a:r>
              <a:endParaRPr sz="1200" dirty="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802622" y="2451354"/>
              <a:ext cx="6367939" cy="990996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69294" algn="just">
                <a:spcBef>
                  <a:spcPts val="56"/>
                </a:spcBef>
              </a:pPr>
              <a:r>
                <a:rPr sz="1400" dirty="0">
                  <a:latin typeface="Calibri"/>
                  <a:cs typeface="Calibri"/>
                </a:rPr>
                <a:t>6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no</a:t>
              </a:r>
              <a:r>
                <a:rPr sz="1400" spc="-6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of</a:t>
              </a:r>
              <a:r>
                <a:rPr sz="1400" spc="-11" dirty="0">
                  <a:latin typeface="Calibri"/>
                  <a:cs typeface="Calibri"/>
                </a:rPr>
                <a:t> input</a:t>
              </a:r>
              <a:endParaRPr sz="1400" dirty="0">
                <a:latin typeface="Calibri"/>
                <a:cs typeface="Calibri"/>
              </a:endParaRPr>
            </a:p>
            <a:p>
              <a:pPr algn="just">
                <a:spcBef>
                  <a:spcPts val="1207"/>
                </a:spcBef>
              </a:pPr>
              <a:endParaRPr sz="1400" dirty="0">
                <a:latin typeface="Calibri"/>
                <a:cs typeface="Calibri"/>
              </a:endParaRPr>
            </a:p>
            <a:p>
              <a:pPr marL="7144" marR="2858" algn="just"/>
              <a:r>
                <a:rPr sz="1400" spc="-6" dirty="0">
                  <a:latin typeface="Calibri"/>
                  <a:cs typeface="Calibri"/>
                </a:rPr>
                <a:t>One-</a:t>
              </a:r>
              <a:r>
                <a:rPr sz="1400" dirty="0">
                  <a:latin typeface="Calibri"/>
                  <a:cs typeface="Calibri"/>
                </a:rPr>
                <a:t>dimensional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BatchNormalization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(nn.BatchNorm1d)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applies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Batch</a:t>
              </a:r>
              <a:r>
                <a:rPr sz="1400" spc="-31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Normalization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over</a:t>
              </a:r>
              <a:r>
                <a:rPr sz="1400" spc="-2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2D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or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3D</a:t>
              </a:r>
              <a:r>
                <a:rPr sz="1400" spc="-28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input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(a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batch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of</a:t>
              </a:r>
              <a:r>
                <a:rPr sz="1400" spc="-28" dirty="0">
                  <a:latin typeface="Calibri"/>
                  <a:cs typeface="Calibri"/>
                </a:rPr>
                <a:t> </a:t>
              </a:r>
              <a:r>
                <a:rPr sz="1400" spc="-14" dirty="0">
                  <a:latin typeface="Calibri"/>
                  <a:cs typeface="Calibri"/>
                </a:rPr>
                <a:t>1D </a:t>
              </a:r>
              <a:r>
                <a:rPr sz="1400" dirty="0">
                  <a:latin typeface="Calibri"/>
                  <a:cs typeface="Calibri"/>
                </a:rPr>
                <a:t>inputs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with</a:t>
              </a:r>
              <a:r>
                <a:rPr sz="1400" spc="-14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possible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channel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dimension).</a:t>
              </a:r>
              <a:endParaRPr sz="1400" dirty="0">
                <a:latin typeface="Calibri"/>
                <a:cs typeface="Calibri"/>
              </a:endParaRPr>
            </a:p>
            <a:p>
              <a:pPr marL="7144" algn="just"/>
              <a:r>
                <a:rPr sz="1400" spc="-20" dirty="0">
                  <a:latin typeface="Calibri"/>
                  <a:cs typeface="Calibri"/>
                </a:rPr>
                <a:t>Two-</a:t>
              </a:r>
              <a:r>
                <a:rPr sz="1400" dirty="0">
                  <a:latin typeface="Calibri"/>
                  <a:cs typeface="Calibri"/>
                </a:rPr>
                <a:t>dimensional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BatchNormalization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(nn.BatchNorm2d)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applies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it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over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</a:t>
              </a:r>
              <a:r>
                <a:rPr sz="1400" spc="-25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4D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input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(a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batch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of</a:t>
              </a:r>
              <a:r>
                <a:rPr sz="1400" spc="-17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2D</a:t>
              </a:r>
              <a:r>
                <a:rPr sz="1400" spc="-20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inputs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with</a:t>
              </a:r>
              <a:r>
                <a:rPr sz="1400" spc="-11" dirty="0">
                  <a:latin typeface="Calibri"/>
                  <a:cs typeface="Calibri"/>
                </a:rPr>
                <a:t> </a:t>
              </a:r>
              <a:r>
                <a:rPr sz="1400" dirty="0">
                  <a:latin typeface="Calibri"/>
                  <a:cs typeface="Calibri"/>
                </a:rPr>
                <a:t>a</a:t>
              </a:r>
              <a:r>
                <a:rPr sz="1400" spc="-23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possible</a:t>
              </a:r>
              <a:endParaRPr sz="1400" dirty="0">
                <a:latin typeface="Calibri"/>
                <a:cs typeface="Calibri"/>
              </a:endParaRPr>
            </a:p>
            <a:p>
              <a:pPr marL="7144" algn="just"/>
              <a:r>
                <a:rPr sz="1400" dirty="0">
                  <a:latin typeface="Calibri"/>
                  <a:cs typeface="Calibri"/>
                </a:rPr>
                <a:t>channel</a:t>
              </a:r>
              <a:r>
                <a:rPr sz="1400" spc="-28" dirty="0">
                  <a:latin typeface="Calibri"/>
                  <a:cs typeface="Calibri"/>
                </a:rPr>
                <a:t> </a:t>
              </a:r>
              <a:r>
                <a:rPr sz="1400" spc="-6" dirty="0">
                  <a:latin typeface="Calibri"/>
                  <a:cs typeface="Calibri"/>
                </a:rPr>
                <a:t>dimension).</a:t>
              </a:r>
              <a:endParaRPr sz="1400" dirty="0">
                <a:latin typeface="Calibri"/>
                <a:cs typeface="Calibr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897170-BAD5-8728-6B79-553039738339}"/>
                </a:ext>
              </a:extLst>
            </p:cNvPr>
            <p:cNvSpPr txBox="1"/>
            <p:nvPr/>
          </p:nvSpPr>
          <p:spPr>
            <a:xfrm>
              <a:off x="5678491" y="601888"/>
              <a:ext cx="463057" cy="169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IN" sz="1013" b="1" i="0" u="none" strike="noStrike" kern="1200" cap="none" spc="-14" normalizeH="0" baseline="0" noProof="0" dirty="0">
                  <a:ln>
                    <a:noFill/>
                  </a:ln>
                  <a:solidFill>
                    <a:srgbClr val="A4123F"/>
                  </a:solidFill>
                  <a:effectLst/>
                  <a:uLnTx/>
                  <a:uFillTx/>
                  <a:latin typeface="Calibri"/>
                  <a:ea typeface="+mj-ea"/>
                  <a:cs typeface="Calibri"/>
                </a:rPr>
                <a:t>CNN</a:t>
              </a:r>
              <a:endParaRPr lang="en-IN" b="1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9C8CDBA-6AF0-DDA0-6300-8F97AAF9B501}"/>
              </a:ext>
            </a:extLst>
          </p:cNvPr>
          <p:cNvSpPr txBox="1"/>
          <p:nvPr/>
        </p:nvSpPr>
        <p:spPr>
          <a:xfrm>
            <a:off x="6710885" y="2002922"/>
            <a:ext cx="1146772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664012" lvl="0" indent="0" algn="r" defTabSz="914400" eaLnBrk="1" fontAlgn="auto" latinLnBrk="0" hangingPunct="1">
              <a:lnSpc>
                <a:spcPct val="100000"/>
              </a:lnSpc>
              <a:spcBef>
                <a:spcPts val="36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13" b="1" i="0" u="none" strike="noStrike" kern="0" cap="none" spc="-1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MLP</a:t>
            </a:r>
            <a:endParaRPr kumimoji="0" lang="en-IN" sz="101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499" y="338274"/>
            <a:ext cx="11209376" cy="484776"/>
          </a:xfrm>
          <a:prstGeom prst="rect">
            <a:avLst/>
          </a:prstGeom>
        </p:spPr>
        <p:txBody>
          <a:bodyPr vert="horz" wrap="square" lIns="0" tIns="114328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15" dirty="0"/>
              <a:t>Initialization</a:t>
            </a:r>
            <a:r>
              <a:rPr sz="2400" spc="-34" dirty="0"/>
              <a:t> </a:t>
            </a:r>
            <a:r>
              <a:rPr sz="2400" spc="-174" dirty="0"/>
              <a:t>of</a:t>
            </a:r>
            <a:r>
              <a:rPr sz="2400" spc="-39" dirty="0"/>
              <a:t> </a:t>
            </a:r>
            <a:r>
              <a:rPr sz="2400" spc="-160" dirty="0"/>
              <a:t>Weights</a:t>
            </a:r>
            <a:r>
              <a:rPr sz="2400" spc="-37" dirty="0"/>
              <a:t> </a:t>
            </a:r>
            <a:r>
              <a:rPr sz="2400" spc="-183" dirty="0"/>
              <a:t>and</a:t>
            </a:r>
            <a:r>
              <a:rPr sz="2400" spc="-37" dirty="0"/>
              <a:t> </a:t>
            </a:r>
            <a:r>
              <a:rPr sz="2400" spc="-203" dirty="0"/>
              <a:t>Bias</a:t>
            </a:r>
            <a:endParaRPr sz="2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371600" y="1295400"/>
            <a:ext cx="9829800" cy="4495800"/>
            <a:chOff x="0" y="992124"/>
            <a:chExt cx="11991340" cy="5280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2124"/>
              <a:ext cx="10058399" cy="4800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8603" y="5615939"/>
              <a:ext cx="4639056" cy="6568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1488" y="3488436"/>
              <a:ext cx="5419344" cy="571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54" rIns="0" bIns="0" rtlCol="0" anchor="ctr">
            <a:spAutoFit/>
          </a:bodyPr>
          <a:lstStyle/>
          <a:p>
            <a:pPr marL="242530">
              <a:lnSpc>
                <a:spcPct val="100000"/>
              </a:lnSpc>
              <a:spcBef>
                <a:spcPts val="56"/>
              </a:spcBef>
            </a:pPr>
            <a:r>
              <a:rPr spc="-96" dirty="0"/>
              <a:t>Initialization</a:t>
            </a:r>
            <a:r>
              <a:rPr spc="-48" dirty="0"/>
              <a:t> </a:t>
            </a:r>
            <a:r>
              <a:rPr spc="-146" dirty="0"/>
              <a:t>of</a:t>
            </a:r>
            <a:r>
              <a:rPr spc="-31" dirty="0"/>
              <a:t> </a:t>
            </a:r>
            <a:r>
              <a:rPr spc="-141" dirty="0"/>
              <a:t>Weights</a:t>
            </a:r>
            <a:r>
              <a:rPr spc="-45" dirty="0"/>
              <a:t> </a:t>
            </a:r>
            <a:r>
              <a:rPr spc="-155" dirty="0"/>
              <a:t>and</a:t>
            </a:r>
            <a:r>
              <a:rPr spc="-37" dirty="0"/>
              <a:t> </a:t>
            </a:r>
            <a:r>
              <a:rPr spc="-163" dirty="0"/>
              <a:t>Bias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DB750A-A28C-7469-70E6-308031117DC1}"/>
              </a:ext>
            </a:extLst>
          </p:cNvPr>
          <p:cNvGrpSpPr/>
          <p:nvPr/>
        </p:nvGrpSpPr>
        <p:grpSpPr>
          <a:xfrm>
            <a:off x="1676400" y="1295400"/>
            <a:ext cx="9144000" cy="4419600"/>
            <a:chOff x="3138488" y="615234"/>
            <a:chExt cx="6236490" cy="2907206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8488" y="813530"/>
              <a:ext cx="1585704" cy="2228651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3670" y="1470188"/>
              <a:ext cx="3385524" cy="20522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2012" y="615234"/>
              <a:ext cx="3182966" cy="781692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4817197" y="3340246"/>
              <a:ext cx="2168485" cy="163090"/>
            </a:xfrm>
            <a:prstGeom prst="rect">
              <a:avLst/>
            </a:prstGeom>
          </p:spPr>
          <p:txBody>
            <a:bodyPr vert="horz" wrap="square" lIns="0" tIns="7144" rIns="0" bIns="0" rtlCol="0">
              <a:spAutoFit/>
            </a:bodyPr>
            <a:lstStyle/>
            <a:p>
              <a:pPr marL="7144">
                <a:spcBef>
                  <a:spcPts val="56"/>
                </a:spcBef>
              </a:pP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Blowing</a:t>
              </a:r>
              <a:r>
                <a:rPr sz="1013" b="1" spc="-3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up</a:t>
              </a:r>
              <a:r>
                <a:rPr sz="1013" b="1" spc="-11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a11</a:t>
              </a:r>
              <a:r>
                <a:rPr sz="1013" b="1" spc="-8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cause</a:t>
              </a:r>
              <a:r>
                <a:rPr sz="1013" b="1" spc="-17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dirty="0">
                  <a:solidFill>
                    <a:srgbClr val="C00000"/>
                  </a:solidFill>
                  <a:latin typeface="Calibri"/>
                  <a:cs typeface="Calibri"/>
                </a:rPr>
                <a:t>vanishing</a:t>
              </a:r>
              <a:r>
                <a:rPr sz="1013" b="1" spc="-23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1013" b="1" spc="-6" dirty="0">
                  <a:solidFill>
                    <a:srgbClr val="C00000"/>
                  </a:solidFill>
                  <a:latin typeface="Calibri"/>
                  <a:cs typeface="Calibri"/>
                </a:rPr>
                <a:t>gradient</a:t>
              </a:r>
              <a:endParaRPr sz="1013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499" y="328319"/>
            <a:ext cx="11209376" cy="504686"/>
          </a:xfrm>
          <a:prstGeom prst="rect">
            <a:avLst/>
          </a:prstGeom>
        </p:spPr>
        <p:txBody>
          <a:bodyPr vert="horz" wrap="square" lIns="0" tIns="134045" rIns="0" bIns="0" rtlCol="0" anchor="ctr">
            <a:spAutoFit/>
          </a:bodyPr>
          <a:lstStyle/>
          <a:p>
            <a:pPr marL="156805">
              <a:lnSpc>
                <a:spcPct val="100000"/>
              </a:lnSpc>
              <a:spcBef>
                <a:spcPts val="56"/>
              </a:spcBef>
            </a:pPr>
            <a:r>
              <a:rPr sz="2400" spc="-143" dirty="0"/>
              <a:t>Xavier</a:t>
            </a:r>
            <a:r>
              <a:rPr sz="2400" spc="-45" dirty="0"/>
              <a:t> </a:t>
            </a:r>
            <a:r>
              <a:rPr sz="2400" spc="-104" dirty="0"/>
              <a:t>Initialization</a:t>
            </a:r>
            <a:r>
              <a:rPr sz="2400" spc="-42" dirty="0"/>
              <a:t> </a:t>
            </a:r>
            <a:r>
              <a:rPr sz="2400" spc="-180" dirty="0"/>
              <a:t>–</a:t>
            </a:r>
            <a:r>
              <a:rPr sz="2400" spc="-42" dirty="0"/>
              <a:t> </a:t>
            </a:r>
            <a:r>
              <a:rPr sz="2400" spc="-169" dirty="0"/>
              <a:t>Softmax</a:t>
            </a:r>
            <a:r>
              <a:rPr sz="2400" spc="-42" dirty="0"/>
              <a:t> </a:t>
            </a:r>
            <a:r>
              <a:rPr sz="2400" spc="-163" dirty="0"/>
              <a:t>and</a:t>
            </a:r>
            <a:r>
              <a:rPr sz="2400" spc="-31" dirty="0"/>
              <a:t> </a:t>
            </a:r>
            <a:r>
              <a:rPr sz="2400" spc="-143" dirty="0"/>
              <a:t>tanh</a:t>
            </a:r>
            <a:r>
              <a:rPr sz="2400" spc="-45" dirty="0"/>
              <a:t> </a:t>
            </a:r>
            <a:r>
              <a:rPr sz="2400" spc="-98" dirty="0"/>
              <a:t>activation</a:t>
            </a:r>
            <a:endParaRPr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7E0247-3B15-3145-B7FA-EC6670AAB44B}"/>
              </a:ext>
            </a:extLst>
          </p:cNvPr>
          <p:cNvGrpSpPr/>
          <p:nvPr/>
        </p:nvGrpSpPr>
        <p:grpSpPr>
          <a:xfrm>
            <a:off x="1219200" y="1066800"/>
            <a:ext cx="10058399" cy="4419600"/>
            <a:chOff x="2667000" y="823817"/>
            <a:chExt cx="6778776" cy="2384869"/>
          </a:xfrm>
        </p:grpSpPr>
        <p:sp>
          <p:nvSpPr>
            <p:cNvPr id="4" name="object 4"/>
            <p:cNvSpPr txBox="1"/>
            <p:nvPr/>
          </p:nvSpPr>
          <p:spPr>
            <a:xfrm>
              <a:off x="4159044" y="957119"/>
              <a:ext cx="5286732" cy="1295112"/>
            </a:xfrm>
            <a:prstGeom prst="rect">
              <a:avLst/>
            </a:prstGeom>
            <a:ln w="50800">
              <a:solidFill>
                <a:srgbClr val="006FC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endParaRPr sz="1013" dirty="0">
                <a:latin typeface="Times New Roman"/>
                <a:cs typeface="Times New Roman"/>
              </a:endParaRPr>
            </a:p>
            <a:p>
              <a:pPr algn="just">
                <a:lnSpc>
                  <a:spcPct val="100000"/>
                </a:lnSpc>
              </a:pPr>
              <a:endParaRPr sz="1400" dirty="0">
                <a:latin typeface="Times New Roman"/>
                <a:cs typeface="Times New Roman"/>
              </a:endParaRPr>
            </a:p>
            <a:p>
              <a:pPr algn="just">
                <a:spcBef>
                  <a:spcPts val="20"/>
                </a:spcBef>
              </a:pPr>
              <a:endParaRPr sz="1400" dirty="0">
                <a:latin typeface="Times New Roman"/>
                <a:cs typeface="Times New Roman"/>
              </a:endParaRPr>
            </a:p>
            <a:p>
              <a:pPr marL="271105" marR="1716286" algn="just"/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Xavier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initialization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sets</a:t>
              </a:r>
              <a:r>
                <a:rPr sz="14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layer’s</a:t>
              </a:r>
              <a:r>
                <a:rPr sz="14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weights</a:t>
              </a:r>
              <a:r>
                <a:rPr sz="1400" spc="-3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values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chosen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from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a</a:t>
              </a:r>
              <a:r>
                <a:rPr sz="1400" spc="-42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random</a:t>
              </a:r>
              <a:r>
                <a:rPr lang="en-US" sz="1400" dirty="0">
                  <a:solidFill>
                    <a:srgbClr val="292929"/>
                  </a:solidFill>
                  <a:latin typeface="Calibri"/>
                  <a:cs typeface="Calibri"/>
                </a:rPr>
                <a:t> u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niform</a:t>
              </a:r>
              <a:r>
                <a:rPr sz="14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distribution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that’s</a:t>
              </a:r>
              <a:r>
                <a:rPr sz="1400" spc="-3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bounded</a:t>
              </a:r>
              <a:r>
                <a:rPr sz="1400" spc="-3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between</a:t>
              </a:r>
              <a:endParaRPr sz="1400" dirty="0">
                <a:latin typeface="Calibri"/>
                <a:cs typeface="Calibri"/>
              </a:endParaRPr>
            </a:p>
            <a:p>
              <a:pPr algn="just">
                <a:lnSpc>
                  <a:spcPct val="100000"/>
                </a:lnSpc>
              </a:pPr>
              <a:endParaRPr sz="1400" dirty="0">
                <a:latin typeface="Calibri"/>
                <a:cs typeface="Calibri"/>
              </a:endParaRPr>
            </a:p>
            <a:p>
              <a:pPr algn="just">
                <a:lnSpc>
                  <a:spcPct val="100000"/>
                </a:lnSpc>
              </a:pPr>
              <a:endParaRPr sz="1400" dirty="0">
                <a:latin typeface="Calibri"/>
                <a:cs typeface="Calibri"/>
              </a:endParaRPr>
            </a:p>
            <a:p>
              <a:pPr algn="just">
                <a:lnSpc>
                  <a:spcPct val="100000"/>
                </a:lnSpc>
              </a:pPr>
              <a:endParaRPr sz="1400" dirty="0">
                <a:latin typeface="Calibri"/>
                <a:cs typeface="Calibri"/>
              </a:endParaRPr>
            </a:p>
            <a:p>
              <a:pPr algn="just">
                <a:spcBef>
                  <a:spcPts val="653"/>
                </a:spcBef>
              </a:pPr>
              <a:endParaRPr sz="1400" dirty="0">
                <a:latin typeface="Calibri"/>
                <a:cs typeface="Calibri"/>
              </a:endParaRPr>
            </a:p>
            <a:p>
              <a:pPr marL="271105" marR="744022" algn="just"/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where</a:t>
              </a:r>
              <a:r>
                <a:rPr sz="14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i="1" dirty="0">
                  <a:solidFill>
                    <a:srgbClr val="292929"/>
                  </a:solidFill>
                  <a:latin typeface="Calibri"/>
                  <a:cs typeface="Calibri"/>
                </a:rPr>
                <a:t>nᵢ</a:t>
              </a:r>
              <a:r>
                <a:rPr sz="1400" i="1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is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number</a:t>
              </a:r>
              <a:r>
                <a:rPr sz="1400" spc="-17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of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incoming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network</a:t>
              </a:r>
              <a:r>
                <a:rPr sz="14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connections,</a:t>
              </a:r>
              <a:r>
                <a:rPr sz="14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or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“fan-in,”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to</a:t>
              </a:r>
              <a:r>
                <a:rPr sz="1400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layer,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and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i="1" dirty="0">
                  <a:solidFill>
                    <a:srgbClr val="292929"/>
                  </a:solidFill>
                  <a:latin typeface="Calibri"/>
                  <a:cs typeface="Calibri"/>
                </a:rPr>
                <a:t>nᵢ₊₁</a:t>
              </a:r>
              <a:r>
                <a:rPr sz="1400" i="1" spc="-25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is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number</a:t>
              </a:r>
              <a:r>
                <a:rPr sz="1400" spc="-20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of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outgoing</a:t>
              </a:r>
              <a:r>
                <a:rPr sz="14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network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connections</a:t>
              </a:r>
              <a:r>
                <a:rPr sz="1400" spc="-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from</a:t>
              </a:r>
              <a:r>
                <a:rPr sz="1400" spc="-23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that</a:t>
              </a:r>
              <a:r>
                <a:rPr sz="1400" spc="-28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17" dirty="0">
                  <a:solidFill>
                    <a:srgbClr val="292929"/>
                  </a:solidFill>
                  <a:latin typeface="Calibri"/>
                  <a:cs typeface="Calibri"/>
                </a:rPr>
                <a:t>layer, 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also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known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as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dirty="0">
                  <a:solidFill>
                    <a:srgbClr val="292929"/>
                  </a:solidFill>
                  <a:latin typeface="Calibri"/>
                  <a:cs typeface="Calibri"/>
                </a:rPr>
                <a:t>the</a:t>
              </a:r>
              <a:r>
                <a:rPr sz="1400" spc="-14" dirty="0">
                  <a:solidFill>
                    <a:srgbClr val="292929"/>
                  </a:solidFill>
                  <a:latin typeface="Calibri"/>
                  <a:cs typeface="Calibri"/>
                </a:rPr>
                <a:t> </a:t>
              </a:r>
              <a:r>
                <a:rPr sz="1400" spc="-6" dirty="0">
                  <a:solidFill>
                    <a:srgbClr val="292929"/>
                  </a:solidFill>
                  <a:latin typeface="Calibri"/>
                  <a:cs typeface="Calibri"/>
                </a:rPr>
                <a:t>“fan-</a:t>
              </a:r>
              <a:r>
                <a:rPr sz="1400" spc="-11" dirty="0">
                  <a:solidFill>
                    <a:srgbClr val="292929"/>
                  </a:solidFill>
                  <a:latin typeface="Calibri"/>
                  <a:cs typeface="Calibri"/>
                </a:rPr>
                <a:t>out.”</a:t>
              </a:r>
              <a:endParaRPr sz="1400" dirty="0">
                <a:latin typeface="Calibri"/>
                <a:cs typeface="Calibri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0" y="823817"/>
              <a:ext cx="1425606" cy="23848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9413" y="1440593"/>
              <a:ext cx="1007565" cy="4867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54" rIns="0" bIns="0" rtlCol="0" anchor="ctr">
            <a:spAutoFit/>
          </a:bodyPr>
          <a:lstStyle/>
          <a:p>
            <a:pPr marL="242530">
              <a:lnSpc>
                <a:spcPct val="100000"/>
              </a:lnSpc>
              <a:spcBef>
                <a:spcPts val="56"/>
              </a:spcBef>
            </a:pPr>
            <a:r>
              <a:rPr spc="-143" dirty="0"/>
              <a:t>He</a:t>
            </a:r>
            <a:r>
              <a:rPr spc="-34" dirty="0"/>
              <a:t> </a:t>
            </a:r>
            <a:r>
              <a:rPr spc="-96" dirty="0"/>
              <a:t>Initialization</a:t>
            </a:r>
            <a:r>
              <a:rPr spc="-68" dirty="0"/>
              <a:t> </a:t>
            </a:r>
            <a:r>
              <a:rPr spc="-183" dirty="0"/>
              <a:t>ReLu</a:t>
            </a:r>
            <a:r>
              <a:rPr spc="-39" dirty="0"/>
              <a:t> </a:t>
            </a:r>
            <a:r>
              <a:rPr spc="-110" dirty="0"/>
              <a:t>activation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2895508"/>
            <a:ext cx="4648200" cy="2819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53480" y="5858681"/>
            <a:ext cx="2775887" cy="191880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2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ReLU</a:t>
            </a:r>
            <a:r>
              <a:rPr sz="1200" spc="-23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half</a:t>
            </a:r>
            <a:r>
              <a:rPr sz="1200" spc="-23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neurons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dead</a:t>
            </a:r>
            <a:r>
              <a:rPr sz="1200" spc="-2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hence</a:t>
            </a:r>
            <a:r>
              <a:rPr sz="1200" spc="-14" dirty="0">
                <a:latin typeface="Calibri"/>
                <a:cs typeface="Calibri"/>
              </a:rPr>
              <a:t> n/2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480" y="1280884"/>
            <a:ext cx="2832720" cy="420551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775077" y="1143092"/>
            <a:ext cx="6978638" cy="1110579"/>
          </a:xfrm>
          <a:custGeom>
            <a:avLst/>
            <a:gdLst/>
            <a:ahLst/>
            <a:cxnLst/>
            <a:rect l="l" t="t" r="r" b="b"/>
            <a:pathLst>
              <a:path w="7030720" h="1487805">
                <a:moveTo>
                  <a:pt x="7030211" y="0"/>
                </a:moveTo>
                <a:lnTo>
                  <a:pt x="0" y="0"/>
                </a:lnTo>
                <a:lnTo>
                  <a:pt x="0" y="1487424"/>
                </a:lnTo>
                <a:lnTo>
                  <a:pt x="7030211" y="1487424"/>
                </a:lnTo>
                <a:lnTo>
                  <a:pt x="7030211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4912313" y="1280885"/>
            <a:ext cx="6858000" cy="6535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0" marR="10001" indent="0">
              <a:lnSpc>
                <a:spcPct val="100000"/>
              </a:lnSpc>
              <a:spcBef>
                <a:spcPts val="56"/>
              </a:spcBef>
              <a:buNone/>
            </a:pPr>
            <a:r>
              <a:rPr lang="en-US" sz="1400" dirty="0">
                <a:latin typeface="+mn-lt"/>
              </a:rPr>
              <a:t>The</a:t>
            </a:r>
            <a:r>
              <a:rPr lang="en-US" sz="1400" spc="-34" dirty="0">
                <a:latin typeface="+mn-lt"/>
              </a:rPr>
              <a:t> </a:t>
            </a:r>
            <a:r>
              <a:rPr lang="en-US" sz="1400" b="1" dirty="0">
                <a:latin typeface="+mn-lt"/>
                <a:cs typeface="Arial"/>
              </a:rPr>
              <a:t>he</a:t>
            </a:r>
            <a:r>
              <a:rPr lang="en-US" sz="1400" b="1" spc="-17" dirty="0">
                <a:latin typeface="+mn-lt"/>
                <a:cs typeface="Arial"/>
              </a:rPr>
              <a:t> </a:t>
            </a:r>
            <a:r>
              <a:rPr lang="en-US" sz="1400" dirty="0">
                <a:latin typeface="+mn-lt"/>
              </a:rPr>
              <a:t>initialization</a:t>
            </a:r>
            <a:r>
              <a:rPr lang="en-US" sz="1400" spc="-6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method</a:t>
            </a:r>
            <a:r>
              <a:rPr lang="en-US" sz="1400" spc="-14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is</a:t>
            </a:r>
            <a:r>
              <a:rPr lang="en-US" sz="1400" spc="-14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calculated</a:t>
            </a:r>
            <a:r>
              <a:rPr lang="en-US" sz="1400" spc="-6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as</a:t>
            </a:r>
            <a:r>
              <a:rPr lang="en-US" sz="1400" spc="-17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a</a:t>
            </a:r>
            <a:r>
              <a:rPr lang="en-US" sz="1400" spc="-20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random</a:t>
            </a:r>
            <a:r>
              <a:rPr lang="en-US" sz="1400" spc="-11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number</a:t>
            </a:r>
            <a:r>
              <a:rPr lang="en-US" sz="1400" spc="-8" dirty="0">
                <a:latin typeface="+mn-lt"/>
              </a:rPr>
              <a:t> </a:t>
            </a:r>
            <a:r>
              <a:rPr lang="en-US" sz="1400" spc="-11" dirty="0">
                <a:latin typeface="+mn-lt"/>
              </a:rPr>
              <a:t>with </a:t>
            </a:r>
            <a:r>
              <a:rPr lang="en-US" sz="1400" dirty="0">
                <a:latin typeface="+mn-lt"/>
              </a:rPr>
              <a:t>a</a:t>
            </a:r>
            <a:r>
              <a:rPr lang="en-US" sz="1400" spc="-17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Gaussian</a:t>
            </a:r>
            <a:r>
              <a:rPr lang="en-US" sz="1400" spc="-11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probability distribution</a:t>
            </a:r>
            <a:r>
              <a:rPr lang="en-US" sz="1400" spc="-6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(G)</a:t>
            </a:r>
            <a:r>
              <a:rPr lang="en-US" sz="1400" spc="-17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with</a:t>
            </a:r>
            <a:r>
              <a:rPr lang="en-US" sz="1400" spc="3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a</a:t>
            </a:r>
            <a:r>
              <a:rPr lang="en-US" sz="1400" spc="-17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mean</a:t>
            </a:r>
            <a:r>
              <a:rPr lang="en-US" sz="1400" spc="-11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of</a:t>
            </a:r>
            <a:r>
              <a:rPr lang="en-US" sz="1400" spc="-17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0.0</a:t>
            </a:r>
            <a:r>
              <a:rPr lang="en-US" sz="1400" spc="-14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and</a:t>
            </a:r>
            <a:r>
              <a:rPr lang="en-US" sz="1400" spc="-14" dirty="0">
                <a:latin typeface="+mn-lt"/>
              </a:rPr>
              <a:t> </a:t>
            </a:r>
            <a:r>
              <a:rPr lang="en-US" sz="1400" spc="-28" dirty="0">
                <a:latin typeface="+mn-lt"/>
              </a:rPr>
              <a:t>a </a:t>
            </a:r>
            <a:r>
              <a:rPr lang="en-US" sz="1400" dirty="0">
                <a:latin typeface="+mn-lt"/>
              </a:rPr>
              <a:t>standard</a:t>
            </a:r>
            <a:r>
              <a:rPr lang="en-US" sz="1400" spc="-31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deviation</a:t>
            </a:r>
            <a:r>
              <a:rPr lang="en-US" sz="1400" spc="-23" dirty="0">
                <a:latin typeface="+mn-lt"/>
              </a:rPr>
              <a:t> </a:t>
            </a:r>
            <a:r>
              <a:rPr lang="en-US" sz="1400" spc="-14" dirty="0">
                <a:latin typeface="+mn-lt"/>
              </a:rPr>
              <a:t>of   </a:t>
            </a:r>
            <a:r>
              <a:rPr lang="en-US" sz="1400" dirty="0">
                <a:latin typeface="+mn-lt"/>
              </a:rPr>
              <a:t>,    </a:t>
            </a:r>
            <a:r>
              <a:rPr lang="en-US" sz="1400" spc="-8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where</a:t>
            </a:r>
            <a:r>
              <a:rPr lang="en-US" sz="1400" spc="20" dirty="0">
                <a:latin typeface="+mn-lt"/>
              </a:rPr>
              <a:t> </a:t>
            </a:r>
            <a:r>
              <a:rPr lang="en-US" sz="1400" i="1" dirty="0">
                <a:latin typeface="+mn-lt"/>
                <a:cs typeface="Arial"/>
              </a:rPr>
              <a:t>n</a:t>
            </a:r>
            <a:r>
              <a:rPr lang="en-US" sz="1400" i="1" spc="-8" dirty="0">
                <a:latin typeface="+mn-lt"/>
                <a:cs typeface="Arial"/>
              </a:rPr>
              <a:t> </a:t>
            </a:r>
            <a:r>
              <a:rPr lang="en-US" sz="1400" dirty="0">
                <a:latin typeface="+mn-lt"/>
              </a:rPr>
              <a:t>is</a:t>
            </a:r>
            <a:r>
              <a:rPr lang="en-US" sz="1400" spc="-6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the</a:t>
            </a:r>
            <a:r>
              <a:rPr lang="en-US" sz="1400" spc="-8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number of</a:t>
            </a:r>
            <a:r>
              <a:rPr lang="en-US" sz="1400" spc="-8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inputs</a:t>
            </a:r>
            <a:r>
              <a:rPr lang="en-US" sz="1400" spc="3" dirty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to</a:t>
            </a:r>
            <a:r>
              <a:rPr lang="en-US" sz="1400" spc="-6" dirty="0">
                <a:latin typeface="+mn-lt"/>
              </a:rPr>
              <a:t> </a:t>
            </a:r>
            <a:r>
              <a:rPr lang="en-US" sz="1400" spc="-14" dirty="0">
                <a:latin typeface="+mn-lt"/>
              </a:rPr>
              <a:t>the </a:t>
            </a:r>
            <a:r>
              <a:rPr sz="1400" spc="-6" dirty="0">
                <a:latin typeface="+mn-lt"/>
              </a:rPr>
              <a:t>node.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AD738D-7E71-B2DC-A602-0C8FAF01C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113" y="1458250"/>
            <a:ext cx="304800" cy="4957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</TotalTime>
  <Words>3756</Words>
  <Application>Microsoft Office PowerPoint</Application>
  <PresentationFormat>Widescreen</PresentationFormat>
  <Paragraphs>318</Paragraphs>
  <Slides>57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Arial</vt:lpstr>
      <vt:lpstr>Arial MT</vt:lpstr>
      <vt:lpstr>Calibri</vt:lpstr>
      <vt:lpstr>Calibri Light</vt:lpstr>
      <vt:lpstr>Cambria Math</vt:lpstr>
      <vt:lpstr>Georgia</vt:lpstr>
      <vt:lpstr>sohne</vt:lpstr>
      <vt:lpstr>Tahoma</vt:lpstr>
      <vt:lpstr>Times New Roman</vt:lpstr>
      <vt:lpstr>Wingdings</vt:lpstr>
      <vt:lpstr>1_Office Theme</vt:lpstr>
      <vt:lpstr>PowerPoint Presentation</vt:lpstr>
      <vt:lpstr>Feed Forward NN - Hyper Parameter Tunings</vt:lpstr>
      <vt:lpstr>Recap-Gradient Descent</vt:lpstr>
      <vt:lpstr>Gradient Descent Algorithm- Tuning</vt:lpstr>
      <vt:lpstr>Variants of Gradient Descent</vt:lpstr>
      <vt:lpstr>1 step in 1 epoch</vt:lpstr>
      <vt:lpstr>Stochastic Gradient Descent</vt:lpstr>
      <vt:lpstr>Mini Batch Gradient Descent</vt:lpstr>
      <vt:lpstr>PowerPoint Presentation</vt:lpstr>
      <vt:lpstr>PowerPoint Presentation</vt:lpstr>
      <vt:lpstr>Issue with Gradient Descent optimisation</vt:lpstr>
      <vt:lpstr>Gradient Descent Optimisation</vt:lpstr>
      <vt:lpstr>PowerPoint Presentation</vt:lpstr>
      <vt:lpstr>Advantage and disadvantage of momentum based GD</vt:lpstr>
      <vt:lpstr>Nesterov Accelerated Gradient Descent (NAG)</vt:lpstr>
      <vt:lpstr>Why adaptive learning rate needed ?</vt:lpstr>
      <vt:lpstr>Adagrad</vt:lpstr>
      <vt:lpstr>RMSProp</vt:lpstr>
      <vt:lpstr>PowerPoint Presentation</vt:lpstr>
      <vt:lpstr>In addition to storing an exponentially decaying average of past squared gradients vt like Adadelta and RMSprop, Adam also keeps an exponentially decaying average of past gradients mt, similar to momentum.</vt:lpstr>
      <vt:lpstr>Comparison- Visualisation</vt:lpstr>
      <vt:lpstr>Activation functions</vt:lpstr>
      <vt:lpstr>Logistic/Sigmoid</vt:lpstr>
      <vt:lpstr>Logistic/Sigmoid</vt:lpstr>
      <vt:lpstr>Better Activation Functions- tanh</vt:lpstr>
      <vt:lpstr>Better Activation Functions- ReLU (Rectified Linear activation Unit )</vt:lpstr>
      <vt:lpstr>Issues with ReLU</vt:lpstr>
      <vt:lpstr>Leaky ReLU</vt:lpstr>
      <vt:lpstr>Overfitting - Underfitting</vt:lpstr>
      <vt:lpstr>Bias- Variance</vt:lpstr>
      <vt:lpstr>Bias and Variance trade-off</vt:lpstr>
      <vt:lpstr>Bias and Variance trade-off</vt:lpstr>
      <vt:lpstr>Bias and Variance trade-off</vt:lpstr>
      <vt:lpstr>Overfitting Underfitting</vt:lpstr>
      <vt:lpstr>Bias and Variance trade-off</vt:lpstr>
      <vt:lpstr>Data Augmentation</vt:lpstr>
      <vt:lpstr>Data Augmentation</vt:lpstr>
      <vt:lpstr>Data Augmentation</vt:lpstr>
      <vt:lpstr>Data Augmentation</vt:lpstr>
      <vt:lpstr>Regularization- Intuition behind L2 regularization</vt:lpstr>
      <vt:lpstr>PowerPoint Presentation</vt:lpstr>
      <vt:lpstr>Regularization- Early Stopping</vt:lpstr>
      <vt:lpstr>PowerPoint Presentation</vt:lpstr>
      <vt:lpstr>Normalizing the input features</vt:lpstr>
      <vt:lpstr>Normalisation of hidden layers</vt:lpstr>
      <vt:lpstr>Flexibility to the network to decide whether normalization is required or not</vt:lpstr>
      <vt:lpstr>Ensemble methods ( rely on multiple models than a single model)</vt:lpstr>
      <vt:lpstr>Ensemble of Neural Networks</vt:lpstr>
      <vt:lpstr>Idea of Drop Out</vt:lpstr>
      <vt:lpstr>Training Procedure</vt:lpstr>
      <vt:lpstr>Using drop out at test time</vt:lpstr>
      <vt:lpstr>Pytorch : Dropout</vt:lpstr>
      <vt:lpstr>Pytorch BatchNorm</vt:lpstr>
      <vt:lpstr>Initialization of Weights and Bias</vt:lpstr>
      <vt:lpstr>Initialization of Weights and Bias</vt:lpstr>
      <vt:lpstr>Xavier Initialization – Softmax and tanh activation</vt:lpstr>
      <vt:lpstr>He Initialization ReLu activation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saraths@am.amrita.edu</dc:creator>
  <cp:lastModifiedBy>Anjali T</cp:lastModifiedBy>
  <cp:revision>202</cp:revision>
  <dcterms:created xsi:type="dcterms:W3CDTF">2025-01-30T11:06:30Z</dcterms:created>
  <dcterms:modified xsi:type="dcterms:W3CDTF">2025-09-09T03:10:22Z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2025-01-30T00:00:00Z</vt:filetime>
  </property>
  <property fmtid="{D5CDD505-2E9C-101B-9397-08002B2CF9AE}" pid="5" name="Producer">
    <vt:lpwstr>Microsoft® PowerPoint® for Microsoft 365</vt:lpwstr>
  </property>
</Properties>
</file>
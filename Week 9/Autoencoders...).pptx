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C490B-9790-443A-5BE7-0F8337510AC7}" v="2" dt="2025-11-21T00:59:40.42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756"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ths" userId="S::saraths@am.amrita.edu::244d0ad9-751b-45dc-a37d-eb545e66f5d8" providerId="AD" clId="Web-{21EC490B-9790-443A-5BE7-0F8337510AC7}"/>
    <pc:docChg chg="modSld">
      <pc:chgData name="saraths" userId="S::saraths@am.amrita.edu::244d0ad9-751b-45dc-a37d-eb545e66f5d8" providerId="AD" clId="Web-{21EC490B-9790-443A-5BE7-0F8337510AC7}" dt="2025-11-21T00:59:40.424" v="1" actId="1076"/>
      <pc:docMkLst>
        <pc:docMk/>
      </pc:docMkLst>
      <pc:sldChg chg="modSp">
        <pc:chgData name="saraths" userId="S::saraths@am.amrita.edu::244d0ad9-751b-45dc-a37d-eb545e66f5d8" providerId="AD" clId="Web-{21EC490B-9790-443A-5BE7-0F8337510AC7}" dt="2025-11-21T00:56:58.654" v="0" actId="1076"/>
        <pc:sldMkLst>
          <pc:docMk/>
          <pc:sldMk cId="0" sldId="262"/>
        </pc:sldMkLst>
        <pc:spChg chg="mod">
          <ac:chgData name="saraths" userId="S::saraths@am.amrita.edu::244d0ad9-751b-45dc-a37d-eb545e66f5d8" providerId="AD" clId="Web-{21EC490B-9790-443A-5BE7-0F8337510AC7}" dt="2025-11-21T00:56:58.654" v="0" actId="1076"/>
          <ac:spMkLst>
            <pc:docMk/>
            <pc:sldMk cId="0" sldId="262"/>
            <ac:spMk id="6" creationId="{00000000-0000-0000-0000-000000000000}"/>
          </ac:spMkLst>
        </pc:spChg>
      </pc:sldChg>
      <pc:sldChg chg="modSp">
        <pc:chgData name="saraths" userId="S::saraths@am.amrita.edu::244d0ad9-751b-45dc-a37d-eb545e66f5d8" providerId="AD" clId="Web-{21EC490B-9790-443A-5BE7-0F8337510AC7}" dt="2025-11-21T00:59:40.424" v="1" actId="1076"/>
        <pc:sldMkLst>
          <pc:docMk/>
          <pc:sldMk cId="0" sldId="263"/>
        </pc:sldMkLst>
        <pc:spChg chg="mod">
          <ac:chgData name="saraths" userId="S::saraths@am.amrita.edu::244d0ad9-751b-45dc-a37d-eb545e66f5d8" providerId="AD" clId="Web-{21EC490B-9790-443A-5BE7-0F8337510AC7}" dt="2025-11-21T00:59:40.424" v="1" actId="1076"/>
          <ac:spMkLst>
            <pc:docMk/>
            <pc:sldMk cId="0" sldId="263"/>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50240" y="66243"/>
            <a:ext cx="10040620" cy="953769"/>
          </a:xfrm>
          <a:prstGeom prst="rect">
            <a:avLst/>
          </a:prstGeom>
        </p:spPr>
        <p:txBody>
          <a:bodyPr wrap="square" lIns="0" tIns="0" rIns="0" bIns="0">
            <a:spAutoFit/>
          </a:bodyPr>
          <a:lstStyle>
            <a:lvl1pPr>
              <a:defRPr sz="3200" b="1" i="0">
                <a:solidFill>
                  <a:srgbClr val="292929"/>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292929"/>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rgbClr val="292929"/>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292929"/>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292929"/>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370320"/>
            <a:ext cx="12192000" cy="487677"/>
          </a:xfrm>
          <a:prstGeom prst="rect">
            <a:avLst/>
          </a:prstGeom>
        </p:spPr>
      </p:pic>
      <p:pic>
        <p:nvPicPr>
          <p:cNvPr id="17" name="bg object 17"/>
          <p:cNvPicPr/>
          <p:nvPr/>
        </p:nvPicPr>
        <p:blipFill>
          <a:blip r:embed="rId8" cstate="print"/>
          <a:stretch>
            <a:fillRect/>
          </a:stretch>
        </p:blipFill>
        <p:spPr>
          <a:xfrm>
            <a:off x="126492" y="6490714"/>
            <a:ext cx="1781556" cy="313944"/>
          </a:xfrm>
          <a:prstGeom prst="rect">
            <a:avLst/>
          </a:prstGeom>
        </p:spPr>
      </p:pic>
      <p:pic>
        <p:nvPicPr>
          <p:cNvPr id="18" name="bg object 18"/>
          <p:cNvPicPr/>
          <p:nvPr/>
        </p:nvPicPr>
        <p:blipFill>
          <a:blip r:embed="rId7" cstate="print"/>
          <a:stretch>
            <a:fillRect/>
          </a:stretch>
        </p:blipFill>
        <p:spPr>
          <a:xfrm>
            <a:off x="0" y="6370320"/>
            <a:ext cx="12192000" cy="487677"/>
          </a:xfrm>
          <a:prstGeom prst="rect">
            <a:avLst/>
          </a:prstGeom>
        </p:spPr>
      </p:pic>
      <p:pic>
        <p:nvPicPr>
          <p:cNvPr id="19" name="bg object 19"/>
          <p:cNvPicPr/>
          <p:nvPr/>
        </p:nvPicPr>
        <p:blipFill>
          <a:blip r:embed="rId8" cstate="print"/>
          <a:stretch>
            <a:fillRect/>
          </a:stretch>
        </p:blipFill>
        <p:spPr>
          <a:xfrm>
            <a:off x="126492" y="6490714"/>
            <a:ext cx="1781556" cy="313944"/>
          </a:xfrm>
          <a:prstGeom prst="rect">
            <a:avLst/>
          </a:prstGeom>
        </p:spPr>
      </p:pic>
      <p:sp>
        <p:nvSpPr>
          <p:cNvPr id="2" name="Holder 2"/>
          <p:cNvSpPr>
            <a:spLocks noGrp="1"/>
          </p:cNvSpPr>
          <p:nvPr>
            <p:ph type="title"/>
          </p:nvPr>
        </p:nvSpPr>
        <p:spPr>
          <a:xfrm>
            <a:off x="650240" y="275589"/>
            <a:ext cx="9068435" cy="513715"/>
          </a:xfrm>
          <a:prstGeom prst="rect">
            <a:avLst/>
          </a:prstGeom>
        </p:spPr>
        <p:txBody>
          <a:bodyPr wrap="square" lIns="0" tIns="0" rIns="0" bIns="0">
            <a:spAutoFit/>
          </a:bodyPr>
          <a:lstStyle>
            <a:lvl1pPr>
              <a:defRPr sz="3200" b="1" i="0">
                <a:solidFill>
                  <a:srgbClr val="292929"/>
                </a:solidFill>
                <a:latin typeface="Calibri"/>
                <a:cs typeface="Calibri"/>
              </a:defRPr>
            </a:lvl1pPr>
          </a:lstStyle>
          <a:p>
            <a:endParaRPr/>
          </a:p>
        </p:txBody>
      </p:sp>
      <p:sp>
        <p:nvSpPr>
          <p:cNvPr id="3" name="Holder 3"/>
          <p:cNvSpPr>
            <a:spLocks noGrp="1"/>
          </p:cNvSpPr>
          <p:nvPr>
            <p:ph type="body" idx="1"/>
          </p:nvPr>
        </p:nvSpPr>
        <p:spPr>
          <a:xfrm>
            <a:off x="890117" y="1062609"/>
            <a:ext cx="10697210" cy="1671955"/>
          </a:xfrm>
          <a:prstGeom prst="rect">
            <a:avLst/>
          </a:prstGeom>
        </p:spPr>
        <p:txBody>
          <a:bodyPr wrap="square" lIns="0" tIns="0" rIns="0" bIns="0">
            <a:spAutoFit/>
          </a:bodyPr>
          <a:lstStyle>
            <a:lvl1pPr>
              <a:defRPr sz="1800" b="0" i="0">
                <a:solidFill>
                  <a:srgbClr val="292929"/>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6370320"/>
              <a:ext cx="12192000" cy="487677"/>
            </a:xfrm>
            <a:prstGeom prst="rect">
              <a:avLst/>
            </a:prstGeom>
          </p:spPr>
        </p:pic>
        <p:pic>
          <p:nvPicPr>
            <p:cNvPr id="4" name="object 4"/>
            <p:cNvPicPr/>
            <p:nvPr/>
          </p:nvPicPr>
          <p:blipFill>
            <a:blip r:embed="rId3" cstate="print"/>
            <a:stretch>
              <a:fillRect/>
            </a:stretch>
          </p:blipFill>
          <p:spPr>
            <a:xfrm>
              <a:off x="126492" y="6490714"/>
              <a:ext cx="1781556" cy="313944"/>
            </a:xfrm>
            <a:prstGeom prst="rect">
              <a:avLst/>
            </a:prstGeom>
          </p:spPr>
        </p:pic>
        <p:sp>
          <p:nvSpPr>
            <p:cNvPr id="5" name="object 5"/>
            <p:cNvSpPr/>
            <p:nvPr/>
          </p:nvSpPr>
          <p:spPr>
            <a:xfrm>
              <a:off x="32004" y="0"/>
              <a:ext cx="12160250" cy="6858000"/>
            </a:xfrm>
            <a:custGeom>
              <a:avLst/>
              <a:gdLst/>
              <a:ahLst/>
              <a:cxnLst/>
              <a:rect l="l" t="t" r="r" b="b"/>
              <a:pathLst>
                <a:path w="12160250" h="6858000">
                  <a:moveTo>
                    <a:pt x="12159996" y="0"/>
                  </a:moveTo>
                  <a:lnTo>
                    <a:pt x="0" y="0"/>
                  </a:lnTo>
                  <a:lnTo>
                    <a:pt x="0" y="6858000"/>
                  </a:lnTo>
                  <a:lnTo>
                    <a:pt x="12159996" y="6858000"/>
                  </a:lnTo>
                  <a:lnTo>
                    <a:pt x="12159996" y="0"/>
                  </a:lnTo>
                  <a:close/>
                </a:path>
              </a:pathLst>
            </a:custGeom>
            <a:solidFill>
              <a:srgbClr val="B8114F"/>
            </a:solidFill>
          </p:spPr>
          <p:txBody>
            <a:bodyPr wrap="square" lIns="0" tIns="0" rIns="0" bIns="0" rtlCol="0"/>
            <a:lstStyle/>
            <a:p>
              <a:endParaRPr/>
            </a:p>
          </p:txBody>
        </p:sp>
        <p:pic>
          <p:nvPicPr>
            <p:cNvPr id="6" name="object 6"/>
            <p:cNvPicPr/>
            <p:nvPr/>
          </p:nvPicPr>
          <p:blipFill>
            <a:blip r:embed="rId4" cstate="print"/>
            <a:stretch>
              <a:fillRect/>
            </a:stretch>
          </p:blipFill>
          <p:spPr>
            <a:xfrm>
              <a:off x="2976371" y="2196083"/>
              <a:ext cx="3442716" cy="1104900"/>
            </a:xfrm>
            <a:prstGeom prst="rect">
              <a:avLst/>
            </a:prstGeom>
          </p:spPr>
        </p:pic>
      </p:grpSp>
      <p:sp>
        <p:nvSpPr>
          <p:cNvPr id="7" name="object 7"/>
          <p:cNvSpPr txBox="1">
            <a:spLocks noGrp="1"/>
          </p:cNvSpPr>
          <p:nvPr>
            <p:ph type="title"/>
          </p:nvPr>
        </p:nvSpPr>
        <p:spPr>
          <a:xfrm>
            <a:off x="7010400" y="3429000"/>
            <a:ext cx="2905125" cy="566822"/>
          </a:xfrm>
          <a:prstGeom prst="rect">
            <a:avLst/>
          </a:prstGeom>
        </p:spPr>
        <p:txBody>
          <a:bodyPr vert="horz" wrap="square" lIns="0" tIns="12700" rIns="0" bIns="0" rtlCol="0">
            <a:spAutoFit/>
          </a:bodyPr>
          <a:lstStyle/>
          <a:p>
            <a:pPr marL="85725" marR="5080" indent="-73660">
              <a:spcBef>
                <a:spcPts val="100"/>
              </a:spcBef>
            </a:pPr>
            <a:r>
              <a:rPr lang="en-IN" sz="3600" dirty="0" err="1">
                <a:solidFill>
                  <a:srgbClr val="FFFFFF"/>
                </a:solidFill>
              </a:rPr>
              <a:t>AutoEncoders</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What</a:t>
            </a:r>
            <a:r>
              <a:rPr b="0" spc="-25" dirty="0">
                <a:solidFill>
                  <a:srgbClr val="A3123E"/>
                </a:solidFill>
                <a:latin typeface="Georgia"/>
                <a:cs typeface="Georgia"/>
              </a:rPr>
              <a:t> </a:t>
            </a:r>
            <a:r>
              <a:rPr b="0" dirty="0">
                <a:solidFill>
                  <a:srgbClr val="A3123E"/>
                </a:solidFill>
                <a:latin typeface="Georgia"/>
                <a:cs typeface="Georgia"/>
              </a:rPr>
              <a:t>is</a:t>
            </a:r>
            <a:r>
              <a:rPr b="0" spc="-15" dirty="0">
                <a:solidFill>
                  <a:srgbClr val="A3123E"/>
                </a:solidFill>
                <a:latin typeface="Georgia"/>
                <a:cs typeface="Georgia"/>
              </a:rPr>
              <a:t> </a:t>
            </a:r>
            <a:r>
              <a:rPr b="0" dirty="0">
                <a:solidFill>
                  <a:srgbClr val="A3123E"/>
                </a:solidFill>
                <a:latin typeface="Georgia"/>
                <a:cs typeface="Georgia"/>
              </a:rPr>
              <a:t>an</a:t>
            </a:r>
            <a:r>
              <a:rPr b="0" spc="-15" dirty="0">
                <a:solidFill>
                  <a:srgbClr val="A3123E"/>
                </a:solidFill>
                <a:latin typeface="Georgia"/>
                <a:cs typeface="Georgia"/>
              </a:rPr>
              <a:t> </a:t>
            </a:r>
            <a:r>
              <a:rPr b="0" spc="-10" dirty="0">
                <a:solidFill>
                  <a:srgbClr val="A3123E"/>
                </a:solidFill>
                <a:latin typeface="Georgia"/>
                <a:cs typeface="Georgia"/>
              </a:rPr>
              <a:t>Autoencoder?</a:t>
            </a:r>
          </a:p>
        </p:txBody>
      </p:sp>
      <p:sp>
        <p:nvSpPr>
          <p:cNvPr id="3" name="object 3"/>
          <p:cNvSpPr txBox="1"/>
          <p:nvPr/>
        </p:nvSpPr>
        <p:spPr>
          <a:xfrm>
            <a:off x="1391411" y="1167383"/>
            <a:ext cx="8422005" cy="1199515"/>
          </a:xfrm>
          <a:prstGeom prst="rect">
            <a:avLst/>
          </a:prstGeom>
          <a:solidFill>
            <a:srgbClr val="E1EFD9"/>
          </a:solidFill>
        </p:spPr>
        <p:txBody>
          <a:bodyPr vert="horz" wrap="square" lIns="0" tIns="29845" rIns="0" bIns="0" rtlCol="0">
            <a:spAutoFit/>
          </a:bodyPr>
          <a:lstStyle/>
          <a:p>
            <a:pPr marL="91440" marR="104775">
              <a:lnSpc>
                <a:spcPct val="100000"/>
              </a:lnSpc>
              <a:spcBef>
                <a:spcPts val="235"/>
              </a:spcBef>
            </a:pPr>
            <a:r>
              <a:rPr sz="1800" spc="-10" dirty="0">
                <a:solidFill>
                  <a:srgbClr val="292929"/>
                </a:solidFill>
                <a:latin typeface="Calibri"/>
                <a:cs typeface="Calibri"/>
              </a:rPr>
              <a:t>Autoencoders</a:t>
            </a:r>
            <a:r>
              <a:rPr sz="1800" spc="-40" dirty="0">
                <a:solidFill>
                  <a:srgbClr val="292929"/>
                </a:solidFill>
                <a:latin typeface="Calibri"/>
                <a:cs typeface="Calibri"/>
              </a:rPr>
              <a:t> </a:t>
            </a:r>
            <a:r>
              <a:rPr sz="1800" dirty="0">
                <a:solidFill>
                  <a:srgbClr val="292929"/>
                </a:solidFill>
                <a:latin typeface="Calibri"/>
                <a:cs typeface="Calibri"/>
              </a:rPr>
              <a:t>are</a:t>
            </a:r>
            <a:r>
              <a:rPr sz="1800" spc="-30" dirty="0">
                <a:solidFill>
                  <a:srgbClr val="292929"/>
                </a:solidFill>
                <a:latin typeface="Calibri"/>
                <a:cs typeface="Calibri"/>
              </a:rPr>
              <a:t> </a:t>
            </a:r>
            <a:r>
              <a:rPr sz="1800" dirty="0">
                <a:solidFill>
                  <a:srgbClr val="292929"/>
                </a:solidFill>
                <a:latin typeface="Calibri"/>
                <a:cs typeface="Calibri"/>
              </a:rPr>
              <a:t>neural</a:t>
            </a:r>
            <a:r>
              <a:rPr sz="1800" spc="-35" dirty="0">
                <a:solidFill>
                  <a:srgbClr val="292929"/>
                </a:solidFill>
                <a:latin typeface="Calibri"/>
                <a:cs typeface="Calibri"/>
              </a:rPr>
              <a:t> </a:t>
            </a:r>
            <a:r>
              <a:rPr sz="1800" spc="-10" dirty="0">
                <a:solidFill>
                  <a:srgbClr val="292929"/>
                </a:solidFill>
                <a:latin typeface="Calibri"/>
                <a:cs typeface="Calibri"/>
              </a:rPr>
              <a:t>network-</a:t>
            </a:r>
            <a:r>
              <a:rPr sz="1800" dirty="0">
                <a:solidFill>
                  <a:srgbClr val="292929"/>
                </a:solidFill>
                <a:latin typeface="Calibri"/>
                <a:cs typeface="Calibri"/>
              </a:rPr>
              <a:t>based</a:t>
            </a:r>
            <a:r>
              <a:rPr sz="1800" spc="-40" dirty="0">
                <a:solidFill>
                  <a:srgbClr val="292929"/>
                </a:solidFill>
                <a:latin typeface="Calibri"/>
                <a:cs typeface="Calibri"/>
              </a:rPr>
              <a:t> </a:t>
            </a:r>
            <a:r>
              <a:rPr sz="1800" dirty="0">
                <a:solidFill>
                  <a:srgbClr val="292929"/>
                </a:solidFill>
                <a:latin typeface="Calibri"/>
                <a:cs typeface="Calibri"/>
              </a:rPr>
              <a:t>models</a:t>
            </a:r>
            <a:r>
              <a:rPr sz="1800" spc="-40" dirty="0">
                <a:solidFill>
                  <a:srgbClr val="292929"/>
                </a:solidFill>
                <a:latin typeface="Calibri"/>
                <a:cs typeface="Calibri"/>
              </a:rPr>
              <a:t> </a:t>
            </a:r>
            <a:r>
              <a:rPr sz="1800" dirty="0">
                <a:solidFill>
                  <a:srgbClr val="292929"/>
                </a:solidFill>
                <a:latin typeface="Calibri"/>
                <a:cs typeface="Calibri"/>
              </a:rPr>
              <a:t>that</a:t>
            </a:r>
            <a:r>
              <a:rPr sz="1800" spc="-40" dirty="0">
                <a:solidFill>
                  <a:srgbClr val="292929"/>
                </a:solidFill>
                <a:latin typeface="Calibri"/>
                <a:cs typeface="Calibri"/>
              </a:rPr>
              <a:t> </a:t>
            </a:r>
            <a:r>
              <a:rPr sz="1800" dirty="0">
                <a:solidFill>
                  <a:srgbClr val="292929"/>
                </a:solidFill>
                <a:latin typeface="Calibri"/>
                <a:cs typeface="Calibri"/>
              </a:rPr>
              <a:t>are</a:t>
            </a:r>
            <a:r>
              <a:rPr sz="1800" spc="-35" dirty="0">
                <a:solidFill>
                  <a:srgbClr val="292929"/>
                </a:solidFill>
                <a:latin typeface="Calibri"/>
                <a:cs typeface="Calibri"/>
              </a:rPr>
              <a:t> </a:t>
            </a:r>
            <a:r>
              <a:rPr sz="1800" dirty="0">
                <a:solidFill>
                  <a:srgbClr val="292929"/>
                </a:solidFill>
                <a:latin typeface="Calibri"/>
                <a:cs typeface="Calibri"/>
              </a:rPr>
              <a:t>used</a:t>
            </a:r>
            <a:r>
              <a:rPr sz="1800" spc="-45" dirty="0">
                <a:solidFill>
                  <a:srgbClr val="292929"/>
                </a:solidFill>
                <a:latin typeface="Calibri"/>
                <a:cs typeface="Calibri"/>
              </a:rPr>
              <a:t> </a:t>
            </a:r>
            <a:r>
              <a:rPr sz="1800" dirty="0">
                <a:solidFill>
                  <a:srgbClr val="292929"/>
                </a:solidFill>
                <a:latin typeface="Calibri"/>
                <a:cs typeface="Calibri"/>
              </a:rPr>
              <a:t>for</a:t>
            </a:r>
            <a:r>
              <a:rPr sz="1800" spc="-35" dirty="0">
                <a:solidFill>
                  <a:srgbClr val="292929"/>
                </a:solidFill>
                <a:latin typeface="Calibri"/>
                <a:cs typeface="Calibri"/>
              </a:rPr>
              <a:t> </a:t>
            </a:r>
            <a:r>
              <a:rPr sz="1800" dirty="0">
                <a:solidFill>
                  <a:srgbClr val="292929"/>
                </a:solidFill>
                <a:latin typeface="Calibri"/>
                <a:cs typeface="Calibri"/>
              </a:rPr>
              <a:t>unsupervised</a:t>
            </a:r>
            <a:r>
              <a:rPr sz="1800" spc="-45" dirty="0">
                <a:solidFill>
                  <a:srgbClr val="292929"/>
                </a:solidFill>
                <a:latin typeface="Calibri"/>
                <a:cs typeface="Calibri"/>
              </a:rPr>
              <a:t> </a:t>
            </a:r>
            <a:r>
              <a:rPr sz="1800" spc="-10" dirty="0">
                <a:solidFill>
                  <a:srgbClr val="292929"/>
                </a:solidFill>
                <a:latin typeface="Calibri"/>
                <a:cs typeface="Calibri"/>
              </a:rPr>
              <a:t>learning </a:t>
            </a:r>
            <a:r>
              <a:rPr sz="1800" dirty="0">
                <a:solidFill>
                  <a:srgbClr val="292929"/>
                </a:solidFill>
                <a:latin typeface="Calibri"/>
                <a:cs typeface="Calibri"/>
              </a:rPr>
              <a:t>purposes</a:t>
            </a:r>
            <a:r>
              <a:rPr sz="1800" spc="-50" dirty="0">
                <a:solidFill>
                  <a:srgbClr val="292929"/>
                </a:solidFill>
                <a:latin typeface="Calibri"/>
                <a:cs typeface="Calibri"/>
              </a:rPr>
              <a:t> </a:t>
            </a:r>
            <a:r>
              <a:rPr sz="1800" dirty="0">
                <a:solidFill>
                  <a:srgbClr val="292929"/>
                </a:solidFill>
                <a:latin typeface="Calibri"/>
                <a:cs typeface="Calibri"/>
              </a:rPr>
              <a:t>to</a:t>
            </a:r>
            <a:r>
              <a:rPr sz="1800" spc="-55" dirty="0">
                <a:solidFill>
                  <a:srgbClr val="292929"/>
                </a:solidFill>
                <a:latin typeface="Calibri"/>
                <a:cs typeface="Calibri"/>
              </a:rPr>
              <a:t> </a:t>
            </a:r>
            <a:r>
              <a:rPr sz="1800" dirty="0">
                <a:solidFill>
                  <a:srgbClr val="292929"/>
                </a:solidFill>
                <a:latin typeface="Calibri"/>
                <a:cs typeface="Calibri"/>
              </a:rPr>
              <a:t>discover</a:t>
            </a:r>
            <a:r>
              <a:rPr sz="1800" spc="-45" dirty="0">
                <a:solidFill>
                  <a:srgbClr val="292929"/>
                </a:solidFill>
                <a:latin typeface="Calibri"/>
                <a:cs typeface="Calibri"/>
              </a:rPr>
              <a:t> </a:t>
            </a:r>
            <a:r>
              <a:rPr sz="1800" dirty="0">
                <a:solidFill>
                  <a:srgbClr val="292929"/>
                </a:solidFill>
                <a:latin typeface="Calibri"/>
                <a:cs typeface="Calibri"/>
              </a:rPr>
              <a:t>underlying</a:t>
            </a:r>
            <a:r>
              <a:rPr sz="1800" spc="-25" dirty="0">
                <a:solidFill>
                  <a:srgbClr val="292929"/>
                </a:solidFill>
                <a:latin typeface="Calibri"/>
                <a:cs typeface="Calibri"/>
              </a:rPr>
              <a:t> </a:t>
            </a:r>
            <a:r>
              <a:rPr sz="1800" spc="-10" dirty="0">
                <a:solidFill>
                  <a:srgbClr val="292929"/>
                </a:solidFill>
                <a:latin typeface="Calibri"/>
                <a:cs typeface="Calibri"/>
              </a:rPr>
              <a:t>correlations</a:t>
            </a:r>
            <a:r>
              <a:rPr sz="1800" spc="-35" dirty="0">
                <a:solidFill>
                  <a:srgbClr val="292929"/>
                </a:solidFill>
                <a:latin typeface="Calibri"/>
                <a:cs typeface="Calibri"/>
              </a:rPr>
              <a:t> </a:t>
            </a:r>
            <a:r>
              <a:rPr sz="1800" dirty="0">
                <a:solidFill>
                  <a:srgbClr val="292929"/>
                </a:solidFill>
                <a:latin typeface="Calibri"/>
                <a:cs typeface="Calibri"/>
              </a:rPr>
              <a:t>among</a:t>
            </a:r>
            <a:r>
              <a:rPr sz="1800" spc="-50" dirty="0">
                <a:solidFill>
                  <a:srgbClr val="292929"/>
                </a:solidFill>
                <a:latin typeface="Calibri"/>
                <a:cs typeface="Calibri"/>
              </a:rPr>
              <a:t> </a:t>
            </a:r>
            <a:r>
              <a:rPr sz="1800" dirty="0">
                <a:solidFill>
                  <a:srgbClr val="292929"/>
                </a:solidFill>
                <a:latin typeface="Calibri"/>
                <a:cs typeface="Calibri"/>
              </a:rPr>
              <a:t>data</a:t>
            </a:r>
            <a:r>
              <a:rPr sz="1800" spc="-50" dirty="0">
                <a:solidFill>
                  <a:srgbClr val="292929"/>
                </a:solidFill>
                <a:latin typeface="Calibri"/>
                <a:cs typeface="Calibri"/>
              </a:rPr>
              <a:t> </a:t>
            </a:r>
            <a:r>
              <a:rPr sz="1800" dirty="0">
                <a:solidFill>
                  <a:srgbClr val="292929"/>
                </a:solidFill>
                <a:latin typeface="Calibri"/>
                <a:cs typeface="Calibri"/>
              </a:rPr>
              <a:t>and</a:t>
            </a:r>
            <a:r>
              <a:rPr sz="1800" spc="-40" dirty="0">
                <a:solidFill>
                  <a:srgbClr val="292929"/>
                </a:solidFill>
                <a:latin typeface="Calibri"/>
                <a:cs typeface="Calibri"/>
              </a:rPr>
              <a:t> </a:t>
            </a:r>
            <a:r>
              <a:rPr sz="1800" spc="-10" dirty="0">
                <a:solidFill>
                  <a:srgbClr val="292929"/>
                </a:solidFill>
                <a:latin typeface="Calibri"/>
                <a:cs typeface="Calibri"/>
              </a:rPr>
              <a:t>represent</a:t>
            </a:r>
            <a:r>
              <a:rPr sz="1800" spc="-65" dirty="0">
                <a:solidFill>
                  <a:srgbClr val="292929"/>
                </a:solidFill>
                <a:latin typeface="Calibri"/>
                <a:cs typeface="Calibri"/>
              </a:rPr>
              <a:t> </a:t>
            </a:r>
            <a:r>
              <a:rPr sz="1800" dirty="0">
                <a:solidFill>
                  <a:srgbClr val="292929"/>
                </a:solidFill>
                <a:latin typeface="Calibri"/>
                <a:cs typeface="Calibri"/>
              </a:rPr>
              <a:t>data</a:t>
            </a:r>
            <a:r>
              <a:rPr sz="1800" spc="-35" dirty="0">
                <a:solidFill>
                  <a:srgbClr val="292929"/>
                </a:solidFill>
                <a:latin typeface="Calibri"/>
                <a:cs typeface="Calibri"/>
              </a:rPr>
              <a:t> </a:t>
            </a:r>
            <a:r>
              <a:rPr sz="1800" dirty="0">
                <a:solidFill>
                  <a:srgbClr val="292929"/>
                </a:solidFill>
                <a:latin typeface="Calibri"/>
                <a:cs typeface="Calibri"/>
              </a:rPr>
              <a:t>in</a:t>
            </a:r>
            <a:r>
              <a:rPr sz="1800" spc="-55"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spc="-10" dirty="0">
                <a:solidFill>
                  <a:srgbClr val="292929"/>
                </a:solidFill>
                <a:latin typeface="Calibri"/>
                <a:cs typeface="Calibri"/>
              </a:rPr>
              <a:t>smaller dimension.</a:t>
            </a:r>
            <a:r>
              <a:rPr sz="1800" spc="-3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spc="-10" dirty="0">
                <a:solidFill>
                  <a:srgbClr val="292929"/>
                </a:solidFill>
                <a:latin typeface="Calibri"/>
                <a:cs typeface="Calibri"/>
              </a:rPr>
              <a:t>autoencoders</a:t>
            </a:r>
            <a:r>
              <a:rPr sz="1800" spc="-20" dirty="0">
                <a:solidFill>
                  <a:srgbClr val="292929"/>
                </a:solidFill>
                <a:latin typeface="Calibri"/>
                <a:cs typeface="Calibri"/>
              </a:rPr>
              <a:t> </a:t>
            </a:r>
            <a:r>
              <a:rPr sz="1800" dirty="0">
                <a:solidFill>
                  <a:srgbClr val="292929"/>
                </a:solidFill>
                <a:latin typeface="Calibri"/>
                <a:cs typeface="Calibri"/>
              </a:rPr>
              <a:t>frame</a:t>
            </a:r>
            <a:r>
              <a:rPr sz="1800" spc="-30" dirty="0">
                <a:solidFill>
                  <a:srgbClr val="292929"/>
                </a:solidFill>
                <a:latin typeface="Calibri"/>
                <a:cs typeface="Calibri"/>
              </a:rPr>
              <a:t> </a:t>
            </a:r>
            <a:r>
              <a:rPr sz="1800" spc="-10" dirty="0">
                <a:solidFill>
                  <a:srgbClr val="292929"/>
                </a:solidFill>
                <a:latin typeface="Calibri"/>
                <a:cs typeface="Calibri"/>
              </a:rPr>
              <a:t>unsupervised</a:t>
            </a:r>
            <a:r>
              <a:rPr sz="1800" spc="-30" dirty="0">
                <a:solidFill>
                  <a:srgbClr val="292929"/>
                </a:solidFill>
                <a:latin typeface="Calibri"/>
                <a:cs typeface="Calibri"/>
              </a:rPr>
              <a:t> </a:t>
            </a:r>
            <a:r>
              <a:rPr sz="1800" dirty="0">
                <a:solidFill>
                  <a:srgbClr val="292929"/>
                </a:solidFill>
                <a:latin typeface="Calibri"/>
                <a:cs typeface="Calibri"/>
              </a:rPr>
              <a:t>learning</a:t>
            </a:r>
            <a:r>
              <a:rPr sz="1800" spc="-20" dirty="0">
                <a:solidFill>
                  <a:srgbClr val="292929"/>
                </a:solidFill>
                <a:latin typeface="Calibri"/>
                <a:cs typeface="Calibri"/>
              </a:rPr>
              <a:t> </a:t>
            </a:r>
            <a:r>
              <a:rPr sz="1800" spc="-10" dirty="0">
                <a:solidFill>
                  <a:srgbClr val="292929"/>
                </a:solidFill>
                <a:latin typeface="Calibri"/>
                <a:cs typeface="Calibri"/>
              </a:rPr>
              <a:t>problems</a:t>
            </a:r>
            <a:r>
              <a:rPr sz="1800" spc="-35" dirty="0">
                <a:solidFill>
                  <a:srgbClr val="292929"/>
                </a:solidFill>
                <a:latin typeface="Calibri"/>
                <a:cs typeface="Calibri"/>
              </a:rPr>
              <a:t> </a:t>
            </a:r>
            <a:r>
              <a:rPr sz="1800" dirty="0">
                <a:solidFill>
                  <a:srgbClr val="292929"/>
                </a:solidFill>
                <a:latin typeface="Calibri"/>
                <a:cs typeface="Calibri"/>
              </a:rPr>
              <a:t>as</a:t>
            </a:r>
            <a:r>
              <a:rPr sz="1800" spc="-25" dirty="0">
                <a:solidFill>
                  <a:srgbClr val="292929"/>
                </a:solidFill>
                <a:latin typeface="Calibri"/>
                <a:cs typeface="Calibri"/>
              </a:rPr>
              <a:t> </a:t>
            </a:r>
            <a:r>
              <a:rPr sz="1800" spc="-10" dirty="0">
                <a:solidFill>
                  <a:srgbClr val="292929"/>
                </a:solidFill>
                <a:latin typeface="Calibri"/>
                <a:cs typeface="Calibri"/>
              </a:rPr>
              <a:t>supervised </a:t>
            </a:r>
            <a:r>
              <a:rPr sz="1800" dirty="0">
                <a:solidFill>
                  <a:srgbClr val="292929"/>
                </a:solidFill>
                <a:latin typeface="Calibri"/>
                <a:cs typeface="Calibri"/>
              </a:rPr>
              <a:t>learning</a:t>
            </a:r>
            <a:r>
              <a:rPr sz="1800" spc="-40" dirty="0">
                <a:solidFill>
                  <a:srgbClr val="292929"/>
                </a:solidFill>
                <a:latin typeface="Calibri"/>
                <a:cs typeface="Calibri"/>
              </a:rPr>
              <a:t> </a:t>
            </a:r>
            <a:r>
              <a:rPr sz="1800" spc="-10" dirty="0">
                <a:solidFill>
                  <a:srgbClr val="292929"/>
                </a:solidFill>
                <a:latin typeface="Calibri"/>
                <a:cs typeface="Calibri"/>
              </a:rPr>
              <a:t>problems</a:t>
            </a:r>
            <a:r>
              <a:rPr sz="1800" spc="-45" dirty="0">
                <a:solidFill>
                  <a:srgbClr val="292929"/>
                </a:solidFill>
                <a:latin typeface="Calibri"/>
                <a:cs typeface="Calibri"/>
              </a:rPr>
              <a:t> </a:t>
            </a:r>
            <a:r>
              <a:rPr sz="1800" dirty="0">
                <a:solidFill>
                  <a:srgbClr val="292929"/>
                </a:solidFill>
                <a:latin typeface="Calibri"/>
                <a:cs typeface="Calibri"/>
              </a:rPr>
              <a:t>to</a:t>
            </a:r>
            <a:r>
              <a:rPr sz="1800" spc="-50" dirty="0">
                <a:solidFill>
                  <a:srgbClr val="292929"/>
                </a:solidFill>
                <a:latin typeface="Calibri"/>
                <a:cs typeface="Calibri"/>
              </a:rPr>
              <a:t> </a:t>
            </a:r>
            <a:r>
              <a:rPr sz="1800" dirty="0">
                <a:solidFill>
                  <a:srgbClr val="292929"/>
                </a:solidFill>
                <a:latin typeface="Calibri"/>
                <a:cs typeface="Calibri"/>
              </a:rPr>
              <a:t>train</a:t>
            </a:r>
            <a:r>
              <a:rPr sz="1800" spc="-40" dirty="0">
                <a:solidFill>
                  <a:srgbClr val="292929"/>
                </a:solidFill>
                <a:latin typeface="Calibri"/>
                <a:cs typeface="Calibri"/>
              </a:rPr>
              <a:t> </a:t>
            </a:r>
            <a:r>
              <a:rPr sz="1800" dirty="0">
                <a:solidFill>
                  <a:srgbClr val="292929"/>
                </a:solidFill>
                <a:latin typeface="Calibri"/>
                <a:cs typeface="Calibri"/>
              </a:rPr>
              <a:t>a</a:t>
            </a:r>
            <a:r>
              <a:rPr sz="1800" spc="-50" dirty="0">
                <a:solidFill>
                  <a:srgbClr val="292929"/>
                </a:solidFill>
                <a:latin typeface="Calibri"/>
                <a:cs typeface="Calibri"/>
              </a:rPr>
              <a:t> </a:t>
            </a:r>
            <a:r>
              <a:rPr sz="1800" dirty="0">
                <a:solidFill>
                  <a:srgbClr val="292929"/>
                </a:solidFill>
                <a:latin typeface="Calibri"/>
                <a:cs typeface="Calibri"/>
              </a:rPr>
              <a:t>neural</a:t>
            </a:r>
            <a:r>
              <a:rPr sz="1800" spc="-45" dirty="0">
                <a:solidFill>
                  <a:srgbClr val="292929"/>
                </a:solidFill>
                <a:latin typeface="Calibri"/>
                <a:cs typeface="Calibri"/>
              </a:rPr>
              <a:t> </a:t>
            </a:r>
            <a:r>
              <a:rPr sz="1800" dirty="0">
                <a:solidFill>
                  <a:srgbClr val="292929"/>
                </a:solidFill>
                <a:latin typeface="Calibri"/>
                <a:cs typeface="Calibri"/>
              </a:rPr>
              <a:t>network</a:t>
            </a:r>
            <a:r>
              <a:rPr sz="1800" spc="-45" dirty="0">
                <a:solidFill>
                  <a:srgbClr val="292929"/>
                </a:solidFill>
                <a:latin typeface="Calibri"/>
                <a:cs typeface="Calibri"/>
              </a:rPr>
              <a:t> </a:t>
            </a:r>
            <a:r>
              <a:rPr sz="1800" spc="-10" dirty="0">
                <a:solidFill>
                  <a:srgbClr val="292929"/>
                </a:solidFill>
                <a:latin typeface="Calibri"/>
                <a:cs typeface="Calibri"/>
              </a:rPr>
              <a:t>model.</a:t>
            </a:r>
            <a:endParaRPr sz="1800">
              <a:latin typeface="Calibri"/>
              <a:cs typeface="Calibri"/>
            </a:endParaRPr>
          </a:p>
        </p:txBody>
      </p:sp>
      <p:sp>
        <p:nvSpPr>
          <p:cNvPr id="4" name="object 4"/>
          <p:cNvSpPr txBox="1"/>
          <p:nvPr/>
        </p:nvSpPr>
        <p:spPr>
          <a:xfrm>
            <a:off x="411480" y="4963667"/>
            <a:ext cx="11131550" cy="647700"/>
          </a:xfrm>
          <a:prstGeom prst="rect">
            <a:avLst/>
          </a:prstGeom>
          <a:solidFill>
            <a:srgbClr val="E1EFD9"/>
          </a:solidFill>
        </p:spPr>
        <p:txBody>
          <a:bodyPr vert="horz" wrap="square" lIns="0" tIns="32384" rIns="0" bIns="0" rtlCol="0">
            <a:spAutoFit/>
          </a:bodyPr>
          <a:lstStyle/>
          <a:p>
            <a:pPr marL="90805">
              <a:lnSpc>
                <a:spcPct val="100000"/>
              </a:lnSpc>
              <a:spcBef>
                <a:spcPts val="254"/>
              </a:spcBef>
            </a:pP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input</a:t>
            </a:r>
            <a:r>
              <a:rPr sz="1800" spc="-20" dirty="0">
                <a:solidFill>
                  <a:srgbClr val="292929"/>
                </a:solidFill>
                <a:latin typeface="Calibri"/>
                <a:cs typeface="Calibri"/>
              </a:rPr>
              <a:t> </a:t>
            </a:r>
            <a:r>
              <a:rPr sz="1800" dirty="0">
                <a:solidFill>
                  <a:srgbClr val="292929"/>
                </a:solidFill>
                <a:latin typeface="Calibri"/>
                <a:cs typeface="Calibri"/>
              </a:rPr>
              <a:t>is</a:t>
            </a:r>
            <a:r>
              <a:rPr sz="1800" spc="-45" dirty="0">
                <a:solidFill>
                  <a:srgbClr val="292929"/>
                </a:solidFill>
                <a:latin typeface="Calibri"/>
                <a:cs typeface="Calibri"/>
              </a:rPr>
              <a:t> </a:t>
            </a:r>
            <a:r>
              <a:rPr sz="1800" spc="-10" dirty="0">
                <a:solidFill>
                  <a:srgbClr val="292929"/>
                </a:solidFill>
                <a:latin typeface="Calibri"/>
                <a:cs typeface="Calibri"/>
              </a:rPr>
              <a:t>squeezed</a:t>
            </a:r>
            <a:r>
              <a:rPr sz="1800" spc="-45" dirty="0">
                <a:solidFill>
                  <a:srgbClr val="292929"/>
                </a:solidFill>
                <a:latin typeface="Calibri"/>
                <a:cs typeface="Calibri"/>
              </a:rPr>
              <a:t> </a:t>
            </a:r>
            <a:r>
              <a:rPr sz="1800" dirty="0">
                <a:solidFill>
                  <a:srgbClr val="292929"/>
                </a:solidFill>
                <a:latin typeface="Calibri"/>
                <a:cs typeface="Calibri"/>
              </a:rPr>
              <a:t>down</a:t>
            </a:r>
            <a:r>
              <a:rPr sz="1800" spc="-40" dirty="0">
                <a:solidFill>
                  <a:srgbClr val="292929"/>
                </a:solidFill>
                <a:latin typeface="Calibri"/>
                <a:cs typeface="Calibri"/>
              </a:rPr>
              <a:t> </a:t>
            </a:r>
            <a:r>
              <a:rPr sz="1800" dirty="0">
                <a:solidFill>
                  <a:srgbClr val="292929"/>
                </a:solidFill>
                <a:latin typeface="Calibri"/>
                <a:cs typeface="Calibri"/>
              </a:rPr>
              <a:t>to</a:t>
            </a:r>
            <a:r>
              <a:rPr sz="1800" spc="-50" dirty="0">
                <a:solidFill>
                  <a:srgbClr val="292929"/>
                </a:solidFill>
                <a:latin typeface="Calibri"/>
                <a:cs typeface="Calibri"/>
              </a:rPr>
              <a:t> </a:t>
            </a:r>
            <a:r>
              <a:rPr sz="1800" dirty="0">
                <a:solidFill>
                  <a:srgbClr val="292929"/>
                </a:solidFill>
                <a:latin typeface="Calibri"/>
                <a:cs typeface="Calibri"/>
              </a:rPr>
              <a:t>a</a:t>
            </a:r>
            <a:r>
              <a:rPr sz="1800" spc="-50" dirty="0">
                <a:solidFill>
                  <a:srgbClr val="292929"/>
                </a:solidFill>
                <a:latin typeface="Calibri"/>
                <a:cs typeface="Calibri"/>
              </a:rPr>
              <a:t> </a:t>
            </a:r>
            <a:r>
              <a:rPr sz="1800" dirty="0">
                <a:solidFill>
                  <a:srgbClr val="292929"/>
                </a:solidFill>
                <a:latin typeface="Calibri"/>
                <a:cs typeface="Calibri"/>
              </a:rPr>
              <a:t>lower</a:t>
            </a:r>
            <a:r>
              <a:rPr sz="1800" spc="-25" dirty="0">
                <a:solidFill>
                  <a:srgbClr val="292929"/>
                </a:solidFill>
                <a:latin typeface="Calibri"/>
                <a:cs typeface="Calibri"/>
              </a:rPr>
              <a:t> </a:t>
            </a:r>
            <a:r>
              <a:rPr sz="1800" dirty="0">
                <a:solidFill>
                  <a:srgbClr val="292929"/>
                </a:solidFill>
                <a:latin typeface="Calibri"/>
                <a:cs typeface="Calibri"/>
              </a:rPr>
              <a:t>encoded</a:t>
            </a:r>
            <a:r>
              <a:rPr sz="1800" spc="-35" dirty="0">
                <a:solidFill>
                  <a:srgbClr val="292929"/>
                </a:solidFill>
                <a:latin typeface="Calibri"/>
                <a:cs typeface="Calibri"/>
              </a:rPr>
              <a:t> </a:t>
            </a:r>
            <a:r>
              <a:rPr sz="1800" spc="-10" dirty="0">
                <a:solidFill>
                  <a:srgbClr val="292929"/>
                </a:solidFill>
                <a:latin typeface="Calibri"/>
                <a:cs typeface="Calibri"/>
              </a:rPr>
              <a:t>representation</a:t>
            </a:r>
            <a:r>
              <a:rPr sz="1800" spc="-50" dirty="0">
                <a:solidFill>
                  <a:srgbClr val="292929"/>
                </a:solidFill>
                <a:latin typeface="Calibri"/>
                <a:cs typeface="Calibri"/>
              </a:rPr>
              <a:t> </a:t>
            </a:r>
            <a:r>
              <a:rPr sz="1800" dirty="0">
                <a:solidFill>
                  <a:srgbClr val="292929"/>
                </a:solidFill>
                <a:latin typeface="Calibri"/>
                <a:cs typeface="Calibri"/>
              </a:rPr>
              <a:t>using</a:t>
            </a:r>
            <a:r>
              <a:rPr sz="1800" spc="-40" dirty="0">
                <a:solidFill>
                  <a:srgbClr val="292929"/>
                </a:solidFill>
                <a:latin typeface="Calibri"/>
                <a:cs typeface="Calibri"/>
              </a:rPr>
              <a:t> </a:t>
            </a:r>
            <a:r>
              <a:rPr sz="1800" dirty="0">
                <a:solidFill>
                  <a:srgbClr val="292929"/>
                </a:solidFill>
                <a:latin typeface="Calibri"/>
                <a:cs typeface="Calibri"/>
              </a:rPr>
              <a:t>an</a:t>
            </a:r>
            <a:r>
              <a:rPr sz="1800" spc="-45" dirty="0">
                <a:solidFill>
                  <a:srgbClr val="292929"/>
                </a:solidFill>
                <a:latin typeface="Calibri"/>
                <a:cs typeface="Calibri"/>
              </a:rPr>
              <a:t> </a:t>
            </a:r>
            <a:r>
              <a:rPr sz="1800" dirty="0">
                <a:solidFill>
                  <a:srgbClr val="292929"/>
                </a:solidFill>
                <a:latin typeface="Calibri"/>
                <a:cs typeface="Calibri"/>
              </a:rPr>
              <a:t>encoder</a:t>
            </a:r>
            <a:r>
              <a:rPr sz="1800" spc="-40" dirty="0">
                <a:solidFill>
                  <a:srgbClr val="292929"/>
                </a:solidFill>
                <a:latin typeface="Calibri"/>
                <a:cs typeface="Calibri"/>
              </a:rPr>
              <a:t> </a:t>
            </a:r>
            <a:r>
              <a:rPr sz="1800" dirty="0">
                <a:solidFill>
                  <a:srgbClr val="292929"/>
                </a:solidFill>
                <a:latin typeface="Calibri"/>
                <a:cs typeface="Calibri"/>
              </a:rPr>
              <a:t>network,</a:t>
            </a:r>
            <a:r>
              <a:rPr sz="1800" spc="-30" dirty="0">
                <a:solidFill>
                  <a:srgbClr val="292929"/>
                </a:solidFill>
                <a:latin typeface="Calibri"/>
                <a:cs typeface="Calibri"/>
              </a:rPr>
              <a:t> </a:t>
            </a:r>
            <a:r>
              <a:rPr sz="1800" dirty="0">
                <a:solidFill>
                  <a:srgbClr val="292929"/>
                </a:solidFill>
                <a:latin typeface="Calibri"/>
                <a:cs typeface="Calibri"/>
              </a:rPr>
              <a:t>then</a:t>
            </a:r>
            <a:r>
              <a:rPr sz="1800" spc="-45" dirty="0">
                <a:solidFill>
                  <a:srgbClr val="292929"/>
                </a:solidFill>
                <a:latin typeface="Calibri"/>
                <a:cs typeface="Calibri"/>
              </a:rPr>
              <a:t> </a:t>
            </a:r>
            <a:r>
              <a:rPr sz="1800" dirty="0">
                <a:solidFill>
                  <a:srgbClr val="292929"/>
                </a:solidFill>
                <a:latin typeface="Calibri"/>
                <a:cs typeface="Calibri"/>
              </a:rPr>
              <a:t>a</a:t>
            </a:r>
            <a:r>
              <a:rPr sz="1800" spc="-50" dirty="0">
                <a:solidFill>
                  <a:srgbClr val="292929"/>
                </a:solidFill>
                <a:latin typeface="Calibri"/>
                <a:cs typeface="Calibri"/>
              </a:rPr>
              <a:t> </a:t>
            </a:r>
            <a:r>
              <a:rPr sz="1800" dirty="0">
                <a:solidFill>
                  <a:srgbClr val="292929"/>
                </a:solidFill>
                <a:latin typeface="Calibri"/>
                <a:cs typeface="Calibri"/>
              </a:rPr>
              <a:t>decoder</a:t>
            </a:r>
            <a:r>
              <a:rPr sz="1800" spc="-30" dirty="0">
                <a:solidFill>
                  <a:srgbClr val="292929"/>
                </a:solidFill>
                <a:latin typeface="Calibri"/>
                <a:cs typeface="Calibri"/>
              </a:rPr>
              <a:t> </a:t>
            </a:r>
            <a:r>
              <a:rPr sz="1800" spc="-10" dirty="0">
                <a:solidFill>
                  <a:srgbClr val="292929"/>
                </a:solidFill>
                <a:latin typeface="Calibri"/>
                <a:cs typeface="Calibri"/>
              </a:rPr>
              <a:t>network</a:t>
            </a:r>
            <a:endParaRPr sz="1800">
              <a:latin typeface="Calibri"/>
              <a:cs typeface="Calibri"/>
            </a:endParaRPr>
          </a:p>
          <a:p>
            <a:pPr marL="90805">
              <a:lnSpc>
                <a:spcPct val="100000"/>
              </a:lnSpc>
            </a:pPr>
            <a:r>
              <a:rPr sz="1800" dirty="0">
                <a:solidFill>
                  <a:srgbClr val="292929"/>
                </a:solidFill>
                <a:latin typeface="Calibri"/>
                <a:cs typeface="Calibri"/>
              </a:rPr>
              <a:t>decodes</a:t>
            </a:r>
            <a:r>
              <a:rPr sz="1800" spc="-5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encoding</a:t>
            </a:r>
            <a:r>
              <a:rPr sz="1800" spc="-25" dirty="0">
                <a:solidFill>
                  <a:srgbClr val="292929"/>
                </a:solidFill>
                <a:latin typeface="Calibri"/>
                <a:cs typeface="Calibri"/>
              </a:rPr>
              <a:t> </a:t>
            </a:r>
            <a:r>
              <a:rPr sz="1800" dirty="0">
                <a:solidFill>
                  <a:srgbClr val="292929"/>
                </a:solidFill>
                <a:latin typeface="Calibri"/>
                <a:cs typeface="Calibri"/>
              </a:rPr>
              <a:t>to</a:t>
            </a:r>
            <a:r>
              <a:rPr sz="1800" spc="-50" dirty="0">
                <a:solidFill>
                  <a:srgbClr val="292929"/>
                </a:solidFill>
                <a:latin typeface="Calibri"/>
                <a:cs typeface="Calibri"/>
              </a:rPr>
              <a:t> </a:t>
            </a:r>
            <a:r>
              <a:rPr sz="1800" spc="-10" dirty="0">
                <a:solidFill>
                  <a:srgbClr val="292929"/>
                </a:solidFill>
                <a:latin typeface="Calibri"/>
                <a:cs typeface="Calibri"/>
              </a:rPr>
              <a:t>recreate</a:t>
            </a:r>
            <a:r>
              <a:rPr sz="1800" spc="-35" dirty="0">
                <a:solidFill>
                  <a:srgbClr val="292929"/>
                </a:solidFill>
                <a:latin typeface="Calibri"/>
                <a:cs typeface="Calibri"/>
              </a:rPr>
              <a:t> </a:t>
            </a:r>
            <a:r>
              <a:rPr sz="1800" dirty="0">
                <a:solidFill>
                  <a:srgbClr val="292929"/>
                </a:solidFill>
                <a:latin typeface="Calibri"/>
                <a:cs typeface="Calibri"/>
              </a:rPr>
              <a:t>back</a:t>
            </a:r>
            <a:r>
              <a:rPr sz="1800" spc="-55"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spc="-10" dirty="0">
                <a:solidFill>
                  <a:srgbClr val="292929"/>
                </a:solidFill>
                <a:latin typeface="Calibri"/>
                <a:cs typeface="Calibri"/>
              </a:rPr>
              <a:t>input.</a:t>
            </a:r>
            <a:endParaRPr sz="1800">
              <a:latin typeface="Calibri"/>
              <a:cs typeface="Calibri"/>
            </a:endParaRPr>
          </a:p>
        </p:txBody>
      </p:sp>
      <p:pic>
        <p:nvPicPr>
          <p:cNvPr id="5" name="object 5"/>
          <p:cNvPicPr/>
          <p:nvPr/>
        </p:nvPicPr>
        <p:blipFill>
          <a:blip r:embed="rId2" cstate="print"/>
          <a:stretch>
            <a:fillRect/>
          </a:stretch>
        </p:blipFill>
        <p:spPr>
          <a:xfrm>
            <a:off x="1188719" y="2985516"/>
            <a:ext cx="6324600" cy="1752599"/>
          </a:xfrm>
          <a:prstGeom prst="rect">
            <a:avLst/>
          </a:prstGeom>
        </p:spPr>
      </p:pic>
      <p:sp>
        <p:nvSpPr>
          <p:cNvPr id="6" name="object 6"/>
          <p:cNvSpPr txBox="1"/>
          <p:nvPr/>
        </p:nvSpPr>
        <p:spPr>
          <a:xfrm>
            <a:off x="411480" y="5690615"/>
            <a:ext cx="11131550" cy="646430"/>
          </a:xfrm>
          <a:prstGeom prst="rect">
            <a:avLst/>
          </a:prstGeom>
          <a:solidFill>
            <a:srgbClr val="FAE4D5"/>
          </a:solidFill>
        </p:spPr>
        <p:txBody>
          <a:bodyPr vert="horz" wrap="square" lIns="0" tIns="32384" rIns="0" bIns="0" rtlCol="0">
            <a:spAutoFit/>
          </a:bodyPr>
          <a:lstStyle/>
          <a:p>
            <a:pPr marL="90805">
              <a:lnSpc>
                <a:spcPct val="100000"/>
              </a:lnSpc>
              <a:spcBef>
                <a:spcPts val="254"/>
              </a:spcBef>
            </a:pP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encoding</a:t>
            </a:r>
            <a:r>
              <a:rPr sz="1800" spc="-30" dirty="0">
                <a:solidFill>
                  <a:srgbClr val="292929"/>
                </a:solidFill>
                <a:latin typeface="Calibri"/>
                <a:cs typeface="Calibri"/>
              </a:rPr>
              <a:t> </a:t>
            </a:r>
            <a:r>
              <a:rPr sz="1800" spc="-10" dirty="0">
                <a:solidFill>
                  <a:srgbClr val="292929"/>
                </a:solidFill>
                <a:latin typeface="Calibri"/>
                <a:cs typeface="Calibri"/>
              </a:rPr>
              <a:t>produced</a:t>
            </a:r>
            <a:r>
              <a:rPr sz="1800" spc="-35" dirty="0">
                <a:solidFill>
                  <a:srgbClr val="292929"/>
                </a:solidFill>
                <a:latin typeface="Calibri"/>
                <a:cs typeface="Calibri"/>
              </a:rPr>
              <a:t> </a:t>
            </a:r>
            <a:r>
              <a:rPr sz="1800" dirty="0">
                <a:solidFill>
                  <a:srgbClr val="292929"/>
                </a:solidFill>
                <a:latin typeface="Calibri"/>
                <a:cs typeface="Calibri"/>
              </a:rPr>
              <a:t>by</a:t>
            </a:r>
            <a:r>
              <a:rPr sz="1800" spc="-4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dirty="0">
                <a:solidFill>
                  <a:srgbClr val="292929"/>
                </a:solidFill>
                <a:latin typeface="Calibri"/>
                <a:cs typeface="Calibri"/>
              </a:rPr>
              <a:t>encoder</a:t>
            </a:r>
            <a:r>
              <a:rPr sz="1800" spc="-30" dirty="0">
                <a:solidFill>
                  <a:srgbClr val="292929"/>
                </a:solidFill>
                <a:latin typeface="Calibri"/>
                <a:cs typeface="Calibri"/>
              </a:rPr>
              <a:t> </a:t>
            </a:r>
            <a:r>
              <a:rPr sz="1800" dirty="0">
                <a:solidFill>
                  <a:srgbClr val="292929"/>
                </a:solidFill>
                <a:latin typeface="Calibri"/>
                <a:cs typeface="Calibri"/>
              </a:rPr>
              <a:t>layer</a:t>
            </a:r>
            <a:r>
              <a:rPr sz="1800" spc="-40" dirty="0">
                <a:solidFill>
                  <a:srgbClr val="292929"/>
                </a:solidFill>
                <a:latin typeface="Calibri"/>
                <a:cs typeface="Calibri"/>
              </a:rPr>
              <a:t> </a:t>
            </a:r>
            <a:r>
              <a:rPr sz="1800" dirty="0">
                <a:solidFill>
                  <a:srgbClr val="292929"/>
                </a:solidFill>
                <a:latin typeface="Calibri"/>
                <a:cs typeface="Calibri"/>
              </a:rPr>
              <a:t>has</a:t>
            </a:r>
            <a:r>
              <a:rPr sz="1800" spc="-55" dirty="0">
                <a:solidFill>
                  <a:srgbClr val="292929"/>
                </a:solidFill>
                <a:latin typeface="Calibri"/>
                <a:cs typeface="Calibri"/>
              </a:rPr>
              <a:t> </a:t>
            </a:r>
            <a:r>
              <a:rPr sz="1800" dirty="0">
                <a:solidFill>
                  <a:srgbClr val="292929"/>
                </a:solidFill>
                <a:latin typeface="Calibri"/>
                <a:cs typeface="Calibri"/>
              </a:rPr>
              <a:t>a</a:t>
            </a:r>
            <a:r>
              <a:rPr sz="1800" spc="-40" dirty="0">
                <a:solidFill>
                  <a:srgbClr val="292929"/>
                </a:solidFill>
                <a:latin typeface="Calibri"/>
                <a:cs typeface="Calibri"/>
              </a:rPr>
              <a:t> </a:t>
            </a:r>
            <a:r>
              <a:rPr sz="1800" spc="-10" dirty="0">
                <a:solidFill>
                  <a:srgbClr val="292929"/>
                </a:solidFill>
                <a:latin typeface="Calibri"/>
                <a:cs typeface="Calibri"/>
              </a:rPr>
              <a:t>lower-</a:t>
            </a:r>
            <a:r>
              <a:rPr sz="1800" dirty="0">
                <a:solidFill>
                  <a:srgbClr val="292929"/>
                </a:solidFill>
                <a:latin typeface="Calibri"/>
                <a:cs typeface="Calibri"/>
              </a:rPr>
              <a:t>dimensional</a:t>
            </a:r>
            <a:r>
              <a:rPr sz="1800" spc="-30" dirty="0">
                <a:solidFill>
                  <a:srgbClr val="292929"/>
                </a:solidFill>
                <a:latin typeface="Calibri"/>
                <a:cs typeface="Calibri"/>
              </a:rPr>
              <a:t> </a:t>
            </a:r>
            <a:r>
              <a:rPr sz="1800" spc="-10" dirty="0">
                <a:solidFill>
                  <a:srgbClr val="292929"/>
                </a:solidFill>
                <a:latin typeface="Calibri"/>
                <a:cs typeface="Calibri"/>
              </a:rPr>
              <a:t>representation</a:t>
            </a:r>
            <a:r>
              <a:rPr sz="1800" spc="-55"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data</a:t>
            </a:r>
            <a:r>
              <a:rPr sz="1800" spc="-50" dirty="0">
                <a:solidFill>
                  <a:srgbClr val="292929"/>
                </a:solidFill>
                <a:latin typeface="Calibri"/>
                <a:cs typeface="Calibri"/>
              </a:rPr>
              <a:t> </a:t>
            </a:r>
            <a:r>
              <a:rPr sz="1800" dirty="0">
                <a:solidFill>
                  <a:srgbClr val="292929"/>
                </a:solidFill>
                <a:latin typeface="Calibri"/>
                <a:cs typeface="Calibri"/>
              </a:rPr>
              <a:t>and</a:t>
            </a:r>
            <a:r>
              <a:rPr sz="1800" spc="-55" dirty="0">
                <a:solidFill>
                  <a:srgbClr val="292929"/>
                </a:solidFill>
                <a:latin typeface="Calibri"/>
                <a:cs typeface="Calibri"/>
              </a:rPr>
              <a:t> </a:t>
            </a:r>
            <a:r>
              <a:rPr sz="1800" dirty="0">
                <a:solidFill>
                  <a:srgbClr val="292929"/>
                </a:solidFill>
                <a:latin typeface="Calibri"/>
                <a:cs typeface="Calibri"/>
              </a:rPr>
              <a:t>shows</a:t>
            </a:r>
            <a:r>
              <a:rPr sz="1800" spc="-45" dirty="0">
                <a:solidFill>
                  <a:srgbClr val="292929"/>
                </a:solidFill>
                <a:latin typeface="Calibri"/>
                <a:cs typeface="Calibri"/>
              </a:rPr>
              <a:t> </a:t>
            </a:r>
            <a:r>
              <a:rPr sz="1800" spc="-10" dirty="0">
                <a:solidFill>
                  <a:srgbClr val="292929"/>
                </a:solidFill>
                <a:latin typeface="Calibri"/>
                <a:cs typeface="Calibri"/>
              </a:rPr>
              <a:t>several</a:t>
            </a:r>
            <a:endParaRPr sz="1800">
              <a:latin typeface="Calibri"/>
              <a:cs typeface="Calibri"/>
            </a:endParaRPr>
          </a:p>
          <a:p>
            <a:pPr marL="90805">
              <a:lnSpc>
                <a:spcPct val="100000"/>
              </a:lnSpc>
            </a:pPr>
            <a:r>
              <a:rPr sz="1800" spc="-10" dirty="0">
                <a:solidFill>
                  <a:srgbClr val="292929"/>
                </a:solidFill>
                <a:latin typeface="Calibri"/>
                <a:cs typeface="Calibri"/>
              </a:rPr>
              <a:t>interesting</a:t>
            </a:r>
            <a:r>
              <a:rPr sz="1800" spc="-40" dirty="0">
                <a:solidFill>
                  <a:srgbClr val="292929"/>
                </a:solidFill>
                <a:latin typeface="Calibri"/>
                <a:cs typeface="Calibri"/>
              </a:rPr>
              <a:t> </a:t>
            </a:r>
            <a:r>
              <a:rPr sz="1800" dirty="0">
                <a:solidFill>
                  <a:srgbClr val="292929"/>
                </a:solidFill>
                <a:latin typeface="Calibri"/>
                <a:cs typeface="Calibri"/>
              </a:rPr>
              <a:t>complex</a:t>
            </a:r>
            <a:r>
              <a:rPr sz="1800" spc="-40" dirty="0">
                <a:solidFill>
                  <a:srgbClr val="292929"/>
                </a:solidFill>
                <a:latin typeface="Calibri"/>
                <a:cs typeface="Calibri"/>
              </a:rPr>
              <a:t> </a:t>
            </a:r>
            <a:r>
              <a:rPr sz="1800" spc="-10" dirty="0">
                <a:solidFill>
                  <a:srgbClr val="292929"/>
                </a:solidFill>
                <a:latin typeface="Calibri"/>
                <a:cs typeface="Calibri"/>
              </a:rPr>
              <a:t>relationships</a:t>
            </a:r>
            <a:r>
              <a:rPr sz="1800" spc="-45" dirty="0">
                <a:solidFill>
                  <a:srgbClr val="292929"/>
                </a:solidFill>
                <a:latin typeface="Calibri"/>
                <a:cs typeface="Calibri"/>
              </a:rPr>
              <a:t> </a:t>
            </a:r>
            <a:r>
              <a:rPr sz="1800" dirty="0">
                <a:solidFill>
                  <a:srgbClr val="292929"/>
                </a:solidFill>
                <a:latin typeface="Calibri"/>
                <a:cs typeface="Calibri"/>
              </a:rPr>
              <a:t>among</a:t>
            </a:r>
            <a:r>
              <a:rPr sz="1800" spc="-40" dirty="0">
                <a:solidFill>
                  <a:srgbClr val="292929"/>
                </a:solidFill>
                <a:latin typeface="Calibri"/>
                <a:cs typeface="Calibri"/>
              </a:rPr>
              <a:t> </a:t>
            </a:r>
            <a:r>
              <a:rPr sz="1800" spc="-10" dirty="0">
                <a:solidFill>
                  <a:srgbClr val="292929"/>
                </a:solidFill>
                <a:latin typeface="Calibri"/>
                <a:cs typeface="Calibri"/>
              </a:rPr>
              <a:t>data.</a:t>
            </a:r>
            <a:endParaRPr sz="1800">
              <a:latin typeface="Calibri"/>
              <a:cs typeface="Calibri"/>
            </a:endParaRPr>
          </a:p>
        </p:txBody>
      </p:sp>
      <p:sp>
        <p:nvSpPr>
          <p:cNvPr id="7" name="object 7"/>
          <p:cNvSpPr txBox="1"/>
          <p:nvPr/>
        </p:nvSpPr>
        <p:spPr>
          <a:xfrm>
            <a:off x="8065769" y="2940557"/>
            <a:ext cx="3716020" cy="1477010"/>
          </a:xfrm>
          <a:prstGeom prst="rect">
            <a:avLst/>
          </a:prstGeom>
          <a:ln w="38100">
            <a:solidFill>
              <a:srgbClr val="4471C4"/>
            </a:solidFill>
          </a:ln>
        </p:spPr>
        <p:txBody>
          <a:bodyPr vert="horz" wrap="square" lIns="0" tIns="29845" rIns="0" bIns="0" rtlCol="0">
            <a:spAutoFit/>
          </a:bodyPr>
          <a:lstStyle/>
          <a:p>
            <a:pPr marL="91440" marR="346075">
              <a:lnSpc>
                <a:spcPct val="100000"/>
              </a:lnSpc>
              <a:spcBef>
                <a:spcPts val="235"/>
              </a:spcBef>
            </a:pPr>
            <a:r>
              <a:rPr sz="1800" dirty="0">
                <a:solidFill>
                  <a:srgbClr val="292929"/>
                </a:solidFill>
                <a:latin typeface="Calibri"/>
                <a:cs typeface="Calibri"/>
              </a:rPr>
              <a:t>The</a:t>
            </a:r>
            <a:r>
              <a:rPr sz="1800" spc="-55" dirty="0">
                <a:solidFill>
                  <a:srgbClr val="292929"/>
                </a:solidFill>
                <a:latin typeface="Calibri"/>
                <a:cs typeface="Calibri"/>
              </a:rPr>
              <a:t> </a:t>
            </a:r>
            <a:r>
              <a:rPr sz="1800" dirty="0">
                <a:solidFill>
                  <a:srgbClr val="292929"/>
                </a:solidFill>
                <a:latin typeface="Calibri"/>
                <a:cs typeface="Calibri"/>
              </a:rPr>
              <a:t>reason</a:t>
            </a:r>
            <a:r>
              <a:rPr sz="1800" spc="-55" dirty="0">
                <a:solidFill>
                  <a:srgbClr val="292929"/>
                </a:solidFill>
                <a:latin typeface="Calibri"/>
                <a:cs typeface="Calibri"/>
              </a:rPr>
              <a:t> </a:t>
            </a:r>
            <a:r>
              <a:rPr sz="1800" dirty="0">
                <a:solidFill>
                  <a:srgbClr val="292929"/>
                </a:solidFill>
                <a:latin typeface="Calibri"/>
                <a:cs typeface="Calibri"/>
              </a:rPr>
              <a:t>behind</a:t>
            </a:r>
            <a:r>
              <a:rPr sz="1800" spc="-30" dirty="0">
                <a:solidFill>
                  <a:srgbClr val="292929"/>
                </a:solidFill>
                <a:latin typeface="Calibri"/>
                <a:cs typeface="Calibri"/>
              </a:rPr>
              <a:t> </a:t>
            </a:r>
            <a:r>
              <a:rPr sz="1800" dirty="0">
                <a:solidFill>
                  <a:srgbClr val="292929"/>
                </a:solidFill>
                <a:latin typeface="Calibri"/>
                <a:cs typeface="Calibri"/>
              </a:rPr>
              <a:t>using</a:t>
            </a:r>
            <a:r>
              <a:rPr sz="1800" spc="-50" dirty="0">
                <a:solidFill>
                  <a:srgbClr val="292929"/>
                </a:solidFill>
                <a:latin typeface="Calibri"/>
                <a:cs typeface="Calibri"/>
              </a:rPr>
              <a:t> </a:t>
            </a:r>
            <a:r>
              <a:rPr sz="1800" spc="-25" dirty="0">
                <a:solidFill>
                  <a:srgbClr val="292929"/>
                </a:solidFill>
                <a:latin typeface="Calibri"/>
                <a:cs typeface="Calibri"/>
              </a:rPr>
              <a:t>an </a:t>
            </a:r>
            <a:r>
              <a:rPr sz="1800" spc="-10" dirty="0">
                <a:solidFill>
                  <a:srgbClr val="292929"/>
                </a:solidFill>
                <a:latin typeface="Calibri"/>
                <a:cs typeface="Calibri"/>
              </a:rPr>
              <a:t>autoencoder</a:t>
            </a:r>
            <a:r>
              <a:rPr sz="1800" spc="-35" dirty="0">
                <a:solidFill>
                  <a:srgbClr val="292929"/>
                </a:solidFill>
                <a:latin typeface="Calibri"/>
                <a:cs typeface="Calibri"/>
              </a:rPr>
              <a:t> </a:t>
            </a:r>
            <a:r>
              <a:rPr sz="1800" dirty="0">
                <a:solidFill>
                  <a:srgbClr val="292929"/>
                </a:solidFill>
                <a:latin typeface="Calibri"/>
                <a:cs typeface="Calibri"/>
              </a:rPr>
              <a:t>is</a:t>
            </a:r>
            <a:r>
              <a:rPr sz="1800" spc="-35" dirty="0">
                <a:solidFill>
                  <a:srgbClr val="292929"/>
                </a:solidFill>
                <a:latin typeface="Calibri"/>
                <a:cs typeface="Calibri"/>
              </a:rPr>
              <a:t> </a:t>
            </a:r>
            <a:r>
              <a:rPr sz="1800" dirty="0">
                <a:solidFill>
                  <a:srgbClr val="292929"/>
                </a:solidFill>
                <a:latin typeface="Calibri"/>
                <a:cs typeface="Calibri"/>
              </a:rPr>
              <a:t>that</a:t>
            </a:r>
            <a:r>
              <a:rPr sz="1800" spc="-40" dirty="0">
                <a:solidFill>
                  <a:srgbClr val="292929"/>
                </a:solidFill>
                <a:latin typeface="Calibri"/>
                <a:cs typeface="Calibri"/>
              </a:rPr>
              <a:t> </a:t>
            </a:r>
            <a:r>
              <a:rPr sz="1800" dirty="0">
                <a:solidFill>
                  <a:srgbClr val="292929"/>
                </a:solidFill>
                <a:latin typeface="Calibri"/>
                <a:cs typeface="Calibri"/>
              </a:rPr>
              <a:t>we</a:t>
            </a:r>
            <a:r>
              <a:rPr sz="1800" spc="-35" dirty="0">
                <a:solidFill>
                  <a:srgbClr val="292929"/>
                </a:solidFill>
                <a:latin typeface="Calibri"/>
                <a:cs typeface="Calibri"/>
              </a:rPr>
              <a:t> </a:t>
            </a:r>
            <a:r>
              <a:rPr sz="1800" dirty="0">
                <a:solidFill>
                  <a:srgbClr val="292929"/>
                </a:solidFill>
                <a:latin typeface="Calibri"/>
                <a:cs typeface="Calibri"/>
              </a:rPr>
              <a:t>want</a:t>
            </a:r>
            <a:r>
              <a:rPr sz="1800" spc="-30" dirty="0">
                <a:solidFill>
                  <a:srgbClr val="292929"/>
                </a:solidFill>
                <a:latin typeface="Calibri"/>
                <a:cs typeface="Calibri"/>
              </a:rPr>
              <a:t> </a:t>
            </a:r>
            <a:r>
              <a:rPr sz="1800" spc="-25" dirty="0">
                <a:solidFill>
                  <a:srgbClr val="292929"/>
                </a:solidFill>
                <a:latin typeface="Calibri"/>
                <a:cs typeface="Calibri"/>
              </a:rPr>
              <a:t>to </a:t>
            </a:r>
            <a:r>
              <a:rPr sz="1800" spc="-10" dirty="0">
                <a:solidFill>
                  <a:srgbClr val="292929"/>
                </a:solidFill>
                <a:latin typeface="Calibri"/>
                <a:cs typeface="Calibri"/>
              </a:rPr>
              <a:t>understand</a:t>
            </a:r>
            <a:r>
              <a:rPr sz="1800" spc="-30" dirty="0">
                <a:solidFill>
                  <a:srgbClr val="292929"/>
                </a:solidFill>
                <a:latin typeface="Calibri"/>
                <a:cs typeface="Calibri"/>
              </a:rPr>
              <a:t> </a:t>
            </a:r>
            <a:r>
              <a:rPr sz="1800" dirty="0">
                <a:solidFill>
                  <a:srgbClr val="292929"/>
                </a:solidFill>
                <a:latin typeface="Calibri"/>
                <a:cs typeface="Calibri"/>
              </a:rPr>
              <a:t>and</a:t>
            </a:r>
            <a:r>
              <a:rPr sz="1800" spc="-30" dirty="0">
                <a:solidFill>
                  <a:srgbClr val="292929"/>
                </a:solidFill>
                <a:latin typeface="Calibri"/>
                <a:cs typeface="Calibri"/>
              </a:rPr>
              <a:t> </a:t>
            </a:r>
            <a:r>
              <a:rPr sz="1800" spc="-10" dirty="0">
                <a:solidFill>
                  <a:srgbClr val="292929"/>
                </a:solidFill>
                <a:latin typeface="Calibri"/>
                <a:cs typeface="Calibri"/>
              </a:rPr>
              <a:t>represent</a:t>
            </a:r>
            <a:r>
              <a:rPr sz="1800" spc="-50" dirty="0">
                <a:solidFill>
                  <a:srgbClr val="292929"/>
                </a:solidFill>
                <a:latin typeface="Calibri"/>
                <a:cs typeface="Calibri"/>
              </a:rPr>
              <a:t> </a:t>
            </a:r>
            <a:r>
              <a:rPr sz="1800" dirty="0">
                <a:solidFill>
                  <a:srgbClr val="292929"/>
                </a:solidFill>
                <a:latin typeface="Calibri"/>
                <a:cs typeface="Calibri"/>
              </a:rPr>
              <a:t>only</a:t>
            </a:r>
            <a:r>
              <a:rPr sz="1800" spc="-30" dirty="0">
                <a:solidFill>
                  <a:srgbClr val="292929"/>
                </a:solidFill>
                <a:latin typeface="Calibri"/>
                <a:cs typeface="Calibri"/>
              </a:rPr>
              <a:t> </a:t>
            </a:r>
            <a:r>
              <a:rPr sz="1800" spc="-25" dirty="0">
                <a:solidFill>
                  <a:srgbClr val="292929"/>
                </a:solidFill>
                <a:latin typeface="Calibri"/>
                <a:cs typeface="Calibri"/>
              </a:rPr>
              <a:t>the </a:t>
            </a:r>
            <a:r>
              <a:rPr sz="1800" dirty="0">
                <a:solidFill>
                  <a:srgbClr val="292929"/>
                </a:solidFill>
                <a:latin typeface="Calibri"/>
                <a:cs typeface="Calibri"/>
              </a:rPr>
              <a:t>deep</a:t>
            </a:r>
            <a:r>
              <a:rPr sz="1800" spc="-20" dirty="0">
                <a:solidFill>
                  <a:srgbClr val="292929"/>
                </a:solidFill>
                <a:latin typeface="Calibri"/>
                <a:cs typeface="Calibri"/>
              </a:rPr>
              <a:t> </a:t>
            </a:r>
            <a:r>
              <a:rPr sz="1800" spc="-10" dirty="0">
                <a:solidFill>
                  <a:srgbClr val="292929"/>
                </a:solidFill>
                <a:latin typeface="Calibri"/>
                <a:cs typeface="Calibri"/>
              </a:rPr>
              <a:t>correlations</a:t>
            </a:r>
            <a:r>
              <a:rPr sz="1800" spc="-20" dirty="0">
                <a:solidFill>
                  <a:srgbClr val="292929"/>
                </a:solidFill>
                <a:latin typeface="Calibri"/>
                <a:cs typeface="Calibri"/>
              </a:rPr>
              <a:t> </a:t>
            </a:r>
            <a:r>
              <a:rPr sz="1800" dirty="0">
                <a:solidFill>
                  <a:srgbClr val="292929"/>
                </a:solidFill>
                <a:latin typeface="Calibri"/>
                <a:cs typeface="Calibri"/>
              </a:rPr>
              <a:t>and</a:t>
            </a:r>
            <a:r>
              <a:rPr sz="1800" spc="-30" dirty="0">
                <a:solidFill>
                  <a:srgbClr val="292929"/>
                </a:solidFill>
                <a:latin typeface="Calibri"/>
                <a:cs typeface="Calibri"/>
              </a:rPr>
              <a:t> </a:t>
            </a:r>
            <a:r>
              <a:rPr sz="1800" spc="-10" dirty="0">
                <a:solidFill>
                  <a:srgbClr val="292929"/>
                </a:solidFill>
                <a:latin typeface="Calibri"/>
                <a:cs typeface="Calibri"/>
              </a:rPr>
              <a:t>relationships </a:t>
            </a:r>
            <a:r>
              <a:rPr sz="1800" dirty="0">
                <a:solidFill>
                  <a:srgbClr val="292929"/>
                </a:solidFill>
                <a:latin typeface="Calibri"/>
                <a:cs typeface="Calibri"/>
              </a:rPr>
              <a:t>among</a:t>
            </a:r>
            <a:r>
              <a:rPr sz="1800" spc="-55" dirty="0">
                <a:solidFill>
                  <a:srgbClr val="292929"/>
                </a:solidFill>
                <a:latin typeface="Calibri"/>
                <a:cs typeface="Calibri"/>
              </a:rPr>
              <a:t> </a:t>
            </a:r>
            <a:r>
              <a:rPr sz="1800" spc="-20" dirty="0">
                <a:solidFill>
                  <a:srgbClr val="292929"/>
                </a:solidFill>
                <a:latin typeface="Calibri"/>
                <a:cs typeface="Calibri"/>
              </a:rPr>
              <a:t>data</a:t>
            </a:r>
            <a:endParaRPr sz="1800">
              <a:latin typeface="Calibri"/>
              <a:cs typeface="Calibri"/>
            </a:endParaRPr>
          </a:p>
        </p:txBody>
      </p:sp>
      <p:sp>
        <p:nvSpPr>
          <p:cNvPr id="8" name="object 8"/>
          <p:cNvSpPr txBox="1"/>
          <p:nvPr/>
        </p:nvSpPr>
        <p:spPr>
          <a:xfrm>
            <a:off x="3091052" y="2537586"/>
            <a:ext cx="24047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Dimensionality</a:t>
            </a:r>
            <a:r>
              <a:rPr sz="1800" spc="-55" dirty="0">
                <a:latin typeface="Calibri"/>
                <a:cs typeface="Calibri"/>
              </a:rPr>
              <a:t> </a:t>
            </a:r>
            <a:r>
              <a:rPr sz="1800" spc="-10" dirty="0">
                <a:latin typeface="Calibri"/>
                <a:cs typeface="Calibri"/>
              </a:rPr>
              <a:t>Reduction</a:t>
            </a:r>
            <a:endParaRPr sz="1800">
              <a:latin typeface="Calibri"/>
              <a:cs typeface="Calibri"/>
            </a:endParaRPr>
          </a:p>
        </p:txBody>
      </p:sp>
      <p:sp>
        <p:nvSpPr>
          <p:cNvPr id="9" name="object 9"/>
          <p:cNvSpPr txBox="1"/>
          <p:nvPr/>
        </p:nvSpPr>
        <p:spPr>
          <a:xfrm>
            <a:off x="3387597" y="4703140"/>
            <a:ext cx="187642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92929"/>
                </a:solidFill>
                <a:latin typeface="Calibri"/>
                <a:cs typeface="Calibri"/>
              </a:rPr>
              <a:t>latent</a:t>
            </a:r>
            <a:r>
              <a:rPr sz="1800" spc="-70" dirty="0">
                <a:solidFill>
                  <a:srgbClr val="292929"/>
                </a:solidFill>
                <a:latin typeface="Calibri"/>
                <a:cs typeface="Calibri"/>
              </a:rPr>
              <a:t> </a:t>
            </a:r>
            <a:r>
              <a:rPr sz="1800" spc="-10" dirty="0">
                <a:solidFill>
                  <a:srgbClr val="292929"/>
                </a:solidFill>
                <a:latin typeface="Calibri"/>
                <a:cs typeface="Calibri"/>
              </a:rPr>
              <a:t>feature</a:t>
            </a:r>
            <a:r>
              <a:rPr sz="1800" spc="-60" dirty="0">
                <a:solidFill>
                  <a:srgbClr val="292929"/>
                </a:solidFill>
                <a:latin typeface="Calibri"/>
                <a:cs typeface="Calibri"/>
              </a:rPr>
              <a:t> </a:t>
            </a:r>
            <a:r>
              <a:rPr sz="1800" spc="-10" dirty="0">
                <a:solidFill>
                  <a:srgbClr val="292929"/>
                </a:solidFill>
                <a:latin typeface="Calibri"/>
                <a:cs typeface="Calibri"/>
              </a:rPr>
              <a:t>space</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25383" y="3107435"/>
            <a:ext cx="4166616" cy="3742942"/>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spc="-10" dirty="0">
                <a:solidFill>
                  <a:srgbClr val="A3123E"/>
                </a:solidFill>
                <a:latin typeface="Georgia"/>
                <a:cs typeface="Georgia"/>
              </a:rPr>
              <a:t>Auto-</a:t>
            </a:r>
            <a:r>
              <a:rPr b="0" dirty="0">
                <a:solidFill>
                  <a:srgbClr val="A3123E"/>
                </a:solidFill>
                <a:latin typeface="Georgia"/>
                <a:cs typeface="Georgia"/>
              </a:rPr>
              <a:t>encoder-</a:t>
            </a:r>
            <a:r>
              <a:rPr b="0" spc="-25" dirty="0">
                <a:solidFill>
                  <a:srgbClr val="A3123E"/>
                </a:solidFill>
                <a:latin typeface="Georgia"/>
                <a:cs typeface="Georgia"/>
              </a:rPr>
              <a:t> </a:t>
            </a:r>
            <a:r>
              <a:rPr b="0" spc="-10" dirty="0">
                <a:solidFill>
                  <a:srgbClr val="A3123E"/>
                </a:solidFill>
                <a:latin typeface="Georgia"/>
                <a:cs typeface="Georgia"/>
              </a:rPr>
              <a:t>Parts</a:t>
            </a:r>
          </a:p>
        </p:txBody>
      </p:sp>
      <p:sp>
        <p:nvSpPr>
          <p:cNvPr id="4" name="object 4"/>
          <p:cNvSpPr txBox="1"/>
          <p:nvPr/>
        </p:nvSpPr>
        <p:spPr>
          <a:xfrm>
            <a:off x="481583" y="851916"/>
            <a:ext cx="10875645" cy="2032000"/>
          </a:xfrm>
          <a:prstGeom prst="rect">
            <a:avLst/>
          </a:prstGeom>
          <a:solidFill>
            <a:srgbClr val="C5DFB4"/>
          </a:solidFill>
        </p:spPr>
        <p:txBody>
          <a:bodyPr vert="horz" wrap="square" lIns="0" tIns="30480" rIns="0" bIns="0" rtlCol="0">
            <a:spAutoFit/>
          </a:bodyPr>
          <a:lstStyle/>
          <a:p>
            <a:pPr marL="91440">
              <a:lnSpc>
                <a:spcPct val="100000"/>
              </a:lnSpc>
              <a:spcBef>
                <a:spcPts val="240"/>
              </a:spcBef>
            </a:pPr>
            <a:r>
              <a:rPr sz="1800" dirty="0">
                <a:solidFill>
                  <a:srgbClr val="292929"/>
                </a:solidFill>
                <a:latin typeface="Calibri"/>
                <a:cs typeface="Calibri"/>
              </a:rPr>
              <a:t>An</a:t>
            </a:r>
            <a:r>
              <a:rPr sz="1800" spc="-30" dirty="0">
                <a:solidFill>
                  <a:srgbClr val="292929"/>
                </a:solidFill>
                <a:latin typeface="Calibri"/>
                <a:cs typeface="Calibri"/>
              </a:rPr>
              <a:t> </a:t>
            </a:r>
            <a:r>
              <a:rPr sz="1800" spc="-10" dirty="0">
                <a:solidFill>
                  <a:srgbClr val="292929"/>
                </a:solidFill>
                <a:latin typeface="Calibri"/>
                <a:cs typeface="Calibri"/>
              </a:rPr>
              <a:t>Autoencoder</a:t>
            </a:r>
            <a:r>
              <a:rPr sz="1800" spc="-20" dirty="0">
                <a:solidFill>
                  <a:srgbClr val="292929"/>
                </a:solidFill>
                <a:latin typeface="Calibri"/>
                <a:cs typeface="Calibri"/>
              </a:rPr>
              <a:t> </a:t>
            </a:r>
            <a:r>
              <a:rPr sz="1800" dirty="0">
                <a:solidFill>
                  <a:srgbClr val="292929"/>
                </a:solidFill>
                <a:latin typeface="Calibri"/>
                <a:cs typeface="Calibri"/>
              </a:rPr>
              <a:t>has</a:t>
            </a:r>
            <a:r>
              <a:rPr sz="1800" spc="-30" dirty="0">
                <a:solidFill>
                  <a:srgbClr val="292929"/>
                </a:solidFill>
                <a:latin typeface="Calibri"/>
                <a:cs typeface="Calibri"/>
              </a:rPr>
              <a:t> </a:t>
            </a:r>
            <a:r>
              <a:rPr sz="1800" dirty="0">
                <a:solidFill>
                  <a:srgbClr val="292929"/>
                </a:solidFill>
                <a:latin typeface="Calibri"/>
                <a:cs typeface="Calibri"/>
              </a:rPr>
              <a:t>the</a:t>
            </a:r>
            <a:r>
              <a:rPr sz="1800" spc="-10" dirty="0">
                <a:solidFill>
                  <a:srgbClr val="292929"/>
                </a:solidFill>
                <a:latin typeface="Calibri"/>
                <a:cs typeface="Calibri"/>
              </a:rPr>
              <a:t> following</a:t>
            </a:r>
            <a:r>
              <a:rPr sz="1800" spc="-5" dirty="0">
                <a:solidFill>
                  <a:srgbClr val="292929"/>
                </a:solidFill>
                <a:latin typeface="Calibri"/>
                <a:cs typeface="Calibri"/>
              </a:rPr>
              <a:t> </a:t>
            </a:r>
            <a:r>
              <a:rPr sz="1800" spc="-10" dirty="0">
                <a:solidFill>
                  <a:srgbClr val="292929"/>
                </a:solidFill>
                <a:latin typeface="Calibri"/>
                <a:cs typeface="Calibri"/>
              </a:rPr>
              <a:t>parts:</a:t>
            </a:r>
            <a:endParaRPr sz="1800">
              <a:latin typeface="Calibri"/>
              <a:cs typeface="Calibri"/>
            </a:endParaRPr>
          </a:p>
          <a:p>
            <a:pPr marL="266700" indent="-179070">
              <a:lnSpc>
                <a:spcPct val="100000"/>
              </a:lnSpc>
              <a:buSzPct val="94444"/>
              <a:buAutoNum type="arabicPeriod"/>
              <a:tabLst>
                <a:tab pos="266700" algn="l"/>
              </a:tabLst>
            </a:pPr>
            <a:r>
              <a:rPr sz="1800" b="1" dirty="0">
                <a:solidFill>
                  <a:srgbClr val="292929"/>
                </a:solidFill>
                <a:latin typeface="Calibri"/>
                <a:cs typeface="Calibri"/>
              </a:rPr>
              <a:t>Encoder:</a:t>
            </a:r>
            <a:r>
              <a:rPr sz="1800" b="1" spc="-60"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encoder</a:t>
            </a:r>
            <a:r>
              <a:rPr sz="1800" spc="-25" dirty="0">
                <a:solidFill>
                  <a:srgbClr val="292929"/>
                </a:solidFill>
                <a:latin typeface="Calibri"/>
                <a:cs typeface="Calibri"/>
              </a:rPr>
              <a:t> </a:t>
            </a:r>
            <a:r>
              <a:rPr sz="1800" dirty="0">
                <a:solidFill>
                  <a:srgbClr val="292929"/>
                </a:solidFill>
                <a:latin typeface="Calibri"/>
                <a:cs typeface="Calibri"/>
              </a:rPr>
              <a:t>is</a:t>
            </a:r>
            <a:r>
              <a:rPr sz="1800" spc="-30" dirty="0">
                <a:solidFill>
                  <a:srgbClr val="292929"/>
                </a:solidFill>
                <a:latin typeface="Calibri"/>
                <a:cs typeface="Calibri"/>
              </a:rPr>
              <a:t> </a:t>
            </a:r>
            <a:r>
              <a:rPr sz="1800" dirty="0">
                <a:solidFill>
                  <a:srgbClr val="292929"/>
                </a:solidFill>
                <a:latin typeface="Calibri"/>
                <a:cs typeface="Calibri"/>
              </a:rPr>
              <a:t>the</a:t>
            </a:r>
            <a:r>
              <a:rPr sz="1800" spc="-15" dirty="0">
                <a:solidFill>
                  <a:srgbClr val="292929"/>
                </a:solidFill>
                <a:latin typeface="Calibri"/>
                <a:cs typeface="Calibri"/>
              </a:rPr>
              <a:t> </a:t>
            </a:r>
            <a:r>
              <a:rPr sz="1800" dirty="0">
                <a:solidFill>
                  <a:srgbClr val="292929"/>
                </a:solidFill>
                <a:latin typeface="Calibri"/>
                <a:cs typeface="Calibri"/>
              </a:rPr>
              <a:t>part</a:t>
            </a:r>
            <a:r>
              <a:rPr sz="1800" spc="-40" dirty="0">
                <a:solidFill>
                  <a:srgbClr val="292929"/>
                </a:solidFill>
                <a:latin typeface="Calibri"/>
                <a:cs typeface="Calibri"/>
              </a:rPr>
              <a:t> </a:t>
            </a:r>
            <a:r>
              <a:rPr sz="1800" dirty="0">
                <a:solidFill>
                  <a:srgbClr val="292929"/>
                </a:solidFill>
                <a:latin typeface="Calibri"/>
                <a:cs typeface="Calibri"/>
              </a:rPr>
              <a:t>of</a:t>
            </a:r>
            <a:r>
              <a:rPr sz="1800" spc="-2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network</a:t>
            </a:r>
            <a:r>
              <a:rPr sz="1800" spc="-25" dirty="0">
                <a:solidFill>
                  <a:srgbClr val="292929"/>
                </a:solidFill>
                <a:latin typeface="Calibri"/>
                <a:cs typeface="Calibri"/>
              </a:rPr>
              <a:t> </a:t>
            </a:r>
            <a:r>
              <a:rPr sz="1800" dirty="0">
                <a:solidFill>
                  <a:srgbClr val="292929"/>
                </a:solidFill>
                <a:latin typeface="Calibri"/>
                <a:cs typeface="Calibri"/>
              </a:rPr>
              <a:t>which</a:t>
            </a:r>
            <a:r>
              <a:rPr sz="1800" spc="-15" dirty="0">
                <a:solidFill>
                  <a:srgbClr val="292929"/>
                </a:solidFill>
                <a:latin typeface="Calibri"/>
                <a:cs typeface="Calibri"/>
              </a:rPr>
              <a:t> </a:t>
            </a:r>
            <a:r>
              <a:rPr sz="1800" spc="-10" dirty="0">
                <a:solidFill>
                  <a:srgbClr val="292929"/>
                </a:solidFill>
                <a:latin typeface="Calibri"/>
                <a:cs typeface="Calibri"/>
              </a:rPr>
              <a:t>takes</a:t>
            </a:r>
            <a:r>
              <a:rPr sz="1800" spc="-40" dirty="0">
                <a:solidFill>
                  <a:srgbClr val="292929"/>
                </a:solidFill>
                <a:latin typeface="Calibri"/>
                <a:cs typeface="Calibri"/>
              </a:rPr>
              <a:t> </a:t>
            </a:r>
            <a:r>
              <a:rPr sz="1800" dirty="0">
                <a:solidFill>
                  <a:srgbClr val="292929"/>
                </a:solidFill>
                <a:latin typeface="Calibri"/>
                <a:cs typeface="Calibri"/>
              </a:rPr>
              <a:t>in</a:t>
            </a:r>
            <a:r>
              <a:rPr sz="1800" spc="-20"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input</a:t>
            </a:r>
            <a:r>
              <a:rPr sz="1800" spc="-25" dirty="0">
                <a:solidFill>
                  <a:srgbClr val="292929"/>
                </a:solidFill>
                <a:latin typeface="Calibri"/>
                <a:cs typeface="Calibri"/>
              </a:rPr>
              <a:t> </a:t>
            </a:r>
            <a:r>
              <a:rPr sz="1800" dirty="0">
                <a:solidFill>
                  <a:srgbClr val="292929"/>
                </a:solidFill>
                <a:latin typeface="Calibri"/>
                <a:cs typeface="Calibri"/>
              </a:rPr>
              <a:t>and</a:t>
            </a:r>
            <a:r>
              <a:rPr sz="1800" spc="-20" dirty="0">
                <a:solidFill>
                  <a:srgbClr val="292929"/>
                </a:solidFill>
                <a:latin typeface="Calibri"/>
                <a:cs typeface="Calibri"/>
              </a:rPr>
              <a:t> </a:t>
            </a:r>
            <a:r>
              <a:rPr sz="1800" spc="-10" dirty="0">
                <a:solidFill>
                  <a:srgbClr val="292929"/>
                </a:solidFill>
                <a:latin typeface="Calibri"/>
                <a:cs typeface="Calibri"/>
              </a:rPr>
              <a:t>produces</a:t>
            </a:r>
            <a:r>
              <a:rPr sz="1800" spc="-30" dirty="0">
                <a:solidFill>
                  <a:srgbClr val="292929"/>
                </a:solidFill>
                <a:latin typeface="Calibri"/>
                <a:cs typeface="Calibri"/>
              </a:rPr>
              <a:t> </a:t>
            </a:r>
            <a:r>
              <a:rPr sz="1800" dirty="0">
                <a:solidFill>
                  <a:srgbClr val="292929"/>
                </a:solidFill>
                <a:latin typeface="Calibri"/>
                <a:cs typeface="Calibri"/>
              </a:rPr>
              <a:t>a</a:t>
            </a:r>
            <a:r>
              <a:rPr sz="1800" spc="-25" dirty="0">
                <a:solidFill>
                  <a:srgbClr val="292929"/>
                </a:solidFill>
                <a:latin typeface="Calibri"/>
                <a:cs typeface="Calibri"/>
              </a:rPr>
              <a:t> </a:t>
            </a:r>
            <a:r>
              <a:rPr sz="1800" dirty="0">
                <a:solidFill>
                  <a:srgbClr val="292929"/>
                </a:solidFill>
                <a:latin typeface="Calibri"/>
                <a:cs typeface="Calibri"/>
              </a:rPr>
              <a:t>lower</a:t>
            </a:r>
            <a:r>
              <a:rPr sz="1800" spc="-20" dirty="0">
                <a:solidFill>
                  <a:srgbClr val="292929"/>
                </a:solidFill>
                <a:latin typeface="Calibri"/>
                <a:cs typeface="Calibri"/>
              </a:rPr>
              <a:t> </a:t>
            </a:r>
            <a:r>
              <a:rPr sz="1800" spc="-10" dirty="0">
                <a:solidFill>
                  <a:srgbClr val="292929"/>
                </a:solidFill>
                <a:latin typeface="Calibri"/>
                <a:cs typeface="Calibri"/>
              </a:rPr>
              <a:t>Dimensional</a:t>
            </a:r>
            <a:endParaRPr sz="1800">
              <a:latin typeface="Calibri"/>
              <a:cs typeface="Calibri"/>
            </a:endParaRPr>
          </a:p>
          <a:p>
            <a:pPr marL="91440">
              <a:lnSpc>
                <a:spcPct val="100000"/>
              </a:lnSpc>
              <a:spcBef>
                <a:spcPts val="5"/>
              </a:spcBef>
            </a:pPr>
            <a:r>
              <a:rPr sz="1800" spc="-10" dirty="0">
                <a:solidFill>
                  <a:srgbClr val="292929"/>
                </a:solidFill>
                <a:latin typeface="Calibri"/>
                <a:cs typeface="Calibri"/>
              </a:rPr>
              <a:t>encoding</a:t>
            </a:r>
            <a:endParaRPr sz="1800">
              <a:latin typeface="Calibri"/>
              <a:cs typeface="Calibri"/>
            </a:endParaRPr>
          </a:p>
          <a:p>
            <a:pPr marL="91440" marR="207645" indent="-3810" algn="just">
              <a:lnSpc>
                <a:spcPct val="100000"/>
              </a:lnSpc>
              <a:buSzPct val="94444"/>
              <a:buAutoNum type="arabicPeriod" startAt="2"/>
              <a:tabLst>
                <a:tab pos="266700" algn="l"/>
              </a:tabLst>
            </a:pPr>
            <a:r>
              <a:rPr sz="1800" b="1" dirty="0">
                <a:solidFill>
                  <a:srgbClr val="292929"/>
                </a:solidFill>
                <a:latin typeface="Calibri"/>
                <a:cs typeface="Calibri"/>
              </a:rPr>
              <a:t>	Bottleneck:</a:t>
            </a:r>
            <a:r>
              <a:rPr sz="1800" b="1" spc="-65" dirty="0">
                <a:solidFill>
                  <a:srgbClr val="292929"/>
                </a:solidFill>
                <a:latin typeface="Calibri"/>
                <a:cs typeface="Calibri"/>
              </a:rPr>
              <a:t> </a:t>
            </a:r>
            <a:r>
              <a:rPr sz="1800" dirty="0">
                <a:solidFill>
                  <a:srgbClr val="292929"/>
                </a:solidFill>
                <a:latin typeface="Calibri"/>
                <a:cs typeface="Calibri"/>
              </a:rPr>
              <a:t>It</a:t>
            </a:r>
            <a:r>
              <a:rPr sz="1800" spc="-50" dirty="0">
                <a:solidFill>
                  <a:srgbClr val="292929"/>
                </a:solidFill>
                <a:latin typeface="Calibri"/>
                <a:cs typeface="Calibri"/>
              </a:rPr>
              <a:t> </a:t>
            </a:r>
            <a:r>
              <a:rPr sz="1800" dirty="0">
                <a:solidFill>
                  <a:srgbClr val="292929"/>
                </a:solidFill>
                <a:latin typeface="Calibri"/>
                <a:cs typeface="Calibri"/>
              </a:rPr>
              <a:t>is</a:t>
            </a:r>
            <a:r>
              <a:rPr sz="1800" spc="-4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lower</a:t>
            </a:r>
            <a:r>
              <a:rPr sz="1800" spc="-35" dirty="0">
                <a:solidFill>
                  <a:srgbClr val="292929"/>
                </a:solidFill>
                <a:latin typeface="Calibri"/>
                <a:cs typeface="Calibri"/>
              </a:rPr>
              <a:t> </a:t>
            </a:r>
            <a:r>
              <a:rPr sz="1800" spc="-10" dirty="0">
                <a:solidFill>
                  <a:srgbClr val="292929"/>
                </a:solidFill>
                <a:latin typeface="Calibri"/>
                <a:cs typeface="Calibri"/>
              </a:rPr>
              <a:t>dimensional</a:t>
            </a:r>
            <a:r>
              <a:rPr sz="1800" spc="-40" dirty="0">
                <a:solidFill>
                  <a:srgbClr val="292929"/>
                </a:solidFill>
                <a:latin typeface="Calibri"/>
                <a:cs typeface="Calibri"/>
              </a:rPr>
              <a:t> </a:t>
            </a:r>
            <a:r>
              <a:rPr sz="1800" dirty="0">
                <a:solidFill>
                  <a:srgbClr val="292929"/>
                </a:solidFill>
                <a:latin typeface="Calibri"/>
                <a:cs typeface="Calibri"/>
              </a:rPr>
              <a:t>hidden</a:t>
            </a:r>
            <a:r>
              <a:rPr sz="1800" spc="-25" dirty="0">
                <a:solidFill>
                  <a:srgbClr val="292929"/>
                </a:solidFill>
                <a:latin typeface="Calibri"/>
                <a:cs typeface="Calibri"/>
              </a:rPr>
              <a:t> </a:t>
            </a:r>
            <a:r>
              <a:rPr sz="1800" dirty="0">
                <a:solidFill>
                  <a:srgbClr val="292929"/>
                </a:solidFill>
                <a:latin typeface="Calibri"/>
                <a:cs typeface="Calibri"/>
              </a:rPr>
              <a:t>layer</a:t>
            </a:r>
            <a:r>
              <a:rPr sz="1800" spc="-40" dirty="0">
                <a:solidFill>
                  <a:srgbClr val="292929"/>
                </a:solidFill>
                <a:latin typeface="Calibri"/>
                <a:cs typeface="Calibri"/>
              </a:rPr>
              <a:t> </a:t>
            </a:r>
            <a:r>
              <a:rPr sz="1800" dirty="0">
                <a:solidFill>
                  <a:srgbClr val="292929"/>
                </a:solidFill>
                <a:latin typeface="Calibri"/>
                <a:cs typeface="Calibri"/>
              </a:rPr>
              <a:t>where</a:t>
            </a:r>
            <a:r>
              <a:rPr sz="1800" spc="-3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encoding</a:t>
            </a:r>
            <a:r>
              <a:rPr sz="1800" spc="-35" dirty="0">
                <a:solidFill>
                  <a:srgbClr val="292929"/>
                </a:solidFill>
                <a:latin typeface="Calibri"/>
                <a:cs typeface="Calibri"/>
              </a:rPr>
              <a:t> </a:t>
            </a:r>
            <a:r>
              <a:rPr sz="1800" dirty="0">
                <a:solidFill>
                  <a:srgbClr val="292929"/>
                </a:solidFill>
                <a:latin typeface="Calibri"/>
                <a:cs typeface="Calibri"/>
              </a:rPr>
              <a:t>is</a:t>
            </a:r>
            <a:r>
              <a:rPr sz="1800" spc="-40" dirty="0">
                <a:solidFill>
                  <a:srgbClr val="292929"/>
                </a:solidFill>
                <a:latin typeface="Calibri"/>
                <a:cs typeface="Calibri"/>
              </a:rPr>
              <a:t> </a:t>
            </a:r>
            <a:r>
              <a:rPr sz="1800" spc="-10" dirty="0">
                <a:solidFill>
                  <a:srgbClr val="292929"/>
                </a:solidFill>
                <a:latin typeface="Calibri"/>
                <a:cs typeface="Calibri"/>
              </a:rPr>
              <a:t>produced.</a:t>
            </a:r>
            <a:r>
              <a:rPr sz="1800" spc="-35"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bottleneck</a:t>
            </a:r>
            <a:r>
              <a:rPr sz="1800" spc="-35" dirty="0">
                <a:solidFill>
                  <a:srgbClr val="292929"/>
                </a:solidFill>
                <a:latin typeface="Calibri"/>
                <a:cs typeface="Calibri"/>
              </a:rPr>
              <a:t> </a:t>
            </a:r>
            <a:r>
              <a:rPr sz="1800" dirty="0">
                <a:solidFill>
                  <a:srgbClr val="292929"/>
                </a:solidFill>
                <a:latin typeface="Calibri"/>
                <a:cs typeface="Calibri"/>
              </a:rPr>
              <a:t>layer</a:t>
            </a:r>
            <a:r>
              <a:rPr sz="1800" spc="-35" dirty="0">
                <a:solidFill>
                  <a:srgbClr val="292929"/>
                </a:solidFill>
                <a:latin typeface="Calibri"/>
                <a:cs typeface="Calibri"/>
              </a:rPr>
              <a:t> </a:t>
            </a:r>
            <a:r>
              <a:rPr sz="1800" dirty="0">
                <a:solidFill>
                  <a:srgbClr val="292929"/>
                </a:solidFill>
                <a:latin typeface="Calibri"/>
                <a:cs typeface="Calibri"/>
              </a:rPr>
              <a:t>has</a:t>
            </a:r>
            <a:r>
              <a:rPr sz="1800" spc="-40" dirty="0">
                <a:solidFill>
                  <a:srgbClr val="292929"/>
                </a:solidFill>
                <a:latin typeface="Calibri"/>
                <a:cs typeface="Calibri"/>
              </a:rPr>
              <a:t> </a:t>
            </a:r>
            <a:r>
              <a:rPr sz="1800" spc="-50" dirty="0">
                <a:solidFill>
                  <a:srgbClr val="292929"/>
                </a:solidFill>
                <a:latin typeface="Calibri"/>
                <a:cs typeface="Calibri"/>
              </a:rPr>
              <a:t>a </a:t>
            </a:r>
            <a:r>
              <a:rPr sz="1800" dirty="0">
                <a:solidFill>
                  <a:srgbClr val="292929"/>
                </a:solidFill>
                <a:latin typeface="Calibri"/>
                <a:cs typeface="Calibri"/>
              </a:rPr>
              <a:t>lower</a:t>
            </a:r>
            <a:r>
              <a:rPr sz="1800" spc="-35" dirty="0">
                <a:solidFill>
                  <a:srgbClr val="292929"/>
                </a:solidFill>
                <a:latin typeface="Calibri"/>
                <a:cs typeface="Calibri"/>
              </a:rPr>
              <a:t> </a:t>
            </a:r>
            <a:r>
              <a:rPr sz="1800" dirty="0">
                <a:solidFill>
                  <a:srgbClr val="292929"/>
                </a:solidFill>
                <a:latin typeface="Calibri"/>
                <a:cs typeface="Calibri"/>
              </a:rPr>
              <a:t>number</a:t>
            </a:r>
            <a:r>
              <a:rPr sz="1800" spc="-40" dirty="0">
                <a:solidFill>
                  <a:srgbClr val="292929"/>
                </a:solidFill>
                <a:latin typeface="Calibri"/>
                <a:cs typeface="Calibri"/>
              </a:rPr>
              <a:t> </a:t>
            </a:r>
            <a:r>
              <a:rPr sz="1800" dirty="0">
                <a:solidFill>
                  <a:srgbClr val="292929"/>
                </a:solidFill>
                <a:latin typeface="Calibri"/>
                <a:cs typeface="Calibri"/>
              </a:rPr>
              <a:t>of</a:t>
            </a:r>
            <a:r>
              <a:rPr sz="1800" spc="-30" dirty="0">
                <a:solidFill>
                  <a:srgbClr val="292929"/>
                </a:solidFill>
                <a:latin typeface="Calibri"/>
                <a:cs typeface="Calibri"/>
              </a:rPr>
              <a:t> </a:t>
            </a:r>
            <a:r>
              <a:rPr sz="1800" dirty="0">
                <a:solidFill>
                  <a:srgbClr val="292929"/>
                </a:solidFill>
                <a:latin typeface="Calibri"/>
                <a:cs typeface="Calibri"/>
              </a:rPr>
              <a:t>nodes</a:t>
            </a:r>
            <a:r>
              <a:rPr sz="1800" spc="-45" dirty="0">
                <a:solidFill>
                  <a:srgbClr val="292929"/>
                </a:solidFill>
                <a:latin typeface="Calibri"/>
                <a:cs typeface="Calibri"/>
              </a:rPr>
              <a:t> </a:t>
            </a:r>
            <a:r>
              <a:rPr sz="1800" dirty="0">
                <a:solidFill>
                  <a:srgbClr val="292929"/>
                </a:solidFill>
                <a:latin typeface="Calibri"/>
                <a:cs typeface="Calibri"/>
              </a:rPr>
              <a:t>and</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number</a:t>
            </a:r>
            <a:r>
              <a:rPr sz="1800" spc="-35" dirty="0">
                <a:solidFill>
                  <a:srgbClr val="292929"/>
                </a:solidFill>
                <a:latin typeface="Calibri"/>
                <a:cs typeface="Calibri"/>
              </a:rPr>
              <a:t> </a:t>
            </a:r>
            <a:r>
              <a:rPr sz="1800" dirty="0">
                <a:solidFill>
                  <a:srgbClr val="292929"/>
                </a:solidFill>
                <a:latin typeface="Calibri"/>
                <a:cs typeface="Calibri"/>
              </a:rPr>
              <a:t>of</a:t>
            </a:r>
            <a:r>
              <a:rPr sz="1800" spc="-50" dirty="0">
                <a:solidFill>
                  <a:srgbClr val="292929"/>
                </a:solidFill>
                <a:latin typeface="Calibri"/>
                <a:cs typeface="Calibri"/>
              </a:rPr>
              <a:t> </a:t>
            </a:r>
            <a:r>
              <a:rPr sz="1800" dirty="0">
                <a:solidFill>
                  <a:srgbClr val="292929"/>
                </a:solidFill>
                <a:latin typeface="Calibri"/>
                <a:cs typeface="Calibri"/>
              </a:rPr>
              <a:t>nodes</a:t>
            </a:r>
            <a:r>
              <a:rPr sz="1800" spc="-40" dirty="0">
                <a:solidFill>
                  <a:srgbClr val="292929"/>
                </a:solidFill>
                <a:latin typeface="Calibri"/>
                <a:cs typeface="Calibri"/>
              </a:rPr>
              <a:t> </a:t>
            </a:r>
            <a:r>
              <a:rPr sz="1800" dirty="0">
                <a:solidFill>
                  <a:srgbClr val="292929"/>
                </a:solidFill>
                <a:latin typeface="Calibri"/>
                <a:cs typeface="Calibri"/>
              </a:rPr>
              <a:t>in</a:t>
            </a:r>
            <a:r>
              <a:rPr sz="1800" spc="-3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bottleneck</a:t>
            </a:r>
            <a:r>
              <a:rPr sz="1800" spc="-40" dirty="0">
                <a:solidFill>
                  <a:srgbClr val="292929"/>
                </a:solidFill>
                <a:latin typeface="Calibri"/>
                <a:cs typeface="Calibri"/>
              </a:rPr>
              <a:t> </a:t>
            </a:r>
            <a:r>
              <a:rPr sz="1800" dirty="0">
                <a:solidFill>
                  <a:srgbClr val="292929"/>
                </a:solidFill>
                <a:latin typeface="Calibri"/>
                <a:cs typeface="Calibri"/>
              </a:rPr>
              <a:t>layer</a:t>
            </a:r>
            <a:r>
              <a:rPr sz="1800" spc="-30" dirty="0">
                <a:solidFill>
                  <a:srgbClr val="292929"/>
                </a:solidFill>
                <a:latin typeface="Calibri"/>
                <a:cs typeface="Calibri"/>
              </a:rPr>
              <a:t> </a:t>
            </a:r>
            <a:r>
              <a:rPr sz="1800" dirty="0">
                <a:solidFill>
                  <a:srgbClr val="292929"/>
                </a:solidFill>
                <a:latin typeface="Calibri"/>
                <a:cs typeface="Calibri"/>
              </a:rPr>
              <a:t>also</a:t>
            </a:r>
            <a:r>
              <a:rPr sz="1800" spc="-50" dirty="0">
                <a:solidFill>
                  <a:srgbClr val="292929"/>
                </a:solidFill>
                <a:latin typeface="Calibri"/>
                <a:cs typeface="Calibri"/>
              </a:rPr>
              <a:t> </a:t>
            </a:r>
            <a:r>
              <a:rPr sz="1800" dirty="0">
                <a:solidFill>
                  <a:srgbClr val="292929"/>
                </a:solidFill>
                <a:latin typeface="Calibri"/>
                <a:cs typeface="Calibri"/>
              </a:rPr>
              <a:t>gives</a:t>
            </a:r>
            <a:r>
              <a:rPr sz="1800" spc="-5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dimension</a:t>
            </a:r>
            <a:r>
              <a:rPr sz="1800" spc="-30" dirty="0">
                <a:solidFill>
                  <a:srgbClr val="292929"/>
                </a:solidFill>
                <a:latin typeface="Calibri"/>
                <a:cs typeface="Calibri"/>
              </a:rPr>
              <a:t> </a:t>
            </a:r>
            <a:r>
              <a:rPr sz="1800" dirty="0">
                <a:solidFill>
                  <a:srgbClr val="292929"/>
                </a:solidFill>
                <a:latin typeface="Calibri"/>
                <a:cs typeface="Calibri"/>
              </a:rPr>
              <a:t>of</a:t>
            </a:r>
            <a:r>
              <a:rPr sz="1800" spc="-5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spc="-10" dirty="0">
                <a:solidFill>
                  <a:srgbClr val="292929"/>
                </a:solidFill>
                <a:latin typeface="Calibri"/>
                <a:cs typeface="Calibri"/>
              </a:rPr>
              <a:t>encoding </a:t>
            </a:r>
            <a:r>
              <a:rPr sz="1800" dirty="0">
                <a:solidFill>
                  <a:srgbClr val="292929"/>
                </a:solidFill>
                <a:latin typeface="Calibri"/>
                <a:cs typeface="Calibri"/>
              </a:rPr>
              <a:t>of</a:t>
            </a:r>
            <a:r>
              <a:rPr sz="1800" spc="-30" dirty="0">
                <a:solidFill>
                  <a:srgbClr val="292929"/>
                </a:solidFill>
                <a:latin typeface="Calibri"/>
                <a:cs typeface="Calibri"/>
              </a:rPr>
              <a:t> </a:t>
            </a:r>
            <a:r>
              <a:rPr sz="1800" dirty="0">
                <a:solidFill>
                  <a:srgbClr val="292929"/>
                </a:solidFill>
                <a:latin typeface="Calibri"/>
                <a:cs typeface="Calibri"/>
              </a:rPr>
              <a:t>the</a:t>
            </a:r>
            <a:r>
              <a:rPr sz="1800" spc="-5" dirty="0">
                <a:solidFill>
                  <a:srgbClr val="292929"/>
                </a:solidFill>
                <a:latin typeface="Calibri"/>
                <a:cs typeface="Calibri"/>
              </a:rPr>
              <a:t> </a:t>
            </a:r>
            <a:r>
              <a:rPr sz="1800" spc="-10" dirty="0">
                <a:solidFill>
                  <a:srgbClr val="292929"/>
                </a:solidFill>
                <a:latin typeface="Calibri"/>
                <a:cs typeface="Calibri"/>
              </a:rPr>
              <a:t>input.</a:t>
            </a:r>
            <a:endParaRPr sz="1800">
              <a:latin typeface="Calibri"/>
              <a:cs typeface="Calibri"/>
            </a:endParaRPr>
          </a:p>
          <a:p>
            <a:pPr marL="266700" indent="-179070" algn="just">
              <a:lnSpc>
                <a:spcPct val="100000"/>
              </a:lnSpc>
              <a:buSzPct val="94444"/>
              <a:buAutoNum type="arabicPeriod" startAt="2"/>
              <a:tabLst>
                <a:tab pos="266700" algn="l"/>
              </a:tabLst>
            </a:pPr>
            <a:r>
              <a:rPr sz="1800" b="1" dirty="0">
                <a:solidFill>
                  <a:srgbClr val="292929"/>
                </a:solidFill>
                <a:latin typeface="Calibri"/>
                <a:cs typeface="Calibri"/>
              </a:rPr>
              <a:t>Decoder:</a:t>
            </a:r>
            <a:r>
              <a:rPr sz="1800" b="1" spc="-7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decoder</a:t>
            </a:r>
            <a:r>
              <a:rPr sz="1800" spc="-30" dirty="0">
                <a:solidFill>
                  <a:srgbClr val="292929"/>
                </a:solidFill>
                <a:latin typeface="Calibri"/>
                <a:cs typeface="Calibri"/>
              </a:rPr>
              <a:t> </a:t>
            </a:r>
            <a:r>
              <a:rPr sz="1800" spc="-10" dirty="0">
                <a:solidFill>
                  <a:srgbClr val="292929"/>
                </a:solidFill>
                <a:latin typeface="Calibri"/>
                <a:cs typeface="Calibri"/>
              </a:rPr>
              <a:t>takes</a:t>
            </a:r>
            <a:r>
              <a:rPr sz="1800" spc="-50" dirty="0">
                <a:solidFill>
                  <a:srgbClr val="292929"/>
                </a:solidFill>
                <a:latin typeface="Calibri"/>
                <a:cs typeface="Calibri"/>
              </a:rPr>
              <a:t> </a:t>
            </a:r>
            <a:r>
              <a:rPr sz="1800" dirty="0">
                <a:solidFill>
                  <a:srgbClr val="292929"/>
                </a:solidFill>
                <a:latin typeface="Calibri"/>
                <a:cs typeface="Calibri"/>
              </a:rPr>
              <a:t>in</a:t>
            </a:r>
            <a:r>
              <a:rPr sz="1800" spc="-3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encoding</a:t>
            </a:r>
            <a:r>
              <a:rPr sz="1800" spc="-25" dirty="0">
                <a:solidFill>
                  <a:srgbClr val="292929"/>
                </a:solidFill>
                <a:latin typeface="Calibri"/>
                <a:cs typeface="Calibri"/>
              </a:rPr>
              <a:t> </a:t>
            </a:r>
            <a:r>
              <a:rPr sz="1800" dirty="0">
                <a:solidFill>
                  <a:srgbClr val="292929"/>
                </a:solidFill>
                <a:latin typeface="Calibri"/>
                <a:cs typeface="Calibri"/>
              </a:rPr>
              <a:t>and</a:t>
            </a:r>
            <a:r>
              <a:rPr sz="1800" spc="-25" dirty="0">
                <a:solidFill>
                  <a:srgbClr val="292929"/>
                </a:solidFill>
                <a:latin typeface="Calibri"/>
                <a:cs typeface="Calibri"/>
              </a:rPr>
              <a:t> </a:t>
            </a:r>
            <a:r>
              <a:rPr sz="1800" spc="-10" dirty="0">
                <a:solidFill>
                  <a:srgbClr val="292929"/>
                </a:solidFill>
                <a:latin typeface="Calibri"/>
                <a:cs typeface="Calibri"/>
              </a:rPr>
              <a:t>recreates</a:t>
            </a:r>
            <a:r>
              <a:rPr sz="1800" spc="-40" dirty="0">
                <a:solidFill>
                  <a:srgbClr val="292929"/>
                </a:solidFill>
                <a:latin typeface="Calibri"/>
                <a:cs typeface="Calibri"/>
              </a:rPr>
              <a:t> </a:t>
            </a:r>
            <a:r>
              <a:rPr sz="1800" dirty="0">
                <a:solidFill>
                  <a:srgbClr val="292929"/>
                </a:solidFill>
                <a:latin typeface="Calibri"/>
                <a:cs typeface="Calibri"/>
              </a:rPr>
              <a:t>back</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spc="-10" dirty="0">
                <a:solidFill>
                  <a:srgbClr val="292929"/>
                </a:solidFill>
                <a:latin typeface="Calibri"/>
                <a:cs typeface="Calibri"/>
              </a:rPr>
              <a:t>input.</a:t>
            </a:r>
            <a:endParaRPr sz="1800">
              <a:latin typeface="Calibri"/>
              <a:cs typeface="Calibri"/>
            </a:endParaRPr>
          </a:p>
        </p:txBody>
      </p:sp>
      <p:pic>
        <p:nvPicPr>
          <p:cNvPr id="5" name="object 5"/>
          <p:cNvPicPr/>
          <p:nvPr/>
        </p:nvPicPr>
        <p:blipFill>
          <a:blip r:embed="rId3" cstate="print"/>
          <a:stretch>
            <a:fillRect/>
          </a:stretch>
        </p:blipFill>
        <p:spPr>
          <a:xfrm>
            <a:off x="481583" y="3469422"/>
            <a:ext cx="6587002" cy="2797265"/>
          </a:xfrm>
          <a:prstGeom prst="rect">
            <a:avLst/>
          </a:prstGeom>
        </p:spPr>
      </p:pic>
      <p:sp>
        <p:nvSpPr>
          <p:cNvPr id="6" name="object 6"/>
          <p:cNvSpPr txBox="1"/>
          <p:nvPr/>
        </p:nvSpPr>
        <p:spPr>
          <a:xfrm>
            <a:off x="2773172" y="6510934"/>
            <a:ext cx="3654425"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Calibri"/>
                <a:cs typeface="Calibri"/>
              </a:rPr>
              <a:t>Courtesy</a:t>
            </a:r>
            <a:r>
              <a:rPr sz="1600" spc="-40" dirty="0">
                <a:solidFill>
                  <a:srgbClr val="FFFFFF"/>
                </a:solidFill>
                <a:latin typeface="Calibri"/>
                <a:cs typeface="Calibri"/>
              </a:rPr>
              <a:t> </a:t>
            </a:r>
            <a:r>
              <a:rPr sz="1600" dirty="0">
                <a:solidFill>
                  <a:srgbClr val="FFFFFF"/>
                </a:solidFill>
                <a:latin typeface="Calibri"/>
                <a:cs typeface="Calibri"/>
              </a:rPr>
              <a:t>:</a:t>
            </a:r>
            <a:r>
              <a:rPr sz="1600" spc="-60" dirty="0">
                <a:solidFill>
                  <a:srgbClr val="FFFFFF"/>
                </a:solidFill>
                <a:latin typeface="Calibri"/>
                <a:cs typeface="Calibri"/>
              </a:rPr>
              <a:t> </a:t>
            </a:r>
            <a:r>
              <a:rPr sz="1600" spc="-10" dirty="0">
                <a:solidFill>
                  <a:srgbClr val="FFFFFF"/>
                </a:solidFill>
                <a:latin typeface="Calibri"/>
                <a:cs typeface="Calibri"/>
              </a:rPr>
              <a:t>https://towardsdatascience.com/</a:t>
            </a:r>
            <a:endParaRPr sz="16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828" y="37033"/>
            <a:ext cx="2221230" cy="514350"/>
          </a:xfrm>
          <a:prstGeom prst="rect">
            <a:avLst/>
          </a:prstGeom>
        </p:spPr>
        <p:txBody>
          <a:bodyPr vert="horz" wrap="square" lIns="0" tIns="13335" rIns="0" bIns="0" rtlCol="0">
            <a:spAutoFit/>
          </a:bodyPr>
          <a:lstStyle/>
          <a:p>
            <a:pPr marL="12700">
              <a:lnSpc>
                <a:spcPct val="100000"/>
              </a:lnSpc>
              <a:spcBef>
                <a:spcPts val="105"/>
              </a:spcBef>
            </a:pPr>
            <a:r>
              <a:rPr b="0" spc="-10" dirty="0">
                <a:solidFill>
                  <a:srgbClr val="A3123E"/>
                </a:solidFill>
                <a:latin typeface="Georgia"/>
                <a:cs typeface="Georgia"/>
              </a:rPr>
              <a:t>Upsampling</a:t>
            </a:r>
          </a:p>
        </p:txBody>
      </p:sp>
      <p:sp>
        <p:nvSpPr>
          <p:cNvPr id="3" name="object 3"/>
          <p:cNvSpPr txBox="1"/>
          <p:nvPr/>
        </p:nvSpPr>
        <p:spPr>
          <a:xfrm>
            <a:off x="305815" y="1378711"/>
            <a:ext cx="3428365" cy="1116965"/>
          </a:xfrm>
          <a:prstGeom prst="rect">
            <a:avLst/>
          </a:prstGeom>
        </p:spPr>
        <p:txBody>
          <a:bodyPr vert="horz" wrap="square" lIns="0" tIns="14604" rIns="0" bIns="0" rtlCol="0">
            <a:spAutoFit/>
          </a:bodyPr>
          <a:lstStyle/>
          <a:p>
            <a:pPr marL="12700" marR="5080">
              <a:lnSpc>
                <a:spcPct val="99300"/>
              </a:lnSpc>
              <a:spcBef>
                <a:spcPts val="114"/>
              </a:spcBef>
            </a:pPr>
            <a:r>
              <a:rPr sz="1800" dirty="0">
                <a:solidFill>
                  <a:srgbClr val="282828"/>
                </a:solidFill>
                <a:latin typeface="Arial MT"/>
                <a:cs typeface="Arial MT"/>
              </a:rPr>
              <a:t>Upsample</a:t>
            </a:r>
            <a:r>
              <a:rPr sz="1800" spc="-30" dirty="0">
                <a:solidFill>
                  <a:srgbClr val="282828"/>
                </a:solidFill>
                <a:latin typeface="Arial MT"/>
                <a:cs typeface="Arial MT"/>
              </a:rPr>
              <a:t> </a:t>
            </a:r>
            <a:r>
              <a:rPr sz="1800" dirty="0">
                <a:solidFill>
                  <a:srgbClr val="282828"/>
                </a:solidFill>
                <a:latin typeface="Arial MT"/>
                <a:cs typeface="Arial MT"/>
              </a:rPr>
              <a:t>the</a:t>
            </a:r>
            <a:r>
              <a:rPr sz="1800" spc="-50" dirty="0">
                <a:solidFill>
                  <a:srgbClr val="282828"/>
                </a:solidFill>
                <a:latin typeface="Arial MT"/>
                <a:cs typeface="Arial MT"/>
              </a:rPr>
              <a:t> </a:t>
            </a:r>
            <a:r>
              <a:rPr sz="1800" dirty="0">
                <a:solidFill>
                  <a:srgbClr val="282828"/>
                </a:solidFill>
                <a:latin typeface="Arial MT"/>
                <a:cs typeface="Arial MT"/>
              </a:rPr>
              <a:t>compressed</a:t>
            </a:r>
            <a:r>
              <a:rPr sz="1800" spc="-35" dirty="0">
                <a:solidFill>
                  <a:srgbClr val="282828"/>
                </a:solidFill>
                <a:latin typeface="Arial MT"/>
                <a:cs typeface="Arial MT"/>
              </a:rPr>
              <a:t> </a:t>
            </a:r>
            <a:r>
              <a:rPr sz="1800" spc="-10" dirty="0">
                <a:solidFill>
                  <a:srgbClr val="282828"/>
                </a:solidFill>
                <a:latin typeface="Arial MT"/>
                <a:cs typeface="Arial MT"/>
              </a:rPr>
              <a:t>image </a:t>
            </a:r>
            <a:r>
              <a:rPr sz="1800" dirty="0">
                <a:solidFill>
                  <a:srgbClr val="282828"/>
                </a:solidFill>
                <a:latin typeface="Arial MT"/>
                <a:cs typeface="Arial MT"/>
              </a:rPr>
              <a:t>is</a:t>
            </a:r>
            <a:r>
              <a:rPr sz="1800" spc="-35" dirty="0">
                <a:solidFill>
                  <a:srgbClr val="282828"/>
                </a:solidFill>
                <a:latin typeface="Arial MT"/>
                <a:cs typeface="Arial MT"/>
              </a:rPr>
              <a:t> </a:t>
            </a:r>
            <a:r>
              <a:rPr sz="1800" dirty="0">
                <a:solidFill>
                  <a:srgbClr val="282828"/>
                </a:solidFill>
                <a:latin typeface="Arial MT"/>
                <a:cs typeface="Arial MT"/>
              </a:rPr>
              <a:t>by</a:t>
            </a:r>
            <a:r>
              <a:rPr sz="1800" spc="-30" dirty="0">
                <a:solidFill>
                  <a:srgbClr val="282828"/>
                </a:solidFill>
                <a:latin typeface="Arial MT"/>
                <a:cs typeface="Arial MT"/>
              </a:rPr>
              <a:t> </a:t>
            </a:r>
            <a:r>
              <a:rPr sz="1800" b="1" dirty="0">
                <a:solidFill>
                  <a:srgbClr val="282828"/>
                </a:solidFill>
                <a:latin typeface="Arial"/>
                <a:cs typeface="Arial"/>
              </a:rPr>
              <a:t>Unpooling</a:t>
            </a:r>
            <a:r>
              <a:rPr sz="1800" b="1" spc="-50" dirty="0">
                <a:solidFill>
                  <a:srgbClr val="282828"/>
                </a:solidFill>
                <a:latin typeface="Arial"/>
                <a:cs typeface="Arial"/>
              </a:rPr>
              <a:t> </a:t>
            </a:r>
            <a:r>
              <a:rPr sz="1800" i="1" dirty="0">
                <a:solidFill>
                  <a:srgbClr val="282828"/>
                </a:solidFill>
                <a:latin typeface="Arial"/>
                <a:cs typeface="Arial"/>
              </a:rPr>
              <a:t>(the</a:t>
            </a:r>
            <a:r>
              <a:rPr sz="1800" i="1" spc="-35" dirty="0">
                <a:solidFill>
                  <a:srgbClr val="282828"/>
                </a:solidFill>
                <a:latin typeface="Arial"/>
                <a:cs typeface="Arial"/>
              </a:rPr>
              <a:t> </a:t>
            </a:r>
            <a:r>
              <a:rPr sz="1800" i="1" dirty="0">
                <a:solidFill>
                  <a:srgbClr val="282828"/>
                </a:solidFill>
                <a:latin typeface="Arial"/>
                <a:cs typeface="Arial"/>
              </a:rPr>
              <a:t>reverse</a:t>
            </a:r>
            <a:r>
              <a:rPr sz="1800" i="1" spc="-25" dirty="0">
                <a:solidFill>
                  <a:srgbClr val="282828"/>
                </a:solidFill>
                <a:latin typeface="Arial"/>
                <a:cs typeface="Arial"/>
              </a:rPr>
              <a:t> of </a:t>
            </a:r>
            <a:r>
              <a:rPr sz="1800" i="1" dirty="0">
                <a:solidFill>
                  <a:srgbClr val="282828"/>
                </a:solidFill>
                <a:latin typeface="Arial"/>
                <a:cs typeface="Arial"/>
              </a:rPr>
              <a:t>pooling)</a:t>
            </a:r>
            <a:r>
              <a:rPr sz="1800" i="1" spc="-15" dirty="0">
                <a:solidFill>
                  <a:srgbClr val="282828"/>
                </a:solidFill>
                <a:latin typeface="Arial"/>
                <a:cs typeface="Arial"/>
              </a:rPr>
              <a:t> </a:t>
            </a:r>
            <a:r>
              <a:rPr sz="1800" dirty="0">
                <a:solidFill>
                  <a:srgbClr val="282828"/>
                </a:solidFill>
                <a:latin typeface="Arial MT"/>
                <a:cs typeface="Arial MT"/>
              </a:rPr>
              <a:t>using</a:t>
            </a:r>
            <a:r>
              <a:rPr sz="1800" spc="-25" dirty="0">
                <a:solidFill>
                  <a:srgbClr val="282828"/>
                </a:solidFill>
                <a:latin typeface="Arial MT"/>
                <a:cs typeface="Arial MT"/>
              </a:rPr>
              <a:t> </a:t>
            </a:r>
            <a:r>
              <a:rPr sz="1800" dirty="0">
                <a:solidFill>
                  <a:srgbClr val="282828"/>
                </a:solidFill>
                <a:latin typeface="Arial MT"/>
                <a:cs typeface="Arial MT"/>
              </a:rPr>
              <a:t>Nearest</a:t>
            </a:r>
            <a:r>
              <a:rPr sz="1800" spc="-20" dirty="0">
                <a:solidFill>
                  <a:srgbClr val="282828"/>
                </a:solidFill>
                <a:latin typeface="Arial MT"/>
                <a:cs typeface="Arial MT"/>
              </a:rPr>
              <a:t> </a:t>
            </a:r>
            <a:r>
              <a:rPr sz="1800" spc="-10" dirty="0">
                <a:solidFill>
                  <a:srgbClr val="282828"/>
                </a:solidFill>
                <a:latin typeface="Arial MT"/>
                <a:cs typeface="Arial MT"/>
              </a:rPr>
              <a:t>Neighbor </a:t>
            </a:r>
            <a:r>
              <a:rPr sz="1800" dirty="0">
                <a:solidFill>
                  <a:srgbClr val="282828"/>
                </a:solidFill>
                <a:latin typeface="Arial MT"/>
                <a:cs typeface="Arial MT"/>
              </a:rPr>
              <a:t>or</a:t>
            </a:r>
            <a:r>
              <a:rPr sz="1800" spc="-5" dirty="0">
                <a:solidFill>
                  <a:srgbClr val="282828"/>
                </a:solidFill>
                <a:latin typeface="Arial MT"/>
                <a:cs typeface="Arial MT"/>
              </a:rPr>
              <a:t> </a:t>
            </a:r>
            <a:r>
              <a:rPr sz="1800" dirty="0">
                <a:solidFill>
                  <a:srgbClr val="282828"/>
                </a:solidFill>
                <a:latin typeface="Arial MT"/>
                <a:cs typeface="Arial MT"/>
              </a:rPr>
              <a:t>by</a:t>
            </a:r>
            <a:r>
              <a:rPr sz="1800" spc="-5" dirty="0">
                <a:solidFill>
                  <a:srgbClr val="282828"/>
                </a:solidFill>
                <a:latin typeface="Arial MT"/>
                <a:cs typeface="Arial MT"/>
              </a:rPr>
              <a:t> </a:t>
            </a:r>
            <a:r>
              <a:rPr sz="1800" dirty="0">
                <a:solidFill>
                  <a:srgbClr val="282828"/>
                </a:solidFill>
                <a:latin typeface="Arial MT"/>
                <a:cs typeface="Arial MT"/>
              </a:rPr>
              <a:t>max </a:t>
            </a:r>
            <a:r>
              <a:rPr sz="1800" spc="-10" dirty="0">
                <a:solidFill>
                  <a:srgbClr val="282828"/>
                </a:solidFill>
                <a:latin typeface="Arial MT"/>
                <a:cs typeface="Arial MT"/>
              </a:rPr>
              <a:t>unpooling.</a:t>
            </a:r>
            <a:endParaRPr sz="1800">
              <a:latin typeface="Arial MT"/>
              <a:cs typeface="Arial MT"/>
            </a:endParaRPr>
          </a:p>
        </p:txBody>
      </p:sp>
      <p:pic>
        <p:nvPicPr>
          <p:cNvPr id="4" name="object 4"/>
          <p:cNvPicPr/>
          <p:nvPr/>
        </p:nvPicPr>
        <p:blipFill>
          <a:blip r:embed="rId2" cstate="print"/>
          <a:stretch>
            <a:fillRect/>
          </a:stretch>
        </p:blipFill>
        <p:spPr>
          <a:xfrm>
            <a:off x="214891" y="3377177"/>
            <a:ext cx="3715496" cy="2066550"/>
          </a:xfrm>
          <a:prstGeom prst="rect">
            <a:avLst/>
          </a:prstGeom>
        </p:spPr>
      </p:pic>
      <p:sp>
        <p:nvSpPr>
          <p:cNvPr id="5" name="object 5"/>
          <p:cNvSpPr txBox="1"/>
          <p:nvPr/>
        </p:nvSpPr>
        <p:spPr>
          <a:xfrm>
            <a:off x="4586732" y="5283200"/>
            <a:ext cx="7059295" cy="568325"/>
          </a:xfrm>
          <a:prstGeom prst="rect">
            <a:avLst/>
          </a:prstGeom>
        </p:spPr>
        <p:txBody>
          <a:bodyPr vert="horz" wrap="square" lIns="0" tIns="26670" rIns="0" bIns="0" rtlCol="0">
            <a:spAutoFit/>
          </a:bodyPr>
          <a:lstStyle/>
          <a:p>
            <a:pPr marL="12700" marR="5080">
              <a:lnSpc>
                <a:spcPts val="2110"/>
              </a:lnSpc>
              <a:spcBef>
                <a:spcPts val="210"/>
              </a:spcBef>
            </a:pPr>
            <a:r>
              <a:rPr sz="1800" dirty="0">
                <a:solidFill>
                  <a:srgbClr val="282828"/>
                </a:solidFill>
                <a:latin typeface="Arial MT"/>
                <a:cs typeface="Arial MT"/>
              </a:rPr>
              <a:t>Another</a:t>
            </a:r>
            <a:r>
              <a:rPr sz="1800" spc="-40" dirty="0">
                <a:solidFill>
                  <a:srgbClr val="282828"/>
                </a:solidFill>
                <a:latin typeface="Arial MT"/>
                <a:cs typeface="Arial MT"/>
              </a:rPr>
              <a:t> </a:t>
            </a:r>
            <a:r>
              <a:rPr sz="1800" dirty="0">
                <a:solidFill>
                  <a:srgbClr val="282828"/>
                </a:solidFill>
                <a:latin typeface="Arial MT"/>
                <a:cs typeface="Arial MT"/>
              </a:rPr>
              <a:t>way</a:t>
            </a:r>
            <a:r>
              <a:rPr sz="1800" spc="-10" dirty="0">
                <a:solidFill>
                  <a:srgbClr val="282828"/>
                </a:solidFill>
                <a:latin typeface="Arial MT"/>
                <a:cs typeface="Arial MT"/>
              </a:rPr>
              <a:t> </a:t>
            </a:r>
            <a:r>
              <a:rPr sz="1800" dirty="0">
                <a:solidFill>
                  <a:srgbClr val="282828"/>
                </a:solidFill>
                <a:latin typeface="Arial MT"/>
                <a:cs typeface="Arial MT"/>
              </a:rPr>
              <a:t>is</a:t>
            </a:r>
            <a:r>
              <a:rPr sz="1800" spc="-35" dirty="0">
                <a:solidFill>
                  <a:srgbClr val="282828"/>
                </a:solidFill>
                <a:latin typeface="Arial MT"/>
                <a:cs typeface="Arial MT"/>
              </a:rPr>
              <a:t> </a:t>
            </a:r>
            <a:r>
              <a:rPr sz="1800" dirty="0">
                <a:solidFill>
                  <a:srgbClr val="282828"/>
                </a:solidFill>
                <a:latin typeface="Arial MT"/>
                <a:cs typeface="Arial MT"/>
              </a:rPr>
              <a:t>to</a:t>
            </a:r>
            <a:r>
              <a:rPr sz="1800" spc="-35" dirty="0">
                <a:solidFill>
                  <a:srgbClr val="282828"/>
                </a:solidFill>
                <a:latin typeface="Arial MT"/>
                <a:cs typeface="Arial MT"/>
              </a:rPr>
              <a:t> </a:t>
            </a:r>
            <a:r>
              <a:rPr sz="1800" dirty="0">
                <a:solidFill>
                  <a:srgbClr val="282828"/>
                </a:solidFill>
                <a:latin typeface="Arial MT"/>
                <a:cs typeface="Arial MT"/>
              </a:rPr>
              <a:t>use</a:t>
            </a:r>
            <a:r>
              <a:rPr sz="1800" spc="-35" dirty="0">
                <a:solidFill>
                  <a:srgbClr val="282828"/>
                </a:solidFill>
                <a:latin typeface="Arial MT"/>
                <a:cs typeface="Arial MT"/>
              </a:rPr>
              <a:t> </a:t>
            </a:r>
            <a:r>
              <a:rPr sz="1800" b="1" dirty="0">
                <a:solidFill>
                  <a:srgbClr val="282828"/>
                </a:solidFill>
                <a:latin typeface="Arial"/>
                <a:cs typeface="Arial"/>
              </a:rPr>
              <a:t>transposed</a:t>
            </a:r>
            <a:r>
              <a:rPr sz="1800" b="1" spc="-30" dirty="0">
                <a:solidFill>
                  <a:srgbClr val="282828"/>
                </a:solidFill>
                <a:latin typeface="Arial"/>
                <a:cs typeface="Arial"/>
              </a:rPr>
              <a:t> </a:t>
            </a:r>
            <a:r>
              <a:rPr sz="1800" b="1" dirty="0">
                <a:solidFill>
                  <a:srgbClr val="282828"/>
                </a:solidFill>
                <a:latin typeface="Arial"/>
                <a:cs typeface="Arial"/>
              </a:rPr>
              <a:t>convolution</a:t>
            </a:r>
            <a:r>
              <a:rPr sz="1800" dirty="0">
                <a:solidFill>
                  <a:srgbClr val="282828"/>
                </a:solidFill>
                <a:latin typeface="Arial MT"/>
                <a:cs typeface="Arial MT"/>
              </a:rPr>
              <a:t>.</a:t>
            </a:r>
            <a:r>
              <a:rPr sz="1800" spc="-25" dirty="0">
                <a:solidFill>
                  <a:srgbClr val="282828"/>
                </a:solidFill>
                <a:latin typeface="Arial MT"/>
                <a:cs typeface="Arial MT"/>
              </a:rPr>
              <a:t> </a:t>
            </a:r>
            <a:r>
              <a:rPr sz="1800" spc="-10" dirty="0">
                <a:solidFill>
                  <a:srgbClr val="282828"/>
                </a:solidFill>
                <a:latin typeface="Arial MT"/>
                <a:cs typeface="Arial MT"/>
              </a:rPr>
              <a:t>(De-convolution)The </a:t>
            </a:r>
            <a:r>
              <a:rPr sz="1800" dirty="0">
                <a:solidFill>
                  <a:srgbClr val="282828"/>
                </a:solidFill>
                <a:latin typeface="Arial MT"/>
                <a:cs typeface="Arial MT"/>
              </a:rPr>
              <a:t>transpose</a:t>
            </a:r>
            <a:r>
              <a:rPr sz="1800" spc="-40" dirty="0">
                <a:solidFill>
                  <a:srgbClr val="282828"/>
                </a:solidFill>
                <a:latin typeface="Arial MT"/>
                <a:cs typeface="Arial MT"/>
              </a:rPr>
              <a:t> </a:t>
            </a:r>
            <a:r>
              <a:rPr sz="1800" dirty="0">
                <a:solidFill>
                  <a:srgbClr val="282828"/>
                </a:solidFill>
                <a:latin typeface="Arial MT"/>
                <a:cs typeface="Arial MT"/>
              </a:rPr>
              <a:t>convolution</a:t>
            </a:r>
            <a:r>
              <a:rPr sz="1800" spc="-15" dirty="0">
                <a:solidFill>
                  <a:srgbClr val="282828"/>
                </a:solidFill>
                <a:latin typeface="Arial MT"/>
                <a:cs typeface="Arial MT"/>
              </a:rPr>
              <a:t> </a:t>
            </a:r>
            <a:r>
              <a:rPr sz="1800" dirty="0">
                <a:solidFill>
                  <a:srgbClr val="282828"/>
                </a:solidFill>
                <a:latin typeface="Arial MT"/>
                <a:cs typeface="Arial MT"/>
              </a:rPr>
              <a:t>is</a:t>
            </a:r>
            <a:r>
              <a:rPr sz="1800" spc="-30" dirty="0">
                <a:solidFill>
                  <a:srgbClr val="282828"/>
                </a:solidFill>
                <a:latin typeface="Arial MT"/>
                <a:cs typeface="Arial MT"/>
              </a:rPr>
              <a:t> </a:t>
            </a:r>
            <a:r>
              <a:rPr sz="1800" dirty="0">
                <a:solidFill>
                  <a:srgbClr val="282828"/>
                </a:solidFill>
                <a:latin typeface="Arial MT"/>
                <a:cs typeface="Arial MT"/>
              </a:rPr>
              <a:t>reverse</a:t>
            </a:r>
            <a:r>
              <a:rPr sz="1800" spc="-25" dirty="0">
                <a:solidFill>
                  <a:srgbClr val="282828"/>
                </a:solidFill>
                <a:latin typeface="Arial MT"/>
                <a:cs typeface="Arial MT"/>
              </a:rPr>
              <a:t> </a:t>
            </a:r>
            <a:r>
              <a:rPr sz="1800" dirty="0">
                <a:solidFill>
                  <a:srgbClr val="282828"/>
                </a:solidFill>
                <a:latin typeface="Arial MT"/>
                <a:cs typeface="Arial MT"/>
              </a:rPr>
              <a:t>of</a:t>
            </a:r>
            <a:r>
              <a:rPr sz="1800" spc="-45" dirty="0">
                <a:solidFill>
                  <a:srgbClr val="282828"/>
                </a:solidFill>
                <a:latin typeface="Arial MT"/>
                <a:cs typeface="Arial MT"/>
              </a:rPr>
              <a:t> </a:t>
            </a:r>
            <a:r>
              <a:rPr sz="1800" dirty="0">
                <a:solidFill>
                  <a:srgbClr val="282828"/>
                </a:solidFill>
                <a:latin typeface="Arial MT"/>
                <a:cs typeface="Arial MT"/>
              </a:rPr>
              <a:t>the</a:t>
            </a:r>
            <a:r>
              <a:rPr sz="1800" spc="-40" dirty="0">
                <a:solidFill>
                  <a:srgbClr val="282828"/>
                </a:solidFill>
                <a:latin typeface="Arial MT"/>
                <a:cs typeface="Arial MT"/>
              </a:rPr>
              <a:t> </a:t>
            </a:r>
            <a:r>
              <a:rPr sz="1800" dirty="0">
                <a:solidFill>
                  <a:srgbClr val="282828"/>
                </a:solidFill>
                <a:latin typeface="Arial MT"/>
                <a:cs typeface="Arial MT"/>
              </a:rPr>
              <a:t>convolution</a:t>
            </a:r>
            <a:r>
              <a:rPr sz="1800" spc="-10" dirty="0">
                <a:solidFill>
                  <a:srgbClr val="282828"/>
                </a:solidFill>
                <a:latin typeface="Arial MT"/>
                <a:cs typeface="Arial MT"/>
              </a:rPr>
              <a:t> operation.</a:t>
            </a:r>
            <a:endParaRPr sz="1800">
              <a:latin typeface="Arial MT"/>
              <a:cs typeface="Arial MT"/>
            </a:endParaRPr>
          </a:p>
        </p:txBody>
      </p:sp>
      <p:sp>
        <p:nvSpPr>
          <p:cNvPr id="6" name="object 6"/>
          <p:cNvSpPr/>
          <p:nvPr/>
        </p:nvSpPr>
        <p:spPr>
          <a:xfrm>
            <a:off x="4239005" y="564641"/>
            <a:ext cx="0" cy="4972050"/>
          </a:xfrm>
          <a:custGeom>
            <a:avLst/>
            <a:gdLst/>
            <a:ahLst/>
            <a:cxnLst/>
            <a:rect l="l" t="t" r="r" b="b"/>
            <a:pathLst>
              <a:path h="4972050">
                <a:moveTo>
                  <a:pt x="0" y="0"/>
                </a:moveTo>
                <a:lnTo>
                  <a:pt x="0" y="4971669"/>
                </a:lnTo>
              </a:path>
            </a:pathLst>
          </a:custGeom>
          <a:ln w="31750">
            <a:solidFill>
              <a:srgbClr val="4471C4"/>
            </a:solidFill>
          </a:ln>
        </p:spPr>
        <p:txBody>
          <a:bodyPr wrap="square" lIns="0" tIns="0" rIns="0" bIns="0" rtlCol="0"/>
          <a:lstStyle/>
          <a:p>
            <a:endParaRPr/>
          </a:p>
        </p:txBody>
      </p:sp>
      <p:pic>
        <p:nvPicPr>
          <p:cNvPr id="7" name="object 7"/>
          <p:cNvPicPr/>
          <p:nvPr/>
        </p:nvPicPr>
        <p:blipFill>
          <a:blip r:embed="rId3" cstate="print"/>
          <a:stretch>
            <a:fillRect/>
          </a:stretch>
        </p:blipFill>
        <p:spPr>
          <a:xfrm>
            <a:off x="5993891" y="291084"/>
            <a:ext cx="3918606" cy="49395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9915" y="1074496"/>
            <a:ext cx="2164080" cy="514350"/>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A3123E"/>
                </a:solidFill>
                <a:latin typeface="Georgia"/>
                <a:cs typeface="Georgia"/>
              </a:rPr>
              <a:t>convolution</a:t>
            </a:r>
            <a:endParaRPr sz="3200">
              <a:latin typeface="Georgia"/>
              <a:cs typeface="Georgia"/>
            </a:endParaRPr>
          </a:p>
        </p:txBody>
      </p:sp>
      <p:grpSp>
        <p:nvGrpSpPr>
          <p:cNvPr id="3" name="object 3"/>
          <p:cNvGrpSpPr/>
          <p:nvPr/>
        </p:nvGrpSpPr>
        <p:grpSpPr>
          <a:xfrm>
            <a:off x="571500" y="853439"/>
            <a:ext cx="11209020" cy="5476240"/>
            <a:chOff x="571500" y="853439"/>
            <a:chExt cx="11209020" cy="5476240"/>
          </a:xfrm>
        </p:grpSpPr>
        <p:pic>
          <p:nvPicPr>
            <p:cNvPr id="4" name="object 4"/>
            <p:cNvPicPr/>
            <p:nvPr/>
          </p:nvPicPr>
          <p:blipFill>
            <a:blip r:embed="rId2" cstate="print"/>
            <a:stretch>
              <a:fillRect/>
            </a:stretch>
          </p:blipFill>
          <p:spPr>
            <a:xfrm>
              <a:off x="3445764" y="853439"/>
              <a:ext cx="8334756" cy="5475732"/>
            </a:xfrm>
            <a:prstGeom prst="rect">
              <a:avLst/>
            </a:prstGeom>
          </p:spPr>
        </p:pic>
        <p:pic>
          <p:nvPicPr>
            <p:cNvPr id="5" name="object 5"/>
            <p:cNvPicPr/>
            <p:nvPr/>
          </p:nvPicPr>
          <p:blipFill>
            <a:blip r:embed="rId3" cstate="print"/>
            <a:stretch>
              <a:fillRect/>
            </a:stretch>
          </p:blipFill>
          <p:spPr>
            <a:xfrm>
              <a:off x="571500" y="1514855"/>
              <a:ext cx="1847088" cy="2075688"/>
            </a:xfrm>
            <a:prstGeom prst="rect">
              <a:avLst/>
            </a:prstGeom>
          </p:spPr>
        </p:pic>
      </p:grpSp>
      <p:sp>
        <p:nvSpPr>
          <p:cNvPr id="6" name="object 6"/>
          <p:cNvSpPr txBox="1"/>
          <p:nvPr/>
        </p:nvSpPr>
        <p:spPr>
          <a:xfrm>
            <a:off x="167131" y="17780"/>
            <a:ext cx="185737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92929"/>
                </a:solidFill>
                <a:latin typeface="Calibri"/>
                <a:cs typeface="Calibri"/>
              </a:rPr>
              <a:t>Convolution</a:t>
            </a:r>
            <a:r>
              <a:rPr sz="1800" b="1" spc="-90" dirty="0">
                <a:solidFill>
                  <a:srgbClr val="292929"/>
                </a:solidFill>
                <a:latin typeface="Calibri"/>
                <a:cs typeface="Calibri"/>
              </a:rPr>
              <a:t> </a:t>
            </a:r>
            <a:r>
              <a:rPr sz="1800" b="1" spc="-10" dirty="0">
                <a:solidFill>
                  <a:srgbClr val="292929"/>
                </a:solidFill>
                <a:latin typeface="Calibri"/>
                <a:cs typeface="Calibri"/>
              </a:rPr>
              <a:t>Matrix</a:t>
            </a:r>
            <a:endParaRPr sz="1800">
              <a:latin typeface="Calibri"/>
              <a:cs typeface="Calibri"/>
            </a:endParaRPr>
          </a:p>
        </p:txBody>
      </p:sp>
      <p:sp>
        <p:nvSpPr>
          <p:cNvPr id="7" name="object 7"/>
          <p:cNvSpPr txBox="1">
            <a:spLocks noGrp="1"/>
          </p:cNvSpPr>
          <p:nvPr>
            <p:ph type="title"/>
          </p:nvPr>
        </p:nvSpPr>
        <p:spPr>
          <a:xfrm>
            <a:off x="167131" y="291795"/>
            <a:ext cx="11774170" cy="300355"/>
          </a:xfrm>
          <a:prstGeom prst="rect">
            <a:avLst/>
          </a:prstGeom>
        </p:spPr>
        <p:txBody>
          <a:bodyPr vert="horz" wrap="square" lIns="0" tIns="12700" rIns="0" bIns="0" rtlCol="0">
            <a:spAutoFit/>
          </a:bodyPr>
          <a:lstStyle/>
          <a:p>
            <a:pPr marL="12700">
              <a:lnSpc>
                <a:spcPct val="100000"/>
              </a:lnSpc>
              <a:spcBef>
                <a:spcPts val="100"/>
              </a:spcBef>
            </a:pPr>
            <a:r>
              <a:rPr sz="1800" b="0" dirty="0">
                <a:latin typeface="Calibri"/>
                <a:cs typeface="Calibri"/>
              </a:rPr>
              <a:t>We</a:t>
            </a:r>
            <a:r>
              <a:rPr sz="1800" b="0" spc="-35" dirty="0">
                <a:latin typeface="Calibri"/>
                <a:cs typeface="Calibri"/>
              </a:rPr>
              <a:t> </a:t>
            </a:r>
            <a:r>
              <a:rPr sz="1800" b="0" dirty="0">
                <a:latin typeface="Calibri"/>
                <a:cs typeface="Calibri"/>
              </a:rPr>
              <a:t>can</a:t>
            </a:r>
            <a:r>
              <a:rPr sz="1800" b="0" spc="-20" dirty="0">
                <a:latin typeface="Calibri"/>
                <a:cs typeface="Calibri"/>
              </a:rPr>
              <a:t> </a:t>
            </a:r>
            <a:r>
              <a:rPr sz="1800" b="0" dirty="0">
                <a:latin typeface="Calibri"/>
                <a:cs typeface="Calibri"/>
              </a:rPr>
              <a:t>express</a:t>
            </a:r>
            <a:r>
              <a:rPr sz="1800" b="0" spc="-40" dirty="0">
                <a:latin typeface="Calibri"/>
                <a:cs typeface="Calibri"/>
              </a:rPr>
              <a:t> </a:t>
            </a:r>
            <a:r>
              <a:rPr sz="1800" b="0" dirty="0">
                <a:latin typeface="Calibri"/>
                <a:cs typeface="Calibri"/>
              </a:rPr>
              <a:t>a</a:t>
            </a:r>
            <a:r>
              <a:rPr sz="1800" b="0" spc="-30" dirty="0">
                <a:latin typeface="Calibri"/>
                <a:cs typeface="Calibri"/>
              </a:rPr>
              <a:t> </a:t>
            </a:r>
            <a:r>
              <a:rPr sz="1800" b="0" spc="-10" dirty="0">
                <a:latin typeface="Calibri"/>
                <a:cs typeface="Calibri"/>
              </a:rPr>
              <a:t>convolution</a:t>
            </a:r>
            <a:r>
              <a:rPr sz="1800" b="0" spc="-25" dirty="0">
                <a:latin typeface="Calibri"/>
                <a:cs typeface="Calibri"/>
              </a:rPr>
              <a:t> </a:t>
            </a:r>
            <a:r>
              <a:rPr sz="1800" b="0" spc="-10" dirty="0">
                <a:latin typeface="Calibri"/>
                <a:cs typeface="Calibri"/>
              </a:rPr>
              <a:t>operation</a:t>
            </a:r>
            <a:r>
              <a:rPr sz="1800" b="0" spc="-20" dirty="0">
                <a:latin typeface="Calibri"/>
                <a:cs typeface="Calibri"/>
              </a:rPr>
              <a:t> </a:t>
            </a:r>
            <a:r>
              <a:rPr sz="1800" b="0" dirty="0">
                <a:latin typeface="Calibri"/>
                <a:cs typeface="Calibri"/>
              </a:rPr>
              <a:t>using</a:t>
            </a:r>
            <a:r>
              <a:rPr sz="1800" b="0" spc="-30" dirty="0">
                <a:latin typeface="Calibri"/>
                <a:cs typeface="Calibri"/>
              </a:rPr>
              <a:t> </a:t>
            </a:r>
            <a:r>
              <a:rPr sz="1800" b="0" dirty="0">
                <a:latin typeface="Calibri"/>
                <a:cs typeface="Calibri"/>
              </a:rPr>
              <a:t>a</a:t>
            </a:r>
            <a:r>
              <a:rPr sz="1800" b="0" spc="-20" dirty="0">
                <a:latin typeface="Calibri"/>
                <a:cs typeface="Calibri"/>
              </a:rPr>
              <a:t> </a:t>
            </a:r>
            <a:r>
              <a:rPr sz="1800" b="0" dirty="0">
                <a:latin typeface="Calibri"/>
                <a:cs typeface="Calibri"/>
              </a:rPr>
              <a:t>matrix.</a:t>
            </a:r>
            <a:r>
              <a:rPr sz="1800" b="0" spc="-45" dirty="0">
                <a:latin typeface="Calibri"/>
                <a:cs typeface="Calibri"/>
              </a:rPr>
              <a:t> </a:t>
            </a:r>
            <a:r>
              <a:rPr sz="1800" b="0" dirty="0">
                <a:latin typeface="Calibri"/>
                <a:cs typeface="Calibri"/>
              </a:rPr>
              <a:t>It</a:t>
            </a:r>
            <a:r>
              <a:rPr sz="1800" b="0" spc="-30" dirty="0">
                <a:latin typeface="Calibri"/>
                <a:cs typeface="Calibri"/>
              </a:rPr>
              <a:t> </a:t>
            </a:r>
            <a:r>
              <a:rPr sz="1800" b="0" dirty="0">
                <a:latin typeface="Calibri"/>
                <a:cs typeface="Calibri"/>
              </a:rPr>
              <a:t>is</a:t>
            </a:r>
            <a:r>
              <a:rPr sz="1800" b="0" spc="-30" dirty="0">
                <a:latin typeface="Calibri"/>
                <a:cs typeface="Calibri"/>
              </a:rPr>
              <a:t> </a:t>
            </a:r>
            <a:r>
              <a:rPr sz="1800" b="0" dirty="0">
                <a:latin typeface="Calibri"/>
                <a:cs typeface="Calibri"/>
              </a:rPr>
              <a:t>nothing</a:t>
            </a:r>
            <a:r>
              <a:rPr sz="1800" b="0" spc="-25" dirty="0">
                <a:latin typeface="Calibri"/>
                <a:cs typeface="Calibri"/>
              </a:rPr>
              <a:t> </a:t>
            </a:r>
            <a:r>
              <a:rPr sz="1800" b="0" dirty="0">
                <a:latin typeface="Calibri"/>
                <a:cs typeface="Calibri"/>
              </a:rPr>
              <a:t>but</a:t>
            </a:r>
            <a:r>
              <a:rPr sz="1800" b="0" spc="-20" dirty="0">
                <a:latin typeface="Calibri"/>
                <a:cs typeface="Calibri"/>
              </a:rPr>
              <a:t> </a:t>
            </a:r>
            <a:r>
              <a:rPr sz="1800" b="0" dirty="0">
                <a:latin typeface="Calibri"/>
                <a:cs typeface="Calibri"/>
              </a:rPr>
              <a:t>a</a:t>
            </a:r>
            <a:r>
              <a:rPr sz="1800" b="0" spc="-30" dirty="0">
                <a:latin typeface="Calibri"/>
                <a:cs typeface="Calibri"/>
              </a:rPr>
              <a:t> </a:t>
            </a:r>
            <a:r>
              <a:rPr sz="1800" b="0" dirty="0">
                <a:latin typeface="Calibri"/>
                <a:cs typeface="Calibri"/>
              </a:rPr>
              <a:t>kernel</a:t>
            </a:r>
            <a:r>
              <a:rPr sz="1800" b="0" spc="-30" dirty="0">
                <a:latin typeface="Calibri"/>
                <a:cs typeface="Calibri"/>
              </a:rPr>
              <a:t> </a:t>
            </a:r>
            <a:r>
              <a:rPr sz="1800" b="0" dirty="0">
                <a:latin typeface="Calibri"/>
                <a:cs typeface="Calibri"/>
              </a:rPr>
              <a:t>matrix</a:t>
            </a:r>
            <a:r>
              <a:rPr sz="1800" b="0" spc="-45" dirty="0">
                <a:latin typeface="Calibri"/>
                <a:cs typeface="Calibri"/>
              </a:rPr>
              <a:t> </a:t>
            </a:r>
            <a:r>
              <a:rPr sz="1800" b="0" spc="-10" dirty="0">
                <a:latin typeface="Calibri"/>
                <a:cs typeface="Calibri"/>
              </a:rPr>
              <a:t>rearranged</a:t>
            </a:r>
            <a:r>
              <a:rPr sz="1800" b="0" spc="-20" dirty="0">
                <a:latin typeface="Calibri"/>
                <a:cs typeface="Calibri"/>
              </a:rPr>
              <a:t> </a:t>
            </a:r>
            <a:r>
              <a:rPr sz="1800" b="0" dirty="0">
                <a:latin typeface="Calibri"/>
                <a:cs typeface="Calibri"/>
              </a:rPr>
              <a:t>so</a:t>
            </a:r>
            <a:r>
              <a:rPr sz="1800" b="0" spc="-35" dirty="0">
                <a:latin typeface="Calibri"/>
                <a:cs typeface="Calibri"/>
              </a:rPr>
              <a:t> </a:t>
            </a:r>
            <a:r>
              <a:rPr sz="1800" b="0" dirty="0">
                <a:latin typeface="Calibri"/>
                <a:cs typeface="Calibri"/>
              </a:rPr>
              <a:t>that</a:t>
            </a:r>
            <a:r>
              <a:rPr sz="1800" b="0" spc="-30" dirty="0">
                <a:latin typeface="Calibri"/>
                <a:cs typeface="Calibri"/>
              </a:rPr>
              <a:t> </a:t>
            </a:r>
            <a:r>
              <a:rPr sz="1800" b="0" dirty="0">
                <a:latin typeface="Calibri"/>
                <a:cs typeface="Calibri"/>
              </a:rPr>
              <a:t>we</a:t>
            </a:r>
            <a:r>
              <a:rPr sz="1800" b="0" spc="-35" dirty="0">
                <a:latin typeface="Calibri"/>
                <a:cs typeface="Calibri"/>
              </a:rPr>
              <a:t> </a:t>
            </a:r>
            <a:r>
              <a:rPr sz="1800" b="0" dirty="0">
                <a:latin typeface="Calibri"/>
                <a:cs typeface="Calibri"/>
              </a:rPr>
              <a:t>can</a:t>
            </a:r>
            <a:r>
              <a:rPr sz="1800" b="0" spc="-20" dirty="0">
                <a:latin typeface="Calibri"/>
                <a:cs typeface="Calibri"/>
              </a:rPr>
              <a:t> </a:t>
            </a:r>
            <a:r>
              <a:rPr sz="1800" b="0" dirty="0">
                <a:latin typeface="Calibri"/>
                <a:cs typeface="Calibri"/>
              </a:rPr>
              <a:t>use</a:t>
            </a:r>
            <a:r>
              <a:rPr sz="1800" b="0" spc="-25" dirty="0">
                <a:latin typeface="Calibri"/>
                <a:cs typeface="Calibri"/>
              </a:rPr>
              <a:t> </a:t>
            </a:r>
            <a:r>
              <a:rPr sz="1800" b="0" dirty="0">
                <a:latin typeface="Calibri"/>
                <a:cs typeface="Calibri"/>
              </a:rPr>
              <a:t>a</a:t>
            </a:r>
            <a:r>
              <a:rPr sz="1800" b="0" spc="-35" dirty="0">
                <a:latin typeface="Calibri"/>
                <a:cs typeface="Calibri"/>
              </a:rPr>
              <a:t> </a:t>
            </a:r>
            <a:r>
              <a:rPr sz="1800" b="0" spc="-10" dirty="0">
                <a:latin typeface="Calibri"/>
                <a:cs typeface="Calibri"/>
              </a:rPr>
              <a:t>matrix</a:t>
            </a:r>
            <a:endParaRPr sz="1800">
              <a:latin typeface="Calibri"/>
              <a:cs typeface="Calibri"/>
            </a:endParaRPr>
          </a:p>
        </p:txBody>
      </p:sp>
      <p:sp>
        <p:nvSpPr>
          <p:cNvPr id="8" name="object 8"/>
          <p:cNvSpPr txBox="1"/>
          <p:nvPr/>
        </p:nvSpPr>
        <p:spPr>
          <a:xfrm>
            <a:off x="167131" y="566673"/>
            <a:ext cx="46139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92929"/>
                </a:solidFill>
                <a:latin typeface="Calibri"/>
                <a:cs typeface="Calibri"/>
              </a:rPr>
              <a:t>multiplication</a:t>
            </a:r>
            <a:r>
              <a:rPr sz="1800" spc="-55" dirty="0">
                <a:solidFill>
                  <a:srgbClr val="292929"/>
                </a:solidFill>
                <a:latin typeface="Calibri"/>
                <a:cs typeface="Calibri"/>
              </a:rPr>
              <a:t> </a:t>
            </a:r>
            <a:r>
              <a:rPr sz="1800" dirty="0">
                <a:solidFill>
                  <a:srgbClr val="292929"/>
                </a:solidFill>
                <a:latin typeface="Calibri"/>
                <a:cs typeface="Calibri"/>
              </a:rPr>
              <a:t>to</a:t>
            </a:r>
            <a:r>
              <a:rPr sz="1800" spc="-65" dirty="0">
                <a:solidFill>
                  <a:srgbClr val="292929"/>
                </a:solidFill>
                <a:latin typeface="Calibri"/>
                <a:cs typeface="Calibri"/>
              </a:rPr>
              <a:t> </a:t>
            </a:r>
            <a:r>
              <a:rPr sz="1800" dirty="0">
                <a:solidFill>
                  <a:srgbClr val="292929"/>
                </a:solidFill>
                <a:latin typeface="Calibri"/>
                <a:cs typeface="Calibri"/>
              </a:rPr>
              <a:t>conduct</a:t>
            </a:r>
            <a:r>
              <a:rPr sz="1800" spc="-65" dirty="0">
                <a:solidFill>
                  <a:srgbClr val="292929"/>
                </a:solidFill>
                <a:latin typeface="Calibri"/>
                <a:cs typeface="Calibri"/>
              </a:rPr>
              <a:t> </a:t>
            </a:r>
            <a:r>
              <a:rPr sz="1800" spc="-10" dirty="0">
                <a:solidFill>
                  <a:srgbClr val="292929"/>
                </a:solidFill>
                <a:latin typeface="Calibri"/>
                <a:cs typeface="Calibri"/>
              </a:rPr>
              <a:t>convolution</a:t>
            </a:r>
            <a:r>
              <a:rPr sz="1800" spc="-50" dirty="0">
                <a:solidFill>
                  <a:srgbClr val="292929"/>
                </a:solidFill>
                <a:latin typeface="Calibri"/>
                <a:cs typeface="Calibri"/>
              </a:rPr>
              <a:t> </a:t>
            </a:r>
            <a:r>
              <a:rPr sz="1800" spc="-10" dirty="0">
                <a:solidFill>
                  <a:srgbClr val="292929"/>
                </a:solidFill>
                <a:latin typeface="Calibri"/>
                <a:cs typeface="Calibri"/>
              </a:rPr>
              <a:t>operations.</a:t>
            </a:r>
            <a:endParaRPr sz="1800">
              <a:latin typeface="Calibri"/>
              <a:cs typeface="Calibri"/>
            </a:endParaRPr>
          </a:p>
        </p:txBody>
      </p:sp>
      <p:pic>
        <p:nvPicPr>
          <p:cNvPr id="9" name="object 9"/>
          <p:cNvPicPr/>
          <p:nvPr/>
        </p:nvPicPr>
        <p:blipFill>
          <a:blip r:embed="rId4" cstate="print"/>
          <a:stretch>
            <a:fillRect/>
          </a:stretch>
        </p:blipFill>
        <p:spPr>
          <a:xfrm>
            <a:off x="0" y="4090415"/>
            <a:ext cx="8244839" cy="25237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86257"/>
            <a:ext cx="2332355" cy="513715"/>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A3123E"/>
                </a:solidFill>
                <a:latin typeface="Georgia"/>
                <a:cs typeface="Georgia"/>
              </a:rPr>
              <a:t>Autoencoder</a:t>
            </a:r>
          </a:p>
        </p:txBody>
      </p:sp>
      <p:grpSp>
        <p:nvGrpSpPr>
          <p:cNvPr id="3" name="object 3"/>
          <p:cNvGrpSpPr/>
          <p:nvPr/>
        </p:nvGrpSpPr>
        <p:grpSpPr>
          <a:xfrm>
            <a:off x="295656" y="828276"/>
            <a:ext cx="10857230" cy="5138420"/>
            <a:chOff x="295656" y="828276"/>
            <a:chExt cx="10857230" cy="5138420"/>
          </a:xfrm>
        </p:grpSpPr>
        <p:pic>
          <p:nvPicPr>
            <p:cNvPr id="4" name="object 4"/>
            <p:cNvPicPr/>
            <p:nvPr/>
          </p:nvPicPr>
          <p:blipFill>
            <a:blip r:embed="rId2" cstate="print"/>
            <a:stretch>
              <a:fillRect/>
            </a:stretch>
          </p:blipFill>
          <p:spPr>
            <a:xfrm>
              <a:off x="5190350" y="828276"/>
              <a:ext cx="5961920" cy="4924083"/>
            </a:xfrm>
            <a:prstGeom prst="rect">
              <a:avLst/>
            </a:prstGeom>
          </p:spPr>
        </p:pic>
        <p:pic>
          <p:nvPicPr>
            <p:cNvPr id="5" name="object 5"/>
            <p:cNvPicPr/>
            <p:nvPr/>
          </p:nvPicPr>
          <p:blipFill>
            <a:blip r:embed="rId3" cstate="print"/>
            <a:stretch>
              <a:fillRect/>
            </a:stretch>
          </p:blipFill>
          <p:spPr>
            <a:xfrm>
              <a:off x="295656" y="1216152"/>
              <a:ext cx="4922520" cy="4750308"/>
            </a:xfrm>
            <a:prstGeom prst="rect">
              <a:avLst/>
            </a:prstGeom>
          </p:spPr>
        </p:pic>
      </p:grpSp>
      <p:sp>
        <p:nvSpPr>
          <p:cNvPr id="6" name="object 6"/>
          <p:cNvSpPr txBox="1"/>
          <p:nvPr/>
        </p:nvSpPr>
        <p:spPr>
          <a:xfrm>
            <a:off x="2169" y="2814544"/>
            <a:ext cx="1382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92929"/>
                </a:solidFill>
                <a:latin typeface="Calibri"/>
                <a:cs typeface="Calibri"/>
              </a:rPr>
              <a:t>latent</a:t>
            </a:r>
            <a:r>
              <a:rPr sz="1800" spc="-100" dirty="0">
                <a:solidFill>
                  <a:srgbClr val="292929"/>
                </a:solidFill>
                <a:latin typeface="Calibri"/>
                <a:cs typeface="Calibri"/>
              </a:rPr>
              <a:t> </a:t>
            </a:r>
            <a:r>
              <a:rPr sz="1800" spc="-10" dirty="0">
                <a:solidFill>
                  <a:srgbClr val="292929"/>
                </a:solidFill>
                <a:latin typeface="Calibri"/>
                <a:cs typeface="Calibri"/>
              </a:rPr>
              <a:t>features</a:t>
            </a:r>
            <a:endParaRPr sz="1800">
              <a:latin typeface="Calibri"/>
              <a:cs typeface="Calibri"/>
            </a:endParaRPr>
          </a:p>
        </p:txBody>
      </p:sp>
      <p:sp>
        <p:nvSpPr>
          <p:cNvPr id="7" name="object 7"/>
          <p:cNvSpPr txBox="1"/>
          <p:nvPr/>
        </p:nvSpPr>
        <p:spPr>
          <a:xfrm>
            <a:off x="2773172" y="6510934"/>
            <a:ext cx="3701415"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Calibri"/>
                <a:cs typeface="Calibri"/>
              </a:rPr>
              <a:t>Courtesy</a:t>
            </a:r>
            <a:r>
              <a:rPr sz="1600" spc="-35" dirty="0">
                <a:solidFill>
                  <a:srgbClr val="FFFFFF"/>
                </a:solidFill>
                <a:latin typeface="Calibri"/>
                <a:cs typeface="Calibri"/>
              </a:rPr>
              <a:t> </a:t>
            </a:r>
            <a:r>
              <a:rPr sz="1600" dirty="0">
                <a:solidFill>
                  <a:srgbClr val="FFFFFF"/>
                </a:solidFill>
                <a:latin typeface="Calibri"/>
                <a:cs typeface="Calibri"/>
              </a:rPr>
              <a:t>:</a:t>
            </a:r>
            <a:r>
              <a:rPr sz="1600" spc="-50" dirty="0">
                <a:solidFill>
                  <a:srgbClr val="FFFFFF"/>
                </a:solidFill>
                <a:latin typeface="Calibri"/>
                <a:cs typeface="Calibri"/>
              </a:rPr>
              <a:t> </a:t>
            </a:r>
            <a:r>
              <a:rPr sz="1600" dirty="0">
                <a:solidFill>
                  <a:srgbClr val="FFFFFF"/>
                </a:solidFill>
                <a:latin typeface="Calibri"/>
                <a:cs typeface="Calibri"/>
              </a:rPr>
              <a:t>NPTEL</a:t>
            </a:r>
            <a:r>
              <a:rPr sz="1600" spc="-30" dirty="0">
                <a:solidFill>
                  <a:srgbClr val="FFFFFF"/>
                </a:solidFill>
                <a:latin typeface="Calibri"/>
                <a:cs typeface="Calibri"/>
              </a:rPr>
              <a:t> </a:t>
            </a:r>
            <a:r>
              <a:rPr sz="1600" dirty="0">
                <a:solidFill>
                  <a:srgbClr val="FFFFFF"/>
                </a:solidFill>
                <a:latin typeface="Calibri"/>
                <a:cs typeface="Calibri"/>
              </a:rPr>
              <a:t>lectures</a:t>
            </a:r>
            <a:r>
              <a:rPr sz="1600" spc="-40" dirty="0">
                <a:solidFill>
                  <a:srgbClr val="FFFFFF"/>
                </a:solidFill>
                <a:latin typeface="Calibri"/>
                <a:cs typeface="Calibri"/>
              </a:rPr>
              <a:t> </a:t>
            </a:r>
            <a:r>
              <a:rPr sz="1600" dirty="0">
                <a:solidFill>
                  <a:srgbClr val="FFFFFF"/>
                </a:solidFill>
                <a:latin typeface="Calibri"/>
                <a:cs typeface="Calibri"/>
              </a:rPr>
              <a:t>of</a:t>
            </a:r>
            <a:r>
              <a:rPr sz="1600" spc="-20" dirty="0">
                <a:solidFill>
                  <a:srgbClr val="FFFFFF"/>
                </a:solidFill>
                <a:latin typeface="Calibri"/>
                <a:cs typeface="Calibri"/>
              </a:rPr>
              <a:t> </a:t>
            </a:r>
            <a:r>
              <a:rPr sz="1600" spc="-25" dirty="0">
                <a:solidFill>
                  <a:srgbClr val="FFFFFF"/>
                </a:solidFill>
                <a:latin typeface="Calibri"/>
                <a:cs typeface="Calibri"/>
              </a:rPr>
              <a:t>Dr.Mitesh</a:t>
            </a:r>
            <a:r>
              <a:rPr sz="1600" spc="-60" dirty="0">
                <a:solidFill>
                  <a:srgbClr val="FFFFFF"/>
                </a:solidFill>
                <a:latin typeface="Calibri"/>
                <a:cs typeface="Calibri"/>
              </a:rPr>
              <a:t> </a:t>
            </a:r>
            <a:r>
              <a:rPr sz="1600" spc="-10" dirty="0">
                <a:solidFill>
                  <a:srgbClr val="FFFFFF"/>
                </a:solidFill>
                <a:latin typeface="Calibri"/>
                <a:cs typeface="Calibri"/>
              </a:rPr>
              <a:t>Kapra</a:t>
            </a:r>
            <a:endParaRPr sz="16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286257"/>
            <a:ext cx="2332355" cy="513715"/>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777636" y="1366328"/>
            <a:ext cx="4132388" cy="4204931"/>
          </a:xfrm>
          <a:prstGeom prst="rect">
            <a:avLst/>
          </a:prstGeom>
        </p:spPr>
      </p:pic>
      <p:sp>
        <p:nvSpPr>
          <p:cNvPr id="4" name="object 4"/>
          <p:cNvSpPr txBox="1"/>
          <p:nvPr/>
        </p:nvSpPr>
        <p:spPr>
          <a:xfrm>
            <a:off x="88433" y="3058959"/>
            <a:ext cx="1382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92929"/>
                </a:solidFill>
                <a:latin typeface="Calibri"/>
                <a:cs typeface="Calibri"/>
              </a:rPr>
              <a:t>latent</a:t>
            </a:r>
            <a:r>
              <a:rPr sz="1800" spc="-100" dirty="0">
                <a:solidFill>
                  <a:srgbClr val="292929"/>
                </a:solidFill>
                <a:latin typeface="Calibri"/>
                <a:cs typeface="Calibri"/>
              </a:rPr>
              <a:t> </a:t>
            </a:r>
            <a:r>
              <a:rPr sz="1800" spc="-10" dirty="0">
                <a:solidFill>
                  <a:srgbClr val="292929"/>
                </a:solidFill>
                <a:latin typeface="Calibri"/>
                <a:cs typeface="Calibri"/>
              </a:rPr>
              <a:t>features</a:t>
            </a:r>
            <a:endParaRPr sz="1800">
              <a:latin typeface="Calibri"/>
              <a:cs typeface="Calibri"/>
            </a:endParaRPr>
          </a:p>
        </p:txBody>
      </p:sp>
      <p:sp>
        <p:nvSpPr>
          <p:cNvPr id="5" name="object 5"/>
          <p:cNvSpPr txBox="1"/>
          <p:nvPr/>
        </p:nvSpPr>
        <p:spPr>
          <a:xfrm>
            <a:off x="2773172" y="6510934"/>
            <a:ext cx="3701415"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Calibri"/>
                <a:cs typeface="Calibri"/>
              </a:rPr>
              <a:t>Courtesy</a:t>
            </a:r>
            <a:r>
              <a:rPr sz="1600" spc="-35" dirty="0">
                <a:solidFill>
                  <a:srgbClr val="FFFFFF"/>
                </a:solidFill>
                <a:latin typeface="Calibri"/>
                <a:cs typeface="Calibri"/>
              </a:rPr>
              <a:t> </a:t>
            </a:r>
            <a:r>
              <a:rPr sz="1600" dirty="0">
                <a:solidFill>
                  <a:srgbClr val="FFFFFF"/>
                </a:solidFill>
                <a:latin typeface="Calibri"/>
                <a:cs typeface="Calibri"/>
              </a:rPr>
              <a:t>:</a:t>
            </a:r>
            <a:r>
              <a:rPr sz="1600" spc="-50" dirty="0">
                <a:solidFill>
                  <a:srgbClr val="FFFFFF"/>
                </a:solidFill>
                <a:latin typeface="Calibri"/>
                <a:cs typeface="Calibri"/>
              </a:rPr>
              <a:t> </a:t>
            </a:r>
            <a:r>
              <a:rPr sz="1600" dirty="0">
                <a:solidFill>
                  <a:srgbClr val="FFFFFF"/>
                </a:solidFill>
                <a:latin typeface="Calibri"/>
                <a:cs typeface="Calibri"/>
              </a:rPr>
              <a:t>NPTEL</a:t>
            </a:r>
            <a:r>
              <a:rPr sz="1600" spc="-30" dirty="0">
                <a:solidFill>
                  <a:srgbClr val="FFFFFF"/>
                </a:solidFill>
                <a:latin typeface="Calibri"/>
                <a:cs typeface="Calibri"/>
              </a:rPr>
              <a:t> </a:t>
            </a:r>
            <a:r>
              <a:rPr sz="1600" dirty="0">
                <a:solidFill>
                  <a:srgbClr val="FFFFFF"/>
                </a:solidFill>
                <a:latin typeface="Calibri"/>
                <a:cs typeface="Calibri"/>
              </a:rPr>
              <a:t>lectures</a:t>
            </a:r>
            <a:r>
              <a:rPr sz="1600" spc="-40" dirty="0">
                <a:solidFill>
                  <a:srgbClr val="FFFFFF"/>
                </a:solidFill>
                <a:latin typeface="Calibri"/>
                <a:cs typeface="Calibri"/>
              </a:rPr>
              <a:t> </a:t>
            </a:r>
            <a:r>
              <a:rPr sz="1600" dirty="0">
                <a:solidFill>
                  <a:srgbClr val="FFFFFF"/>
                </a:solidFill>
                <a:latin typeface="Calibri"/>
                <a:cs typeface="Calibri"/>
              </a:rPr>
              <a:t>of</a:t>
            </a:r>
            <a:r>
              <a:rPr sz="1600" spc="-20" dirty="0">
                <a:solidFill>
                  <a:srgbClr val="FFFFFF"/>
                </a:solidFill>
                <a:latin typeface="Calibri"/>
                <a:cs typeface="Calibri"/>
              </a:rPr>
              <a:t> </a:t>
            </a:r>
            <a:r>
              <a:rPr sz="1600" spc="-25" dirty="0">
                <a:solidFill>
                  <a:srgbClr val="FFFFFF"/>
                </a:solidFill>
                <a:latin typeface="Calibri"/>
                <a:cs typeface="Calibri"/>
              </a:rPr>
              <a:t>Dr.Mitesh</a:t>
            </a:r>
            <a:r>
              <a:rPr sz="1600" spc="-60" dirty="0">
                <a:solidFill>
                  <a:srgbClr val="FFFFFF"/>
                </a:solidFill>
                <a:latin typeface="Calibri"/>
                <a:cs typeface="Calibri"/>
              </a:rPr>
              <a:t> </a:t>
            </a:r>
            <a:r>
              <a:rPr sz="1600" spc="-10" dirty="0">
                <a:solidFill>
                  <a:srgbClr val="FFFFFF"/>
                </a:solidFill>
                <a:latin typeface="Calibri"/>
                <a:cs typeface="Calibri"/>
              </a:rPr>
              <a:t>Kapra</a:t>
            </a:r>
            <a:endParaRPr sz="1600">
              <a:latin typeface="Calibri"/>
              <a:cs typeface="Calibri"/>
            </a:endParaRPr>
          </a:p>
        </p:txBody>
      </p:sp>
      <p:pic>
        <p:nvPicPr>
          <p:cNvPr id="6" name="object 6"/>
          <p:cNvPicPr/>
          <p:nvPr/>
        </p:nvPicPr>
        <p:blipFill>
          <a:blip r:embed="rId3" cstate="print"/>
          <a:stretch>
            <a:fillRect/>
          </a:stretch>
        </p:blipFill>
        <p:spPr>
          <a:xfrm>
            <a:off x="5566638" y="799411"/>
            <a:ext cx="5395275" cy="51436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0240" y="22194"/>
            <a:ext cx="5622925" cy="3796029"/>
          </a:xfrm>
          <a:prstGeom prst="rect">
            <a:avLst/>
          </a:prstGeom>
        </p:spPr>
        <p:txBody>
          <a:bodyPr vert="horz" wrap="square" lIns="0" tIns="276860" rIns="0" bIns="0" rtlCol="0">
            <a:spAutoFit/>
          </a:bodyPr>
          <a:lstStyle/>
          <a:p>
            <a:pPr marL="12700">
              <a:lnSpc>
                <a:spcPct val="100000"/>
              </a:lnSpc>
              <a:spcBef>
                <a:spcPts val="2180"/>
              </a:spcBef>
            </a:pPr>
            <a:r>
              <a:rPr sz="3200" dirty="0">
                <a:solidFill>
                  <a:srgbClr val="A3123E"/>
                </a:solidFill>
                <a:latin typeface="Georgia"/>
                <a:cs typeface="Georgia"/>
              </a:rPr>
              <a:t>Types</a:t>
            </a:r>
            <a:r>
              <a:rPr sz="3200" spc="-20" dirty="0">
                <a:solidFill>
                  <a:srgbClr val="A3123E"/>
                </a:solidFill>
                <a:latin typeface="Georgia"/>
                <a:cs typeface="Georgia"/>
              </a:rPr>
              <a:t> </a:t>
            </a:r>
            <a:r>
              <a:rPr sz="3200" dirty="0">
                <a:solidFill>
                  <a:srgbClr val="A3123E"/>
                </a:solidFill>
                <a:latin typeface="Georgia"/>
                <a:cs typeface="Georgia"/>
              </a:rPr>
              <a:t>of</a:t>
            </a:r>
            <a:r>
              <a:rPr sz="3200" spc="-15" dirty="0">
                <a:solidFill>
                  <a:srgbClr val="A3123E"/>
                </a:solidFill>
                <a:latin typeface="Georgia"/>
                <a:cs typeface="Georgia"/>
              </a:rPr>
              <a:t> </a:t>
            </a:r>
            <a:r>
              <a:rPr sz="3200" spc="-10" dirty="0">
                <a:solidFill>
                  <a:srgbClr val="A3123E"/>
                </a:solidFill>
                <a:latin typeface="Georgia"/>
                <a:cs typeface="Georgia"/>
              </a:rPr>
              <a:t>Autoencoders</a:t>
            </a:r>
            <a:endParaRPr sz="3200">
              <a:latin typeface="Georgia"/>
              <a:cs typeface="Georgia"/>
            </a:endParaRPr>
          </a:p>
          <a:p>
            <a:pPr marL="240665" indent="-227965">
              <a:lnSpc>
                <a:spcPct val="100000"/>
              </a:lnSpc>
              <a:spcBef>
                <a:spcPts val="2090"/>
              </a:spcBef>
              <a:buFont typeface="Arial MT"/>
              <a:buChar char="•"/>
              <a:tabLst>
                <a:tab pos="240665" algn="l"/>
              </a:tabLst>
            </a:pPr>
            <a:r>
              <a:rPr sz="3200" dirty="0">
                <a:latin typeface="Georgia"/>
                <a:cs typeface="Georgia"/>
              </a:rPr>
              <a:t>Over</a:t>
            </a:r>
            <a:r>
              <a:rPr sz="3200" spc="-30" dirty="0">
                <a:latin typeface="Georgia"/>
                <a:cs typeface="Georgia"/>
              </a:rPr>
              <a:t> </a:t>
            </a:r>
            <a:r>
              <a:rPr sz="3200" dirty="0">
                <a:latin typeface="Georgia"/>
                <a:cs typeface="Georgia"/>
              </a:rPr>
              <a:t>Complete</a:t>
            </a:r>
            <a:r>
              <a:rPr sz="3200" spc="-20" dirty="0">
                <a:latin typeface="Georgia"/>
                <a:cs typeface="Georgia"/>
              </a:rPr>
              <a:t> </a:t>
            </a:r>
            <a:r>
              <a:rPr sz="3200" spc="-10" dirty="0">
                <a:latin typeface="Georgia"/>
                <a:cs typeface="Georgia"/>
              </a:rPr>
              <a:t>Autoencoder</a:t>
            </a:r>
            <a:endParaRPr sz="3200">
              <a:latin typeface="Georgia"/>
              <a:cs typeface="Georgia"/>
            </a:endParaRPr>
          </a:p>
          <a:p>
            <a:pPr marL="240029" indent="-227329">
              <a:lnSpc>
                <a:spcPct val="100000"/>
              </a:lnSpc>
              <a:spcBef>
                <a:spcPts val="625"/>
              </a:spcBef>
              <a:buFont typeface="Arial MT"/>
              <a:buChar char="•"/>
              <a:tabLst>
                <a:tab pos="240029" algn="l"/>
              </a:tabLst>
            </a:pPr>
            <a:r>
              <a:rPr sz="3200" dirty="0">
                <a:latin typeface="Georgia"/>
                <a:cs typeface="Georgia"/>
              </a:rPr>
              <a:t>Under</a:t>
            </a:r>
            <a:r>
              <a:rPr sz="3200" spc="-15" dirty="0">
                <a:latin typeface="Georgia"/>
                <a:cs typeface="Georgia"/>
              </a:rPr>
              <a:t> </a:t>
            </a:r>
            <a:r>
              <a:rPr sz="3200" dirty="0">
                <a:latin typeface="Georgia"/>
                <a:cs typeface="Georgia"/>
              </a:rPr>
              <a:t>Complete</a:t>
            </a:r>
            <a:r>
              <a:rPr sz="3200" spc="-35" dirty="0">
                <a:latin typeface="Georgia"/>
                <a:cs typeface="Georgia"/>
              </a:rPr>
              <a:t> </a:t>
            </a:r>
            <a:r>
              <a:rPr sz="3200" spc="-10" dirty="0">
                <a:latin typeface="Georgia"/>
                <a:cs typeface="Georgia"/>
              </a:rPr>
              <a:t>Autoencoder</a:t>
            </a:r>
            <a:endParaRPr sz="3200">
              <a:latin typeface="Georgia"/>
              <a:cs typeface="Georgia"/>
            </a:endParaRPr>
          </a:p>
          <a:p>
            <a:pPr marL="240665" indent="-227965">
              <a:lnSpc>
                <a:spcPct val="100000"/>
              </a:lnSpc>
              <a:spcBef>
                <a:spcPts val="615"/>
              </a:spcBef>
              <a:buFont typeface="Arial MT"/>
              <a:buChar char="•"/>
              <a:tabLst>
                <a:tab pos="240665" algn="l"/>
              </a:tabLst>
            </a:pPr>
            <a:r>
              <a:rPr sz="3200" dirty="0">
                <a:latin typeface="Georgia"/>
                <a:cs typeface="Georgia"/>
              </a:rPr>
              <a:t>Denoising</a:t>
            </a:r>
            <a:r>
              <a:rPr sz="3200" spc="-65" dirty="0">
                <a:latin typeface="Georgia"/>
                <a:cs typeface="Georgia"/>
              </a:rPr>
              <a:t> </a:t>
            </a:r>
            <a:r>
              <a:rPr sz="3200" spc="-10" dirty="0">
                <a:latin typeface="Georgia"/>
                <a:cs typeface="Georgia"/>
              </a:rPr>
              <a:t>Autoencoder</a:t>
            </a:r>
            <a:endParaRPr sz="3200">
              <a:latin typeface="Georgia"/>
              <a:cs typeface="Georgia"/>
            </a:endParaRPr>
          </a:p>
          <a:p>
            <a:pPr marL="240029" indent="-227329">
              <a:lnSpc>
                <a:spcPct val="100000"/>
              </a:lnSpc>
              <a:spcBef>
                <a:spcPts val="615"/>
              </a:spcBef>
              <a:buFont typeface="Arial MT"/>
              <a:buChar char="•"/>
              <a:tabLst>
                <a:tab pos="240029" algn="l"/>
              </a:tabLst>
            </a:pPr>
            <a:r>
              <a:rPr sz="3200" dirty="0">
                <a:latin typeface="Georgia"/>
                <a:cs typeface="Georgia"/>
              </a:rPr>
              <a:t>Sparse</a:t>
            </a:r>
            <a:r>
              <a:rPr sz="3200" spc="-60" dirty="0">
                <a:latin typeface="Georgia"/>
                <a:cs typeface="Georgia"/>
              </a:rPr>
              <a:t> </a:t>
            </a:r>
            <a:r>
              <a:rPr sz="3200" spc="-10" dirty="0">
                <a:latin typeface="Georgia"/>
                <a:cs typeface="Georgia"/>
              </a:rPr>
              <a:t>Autoencoder</a:t>
            </a:r>
            <a:endParaRPr sz="3200">
              <a:latin typeface="Georgia"/>
              <a:cs typeface="Georgia"/>
            </a:endParaRPr>
          </a:p>
          <a:p>
            <a:pPr marL="240029" indent="-227329">
              <a:lnSpc>
                <a:spcPct val="100000"/>
              </a:lnSpc>
              <a:spcBef>
                <a:spcPts val="620"/>
              </a:spcBef>
              <a:buFont typeface="Arial MT"/>
              <a:buChar char="•"/>
              <a:tabLst>
                <a:tab pos="240029" algn="l"/>
              </a:tabLst>
            </a:pPr>
            <a:r>
              <a:rPr sz="3200" dirty="0">
                <a:latin typeface="Georgia"/>
                <a:cs typeface="Georgia"/>
              </a:rPr>
              <a:t>Variational</a:t>
            </a:r>
            <a:r>
              <a:rPr sz="3200" spc="-30" dirty="0">
                <a:latin typeface="Georgia"/>
                <a:cs typeface="Georgia"/>
              </a:rPr>
              <a:t> </a:t>
            </a:r>
            <a:r>
              <a:rPr sz="3200" spc="-10" dirty="0">
                <a:latin typeface="Georgia"/>
                <a:cs typeface="Georgia"/>
              </a:rPr>
              <a:t>Autoencoder</a:t>
            </a:r>
            <a:endParaRPr sz="3200">
              <a:latin typeface="Georgia"/>
              <a:cs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23900" y="1429511"/>
            <a:ext cx="5737860" cy="3694429"/>
          </a:xfrm>
          <a:custGeom>
            <a:avLst/>
            <a:gdLst/>
            <a:ahLst/>
            <a:cxnLst/>
            <a:rect l="l" t="t" r="r" b="b"/>
            <a:pathLst>
              <a:path w="5737860" h="3694429">
                <a:moveTo>
                  <a:pt x="5737860" y="0"/>
                </a:moveTo>
                <a:lnTo>
                  <a:pt x="0" y="0"/>
                </a:lnTo>
                <a:lnTo>
                  <a:pt x="0" y="3694176"/>
                </a:lnTo>
                <a:lnTo>
                  <a:pt x="5737860" y="3694176"/>
                </a:lnTo>
                <a:lnTo>
                  <a:pt x="5737860" y="0"/>
                </a:lnTo>
                <a:close/>
              </a:path>
            </a:pathLst>
          </a:custGeom>
          <a:solidFill>
            <a:srgbClr val="C5DFB4"/>
          </a:solidFill>
        </p:spPr>
        <p:txBody>
          <a:bodyPr wrap="square" lIns="0" tIns="0" rIns="0" bIns="0" rtlCol="0"/>
          <a:lstStyle/>
          <a:p>
            <a:endParaRPr/>
          </a:p>
        </p:txBody>
      </p:sp>
      <p:pic>
        <p:nvPicPr>
          <p:cNvPr id="3" name="object 3"/>
          <p:cNvPicPr/>
          <p:nvPr/>
        </p:nvPicPr>
        <p:blipFill>
          <a:blip r:embed="rId2" cstate="print"/>
          <a:stretch>
            <a:fillRect/>
          </a:stretch>
        </p:blipFill>
        <p:spPr>
          <a:xfrm>
            <a:off x="7316179" y="2237041"/>
            <a:ext cx="4033643" cy="2939510"/>
          </a:xfrm>
          <a:prstGeom prst="rect">
            <a:avLst/>
          </a:prstGeom>
        </p:spPr>
      </p:pic>
      <p:sp>
        <p:nvSpPr>
          <p:cNvPr id="4" name="object 4"/>
          <p:cNvSpPr txBox="1"/>
          <p:nvPr/>
        </p:nvSpPr>
        <p:spPr>
          <a:xfrm>
            <a:off x="815339" y="1448180"/>
            <a:ext cx="6574155" cy="4592320"/>
          </a:xfrm>
          <a:prstGeom prst="rect">
            <a:avLst/>
          </a:prstGeom>
        </p:spPr>
        <p:txBody>
          <a:bodyPr vert="horz" wrap="square" lIns="0" tIns="12700" rIns="0" bIns="0" rtlCol="0">
            <a:spAutoFit/>
          </a:bodyPr>
          <a:lstStyle/>
          <a:p>
            <a:pPr algn="just">
              <a:lnSpc>
                <a:spcPct val="100000"/>
              </a:lnSpc>
              <a:spcBef>
                <a:spcPts val="100"/>
              </a:spcBef>
            </a:pPr>
            <a:r>
              <a:rPr sz="1800" b="1" spc="-10" dirty="0">
                <a:solidFill>
                  <a:srgbClr val="374151"/>
                </a:solidFill>
                <a:latin typeface="Calibri"/>
                <a:cs typeface="Calibri"/>
              </a:rPr>
              <a:t>Undercomplete</a:t>
            </a:r>
            <a:r>
              <a:rPr sz="1800" b="1" spc="-20" dirty="0">
                <a:solidFill>
                  <a:srgbClr val="374151"/>
                </a:solidFill>
                <a:latin typeface="Calibri"/>
                <a:cs typeface="Calibri"/>
              </a:rPr>
              <a:t> </a:t>
            </a:r>
            <a:r>
              <a:rPr sz="1800" b="1" spc="-10" dirty="0">
                <a:solidFill>
                  <a:srgbClr val="374151"/>
                </a:solidFill>
                <a:latin typeface="Calibri"/>
                <a:cs typeface="Calibri"/>
              </a:rPr>
              <a:t>Autoencoder</a:t>
            </a:r>
            <a:r>
              <a:rPr sz="1800" spc="-10" dirty="0">
                <a:solidFill>
                  <a:srgbClr val="374151"/>
                </a:solidFill>
                <a:latin typeface="Calibri"/>
                <a:cs typeface="Calibri"/>
              </a:rPr>
              <a:t>:</a:t>
            </a:r>
            <a:endParaRPr sz="1800">
              <a:latin typeface="Calibri"/>
              <a:cs typeface="Calibri"/>
            </a:endParaRPr>
          </a:p>
          <a:p>
            <a:pPr marL="286385" marR="1012190" indent="-287020" algn="just">
              <a:lnSpc>
                <a:spcPct val="100000"/>
              </a:lnSpc>
              <a:buFont typeface="Arial MT"/>
              <a:buChar char="•"/>
              <a:tabLst>
                <a:tab pos="286385" algn="l"/>
                <a:tab pos="337185" algn="l"/>
              </a:tabLst>
            </a:pPr>
            <a:r>
              <a:rPr sz="1800" dirty="0">
                <a:solidFill>
                  <a:srgbClr val="374151"/>
                </a:solidFill>
                <a:latin typeface="Calibri"/>
                <a:cs typeface="Calibri"/>
              </a:rPr>
              <a:t>	an</a:t>
            </a:r>
            <a:r>
              <a:rPr sz="1800" spc="310" dirty="0">
                <a:solidFill>
                  <a:srgbClr val="374151"/>
                </a:solidFill>
                <a:latin typeface="Calibri"/>
                <a:cs typeface="Calibri"/>
              </a:rPr>
              <a:t>   </a:t>
            </a:r>
            <a:r>
              <a:rPr sz="1800" dirty="0">
                <a:solidFill>
                  <a:srgbClr val="374151"/>
                </a:solidFill>
                <a:latin typeface="Calibri"/>
                <a:cs typeface="Calibri"/>
              </a:rPr>
              <a:t>undercomplete</a:t>
            </a:r>
            <a:r>
              <a:rPr sz="1800" spc="320" dirty="0">
                <a:solidFill>
                  <a:srgbClr val="374151"/>
                </a:solidFill>
                <a:latin typeface="Calibri"/>
                <a:cs typeface="Calibri"/>
              </a:rPr>
              <a:t>   </a:t>
            </a:r>
            <a:r>
              <a:rPr sz="1800" dirty="0">
                <a:solidFill>
                  <a:srgbClr val="374151"/>
                </a:solidFill>
                <a:latin typeface="Calibri"/>
                <a:cs typeface="Calibri"/>
              </a:rPr>
              <a:t>autoencoder</a:t>
            </a:r>
            <a:r>
              <a:rPr sz="1800" spc="315" dirty="0">
                <a:solidFill>
                  <a:srgbClr val="374151"/>
                </a:solidFill>
                <a:latin typeface="Calibri"/>
                <a:cs typeface="Calibri"/>
              </a:rPr>
              <a:t>   </a:t>
            </a:r>
            <a:r>
              <a:rPr sz="1800" dirty="0">
                <a:solidFill>
                  <a:srgbClr val="374151"/>
                </a:solidFill>
                <a:latin typeface="Calibri"/>
                <a:cs typeface="Calibri"/>
              </a:rPr>
              <a:t>has</a:t>
            </a:r>
            <a:r>
              <a:rPr sz="1800" spc="315" dirty="0">
                <a:solidFill>
                  <a:srgbClr val="374151"/>
                </a:solidFill>
                <a:latin typeface="Calibri"/>
                <a:cs typeface="Calibri"/>
              </a:rPr>
              <a:t>   </a:t>
            </a:r>
            <a:r>
              <a:rPr sz="1800" dirty="0">
                <a:solidFill>
                  <a:srgbClr val="374151"/>
                </a:solidFill>
                <a:latin typeface="Calibri"/>
                <a:cs typeface="Calibri"/>
              </a:rPr>
              <a:t>a</a:t>
            </a:r>
            <a:r>
              <a:rPr sz="1800" spc="315" dirty="0">
                <a:solidFill>
                  <a:srgbClr val="374151"/>
                </a:solidFill>
                <a:latin typeface="Calibri"/>
                <a:cs typeface="Calibri"/>
              </a:rPr>
              <a:t>   </a:t>
            </a:r>
            <a:r>
              <a:rPr sz="1800" spc="-10" dirty="0">
                <a:solidFill>
                  <a:srgbClr val="374151"/>
                </a:solidFill>
                <a:latin typeface="Calibri"/>
                <a:cs typeface="Calibri"/>
              </a:rPr>
              <a:t>lower </a:t>
            </a:r>
            <a:r>
              <a:rPr sz="1800" dirty="0">
                <a:solidFill>
                  <a:srgbClr val="374151"/>
                </a:solidFill>
                <a:latin typeface="Calibri"/>
                <a:cs typeface="Calibri"/>
              </a:rPr>
              <a:t>dimensionality in</a:t>
            </a:r>
            <a:r>
              <a:rPr sz="1800" spc="20" dirty="0">
                <a:solidFill>
                  <a:srgbClr val="374151"/>
                </a:solidFill>
                <a:latin typeface="Calibri"/>
                <a:cs typeface="Calibri"/>
              </a:rPr>
              <a:t> </a:t>
            </a:r>
            <a:r>
              <a:rPr sz="1800" dirty="0">
                <a:solidFill>
                  <a:srgbClr val="374151"/>
                </a:solidFill>
                <a:latin typeface="Calibri"/>
                <a:cs typeface="Calibri"/>
              </a:rPr>
              <a:t>the</a:t>
            </a:r>
            <a:r>
              <a:rPr sz="1800" spc="20" dirty="0">
                <a:solidFill>
                  <a:srgbClr val="374151"/>
                </a:solidFill>
                <a:latin typeface="Calibri"/>
                <a:cs typeface="Calibri"/>
              </a:rPr>
              <a:t> </a:t>
            </a:r>
            <a:r>
              <a:rPr sz="1800" dirty="0">
                <a:solidFill>
                  <a:srgbClr val="374151"/>
                </a:solidFill>
                <a:latin typeface="Calibri"/>
                <a:cs typeface="Calibri"/>
              </a:rPr>
              <a:t>latent</a:t>
            </a:r>
            <a:r>
              <a:rPr sz="1800" spc="15" dirty="0">
                <a:solidFill>
                  <a:srgbClr val="374151"/>
                </a:solidFill>
                <a:latin typeface="Calibri"/>
                <a:cs typeface="Calibri"/>
              </a:rPr>
              <a:t> </a:t>
            </a:r>
            <a:r>
              <a:rPr sz="1800" dirty="0">
                <a:solidFill>
                  <a:srgbClr val="374151"/>
                </a:solidFill>
                <a:latin typeface="Calibri"/>
                <a:cs typeface="Calibri"/>
              </a:rPr>
              <a:t>layer</a:t>
            </a:r>
            <a:r>
              <a:rPr sz="1800" spc="15" dirty="0">
                <a:solidFill>
                  <a:srgbClr val="374151"/>
                </a:solidFill>
                <a:latin typeface="Calibri"/>
                <a:cs typeface="Calibri"/>
              </a:rPr>
              <a:t> </a:t>
            </a:r>
            <a:r>
              <a:rPr sz="1800" dirty="0">
                <a:solidFill>
                  <a:srgbClr val="374151"/>
                </a:solidFill>
                <a:latin typeface="Calibri"/>
                <a:cs typeface="Calibri"/>
              </a:rPr>
              <a:t>compared</a:t>
            </a:r>
            <a:r>
              <a:rPr sz="1800" spc="25" dirty="0">
                <a:solidFill>
                  <a:srgbClr val="374151"/>
                </a:solidFill>
                <a:latin typeface="Calibri"/>
                <a:cs typeface="Calibri"/>
              </a:rPr>
              <a:t> </a:t>
            </a:r>
            <a:r>
              <a:rPr sz="1800" dirty="0">
                <a:solidFill>
                  <a:srgbClr val="374151"/>
                </a:solidFill>
                <a:latin typeface="Calibri"/>
                <a:cs typeface="Calibri"/>
              </a:rPr>
              <a:t>to</a:t>
            </a:r>
            <a:r>
              <a:rPr sz="1800" spc="15" dirty="0">
                <a:solidFill>
                  <a:srgbClr val="374151"/>
                </a:solidFill>
                <a:latin typeface="Calibri"/>
                <a:cs typeface="Calibri"/>
              </a:rPr>
              <a:t> </a:t>
            </a:r>
            <a:r>
              <a:rPr sz="1800" dirty="0">
                <a:solidFill>
                  <a:srgbClr val="374151"/>
                </a:solidFill>
                <a:latin typeface="Calibri"/>
                <a:cs typeface="Calibri"/>
              </a:rPr>
              <a:t>the</a:t>
            </a:r>
            <a:r>
              <a:rPr sz="1800" spc="20" dirty="0">
                <a:solidFill>
                  <a:srgbClr val="374151"/>
                </a:solidFill>
                <a:latin typeface="Calibri"/>
                <a:cs typeface="Calibri"/>
              </a:rPr>
              <a:t> </a:t>
            </a:r>
            <a:r>
              <a:rPr sz="1800" spc="-10" dirty="0">
                <a:solidFill>
                  <a:srgbClr val="374151"/>
                </a:solidFill>
                <a:latin typeface="Calibri"/>
                <a:cs typeface="Calibri"/>
              </a:rPr>
              <a:t>input layer.</a:t>
            </a:r>
            <a:endParaRPr sz="1800">
              <a:latin typeface="Calibri"/>
              <a:cs typeface="Calibri"/>
            </a:endParaRPr>
          </a:p>
          <a:p>
            <a:pPr marL="286385" marR="1010285" indent="-287020" algn="just">
              <a:lnSpc>
                <a:spcPct val="100000"/>
              </a:lnSpc>
              <a:buFont typeface="Arial MT"/>
              <a:buChar char="•"/>
              <a:tabLst>
                <a:tab pos="286385" algn="l"/>
              </a:tabLst>
            </a:pPr>
            <a:r>
              <a:rPr sz="1800" dirty="0">
                <a:solidFill>
                  <a:srgbClr val="374151"/>
                </a:solidFill>
                <a:latin typeface="Calibri"/>
                <a:cs typeface="Calibri"/>
              </a:rPr>
              <a:t>The</a:t>
            </a:r>
            <a:r>
              <a:rPr sz="1800" spc="365" dirty="0">
                <a:solidFill>
                  <a:srgbClr val="374151"/>
                </a:solidFill>
                <a:latin typeface="Calibri"/>
                <a:cs typeface="Calibri"/>
              </a:rPr>
              <a:t> </a:t>
            </a:r>
            <a:r>
              <a:rPr sz="1800" dirty="0">
                <a:solidFill>
                  <a:srgbClr val="374151"/>
                </a:solidFill>
                <a:latin typeface="Calibri"/>
                <a:cs typeface="Calibri"/>
              </a:rPr>
              <a:t>number</a:t>
            </a:r>
            <a:r>
              <a:rPr sz="1800" spc="365" dirty="0">
                <a:solidFill>
                  <a:srgbClr val="374151"/>
                </a:solidFill>
                <a:latin typeface="Calibri"/>
                <a:cs typeface="Calibri"/>
              </a:rPr>
              <a:t> </a:t>
            </a:r>
            <a:r>
              <a:rPr sz="1800" dirty="0">
                <a:solidFill>
                  <a:srgbClr val="374151"/>
                </a:solidFill>
                <a:latin typeface="Calibri"/>
                <a:cs typeface="Calibri"/>
              </a:rPr>
              <a:t>of</a:t>
            </a:r>
            <a:r>
              <a:rPr sz="1800" spc="375" dirty="0">
                <a:solidFill>
                  <a:srgbClr val="374151"/>
                </a:solidFill>
                <a:latin typeface="Calibri"/>
                <a:cs typeface="Calibri"/>
              </a:rPr>
              <a:t> </a:t>
            </a:r>
            <a:r>
              <a:rPr sz="1800" dirty="0">
                <a:solidFill>
                  <a:srgbClr val="374151"/>
                </a:solidFill>
                <a:latin typeface="Calibri"/>
                <a:cs typeface="Calibri"/>
              </a:rPr>
              <a:t>neurons</a:t>
            </a:r>
            <a:r>
              <a:rPr sz="1800" spc="365" dirty="0">
                <a:solidFill>
                  <a:srgbClr val="374151"/>
                </a:solidFill>
                <a:latin typeface="Calibri"/>
                <a:cs typeface="Calibri"/>
              </a:rPr>
              <a:t> </a:t>
            </a:r>
            <a:r>
              <a:rPr sz="1800" dirty="0">
                <a:solidFill>
                  <a:srgbClr val="374151"/>
                </a:solidFill>
                <a:latin typeface="Calibri"/>
                <a:cs typeface="Calibri"/>
              </a:rPr>
              <a:t>in</a:t>
            </a:r>
            <a:r>
              <a:rPr sz="1800" spc="370" dirty="0">
                <a:solidFill>
                  <a:srgbClr val="374151"/>
                </a:solidFill>
                <a:latin typeface="Calibri"/>
                <a:cs typeface="Calibri"/>
              </a:rPr>
              <a:t> </a:t>
            </a:r>
            <a:r>
              <a:rPr sz="1800" dirty="0">
                <a:solidFill>
                  <a:srgbClr val="374151"/>
                </a:solidFill>
                <a:latin typeface="Calibri"/>
                <a:cs typeface="Calibri"/>
              </a:rPr>
              <a:t>the</a:t>
            </a:r>
            <a:r>
              <a:rPr sz="1800" spc="365" dirty="0">
                <a:solidFill>
                  <a:srgbClr val="374151"/>
                </a:solidFill>
                <a:latin typeface="Calibri"/>
                <a:cs typeface="Calibri"/>
              </a:rPr>
              <a:t> </a:t>
            </a:r>
            <a:r>
              <a:rPr sz="1800" dirty="0">
                <a:solidFill>
                  <a:srgbClr val="374151"/>
                </a:solidFill>
                <a:latin typeface="Calibri"/>
                <a:cs typeface="Calibri"/>
              </a:rPr>
              <a:t>latent</a:t>
            </a:r>
            <a:r>
              <a:rPr sz="1800" spc="365" dirty="0">
                <a:solidFill>
                  <a:srgbClr val="374151"/>
                </a:solidFill>
                <a:latin typeface="Calibri"/>
                <a:cs typeface="Calibri"/>
              </a:rPr>
              <a:t> </a:t>
            </a:r>
            <a:r>
              <a:rPr sz="1800" dirty="0">
                <a:solidFill>
                  <a:srgbClr val="374151"/>
                </a:solidFill>
                <a:latin typeface="Calibri"/>
                <a:cs typeface="Calibri"/>
              </a:rPr>
              <a:t>layer</a:t>
            </a:r>
            <a:r>
              <a:rPr sz="1800" spc="360" dirty="0">
                <a:solidFill>
                  <a:srgbClr val="374151"/>
                </a:solidFill>
                <a:latin typeface="Calibri"/>
                <a:cs typeface="Calibri"/>
              </a:rPr>
              <a:t> </a:t>
            </a:r>
            <a:r>
              <a:rPr sz="1800" dirty="0">
                <a:solidFill>
                  <a:srgbClr val="374151"/>
                </a:solidFill>
                <a:latin typeface="Calibri"/>
                <a:cs typeface="Calibri"/>
              </a:rPr>
              <a:t>is</a:t>
            </a:r>
            <a:r>
              <a:rPr sz="1800" spc="370" dirty="0">
                <a:solidFill>
                  <a:srgbClr val="374151"/>
                </a:solidFill>
                <a:latin typeface="Calibri"/>
                <a:cs typeface="Calibri"/>
              </a:rPr>
              <a:t> </a:t>
            </a:r>
            <a:r>
              <a:rPr sz="1800" spc="-10" dirty="0">
                <a:solidFill>
                  <a:srgbClr val="374151"/>
                </a:solidFill>
                <a:latin typeface="Calibri"/>
                <a:cs typeface="Calibri"/>
              </a:rPr>
              <a:t>smaller </a:t>
            </a:r>
            <a:r>
              <a:rPr sz="1800" dirty="0">
                <a:solidFill>
                  <a:srgbClr val="374151"/>
                </a:solidFill>
                <a:latin typeface="Calibri"/>
                <a:cs typeface="Calibri"/>
              </a:rPr>
              <a:t>than</a:t>
            </a:r>
            <a:r>
              <a:rPr sz="1800" spc="-30" dirty="0">
                <a:solidFill>
                  <a:srgbClr val="374151"/>
                </a:solidFill>
                <a:latin typeface="Calibri"/>
                <a:cs typeface="Calibri"/>
              </a:rPr>
              <a:t> </a:t>
            </a:r>
            <a:r>
              <a:rPr sz="1800" dirty="0">
                <a:solidFill>
                  <a:srgbClr val="374151"/>
                </a:solidFill>
                <a:latin typeface="Calibri"/>
                <a:cs typeface="Calibri"/>
              </a:rPr>
              <a:t>the</a:t>
            </a:r>
            <a:r>
              <a:rPr sz="1800" spc="-40" dirty="0">
                <a:solidFill>
                  <a:srgbClr val="374151"/>
                </a:solidFill>
                <a:latin typeface="Calibri"/>
                <a:cs typeface="Calibri"/>
              </a:rPr>
              <a:t> </a:t>
            </a:r>
            <a:r>
              <a:rPr sz="1800" dirty="0">
                <a:solidFill>
                  <a:srgbClr val="374151"/>
                </a:solidFill>
                <a:latin typeface="Calibri"/>
                <a:cs typeface="Calibri"/>
              </a:rPr>
              <a:t>number</a:t>
            </a:r>
            <a:r>
              <a:rPr sz="1800" spc="-30" dirty="0">
                <a:solidFill>
                  <a:srgbClr val="374151"/>
                </a:solidFill>
                <a:latin typeface="Calibri"/>
                <a:cs typeface="Calibri"/>
              </a:rPr>
              <a:t> </a:t>
            </a:r>
            <a:r>
              <a:rPr sz="1800" dirty="0">
                <a:solidFill>
                  <a:srgbClr val="374151"/>
                </a:solidFill>
                <a:latin typeface="Calibri"/>
                <a:cs typeface="Calibri"/>
              </a:rPr>
              <a:t>of</a:t>
            </a:r>
            <a:r>
              <a:rPr sz="1800" spc="-35" dirty="0">
                <a:solidFill>
                  <a:srgbClr val="374151"/>
                </a:solidFill>
                <a:latin typeface="Calibri"/>
                <a:cs typeface="Calibri"/>
              </a:rPr>
              <a:t> </a:t>
            </a:r>
            <a:r>
              <a:rPr sz="1800" dirty="0">
                <a:solidFill>
                  <a:srgbClr val="374151"/>
                </a:solidFill>
                <a:latin typeface="Calibri"/>
                <a:cs typeface="Calibri"/>
              </a:rPr>
              <a:t>neurons</a:t>
            </a:r>
            <a:r>
              <a:rPr sz="1800" spc="-35" dirty="0">
                <a:solidFill>
                  <a:srgbClr val="374151"/>
                </a:solidFill>
                <a:latin typeface="Calibri"/>
                <a:cs typeface="Calibri"/>
              </a:rPr>
              <a:t> </a:t>
            </a:r>
            <a:r>
              <a:rPr sz="1800" dirty="0">
                <a:solidFill>
                  <a:srgbClr val="374151"/>
                </a:solidFill>
                <a:latin typeface="Calibri"/>
                <a:cs typeface="Calibri"/>
              </a:rPr>
              <a:t>in</a:t>
            </a:r>
            <a:r>
              <a:rPr sz="1800" spc="-25" dirty="0">
                <a:solidFill>
                  <a:srgbClr val="374151"/>
                </a:solidFill>
                <a:latin typeface="Calibri"/>
                <a:cs typeface="Calibri"/>
              </a:rPr>
              <a:t> </a:t>
            </a:r>
            <a:r>
              <a:rPr sz="1800" dirty="0">
                <a:solidFill>
                  <a:srgbClr val="374151"/>
                </a:solidFill>
                <a:latin typeface="Calibri"/>
                <a:cs typeface="Calibri"/>
              </a:rPr>
              <a:t>the</a:t>
            </a:r>
            <a:r>
              <a:rPr sz="1800" spc="-20" dirty="0">
                <a:solidFill>
                  <a:srgbClr val="374151"/>
                </a:solidFill>
                <a:latin typeface="Calibri"/>
                <a:cs typeface="Calibri"/>
              </a:rPr>
              <a:t> </a:t>
            </a:r>
            <a:r>
              <a:rPr sz="1800" dirty="0">
                <a:solidFill>
                  <a:srgbClr val="374151"/>
                </a:solidFill>
                <a:latin typeface="Calibri"/>
                <a:cs typeface="Calibri"/>
              </a:rPr>
              <a:t>input</a:t>
            </a:r>
            <a:r>
              <a:rPr sz="1800" spc="-30" dirty="0">
                <a:solidFill>
                  <a:srgbClr val="374151"/>
                </a:solidFill>
                <a:latin typeface="Calibri"/>
                <a:cs typeface="Calibri"/>
              </a:rPr>
              <a:t> </a:t>
            </a:r>
            <a:r>
              <a:rPr sz="1800" spc="-10" dirty="0">
                <a:solidFill>
                  <a:srgbClr val="374151"/>
                </a:solidFill>
                <a:latin typeface="Calibri"/>
                <a:cs typeface="Calibri"/>
              </a:rPr>
              <a:t>layer.</a:t>
            </a:r>
            <a:endParaRPr sz="1800">
              <a:latin typeface="Calibri"/>
              <a:cs typeface="Calibri"/>
            </a:endParaRPr>
          </a:p>
          <a:p>
            <a:pPr marL="286385" marR="1010285" indent="-287020" algn="just">
              <a:lnSpc>
                <a:spcPct val="100000"/>
              </a:lnSpc>
              <a:buFont typeface="Arial MT"/>
              <a:buChar char="•"/>
              <a:tabLst>
                <a:tab pos="286385" algn="l"/>
              </a:tabLst>
            </a:pPr>
            <a:r>
              <a:rPr sz="1800" dirty="0">
                <a:solidFill>
                  <a:srgbClr val="374151"/>
                </a:solidFill>
                <a:latin typeface="Calibri"/>
                <a:cs typeface="Calibri"/>
              </a:rPr>
              <a:t>By</a:t>
            </a:r>
            <a:r>
              <a:rPr sz="1800" spc="229" dirty="0">
                <a:solidFill>
                  <a:srgbClr val="374151"/>
                </a:solidFill>
                <a:latin typeface="Calibri"/>
                <a:cs typeface="Calibri"/>
              </a:rPr>
              <a:t>   </a:t>
            </a:r>
            <a:r>
              <a:rPr sz="1800" dirty="0">
                <a:solidFill>
                  <a:srgbClr val="374151"/>
                </a:solidFill>
                <a:latin typeface="Calibri"/>
                <a:cs typeface="Calibri"/>
              </a:rPr>
              <a:t>limiting</a:t>
            </a:r>
            <a:r>
              <a:rPr sz="1800" spc="240" dirty="0">
                <a:solidFill>
                  <a:srgbClr val="374151"/>
                </a:solidFill>
                <a:latin typeface="Calibri"/>
                <a:cs typeface="Calibri"/>
              </a:rPr>
              <a:t>   </a:t>
            </a:r>
            <a:r>
              <a:rPr sz="1800" dirty="0">
                <a:solidFill>
                  <a:srgbClr val="374151"/>
                </a:solidFill>
                <a:latin typeface="Calibri"/>
                <a:cs typeface="Calibri"/>
              </a:rPr>
              <a:t>the</a:t>
            </a:r>
            <a:r>
              <a:rPr sz="1800" spc="235" dirty="0">
                <a:solidFill>
                  <a:srgbClr val="374151"/>
                </a:solidFill>
                <a:latin typeface="Calibri"/>
                <a:cs typeface="Calibri"/>
              </a:rPr>
              <a:t>   </a:t>
            </a:r>
            <a:r>
              <a:rPr sz="1800" dirty="0">
                <a:solidFill>
                  <a:srgbClr val="374151"/>
                </a:solidFill>
                <a:latin typeface="Calibri"/>
                <a:cs typeface="Calibri"/>
              </a:rPr>
              <a:t>capacity</a:t>
            </a:r>
            <a:r>
              <a:rPr sz="1800" spc="240" dirty="0">
                <a:solidFill>
                  <a:srgbClr val="374151"/>
                </a:solidFill>
                <a:latin typeface="Calibri"/>
                <a:cs typeface="Calibri"/>
              </a:rPr>
              <a:t>   </a:t>
            </a:r>
            <a:r>
              <a:rPr sz="1800" dirty="0">
                <a:solidFill>
                  <a:srgbClr val="374151"/>
                </a:solidFill>
                <a:latin typeface="Calibri"/>
                <a:cs typeface="Calibri"/>
              </a:rPr>
              <a:t>of</a:t>
            </a:r>
            <a:r>
              <a:rPr sz="1800" spc="235" dirty="0">
                <a:solidFill>
                  <a:srgbClr val="374151"/>
                </a:solidFill>
                <a:latin typeface="Calibri"/>
                <a:cs typeface="Calibri"/>
              </a:rPr>
              <a:t>   </a:t>
            </a:r>
            <a:r>
              <a:rPr sz="1800" dirty="0">
                <a:solidFill>
                  <a:srgbClr val="374151"/>
                </a:solidFill>
                <a:latin typeface="Calibri"/>
                <a:cs typeface="Calibri"/>
              </a:rPr>
              <a:t>the</a:t>
            </a:r>
            <a:r>
              <a:rPr sz="1800" spc="235" dirty="0">
                <a:solidFill>
                  <a:srgbClr val="374151"/>
                </a:solidFill>
                <a:latin typeface="Calibri"/>
                <a:cs typeface="Calibri"/>
              </a:rPr>
              <a:t>   </a:t>
            </a:r>
            <a:r>
              <a:rPr sz="1800" dirty="0">
                <a:solidFill>
                  <a:srgbClr val="374151"/>
                </a:solidFill>
                <a:latin typeface="Calibri"/>
                <a:cs typeface="Calibri"/>
              </a:rPr>
              <a:t>latent</a:t>
            </a:r>
            <a:r>
              <a:rPr sz="1800" spc="229" dirty="0">
                <a:solidFill>
                  <a:srgbClr val="374151"/>
                </a:solidFill>
                <a:latin typeface="Calibri"/>
                <a:cs typeface="Calibri"/>
              </a:rPr>
              <a:t>   </a:t>
            </a:r>
            <a:r>
              <a:rPr sz="1800" spc="-40" dirty="0">
                <a:solidFill>
                  <a:srgbClr val="374151"/>
                </a:solidFill>
                <a:latin typeface="Calibri"/>
                <a:cs typeface="Calibri"/>
              </a:rPr>
              <a:t>layer, </a:t>
            </a:r>
            <a:r>
              <a:rPr sz="1800" dirty="0">
                <a:solidFill>
                  <a:srgbClr val="374151"/>
                </a:solidFill>
                <a:latin typeface="Calibri"/>
                <a:cs typeface="Calibri"/>
              </a:rPr>
              <a:t>undercomplete</a:t>
            </a:r>
            <a:r>
              <a:rPr sz="1800" spc="10" dirty="0">
                <a:solidFill>
                  <a:srgbClr val="374151"/>
                </a:solidFill>
                <a:latin typeface="Calibri"/>
                <a:cs typeface="Calibri"/>
              </a:rPr>
              <a:t> </a:t>
            </a:r>
            <a:r>
              <a:rPr sz="1800" dirty="0">
                <a:solidFill>
                  <a:srgbClr val="374151"/>
                </a:solidFill>
                <a:latin typeface="Calibri"/>
                <a:cs typeface="Calibri"/>
              </a:rPr>
              <a:t>autoencoders</a:t>
            </a:r>
            <a:r>
              <a:rPr sz="1800" spc="10" dirty="0">
                <a:solidFill>
                  <a:srgbClr val="374151"/>
                </a:solidFill>
                <a:latin typeface="Calibri"/>
                <a:cs typeface="Calibri"/>
              </a:rPr>
              <a:t> </a:t>
            </a:r>
            <a:r>
              <a:rPr sz="1800" dirty="0">
                <a:solidFill>
                  <a:srgbClr val="374151"/>
                </a:solidFill>
                <a:latin typeface="Calibri"/>
                <a:cs typeface="Calibri"/>
              </a:rPr>
              <a:t>are</a:t>
            </a:r>
            <a:r>
              <a:rPr sz="1800" spc="5" dirty="0">
                <a:solidFill>
                  <a:srgbClr val="374151"/>
                </a:solidFill>
                <a:latin typeface="Calibri"/>
                <a:cs typeface="Calibri"/>
              </a:rPr>
              <a:t> </a:t>
            </a:r>
            <a:r>
              <a:rPr sz="1800" dirty="0">
                <a:solidFill>
                  <a:srgbClr val="374151"/>
                </a:solidFill>
                <a:latin typeface="Calibri"/>
                <a:cs typeface="Calibri"/>
              </a:rPr>
              <a:t>encouraged</a:t>
            </a:r>
            <a:r>
              <a:rPr sz="1800" spc="10" dirty="0">
                <a:solidFill>
                  <a:srgbClr val="374151"/>
                </a:solidFill>
                <a:latin typeface="Calibri"/>
                <a:cs typeface="Calibri"/>
              </a:rPr>
              <a:t> </a:t>
            </a:r>
            <a:r>
              <a:rPr sz="1800" dirty="0">
                <a:solidFill>
                  <a:srgbClr val="374151"/>
                </a:solidFill>
                <a:latin typeface="Calibri"/>
                <a:cs typeface="Calibri"/>
              </a:rPr>
              <a:t>to</a:t>
            </a:r>
            <a:r>
              <a:rPr sz="1800" spc="5" dirty="0">
                <a:solidFill>
                  <a:srgbClr val="374151"/>
                </a:solidFill>
                <a:latin typeface="Calibri"/>
                <a:cs typeface="Calibri"/>
              </a:rPr>
              <a:t> </a:t>
            </a:r>
            <a:r>
              <a:rPr sz="1800" dirty="0">
                <a:solidFill>
                  <a:srgbClr val="374151"/>
                </a:solidFill>
                <a:latin typeface="Calibri"/>
                <a:cs typeface="Calibri"/>
              </a:rPr>
              <a:t>learn</a:t>
            </a:r>
            <a:r>
              <a:rPr sz="1800" spc="10" dirty="0">
                <a:solidFill>
                  <a:srgbClr val="374151"/>
                </a:solidFill>
                <a:latin typeface="Calibri"/>
                <a:cs typeface="Calibri"/>
              </a:rPr>
              <a:t> </a:t>
            </a:r>
            <a:r>
              <a:rPr sz="1800" spc="-50" dirty="0">
                <a:solidFill>
                  <a:srgbClr val="374151"/>
                </a:solidFill>
                <a:latin typeface="Calibri"/>
                <a:cs typeface="Calibri"/>
              </a:rPr>
              <a:t>a </a:t>
            </a:r>
            <a:r>
              <a:rPr sz="1800" dirty="0">
                <a:solidFill>
                  <a:srgbClr val="374151"/>
                </a:solidFill>
                <a:latin typeface="Calibri"/>
                <a:cs typeface="Calibri"/>
              </a:rPr>
              <a:t>compressed</a:t>
            </a:r>
            <a:r>
              <a:rPr sz="1800" spc="75" dirty="0">
                <a:solidFill>
                  <a:srgbClr val="374151"/>
                </a:solidFill>
                <a:latin typeface="Calibri"/>
                <a:cs typeface="Calibri"/>
              </a:rPr>
              <a:t> </a:t>
            </a:r>
            <a:r>
              <a:rPr sz="1800" dirty="0">
                <a:solidFill>
                  <a:srgbClr val="374151"/>
                </a:solidFill>
                <a:latin typeface="Calibri"/>
                <a:cs typeface="Calibri"/>
              </a:rPr>
              <a:t>representation</a:t>
            </a:r>
            <a:r>
              <a:rPr sz="1800" spc="80" dirty="0">
                <a:solidFill>
                  <a:srgbClr val="374151"/>
                </a:solidFill>
                <a:latin typeface="Calibri"/>
                <a:cs typeface="Calibri"/>
              </a:rPr>
              <a:t> </a:t>
            </a:r>
            <a:r>
              <a:rPr sz="1800" dirty="0">
                <a:solidFill>
                  <a:srgbClr val="374151"/>
                </a:solidFill>
                <a:latin typeface="Calibri"/>
                <a:cs typeface="Calibri"/>
              </a:rPr>
              <a:t>of</a:t>
            </a:r>
            <a:r>
              <a:rPr sz="1800" spc="80" dirty="0">
                <a:solidFill>
                  <a:srgbClr val="374151"/>
                </a:solidFill>
                <a:latin typeface="Calibri"/>
                <a:cs typeface="Calibri"/>
              </a:rPr>
              <a:t> </a:t>
            </a:r>
            <a:r>
              <a:rPr sz="1800" dirty="0">
                <a:solidFill>
                  <a:srgbClr val="374151"/>
                </a:solidFill>
                <a:latin typeface="Calibri"/>
                <a:cs typeface="Calibri"/>
              </a:rPr>
              <a:t>the</a:t>
            </a:r>
            <a:r>
              <a:rPr sz="1800" spc="80" dirty="0">
                <a:solidFill>
                  <a:srgbClr val="374151"/>
                </a:solidFill>
                <a:latin typeface="Calibri"/>
                <a:cs typeface="Calibri"/>
              </a:rPr>
              <a:t> </a:t>
            </a:r>
            <a:r>
              <a:rPr sz="1800" dirty="0">
                <a:solidFill>
                  <a:srgbClr val="374151"/>
                </a:solidFill>
                <a:latin typeface="Calibri"/>
                <a:cs typeface="Calibri"/>
              </a:rPr>
              <a:t>input</a:t>
            </a:r>
            <a:r>
              <a:rPr sz="1800" spc="80" dirty="0">
                <a:solidFill>
                  <a:srgbClr val="374151"/>
                </a:solidFill>
                <a:latin typeface="Calibri"/>
                <a:cs typeface="Calibri"/>
              </a:rPr>
              <a:t> </a:t>
            </a:r>
            <a:r>
              <a:rPr sz="1800" dirty="0">
                <a:solidFill>
                  <a:srgbClr val="374151"/>
                </a:solidFill>
                <a:latin typeface="Calibri"/>
                <a:cs typeface="Calibri"/>
              </a:rPr>
              <a:t>data,</a:t>
            </a:r>
            <a:r>
              <a:rPr sz="1800" spc="85" dirty="0">
                <a:solidFill>
                  <a:srgbClr val="374151"/>
                </a:solidFill>
                <a:latin typeface="Calibri"/>
                <a:cs typeface="Calibri"/>
              </a:rPr>
              <a:t> </a:t>
            </a:r>
            <a:r>
              <a:rPr sz="1800" spc="-10" dirty="0">
                <a:solidFill>
                  <a:srgbClr val="374151"/>
                </a:solidFill>
                <a:latin typeface="Calibri"/>
                <a:cs typeface="Calibri"/>
              </a:rPr>
              <a:t>capturing </a:t>
            </a:r>
            <a:r>
              <a:rPr sz="1800" dirty="0">
                <a:solidFill>
                  <a:srgbClr val="374151"/>
                </a:solidFill>
                <a:latin typeface="Calibri"/>
                <a:cs typeface="Calibri"/>
              </a:rPr>
              <a:t>the</a:t>
            </a:r>
            <a:r>
              <a:rPr sz="1800" spc="-20" dirty="0">
                <a:solidFill>
                  <a:srgbClr val="374151"/>
                </a:solidFill>
                <a:latin typeface="Calibri"/>
                <a:cs typeface="Calibri"/>
              </a:rPr>
              <a:t> </a:t>
            </a:r>
            <a:r>
              <a:rPr sz="1800" dirty="0">
                <a:solidFill>
                  <a:srgbClr val="374151"/>
                </a:solidFill>
                <a:latin typeface="Calibri"/>
                <a:cs typeface="Calibri"/>
              </a:rPr>
              <a:t>most</a:t>
            </a:r>
            <a:r>
              <a:rPr sz="1800" spc="-40" dirty="0">
                <a:solidFill>
                  <a:srgbClr val="374151"/>
                </a:solidFill>
                <a:latin typeface="Calibri"/>
                <a:cs typeface="Calibri"/>
              </a:rPr>
              <a:t> </a:t>
            </a:r>
            <a:r>
              <a:rPr sz="1800" dirty="0">
                <a:solidFill>
                  <a:srgbClr val="374151"/>
                </a:solidFill>
                <a:latin typeface="Calibri"/>
                <a:cs typeface="Calibri"/>
              </a:rPr>
              <a:t>salient</a:t>
            </a:r>
            <a:r>
              <a:rPr sz="1800" spc="-30" dirty="0">
                <a:solidFill>
                  <a:srgbClr val="374151"/>
                </a:solidFill>
                <a:latin typeface="Calibri"/>
                <a:cs typeface="Calibri"/>
              </a:rPr>
              <a:t> </a:t>
            </a:r>
            <a:r>
              <a:rPr sz="1800" spc="-10" dirty="0">
                <a:solidFill>
                  <a:srgbClr val="374151"/>
                </a:solidFill>
                <a:latin typeface="Calibri"/>
                <a:cs typeface="Calibri"/>
              </a:rPr>
              <a:t>features.</a:t>
            </a:r>
            <a:endParaRPr sz="1800">
              <a:latin typeface="Calibri"/>
              <a:cs typeface="Calibri"/>
            </a:endParaRPr>
          </a:p>
          <a:p>
            <a:pPr marL="286385" marR="1010285" indent="-287020" algn="just">
              <a:lnSpc>
                <a:spcPct val="100000"/>
              </a:lnSpc>
              <a:spcBef>
                <a:spcPts val="5"/>
              </a:spcBef>
              <a:buFont typeface="Arial MT"/>
              <a:buChar char="•"/>
              <a:tabLst>
                <a:tab pos="286385" algn="l"/>
              </a:tabLst>
            </a:pPr>
            <a:r>
              <a:rPr sz="1800" dirty="0">
                <a:solidFill>
                  <a:srgbClr val="374151"/>
                </a:solidFill>
                <a:latin typeface="Calibri"/>
                <a:cs typeface="Calibri"/>
              </a:rPr>
              <a:t>Undercomplete</a:t>
            </a:r>
            <a:r>
              <a:rPr sz="1800" spc="360" dirty="0">
                <a:solidFill>
                  <a:srgbClr val="374151"/>
                </a:solidFill>
                <a:latin typeface="Calibri"/>
                <a:cs typeface="Calibri"/>
              </a:rPr>
              <a:t>  </a:t>
            </a:r>
            <a:r>
              <a:rPr sz="1800" dirty="0">
                <a:solidFill>
                  <a:srgbClr val="374151"/>
                </a:solidFill>
                <a:latin typeface="Calibri"/>
                <a:cs typeface="Calibri"/>
              </a:rPr>
              <a:t>autoencoders</a:t>
            </a:r>
            <a:r>
              <a:rPr sz="1800" spc="365" dirty="0">
                <a:solidFill>
                  <a:srgbClr val="374151"/>
                </a:solidFill>
                <a:latin typeface="Calibri"/>
                <a:cs typeface="Calibri"/>
              </a:rPr>
              <a:t>  </a:t>
            </a:r>
            <a:r>
              <a:rPr sz="1800" dirty="0">
                <a:solidFill>
                  <a:srgbClr val="374151"/>
                </a:solidFill>
                <a:latin typeface="Calibri"/>
                <a:cs typeface="Calibri"/>
              </a:rPr>
              <a:t>are</a:t>
            </a:r>
            <a:r>
              <a:rPr sz="1800" spc="370" dirty="0">
                <a:solidFill>
                  <a:srgbClr val="374151"/>
                </a:solidFill>
                <a:latin typeface="Calibri"/>
                <a:cs typeface="Calibri"/>
              </a:rPr>
              <a:t>  </a:t>
            </a:r>
            <a:r>
              <a:rPr sz="1800" dirty="0">
                <a:solidFill>
                  <a:srgbClr val="374151"/>
                </a:solidFill>
                <a:latin typeface="Calibri"/>
                <a:cs typeface="Calibri"/>
              </a:rPr>
              <a:t>often</a:t>
            </a:r>
            <a:r>
              <a:rPr sz="1800" spc="370" dirty="0">
                <a:solidFill>
                  <a:srgbClr val="374151"/>
                </a:solidFill>
                <a:latin typeface="Calibri"/>
                <a:cs typeface="Calibri"/>
              </a:rPr>
              <a:t>  </a:t>
            </a:r>
            <a:r>
              <a:rPr sz="1800" dirty="0">
                <a:solidFill>
                  <a:srgbClr val="374151"/>
                </a:solidFill>
                <a:latin typeface="Calibri"/>
                <a:cs typeface="Calibri"/>
              </a:rPr>
              <a:t>used</a:t>
            </a:r>
            <a:r>
              <a:rPr sz="1800" spc="365" dirty="0">
                <a:solidFill>
                  <a:srgbClr val="374151"/>
                </a:solidFill>
                <a:latin typeface="Calibri"/>
                <a:cs typeface="Calibri"/>
              </a:rPr>
              <a:t>  </a:t>
            </a:r>
            <a:r>
              <a:rPr sz="1800" spc="-25" dirty="0">
                <a:solidFill>
                  <a:srgbClr val="374151"/>
                </a:solidFill>
                <a:latin typeface="Calibri"/>
                <a:cs typeface="Calibri"/>
              </a:rPr>
              <a:t>for </a:t>
            </a:r>
            <a:r>
              <a:rPr sz="1800" dirty="0">
                <a:solidFill>
                  <a:srgbClr val="374151"/>
                </a:solidFill>
                <a:latin typeface="Calibri"/>
                <a:cs typeface="Calibri"/>
              </a:rPr>
              <a:t>dimensionality</a:t>
            </a:r>
            <a:r>
              <a:rPr sz="1800" spc="455" dirty="0">
                <a:solidFill>
                  <a:srgbClr val="374151"/>
                </a:solidFill>
                <a:latin typeface="Calibri"/>
                <a:cs typeface="Calibri"/>
              </a:rPr>
              <a:t>  </a:t>
            </a:r>
            <a:r>
              <a:rPr sz="1800" dirty="0">
                <a:solidFill>
                  <a:srgbClr val="374151"/>
                </a:solidFill>
                <a:latin typeface="Calibri"/>
                <a:cs typeface="Calibri"/>
              </a:rPr>
              <a:t>reduction,</a:t>
            </a:r>
            <a:r>
              <a:rPr sz="1800" spc="470" dirty="0">
                <a:solidFill>
                  <a:srgbClr val="374151"/>
                </a:solidFill>
                <a:latin typeface="Calibri"/>
                <a:cs typeface="Calibri"/>
              </a:rPr>
              <a:t>  </a:t>
            </a:r>
            <a:r>
              <a:rPr sz="1800" dirty="0">
                <a:solidFill>
                  <a:srgbClr val="374151"/>
                </a:solidFill>
                <a:latin typeface="Calibri"/>
                <a:cs typeface="Calibri"/>
              </a:rPr>
              <a:t>feature</a:t>
            </a:r>
            <a:r>
              <a:rPr sz="1800" spc="459" dirty="0">
                <a:solidFill>
                  <a:srgbClr val="374151"/>
                </a:solidFill>
                <a:latin typeface="Calibri"/>
                <a:cs typeface="Calibri"/>
              </a:rPr>
              <a:t>  </a:t>
            </a:r>
            <a:r>
              <a:rPr sz="1800" dirty="0">
                <a:solidFill>
                  <a:srgbClr val="374151"/>
                </a:solidFill>
                <a:latin typeface="Calibri"/>
                <a:cs typeface="Calibri"/>
              </a:rPr>
              <a:t>extraction,</a:t>
            </a:r>
            <a:r>
              <a:rPr sz="1800" spc="459" dirty="0">
                <a:solidFill>
                  <a:srgbClr val="374151"/>
                </a:solidFill>
                <a:latin typeface="Calibri"/>
                <a:cs typeface="Calibri"/>
              </a:rPr>
              <a:t>  </a:t>
            </a:r>
            <a:r>
              <a:rPr sz="1800" spc="-25" dirty="0">
                <a:solidFill>
                  <a:srgbClr val="374151"/>
                </a:solidFill>
                <a:latin typeface="Calibri"/>
                <a:cs typeface="Calibri"/>
              </a:rPr>
              <a:t>and </a:t>
            </a:r>
            <a:r>
              <a:rPr sz="1800" dirty="0">
                <a:solidFill>
                  <a:srgbClr val="374151"/>
                </a:solidFill>
                <a:latin typeface="Calibri"/>
                <a:cs typeface="Calibri"/>
              </a:rPr>
              <a:t>anomaly</a:t>
            </a:r>
            <a:r>
              <a:rPr sz="1800" spc="-85" dirty="0">
                <a:solidFill>
                  <a:srgbClr val="374151"/>
                </a:solidFill>
                <a:latin typeface="Calibri"/>
                <a:cs typeface="Calibri"/>
              </a:rPr>
              <a:t> </a:t>
            </a:r>
            <a:r>
              <a:rPr sz="1800" dirty="0">
                <a:solidFill>
                  <a:srgbClr val="374151"/>
                </a:solidFill>
                <a:latin typeface="Calibri"/>
                <a:cs typeface="Calibri"/>
              </a:rPr>
              <a:t>detection</a:t>
            </a:r>
            <a:r>
              <a:rPr sz="1800" spc="-50" dirty="0">
                <a:solidFill>
                  <a:srgbClr val="374151"/>
                </a:solidFill>
                <a:latin typeface="Calibri"/>
                <a:cs typeface="Calibri"/>
              </a:rPr>
              <a:t> </a:t>
            </a:r>
            <a:r>
              <a:rPr sz="1800" spc="-10" dirty="0">
                <a:solidFill>
                  <a:srgbClr val="374151"/>
                </a:solidFill>
                <a:latin typeface="Calibri"/>
                <a:cs typeface="Calibri"/>
              </a:rPr>
              <a:t>tasks.</a:t>
            </a:r>
            <a:endParaRPr sz="1800">
              <a:latin typeface="Calibri"/>
              <a:cs typeface="Calibri"/>
            </a:endParaRPr>
          </a:p>
          <a:p>
            <a:pPr>
              <a:lnSpc>
                <a:spcPct val="100000"/>
              </a:lnSpc>
              <a:spcBef>
                <a:spcPts val="1350"/>
              </a:spcBef>
            </a:pPr>
            <a:endParaRPr sz="1800">
              <a:latin typeface="Calibri"/>
              <a:cs typeface="Calibri"/>
            </a:endParaRPr>
          </a:p>
          <a:p>
            <a:pPr marL="805180" marR="5080">
              <a:lnSpc>
                <a:spcPct val="100000"/>
              </a:lnSpc>
              <a:spcBef>
                <a:spcPts val="5"/>
              </a:spcBef>
            </a:pPr>
            <a:r>
              <a:rPr sz="1800" dirty="0">
                <a:solidFill>
                  <a:srgbClr val="292929"/>
                </a:solidFill>
                <a:latin typeface="Calibri"/>
                <a:cs typeface="Calibri"/>
              </a:rPr>
              <a:t>if</a:t>
            </a:r>
            <a:r>
              <a:rPr sz="1800" spc="-25" dirty="0">
                <a:solidFill>
                  <a:srgbClr val="292929"/>
                </a:solidFill>
                <a:latin typeface="Calibri"/>
                <a:cs typeface="Calibri"/>
              </a:rPr>
              <a:t> </a:t>
            </a:r>
            <a:r>
              <a:rPr sz="1800" dirty="0">
                <a:solidFill>
                  <a:srgbClr val="292929"/>
                </a:solidFill>
                <a:latin typeface="Calibri"/>
                <a:cs typeface="Calibri"/>
              </a:rPr>
              <a:t>we</a:t>
            </a:r>
            <a:r>
              <a:rPr sz="1800" spc="-30" dirty="0">
                <a:solidFill>
                  <a:srgbClr val="292929"/>
                </a:solidFill>
                <a:latin typeface="Calibri"/>
                <a:cs typeface="Calibri"/>
              </a:rPr>
              <a:t> </a:t>
            </a:r>
            <a:r>
              <a:rPr sz="1800" dirty="0">
                <a:solidFill>
                  <a:srgbClr val="292929"/>
                </a:solidFill>
                <a:latin typeface="Calibri"/>
                <a:cs typeface="Calibri"/>
              </a:rPr>
              <a:t>use</a:t>
            </a:r>
            <a:r>
              <a:rPr sz="1800" spc="-25" dirty="0">
                <a:solidFill>
                  <a:srgbClr val="292929"/>
                </a:solidFill>
                <a:latin typeface="Calibri"/>
                <a:cs typeface="Calibri"/>
              </a:rPr>
              <a:t> </a:t>
            </a:r>
            <a:r>
              <a:rPr sz="1800" dirty="0">
                <a:solidFill>
                  <a:srgbClr val="292929"/>
                </a:solidFill>
                <a:latin typeface="Calibri"/>
                <a:cs typeface="Calibri"/>
              </a:rPr>
              <a:t>a</a:t>
            </a:r>
            <a:r>
              <a:rPr sz="1800" spc="-35" dirty="0">
                <a:solidFill>
                  <a:srgbClr val="292929"/>
                </a:solidFill>
                <a:latin typeface="Calibri"/>
                <a:cs typeface="Calibri"/>
              </a:rPr>
              <a:t> </a:t>
            </a:r>
            <a:r>
              <a:rPr sz="1800" dirty="0">
                <a:solidFill>
                  <a:srgbClr val="292929"/>
                </a:solidFill>
                <a:latin typeface="Calibri"/>
                <a:cs typeface="Calibri"/>
              </a:rPr>
              <a:t>shallow</a:t>
            </a:r>
            <a:r>
              <a:rPr sz="1800" spc="-25" dirty="0">
                <a:solidFill>
                  <a:srgbClr val="292929"/>
                </a:solidFill>
                <a:latin typeface="Calibri"/>
                <a:cs typeface="Calibri"/>
              </a:rPr>
              <a:t> </a:t>
            </a:r>
            <a:r>
              <a:rPr sz="1800" dirty="0">
                <a:solidFill>
                  <a:srgbClr val="292929"/>
                </a:solidFill>
                <a:latin typeface="Calibri"/>
                <a:cs typeface="Calibri"/>
              </a:rPr>
              <a:t>network</a:t>
            </a:r>
            <a:r>
              <a:rPr sz="1800" spc="-30" dirty="0">
                <a:solidFill>
                  <a:srgbClr val="292929"/>
                </a:solidFill>
                <a:latin typeface="Calibri"/>
                <a:cs typeface="Calibri"/>
              </a:rPr>
              <a:t> </a:t>
            </a:r>
            <a:r>
              <a:rPr sz="1800" dirty="0">
                <a:solidFill>
                  <a:srgbClr val="292929"/>
                </a:solidFill>
                <a:latin typeface="Calibri"/>
                <a:cs typeface="Calibri"/>
              </a:rPr>
              <a:t>with</a:t>
            </a:r>
            <a:r>
              <a:rPr sz="1800" spc="-20" dirty="0">
                <a:solidFill>
                  <a:srgbClr val="292929"/>
                </a:solidFill>
                <a:latin typeface="Calibri"/>
                <a:cs typeface="Calibri"/>
              </a:rPr>
              <a:t> </a:t>
            </a:r>
            <a:r>
              <a:rPr sz="1800" dirty="0">
                <a:solidFill>
                  <a:srgbClr val="292929"/>
                </a:solidFill>
                <a:latin typeface="Calibri"/>
                <a:cs typeface="Calibri"/>
              </a:rPr>
              <a:t>a</a:t>
            </a:r>
            <a:r>
              <a:rPr sz="1800" spc="-20" dirty="0">
                <a:solidFill>
                  <a:srgbClr val="292929"/>
                </a:solidFill>
                <a:latin typeface="Calibri"/>
                <a:cs typeface="Calibri"/>
              </a:rPr>
              <a:t> </a:t>
            </a:r>
            <a:r>
              <a:rPr sz="1800" dirty="0">
                <a:solidFill>
                  <a:srgbClr val="292929"/>
                </a:solidFill>
                <a:latin typeface="Calibri"/>
                <a:cs typeface="Calibri"/>
              </a:rPr>
              <a:t>very</a:t>
            </a:r>
            <a:r>
              <a:rPr sz="1800" spc="-45" dirty="0">
                <a:solidFill>
                  <a:srgbClr val="292929"/>
                </a:solidFill>
                <a:latin typeface="Calibri"/>
                <a:cs typeface="Calibri"/>
              </a:rPr>
              <a:t> </a:t>
            </a:r>
            <a:r>
              <a:rPr sz="1800" dirty="0">
                <a:solidFill>
                  <a:srgbClr val="292929"/>
                </a:solidFill>
                <a:latin typeface="Calibri"/>
                <a:cs typeface="Calibri"/>
              </a:rPr>
              <a:t>less</a:t>
            </a:r>
            <a:r>
              <a:rPr sz="1800" spc="-40" dirty="0">
                <a:solidFill>
                  <a:srgbClr val="292929"/>
                </a:solidFill>
                <a:latin typeface="Calibri"/>
                <a:cs typeface="Calibri"/>
              </a:rPr>
              <a:t> </a:t>
            </a:r>
            <a:r>
              <a:rPr sz="1800" dirty="0">
                <a:solidFill>
                  <a:srgbClr val="292929"/>
                </a:solidFill>
                <a:latin typeface="Calibri"/>
                <a:cs typeface="Calibri"/>
              </a:rPr>
              <a:t>number</a:t>
            </a:r>
            <a:r>
              <a:rPr sz="1800" spc="-25" dirty="0">
                <a:solidFill>
                  <a:srgbClr val="292929"/>
                </a:solidFill>
                <a:latin typeface="Calibri"/>
                <a:cs typeface="Calibri"/>
              </a:rPr>
              <a:t> </a:t>
            </a:r>
            <a:r>
              <a:rPr sz="1800" dirty="0">
                <a:solidFill>
                  <a:srgbClr val="292929"/>
                </a:solidFill>
                <a:latin typeface="Calibri"/>
                <a:cs typeface="Calibri"/>
              </a:rPr>
              <a:t>of</a:t>
            </a:r>
            <a:r>
              <a:rPr sz="1800" spc="-35" dirty="0">
                <a:solidFill>
                  <a:srgbClr val="292929"/>
                </a:solidFill>
                <a:latin typeface="Calibri"/>
                <a:cs typeface="Calibri"/>
              </a:rPr>
              <a:t> </a:t>
            </a:r>
            <a:r>
              <a:rPr sz="1800" spc="-10" dirty="0">
                <a:solidFill>
                  <a:srgbClr val="292929"/>
                </a:solidFill>
                <a:latin typeface="Calibri"/>
                <a:cs typeface="Calibri"/>
              </a:rPr>
              <a:t>nodes, </a:t>
            </a:r>
            <a:r>
              <a:rPr sz="1800" dirty="0">
                <a:solidFill>
                  <a:srgbClr val="292929"/>
                </a:solidFill>
                <a:latin typeface="Calibri"/>
                <a:cs typeface="Calibri"/>
              </a:rPr>
              <a:t>it</a:t>
            </a:r>
            <a:r>
              <a:rPr sz="1800" spc="-30" dirty="0">
                <a:solidFill>
                  <a:srgbClr val="292929"/>
                </a:solidFill>
                <a:latin typeface="Calibri"/>
                <a:cs typeface="Calibri"/>
              </a:rPr>
              <a:t> </a:t>
            </a:r>
            <a:r>
              <a:rPr sz="1800" dirty="0">
                <a:solidFill>
                  <a:srgbClr val="292929"/>
                </a:solidFill>
                <a:latin typeface="Calibri"/>
                <a:cs typeface="Calibri"/>
              </a:rPr>
              <a:t>will</a:t>
            </a:r>
            <a:r>
              <a:rPr sz="1800" spc="-15" dirty="0">
                <a:solidFill>
                  <a:srgbClr val="292929"/>
                </a:solidFill>
                <a:latin typeface="Calibri"/>
                <a:cs typeface="Calibri"/>
              </a:rPr>
              <a:t> </a:t>
            </a:r>
            <a:r>
              <a:rPr sz="1800" dirty="0">
                <a:solidFill>
                  <a:srgbClr val="292929"/>
                </a:solidFill>
                <a:latin typeface="Calibri"/>
                <a:cs typeface="Calibri"/>
              </a:rPr>
              <a:t>be</a:t>
            </a:r>
            <a:r>
              <a:rPr sz="1800" spc="-30" dirty="0">
                <a:solidFill>
                  <a:srgbClr val="292929"/>
                </a:solidFill>
                <a:latin typeface="Calibri"/>
                <a:cs typeface="Calibri"/>
              </a:rPr>
              <a:t> </a:t>
            </a:r>
            <a:r>
              <a:rPr sz="1800" dirty="0">
                <a:solidFill>
                  <a:srgbClr val="292929"/>
                </a:solidFill>
                <a:latin typeface="Calibri"/>
                <a:cs typeface="Calibri"/>
              </a:rPr>
              <a:t>very</a:t>
            </a:r>
            <a:r>
              <a:rPr sz="1800" spc="-45" dirty="0">
                <a:solidFill>
                  <a:srgbClr val="292929"/>
                </a:solidFill>
                <a:latin typeface="Calibri"/>
                <a:cs typeface="Calibri"/>
              </a:rPr>
              <a:t> </a:t>
            </a:r>
            <a:r>
              <a:rPr sz="1800" dirty="0">
                <a:solidFill>
                  <a:srgbClr val="292929"/>
                </a:solidFill>
                <a:latin typeface="Calibri"/>
                <a:cs typeface="Calibri"/>
              </a:rPr>
              <a:t>hard</a:t>
            </a:r>
            <a:r>
              <a:rPr sz="1800" spc="-20" dirty="0">
                <a:solidFill>
                  <a:srgbClr val="292929"/>
                </a:solidFill>
                <a:latin typeface="Calibri"/>
                <a:cs typeface="Calibri"/>
              </a:rPr>
              <a:t> </a:t>
            </a:r>
            <a:r>
              <a:rPr sz="1800" dirty="0">
                <a:solidFill>
                  <a:srgbClr val="292929"/>
                </a:solidFill>
                <a:latin typeface="Calibri"/>
                <a:cs typeface="Calibri"/>
              </a:rPr>
              <a:t>to</a:t>
            </a:r>
            <a:r>
              <a:rPr sz="1800" spc="-35" dirty="0">
                <a:solidFill>
                  <a:srgbClr val="292929"/>
                </a:solidFill>
                <a:latin typeface="Calibri"/>
                <a:cs typeface="Calibri"/>
              </a:rPr>
              <a:t> </a:t>
            </a:r>
            <a:r>
              <a:rPr sz="1800" dirty="0">
                <a:solidFill>
                  <a:srgbClr val="292929"/>
                </a:solidFill>
                <a:latin typeface="Calibri"/>
                <a:cs typeface="Calibri"/>
              </a:rPr>
              <a:t>capture</a:t>
            </a:r>
            <a:r>
              <a:rPr sz="1800" spc="-15" dirty="0">
                <a:solidFill>
                  <a:srgbClr val="292929"/>
                </a:solidFill>
                <a:latin typeface="Calibri"/>
                <a:cs typeface="Calibri"/>
              </a:rPr>
              <a:t> </a:t>
            </a:r>
            <a:r>
              <a:rPr sz="1800" dirty="0">
                <a:solidFill>
                  <a:srgbClr val="292929"/>
                </a:solidFill>
                <a:latin typeface="Calibri"/>
                <a:cs typeface="Calibri"/>
              </a:rPr>
              <a:t>all</a:t>
            </a:r>
            <a:r>
              <a:rPr sz="1800" spc="-35" dirty="0">
                <a:solidFill>
                  <a:srgbClr val="292929"/>
                </a:solidFill>
                <a:latin typeface="Calibri"/>
                <a:cs typeface="Calibri"/>
              </a:rPr>
              <a:t> </a:t>
            </a:r>
            <a:r>
              <a:rPr sz="1800" dirty="0">
                <a:solidFill>
                  <a:srgbClr val="292929"/>
                </a:solidFill>
                <a:latin typeface="Calibri"/>
                <a:cs typeface="Calibri"/>
              </a:rPr>
              <a:t>the</a:t>
            </a:r>
            <a:r>
              <a:rPr sz="1800" spc="-15" dirty="0">
                <a:solidFill>
                  <a:srgbClr val="292929"/>
                </a:solidFill>
                <a:latin typeface="Calibri"/>
                <a:cs typeface="Calibri"/>
              </a:rPr>
              <a:t> </a:t>
            </a:r>
            <a:r>
              <a:rPr sz="1800" spc="-10" dirty="0">
                <a:solidFill>
                  <a:srgbClr val="292929"/>
                </a:solidFill>
                <a:latin typeface="Calibri"/>
                <a:cs typeface="Calibri"/>
              </a:rPr>
              <a:t>relationships.</a:t>
            </a:r>
            <a:endParaRPr sz="1800">
              <a:latin typeface="Calibri"/>
              <a:cs typeface="Calibri"/>
            </a:endParaRPr>
          </a:p>
        </p:txBody>
      </p:sp>
      <p:sp>
        <p:nvSpPr>
          <p:cNvPr id="5" name="object 5"/>
          <p:cNvSpPr txBox="1">
            <a:spLocks noGrp="1"/>
          </p:cNvSpPr>
          <p:nvPr>
            <p:ph type="title"/>
          </p:nvPr>
        </p:nvSpPr>
        <p:spPr>
          <a:xfrm>
            <a:off x="802640" y="207009"/>
            <a:ext cx="10536555" cy="954405"/>
          </a:xfrm>
          <a:prstGeom prst="rect">
            <a:avLst/>
          </a:prstGeom>
        </p:spPr>
        <p:txBody>
          <a:bodyPr vert="horz" wrap="square" lIns="0" tIns="66675" rIns="0" bIns="0" rtlCol="0">
            <a:spAutoFit/>
          </a:bodyPr>
          <a:lstStyle/>
          <a:p>
            <a:pPr marL="12700" marR="5080">
              <a:lnSpc>
                <a:spcPts val="3470"/>
              </a:lnSpc>
              <a:spcBef>
                <a:spcPts val="525"/>
              </a:spcBef>
            </a:pPr>
            <a:r>
              <a:rPr b="0" spc="-20" dirty="0">
                <a:solidFill>
                  <a:srgbClr val="374151"/>
                </a:solidFill>
                <a:latin typeface="Calibri"/>
                <a:cs typeface="Calibri"/>
              </a:rPr>
              <a:t>Variations</a:t>
            </a:r>
            <a:r>
              <a:rPr b="0" spc="-65" dirty="0">
                <a:solidFill>
                  <a:srgbClr val="374151"/>
                </a:solidFill>
                <a:latin typeface="Calibri"/>
                <a:cs typeface="Calibri"/>
              </a:rPr>
              <a:t> </a:t>
            </a:r>
            <a:r>
              <a:rPr b="0" dirty="0">
                <a:solidFill>
                  <a:srgbClr val="374151"/>
                </a:solidFill>
                <a:latin typeface="Calibri"/>
                <a:cs typeface="Calibri"/>
              </a:rPr>
              <a:t>of</a:t>
            </a:r>
            <a:r>
              <a:rPr b="0" spc="-75" dirty="0">
                <a:solidFill>
                  <a:srgbClr val="374151"/>
                </a:solidFill>
                <a:latin typeface="Calibri"/>
                <a:cs typeface="Calibri"/>
              </a:rPr>
              <a:t> </a:t>
            </a:r>
            <a:r>
              <a:rPr b="0" dirty="0">
                <a:solidFill>
                  <a:srgbClr val="374151"/>
                </a:solidFill>
                <a:latin typeface="Calibri"/>
                <a:cs typeface="Calibri"/>
              </a:rPr>
              <a:t>autoencoders</a:t>
            </a:r>
            <a:r>
              <a:rPr b="0" spc="-75" dirty="0">
                <a:solidFill>
                  <a:srgbClr val="374151"/>
                </a:solidFill>
                <a:latin typeface="Calibri"/>
                <a:cs typeface="Calibri"/>
              </a:rPr>
              <a:t> </a:t>
            </a:r>
            <a:r>
              <a:rPr b="0" dirty="0">
                <a:solidFill>
                  <a:srgbClr val="374151"/>
                </a:solidFill>
                <a:latin typeface="Calibri"/>
                <a:cs typeface="Calibri"/>
              </a:rPr>
              <a:t>based</a:t>
            </a:r>
            <a:r>
              <a:rPr b="0" spc="-80" dirty="0">
                <a:solidFill>
                  <a:srgbClr val="374151"/>
                </a:solidFill>
                <a:latin typeface="Calibri"/>
                <a:cs typeface="Calibri"/>
              </a:rPr>
              <a:t> </a:t>
            </a:r>
            <a:r>
              <a:rPr b="0" dirty="0">
                <a:solidFill>
                  <a:srgbClr val="374151"/>
                </a:solidFill>
                <a:latin typeface="Calibri"/>
                <a:cs typeface="Calibri"/>
              </a:rPr>
              <a:t>on</a:t>
            </a:r>
            <a:r>
              <a:rPr b="0" spc="-70" dirty="0">
                <a:solidFill>
                  <a:srgbClr val="374151"/>
                </a:solidFill>
                <a:latin typeface="Calibri"/>
                <a:cs typeface="Calibri"/>
              </a:rPr>
              <a:t> </a:t>
            </a:r>
            <a:r>
              <a:rPr b="0" dirty="0">
                <a:solidFill>
                  <a:srgbClr val="374151"/>
                </a:solidFill>
                <a:latin typeface="Calibri"/>
                <a:cs typeface="Calibri"/>
              </a:rPr>
              <a:t>the</a:t>
            </a:r>
            <a:r>
              <a:rPr b="0" spc="-70" dirty="0">
                <a:solidFill>
                  <a:srgbClr val="374151"/>
                </a:solidFill>
                <a:latin typeface="Calibri"/>
                <a:cs typeface="Calibri"/>
              </a:rPr>
              <a:t> </a:t>
            </a:r>
            <a:r>
              <a:rPr b="0" dirty="0">
                <a:solidFill>
                  <a:srgbClr val="374151"/>
                </a:solidFill>
                <a:latin typeface="Calibri"/>
                <a:cs typeface="Calibri"/>
              </a:rPr>
              <a:t>dimensionality</a:t>
            </a:r>
            <a:r>
              <a:rPr b="0" spc="-40" dirty="0">
                <a:solidFill>
                  <a:srgbClr val="374151"/>
                </a:solidFill>
                <a:latin typeface="Calibri"/>
                <a:cs typeface="Calibri"/>
              </a:rPr>
              <a:t> </a:t>
            </a:r>
            <a:r>
              <a:rPr b="0" dirty="0">
                <a:solidFill>
                  <a:srgbClr val="374151"/>
                </a:solidFill>
                <a:latin typeface="Calibri"/>
                <a:cs typeface="Calibri"/>
              </a:rPr>
              <a:t>of</a:t>
            </a:r>
            <a:r>
              <a:rPr b="0" spc="-75" dirty="0">
                <a:solidFill>
                  <a:srgbClr val="374151"/>
                </a:solidFill>
                <a:latin typeface="Calibri"/>
                <a:cs typeface="Calibri"/>
              </a:rPr>
              <a:t> </a:t>
            </a:r>
            <a:r>
              <a:rPr b="0" spc="-10" dirty="0">
                <a:solidFill>
                  <a:srgbClr val="374151"/>
                </a:solidFill>
                <a:latin typeface="Calibri"/>
                <a:cs typeface="Calibri"/>
              </a:rPr>
              <a:t>their </a:t>
            </a:r>
            <a:r>
              <a:rPr b="0" dirty="0">
                <a:solidFill>
                  <a:srgbClr val="374151"/>
                </a:solidFill>
                <a:latin typeface="Calibri"/>
                <a:cs typeface="Calibri"/>
              </a:rPr>
              <a:t>latent</a:t>
            </a:r>
            <a:r>
              <a:rPr b="0" spc="-110" dirty="0">
                <a:solidFill>
                  <a:srgbClr val="374151"/>
                </a:solidFill>
                <a:latin typeface="Calibri"/>
                <a:cs typeface="Calibri"/>
              </a:rPr>
              <a:t> </a:t>
            </a:r>
            <a:r>
              <a:rPr b="0" dirty="0">
                <a:solidFill>
                  <a:srgbClr val="374151"/>
                </a:solidFill>
                <a:latin typeface="Calibri"/>
                <a:cs typeface="Calibri"/>
              </a:rPr>
              <a:t>(bottleneck)</a:t>
            </a:r>
            <a:r>
              <a:rPr b="0" spc="-100" dirty="0">
                <a:solidFill>
                  <a:srgbClr val="374151"/>
                </a:solidFill>
                <a:latin typeface="Calibri"/>
                <a:cs typeface="Calibri"/>
              </a:rPr>
              <a:t> </a:t>
            </a:r>
            <a:r>
              <a:rPr b="0" dirty="0">
                <a:solidFill>
                  <a:srgbClr val="374151"/>
                </a:solidFill>
                <a:latin typeface="Calibri"/>
                <a:cs typeface="Calibri"/>
              </a:rPr>
              <a:t>layer</a:t>
            </a:r>
            <a:r>
              <a:rPr b="0" spc="-120" dirty="0">
                <a:solidFill>
                  <a:srgbClr val="374151"/>
                </a:solidFill>
                <a:latin typeface="Calibri"/>
                <a:cs typeface="Calibri"/>
              </a:rPr>
              <a:t> </a:t>
            </a:r>
            <a:r>
              <a:rPr b="0" dirty="0">
                <a:solidFill>
                  <a:srgbClr val="374151"/>
                </a:solidFill>
                <a:latin typeface="Calibri"/>
                <a:cs typeface="Calibri"/>
              </a:rPr>
              <a:t>compared</a:t>
            </a:r>
            <a:r>
              <a:rPr b="0" spc="-114" dirty="0">
                <a:solidFill>
                  <a:srgbClr val="374151"/>
                </a:solidFill>
                <a:latin typeface="Calibri"/>
                <a:cs typeface="Calibri"/>
              </a:rPr>
              <a:t> </a:t>
            </a:r>
            <a:r>
              <a:rPr b="0" dirty="0">
                <a:solidFill>
                  <a:srgbClr val="374151"/>
                </a:solidFill>
                <a:latin typeface="Calibri"/>
                <a:cs typeface="Calibri"/>
              </a:rPr>
              <a:t>to</a:t>
            </a:r>
            <a:r>
              <a:rPr b="0" spc="-100" dirty="0">
                <a:solidFill>
                  <a:srgbClr val="374151"/>
                </a:solidFill>
                <a:latin typeface="Calibri"/>
                <a:cs typeface="Calibri"/>
              </a:rPr>
              <a:t> </a:t>
            </a:r>
            <a:r>
              <a:rPr b="0" dirty="0">
                <a:solidFill>
                  <a:srgbClr val="374151"/>
                </a:solidFill>
                <a:latin typeface="Calibri"/>
                <a:cs typeface="Calibri"/>
              </a:rPr>
              <a:t>the</a:t>
            </a:r>
            <a:r>
              <a:rPr b="0" spc="-105" dirty="0">
                <a:solidFill>
                  <a:srgbClr val="374151"/>
                </a:solidFill>
                <a:latin typeface="Calibri"/>
                <a:cs typeface="Calibri"/>
              </a:rPr>
              <a:t> </a:t>
            </a:r>
            <a:r>
              <a:rPr b="0" dirty="0">
                <a:solidFill>
                  <a:srgbClr val="374151"/>
                </a:solidFill>
                <a:latin typeface="Calibri"/>
                <a:cs typeface="Calibri"/>
              </a:rPr>
              <a:t>input</a:t>
            </a:r>
            <a:r>
              <a:rPr b="0" spc="-90" dirty="0">
                <a:solidFill>
                  <a:srgbClr val="374151"/>
                </a:solidFill>
                <a:latin typeface="Calibri"/>
                <a:cs typeface="Calibri"/>
              </a:rPr>
              <a:t> </a:t>
            </a:r>
            <a:r>
              <a:rPr b="0" spc="-10" dirty="0">
                <a:solidFill>
                  <a:srgbClr val="374151"/>
                </a:solidFill>
                <a:latin typeface="Calibri"/>
                <a:cs typeface="Calibri"/>
              </a:rPr>
              <a:t>layer.</a:t>
            </a:r>
          </a:p>
        </p:txBody>
      </p:sp>
      <p:pic>
        <p:nvPicPr>
          <p:cNvPr id="6" name="object 6"/>
          <p:cNvPicPr/>
          <p:nvPr/>
        </p:nvPicPr>
        <p:blipFill>
          <a:blip r:embed="rId3" cstate="print"/>
          <a:stretch>
            <a:fillRect/>
          </a:stretch>
        </p:blipFill>
        <p:spPr>
          <a:xfrm>
            <a:off x="8300860" y="5560314"/>
            <a:ext cx="2657821" cy="342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54051"/>
            <a:ext cx="10535285" cy="1249045"/>
          </a:xfrm>
          <a:prstGeom prst="rect">
            <a:avLst/>
          </a:prstGeom>
        </p:spPr>
        <p:txBody>
          <a:bodyPr vert="horz" wrap="square" lIns="0" tIns="67310" rIns="0" bIns="0" rtlCol="0">
            <a:spAutoFit/>
          </a:bodyPr>
          <a:lstStyle/>
          <a:p>
            <a:pPr marL="12700" marR="5080">
              <a:lnSpc>
                <a:spcPts val="3470"/>
              </a:lnSpc>
              <a:spcBef>
                <a:spcPts val="530"/>
              </a:spcBef>
            </a:pPr>
            <a:r>
              <a:rPr b="0" spc="-20" dirty="0">
                <a:solidFill>
                  <a:srgbClr val="374151"/>
                </a:solidFill>
                <a:latin typeface="Calibri"/>
                <a:cs typeface="Calibri"/>
              </a:rPr>
              <a:t>Variations</a:t>
            </a:r>
            <a:r>
              <a:rPr b="0" spc="-35" dirty="0">
                <a:solidFill>
                  <a:srgbClr val="374151"/>
                </a:solidFill>
                <a:latin typeface="Calibri"/>
                <a:cs typeface="Calibri"/>
              </a:rPr>
              <a:t> </a:t>
            </a:r>
            <a:r>
              <a:rPr b="0" dirty="0">
                <a:solidFill>
                  <a:srgbClr val="374151"/>
                </a:solidFill>
                <a:latin typeface="Calibri"/>
                <a:cs typeface="Calibri"/>
              </a:rPr>
              <a:t>of</a:t>
            </a:r>
            <a:r>
              <a:rPr b="0" spc="-40" dirty="0">
                <a:solidFill>
                  <a:srgbClr val="374151"/>
                </a:solidFill>
                <a:latin typeface="Calibri"/>
                <a:cs typeface="Calibri"/>
              </a:rPr>
              <a:t> </a:t>
            </a:r>
            <a:r>
              <a:rPr b="0" spc="-10" dirty="0">
                <a:solidFill>
                  <a:srgbClr val="374151"/>
                </a:solidFill>
                <a:latin typeface="Calibri"/>
                <a:cs typeface="Calibri"/>
              </a:rPr>
              <a:t>autoencoders</a:t>
            </a:r>
            <a:r>
              <a:rPr b="0" spc="-40" dirty="0">
                <a:solidFill>
                  <a:srgbClr val="374151"/>
                </a:solidFill>
                <a:latin typeface="Calibri"/>
                <a:cs typeface="Calibri"/>
              </a:rPr>
              <a:t> </a:t>
            </a:r>
            <a:r>
              <a:rPr b="0" dirty="0">
                <a:solidFill>
                  <a:srgbClr val="374151"/>
                </a:solidFill>
                <a:latin typeface="Calibri"/>
                <a:cs typeface="Calibri"/>
              </a:rPr>
              <a:t>based</a:t>
            </a:r>
            <a:r>
              <a:rPr b="0" spc="-55" dirty="0">
                <a:solidFill>
                  <a:srgbClr val="374151"/>
                </a:solidFill>
                <a:latin typeface="Calibri"/>
                <a:cs typeface="Calibri"/>
              </a:rPr>
              <a:t> </a:t>
            </a:r>
            <a:r>
              <a:rPr b="0" dirty="0">
                <a:solidFill>
                  <a:srgbClr val="374151"/>
                </a:solidFill>
                <a:latin typeface="Calibri"/>
                <a:cs typeface="Calibri"/>
              </a:rPr>
              <a:t>on</a:t>
            </a:r>
            <a:r>
              <a:rPr b="0" spc="-35" dirty="0">
                <a:solidFill>
                  <a:srgbClr val="374151"/>
                </a:solidFill>
                <a:latin typeface="Calibri"/>
                <a:cs typeface="Calibri"/>
              </a:rPr>
              <a:t> </a:t>
            </a:r>
            <a:r>
              <a:rPr b="0" dirty="0">
                <a:solidFill>
                  <a:srgbClr val="374151"/>
                </a:solidFill>
                <a:latin typeface="Calibri"/>
                <a:cs typeface="Calibri"/>
              </a:rPr>
              <a:t>the</a:t>
            </a:r>
            <a:r>
              <a:rPr b="0" spc="-50" dirty="0">
                <a:solidFill>
                  <a:srgbClr val="374151"/>
                </a:solidFill>
                <a:latin typeface="Calibri"/>
                <a:cs typeface="Calibri"/>
              </a:rPr>
              <a:t> </a:t>
            </a:r>
            <a:r>
              <a:rPr b="0" dirty="0">
                <a:solidFill>
                  <a:srgbClr val="374151"/>
                </a:solidFill>
                <a:latin typeface="Calibri"/>
                <a:cs typeface="Calibri"/>
              </a:rPr>
              <a:t>dimensionality</a:t>
            </a:r>
            <a:r>
              <a:rPr b="0" spc="-10" dirty="0">
                <a:solidFill>
                  <a:srgbClr val="374151"/>
                </a:solidFill>
                <a:latin typeface="Calibri"/>
                <a:cs typeface="Calibri"/>
              </a:rPr>
              <a:t> </a:t>
            </a:r>
            <a:r>
              <a:rPr b="0" dirty="0">
                <a:solidFill>
                  <a:srgbClr val="374151"/>
                </a:solidFill>
                <a:latin typeface="Calibri"/>
                <a:cs typeface="Calibri"/>
              </a:rPr>
              <a:t>of</a:t>
            </a:r>
            <a:r>
              <a:rPr b="0" spc="-45" dirty="0">
                <a:solidFill>
                  <a:srgbClr val="374151"/>
                </a:solidFill>
                <a:latin typeface="Calibri"/>
                <a:cs typeface="Calibri"/>
              </a:rPr>
              <a:t> </a:t>
            </a:r>
            <a:r>
              <a:rPr b="0" spc="-10" dirty="0">
                <a:solidFill>
                  <a:srgbClr val="374151"/>
                </a:solidFill>
                <a:latin typeface="Calibri"/>
                <a:cs typeface="Calibri"/>
              </a:rPr>
              <a:t>their </a:t>
            </a:r>
            <a:r>
              <a:rPr b="0" dirty="0">
                <a:solidFill>
                  <a:srgbClr val="374151"/>
                </a:solidFill>
                <a:latin typeface="Calibri"/>
                <a:cs typeface="Calibri"/>
              </a:rPr>
              <a:t>latent</a:t>
            </a:r>
            <a:r>
              <a:rPr b="0" spc="-110" dirty="0">
                <a:solidFill>
                  <a:srgbClr val="374151"/>
                </a:solidFill>
                <a:latin typeface="Calibri"/>
                <a:cs typeface="Calibri"/>
              </a:rPr>
              <a:t> </a:t>
            </a:r>
            <a:r>
              <a:rPr b="0" dirty="0">
                <a:solidFill>
                  <a:srgbClr val="374151"/>
                </a:solidFill>
                <a:latin typeface="Calibri"/>
                <a:cs typeface="Calibri"/>
              </a:rPr>
              <a:t>(bottleneck)</a:t>
            </a:r>
            <a:r>
              <a:rPr b="0" spc="-100" dirty="0">
                <a:solidFill>
                  <a:srgbClr val="374151"/>
                </a:solidFill>
                <a:latin typeface="Calibri"/>
                <a:cs typeface="Calibri"/>
              </a:rPr>
              <a:t> </a:t>
            </a:r>
            <a:r>
              <a:rPr b="0" dirty="0">
                <a:solidFill>
                  <a:srgbClr val="374151"/>
                </a:solidFill>
                <a:latin typeface="Calibri"/>
                <a:cs typeface="Calibri"/>
              </a:rPr>
              <a:t>layer</a:t>
            </a:r>
            <a:r>
              <a:rPr b="0" spc="-120" dirty="0">
                <a:solidFill>
                  <a:srgbClr val="374151"/>
                </a:solidFill>
                <a:latin typeface="Calibri"/>
                <a:cs typeface="Calibri"/>
              </a:rPr>
              <a:t> </a:t>
            </a:r>
            <a:r>
              <a:rPr b="0" dirty="0">
                <a:solidFill>
                  <a:srgbClr val="374151"/>
                </a:solidFill>
                <a:latin typeface="Calibri"/>
                <a:cs typeface="Calibri"/>
              </a:rPr>
              <a:t>compared</a:t>
            </a:r>
            <a:r>
              <a:rPr b="0" spc="-114" dirty="0">
                <a:solidFill>
                  <a:srgbClr val="374151"/>
                </a:solidFill>
                <a:latin typeface="Calibri"/>
                <a:cs typeface="Calibri"/>
              </a:rPr>
              <a:t> </a:t>
            </a:r>
            <a:r>
              <a:rPr b="0" dirty="0">
                <a:solidFill>
                  <a:srgbClr val="374151"/>
                </a:solidFill>
                <a:latin typeface="Calibri"/>
                <a:cs typeface="Calibri"/>
              </a:rPr>
              <a:t>to</a:t>
            </a:r>
            <a:r>
              <a:rPr b="0" spc="-100" dirty="0">
                <a:solidFill>
                  <a:srgbClr val="374151"/>
                </a:solidFill>
                <a:latin typeface="Calibri"/>
                <a:cs typeface="Calibri"/>
              </a:rPr>
              <a:t> </a:t>
            </a:r>
            <a:r>
              <a:rPr b="0" dirty="0">
                <a:solidFill>
                  <a:srgbClr val="374151"/>
                </a:solidFill>
                <a:latin typeface="Calibri"/>
                <a:cs typeface="Calibri"/>
              </a:rPr>
              <a:t>the</a:t>
            </a:r>
            <a:r>
              <a:rPr b="0" spc="-105" dirty="0">
                <a:solidFill>
                  <a:srgbClr val="374151"/>
                </a:solidFill>
                <a:latin typeface="Calibri"/>
                <a:cs typeface="Calibri"/>
              </a:rPr>
              <a:t> </a:t>
            </a:r>
            <a:r>
              <a:rPr b="0" dirty="0">
                <a:solidFill>
                  <a:srgbClr val="374151"/>
                </a:solidFill>
                <a:latin typeface="Calibri"/>
                <a:cs typeface="Calibri"/>
              </a:rPr>
              <a:t>input</a:t>
            </a:r>
            <a:r>
              <a:rPr b="0" spc="-90" dirty="0">
                <a:solidFill>
                  <a:srgbClr val="374151"/>
                </a:solidFill>
                <a:latin typeface="Calibri"/>
                <a:cs typeface="Calibri"/>
              </a:rPr>
              <a:t> </a:t>
            </a:r>
            <a:r>
              <a:rPr b="0" spc="-10" dirty="0">
                <a:solidFill>
                  <a:srgbClr val="374151"/>
                </a:solidFill>
                <a:latin typeface="Calibri"/>
                <a:cs typeface="Calibri"/>
              </a:rPr>
              <a:t>layer.</a:t>
            </a:r>
          </a:p>
          <a:p>
            <a:pPr marL="5251450">
              <a:lnSpc>
                <a:spcPct val="100000"/>
              </a:lnSpc>
              <a:spcBef>
                <a:spcPts val="100"/>
              </a:spcBef>
            </a:pPr>
            <a:r>
              <a:rPr sz="1800" b="0" dirty="0">
                <a:latin typeface="Calibri"/>
                <a:cs typeface="Calibri"/>
              </a:rPr>
              <a:t>Larger</a:t>
            </a:r>
            <a:r>
              <a:rPr sz="1800" b="0" spc="-50" dirty="0">
                <a:latin typeface="Calibri"/>
                <a:cs typeface="Calibri"/>
              </a:rPr>
              <a:t> </a:t>
            </a:r>
            <a:r>
              <a:rPr sz="1800" b="0" dirty="0">
                <a:latin typeface="Calibri"/>
                <a:cs typeface="Calibri"/>
              </a:rPr>
              <a:t>Number</a:t>
            </a:r>
            <a:r>
              <a:rPr sz="1800" b="0" spc="-40" dirty="0">
                <a:latin typeface="Calibri"/>
                <a:cs typeface="Calibri"/>
              </a:rPr>
              <a:t> </a:t>
            </a:r>
            <a:r>
              <a:rPr sz="1800" b="0" dirty="0">
                <a:latin typeface="Calibri"/>
                <a:cs typeface="Calibri"/>
              </a:rPr>
              <a:t>of</a:t>
            </a:r>
            <a:r>
              <a:rPr sz="1800" b="0" spc="-50" dirty="0">
                <a:latin typeface="Calibri"/>
                <a:cs typeface="Calibri"/>
              </a:rPr>
              <a:t> </a:t>
            </a:r>
            <a:r>
              <a:rPr sz="1800" b="0" spc="-10" dirty="0">
                <a:latin typeface="Calibri"/>
                <a:cs typeface="Calibri"/>
              </a:rPr>
              <a:t>Parameters</a:t>
            </a:r>
            <a:r>
              <a:rPr sz="1800" b="0" spc="-35" dirty="0">
                <a:latin typeface="Calibri"/>
                <a:cs typeface="Calibri"/>
              </a:rPr>
              <a:t> </a:t>
            </a:r>
            <a:r>
              <a:rPr sz="1800" b="0" dirty="0">
                <a:latin typeface="Calibri"/>
                <a:cs typeface="Calibri"/>
              </a:rPr>
              <a:t>:</a:t>
            </a:r>
            <a:r>
              <a:rPr sz="1800" b="0" spc="-45" dirty="0">
                <a:latin typeface="Calibri"/>
                <a:cs typeface="Calibri"/>
              </a:rPr>
              <a:t> </a:t>
            </a:r>
            <a:r>
              <a:rPr sz="1800" b="0" spc="-10" dirty="0">
                <a:latin typeface="Calibri"/>
                <a:cs typeface="Calibri"/>
              </a:rPr>
              <a:t>Overfit</a:t>
            </a:r>
            <a:endParaRPr sz="1800">
              <a:latin typeface="Calibri"/>
              <a:cs typeface="Calibri"/>
            </a:endParaRPr>
          </a:p>
        </p:txBody>
      </p:sp>
      <p:sp>
        <p:nvSpPr>
          <p:cNvPr id="3" name="object 3"/>
          <p:cNvSpPr/>
          <p:nvPr/>
        </p:nvSpPr>
        <p:spPr>
          <a:xfrm>
            <a:off x="403859" y="1632204"/>
            <a:ext cx="4940935" cy="3970020"/>
          </a:xfrm>
          <a:custGeom>
            <a:avLst/>
            <a:gdLst/>
            <a:ahLst/>
            <a:cxnLst/>
            <a:rect l="l" t="t" r="r" b="b"/>
            <a:pathLst>
              <a:path w="4940935" h="3970020">
                <a:moveTo>
                  <a:pt x="4940808" y="0"/>
                </a:moveTo>
                <a:lnTo>
                  <a:pt x="0" y="0"/>
                </a:lnTo>
                <a:lnTo>
                  <a:pt x="0" y="3970020"/>
                </a:lnTo>
                <a:lnTo>
                  <a:pt x="4940808" y="3970020"/>
                </a:lnTo>
                <a:lnTo>
                  <a:pt x="4940808" y="0"/>
                </a:lnTo>
                <a:close/>
              </a:path>
            </a:pathLst>
          </a:custGeom>
          <a:solidFill>
            <a:srgbClr val="BCD6ED"/>
          </a:solidFill>
        </p:spPr>
        <p:txBody>
          <a:bodyPr wrap="square" lIns="0" tIns="0" rIns="0" bIns="0" rtlCol="0"/>
          <a:lstStyle/>
          <a:p>
            <a:endParaRPr/>
          </a:p>
        </p:txBody>
      </p:sp>
      <p:pic>
        <p:nvPicPr>
          <p:cNvPr id="4" name="object 4"/>
          <p:cNvPicPr/>
          <p:nvPr/>
        </p:nvPicPr>
        <p:blipFill>
          <a:blip r:embed="rId2" cstate="print"/>
          <a:stretch>
            <a:fillRect/>
          </a:stretch>
        </p:blipFill>
        <p:spPr>
          <a:xfrm>
            <a:off x="5674212" y="1395602"/>
            <a:ext cx="5809516" cy="3629025"/>
          </a:xfrm>
          <a:prstGeom prst="rect">
            <a:avLst/>
          </a:prstGeom>
        </p:spPr>
      </p:pic>
      <p:sp>
        <p:nvSpPr>
          <p:cNvPr id="5" name="object 5"/>
          <p:cNvSpPr txBox="1"/>
          <p:nvPr/>
        </p:nvSpPr>
        <p:spPr>
          <a:xfrm>
            <a:off x="495909" y="1649425"/>
            <a:ext cx="9861550" cy="4578350"/>
          </a:xfrm>
          <a:prstGeom prst="rect">
            <a:avLst/>
          </a:prstGeom>
        </p:spPr>
        <p:txBody>
          <a:bodyPr vert="horz" wrap="square" lIns="0" tIns="12700" rIns="0" bIns="0" rtlCol="0">
            <a:spAutoFit/>
          </a:bodyPr>
          <a:lstStyle/>
          <a:p>
            <a:pPr algn="just">
              <a:lnSpc>
                <a:spcPct val="100000"/>
              </a:lnSpc>
              <a:spcBef>
                <a:spcPts val="100"/>
              </a:spcBef>
            </a:pPr>
            <a:r>
              <a:rPr sz="1800" b="1" spc="-10" dirty="0">
                <a:solidFill>
                  <a:srgbClr val="374151"/>
                </a:solidFill>
                <a:latin typeface="Calibri"/>
                <a:cs typeface="Calibri"/>
              </a:rPr>
              <a:t>Overcomplete</a:t>
            </a:r>
            <a:r>
              <a:rPr sz="1800" b="1" spc="-20" dirty="0">
                <a:solidFill>
                  <a:srgbClr val="374151"/>
                </a:solidFill>
                <a:latin typeface="Calibri"/>
                <a:cs typeface="Calibri"/>
              </a:rPr>
              <a:t> </a:t>
            </a:r>
            <a:r>
              <a:rPr sz="1800" b="1" spc="-10" dirty="0">
                <a:solidFill>
                  <a:srgbClr val="374151"/>
                </a:solidFill>
                <a:latin typeface="Calibri"/>
                <a:cs typeface="Calibri"/>
              </a:rPr>
              <a:t>Autoencoder</a:t>
            </a:r>
            <a:r>
              <a:rPr sz="1800" spc="-10" dirty="0">
                <a:solidFill>
                  <a:srgbClr val="374151"/>
                </a:solidFill>
                <a:latin typeface="Calibri"/>
                <a:cs typeface="Calibri"/>
              </a:rPr>
              <a:t>:</a:t>
            </a:r>
            <a:endParaRPr sz="1800">
              <a:latin typeface="Calibri"/>
              <a:cs typeface="Calibri"/>
            </a:endParaRPr>
          </a:p>
          <a:p>
            <a:pPr marL="286385" marR="5095875" indent="-287020" algn="just">
              <a:lnSpc>
                <a:spcPct val="100000"/>
              </a:lnSpc>
              <a:spcBef>
                <a:spcPts val="5"/>
              </a:spcBef>
              <a:buFont typeface="Arial MT"/>
              <a:buChar char="•"/>
              <a:tabLst>
                <a:tab pos="286385" algn="l"/>
              </a:tabLst>
            </a:pPr>
            <a:r>
              <a:rPr sz="1800" dirty="0">
                <a:solidFill>
                  <a:srgbClr val="374151"/>
                </a:solidFill>
                <a:latin typeface="Calibri"/>
                <a:cs typeface="Calibri"/>
              </a:rPr>
              <a:t>In</a:t>
            </a:r>
            <a:r>
              <a:rPr sz="1800" spc="365" dirty="0">
                <a:solidFill>
                  <a:srgbClr val="374151"/>
                </a:solidFill>
                <a:latin typeface="Calibri"/>
                <a:cs typeface="Calibri"/>
              </a:rPr>
              <a:t>   </a:t>
            </a:r>
            <a:r>
              <a:rPr sz="1800" dirty="0">
                <a:solidFill>
                  <a:srgbClr val="374151"/>
                </a:solidFill>
                <a:latin typeface="Calibri"/>
                <a:cs typeface="Calibri"/>
              </a:rPr>
              <a:t>an</a:t>
            </a:r>
            <a:r>
              <a:rPr sz="1800" spc="370" dirty="0">
                <a:solidFill>
                  <a:srgbClr val="374151"/>
                </a:solidFill>
                <a:latin typeface="Calibri"/>
                <a:cs typeface="Calibri"/>
              </a:rPr>
              <a:t>   </a:t>
            </a:r>
            <a:r>
              <a:rPr sz="1800" dirty="0">
                <a:solidFill>
                  <a:srgbClr val="374151"/>
                </a:solidFill>
                <a:latin typeface="Calibri"/>
                <a:cs typeface="Calibri"/>
              </a:rPr>
              <a:t>overcomplete</a:t>
            </a:r>
            <a:r>
              <a:rPr sz="1800" spc="370" dirty="0">
                <a:solidFill>
                  <a:srgbClr val="374151"/>
                </a:solidFill>
                <a:latin typeface="Calibri"/>
                <a:cs typeface="Calibri"/>
              </a:rPr>
              <a:t>   </a:t>
            </a:r>
            <a:r>
              <a:rPr sz="1800" dirty="0">
                <a:solidFill>
                  <a:srgbClr val="374151"/>
                </a:solidFill>
                <a:latin typeface="Calibri"/>
                <a:cs typeface="Calibri"/>
              </a:rPr>
              <a:t>autoencoder,</a:t>
            </a:r>
            <a:r>
              <a:rPr sz="1800" spc="370" dirty="0">
                <a:solidFill>
                  <a:srgbClr val="374151"/>
                </a:solidFill>
                <a:latin typeface="Calibri"/>
                <a:cs typeface="Calibri"/>
              </a:rPr>
              <a:t>   </a:t>
            </a:r>
            <a:r>
              <a:rPr sz="1800" spc="-25" dirty="0">
                <a:solidFill>
                  <a:srgbClr val="374151"/>
                </a:solidFill>
                <a:latin typeface="Calibri"/>
                <a:cs typeface="Calibri"/>
              </a:rPr>
              <a:t>the </a:t>
            </a:r>
            <a:r>
              <a:rPr sz="1800" dirty="0">
                <a:solidFill>
                  <a:srgbClr val="374151"/>
                </a:solidFill>
                <a:latin typeface="Calibri"/>
                <a:cs typeface="Calibri"/>
              </a:rPr>
              <a:t>dimensionality</a:t>
            </a:r>
            <a:r>
              <a:rPr sz="1800" spc="40" dirty="0">
                <a:solidFill>
                  <a:srgbClr val="374151"/>
                </a:solidFill>
                <a:latin typeface="Calibri"/>
                <a:cs typeface="Calibri"/>
              </a:rPr>
              <a:t> </a:t>
            </a:r>
            <a:r>
              <a:rPr sz="1800" dirty="0">
                <a:solidFill>
                  <a:srgbClr val="374151"/>
                </a:solidFill>
                <a:latin typeface="Calibri"/>
                <a:cs typeface="Calibri"/>
              </a:rPr>
              <a:t>of</a:t>
            </a:r>
            <a:r>
              <a:rPr sz="1800" spc="35" dirty="0">
                <a:solidFill>
                  <a:srgbClr val="374151"/>
                </a:solidFill>
                <a:latin typeface="Calibri"/>
                <a:cs typeface="Calibri"/>
              </a:rPr>
              <a:t> </a:t>
            </a:r>
            <a:r>
              <a:rPr sz="1800" dirty="0">
                <a:solidFill>
                  <a:srgbClr val="374151"/>
                </a:solidFill>
                <a:latin typeface="Calibri"/>
                <a:cs typeface="Calibri"/>
              </a:rPr>
              <a:t>the</a:t>
            </a:r>
            <a:r>
              <a:rPr sz="1800" spc="40" dirty="0">
                <a:solidFill>
                  <a:srgbClr val="374151"/>
                </a:solidFill>
                <a:latin typeface="Calibri"/>
                <a:cs typeface="Calibri"/>
              </a:rPr>
              <a:t> </a:t>
            </a:r>
            <a:r>
              <a:rPr sz="1800" dirty="0">
                <a:solidFill>
                  <a:srgbClr val="374151"/>
                </a:solidFill>
                <a:latin typeface="Calibri"/>
                <a:cs typeface="Calibri"/>
              </a:rPr>
              <a:t>latent</a:t>
            </a:r>
            <a:r>
              <a:rPr sz="1800" spc="45" dirty="0">
                <a:solidFill>
                  <a:srgbClr val="374151"/>
                </a:solidFill>
                <a:latin typeface="Calibri"/>
                <a:cs typeface="Calibri"/>
              </a:rPr>
              <a:t> </a:t>
            </a:r>
            <a:r>
              <a:rPr sz="1800" dirty="0">
                <a:solidFill>
                  <a:srgbClr val="374151"/>
                </a:solidFill>
                <a:latin typeface="Calibri"/>
                <a:cs typeface="Calibri"/>
              </a:rPr>
              <a:t>layer</a:t>
            </a:r>
            <a:r>
              <a:rPr sz="1800" spc="25" dirty="0">
                <a:solidFill>
                  <a:srgbClr val="374151"/>
                </a:solidFill>
                <a:latin typeface="Calibri"/>
                <a:cs typeface="Calibri"/>
              </a:rPr>
              <a:t> </a:t>
            </a:r>
            <a:r>
              <a:rPr sz="1800" dirty="0">
                <a:solidFill>
                  <a:srgbClr val="374151"/>
                </a:solidFill>
                <a:latin typeface="Calibri"/>
                <a:cs typeface="Calibri"/>
              </a:rPr>
              <a:t>is</a:t>
            </a:r>
            <a:r>
              <a:rPr sz="1800" spc="40" dirty="0">
                <a:solidFill>
                  <a:srgbClr val="374151"/>
                </a:solidFill>
                <a:latin typeface="Calibri"/>
                <a:cs typeface="Calibri"/>
              </a:rPr>
              <a:t> </a:t>
            </a:r>
            <a:r>
              <a:rPr sz="1800" dirty="0">
                <a:solidFill>
                  <a:srgbClr val="374151"/>
                </a:solidFill>
                <a:latin typeface="Calibri"/>
                <a:cs typeface="Calibri"/>
              </a:rPr>
              <a:t>higher</a:t>
            </a:r>
            <a:r>
              <a:rPr sz="1800" spc="50" dirty="0">
                <a:solidFill>
                  <a:srgbClr val="374151"/>
                </a:solidFill>
                <a:latin typeface="Calibri"/>
                <a:cs typeface="Calibri"/>
              </a:rPr>
              <a:t> </a:t>
            </a:r>
            <a:r>
              <a:rPr sz="1800" spc="-20" dirty="0">
                <a:solidFill>
                  <a:srgbClr val="374151"/>
                </a:solidFill>
                <a:latin typeface="Calibri"/>
                <a:cs typeface="Calibri"/>
              </a:rPr>
              <a:t>than </a:t>
            </a:r>
            <a:r>
              <a:rPr sz="1800" dirty="0">
                <a:solidFill>
                  <a:srgbClr val="374151"/>
                </a:solidFill>
                <a:latin typeface="Calibri"/>
                <a:cs typeface="Calibri"/>
              </a:rPr>
              <a:t>the</a:t>
            </a:r>
            <a:r>
              <a:rPr sz="1800" spc="-5" dirty="0">
                <a:solidFill>
                  <a:srgbClr val="374151"/>
                </a:solidFill>
                <a:latin typeface="Calibri"/>
                <a:cs typeface="Calibri"/>
              </a:rPr>
              <a:t> </a:t>
            </a:r>
            <a:r>
              <a:rPr sz="1800" spc="-10" dirty="0">
                <a:solidFill>
                  <a:srgbClr val="374151"/>
                </a:solidFill>
                <a:latin typeface="Calibri"/>
                <a:cs typeface="Calibri"/>
              </a:rPr>
              <a:t>dimensionality </a:t>
            </a:r>
            <a:r>
              <a:rPr sz="1800" dirty="0">
                <a:solidFill>
                  <a:srgbClr val="374151"/>
                </a:solidFill>
                <a:latin typeface="Calibri"/>
                <a:cs typeface="Calibri"/>
              </a:rPr>
              <a:t>of</a:t>
            </a:r>
            <a:r>
              <a:rPr sz="1800" spc="-20" dirty="0">
                <a:solidFill>
                  <a:srgbClr val="374151"/>
                </a:solidFill>
                <a:latin typeface="Calibri"/>
                <a:cs typeface="Calibri"/>
              </a:rPr>
              <a:t> </a:t>
            </a:r>
            <a:r>
              <a:rPr sz="1800" dirty="0">
                <a:solidFill>
                  <a:srgbClr val="374151"/>
                </a:solidFill>
                <a:latin typeface="Calibri"/>
                <a:cs typeface="Calibri"/>
              </a:rPr>
              <a:t>the</a:t>
            </a:r>
            <a:r>
              <a:rPr sz="1800" spc="-5" dirty="0">
                <a:solidFill>
                  <a:srgbClr val="374151"/>
                </a:solidFill>
                <a:latin typeface="Calibri"/>
                <a:cs typeface="Calibri"/>
              </a:rPr>
              <a:t> </a:t>
            </a:r>
            <a:r>
              <a:rPr sz="1800" dirty="0">
                <a:solidFill>
                  <a:srgbClr val="374151"/>
                </a:solidFill>
                <a:latin typeface="Calibri"/>
                <a:cs typeface="Calibri"/>
              </a:rPr>
              <a:t>input</a:t>
            </a:r>
            <a:r>
              <a:rPr sz="1800" spc="-10" dirty="0">
                <a:solidFill>
                  <a:srgbClr val="374151"/>
                </a:solidFill>
                <a:latin typeface="Calibri"/>
                <a:cs typeface="Calibri"/>
              </a:rPr>
              <a:t> layer.</a:t>
            </a:r>
            <a:endParaRPr sz="1800">
              <a:latin typeface="Calibri"/>
              <a:cs typeface="Calibri"/>
            </a:endParaRPr>
          </a:p>
          <a:p>
            <a:pPr marL="286385" marR="5095875" indent="-287020" algn="just">
              <a:lnSpc>
                <a:spcPct val="100000"/>
              </a:lnSpc>
              <a:buFont typeface="Arial MT"/>
              <a:buChar char="•"/>
              <a:tabLst>
                <a:tab pos="286385" algn="l"/>
              </a:tabLst>
            </a:pPr>
            <a:r>
              <a:rPr sz="1800" dirty="0">
                <a:solidFill>
                  <a:srgbClr val="374151"/>
                </a:solidFill>
                <a:latin typeface="Calibri"/>
                <a:cs typeface="Calibri"/>
              </a:rPr>
              <a:t>This</a:t>
            </a:r>
            <a:r>
              <a:rPr sz="1800" spc="150" dirty="0">
                <a:solidFill>
                  <a:srgbClr val="374151"/>
                </a:solidFill>
                <a:latin typeface="Calibri"/>
                <a:cs typeface="Calibri"/>
              </a:rPr>
              <a:t> </a:t>
            </a:r>
            <a:r>
              <a:rPr sz="1800" dirty="0">
                <a:solidFill>
                  <a:srgbClr val="374151"/>
                </a:solidFill>
                <a:latin typeface="Calibri"/>
                <a:cs typeface="Calibri"/>
              </a:rPr>
              <a:t>means</a:t>
            </a:r>
            <a:r>
              <a:rPr sz="1800" spc="160" dirty="0">
                <a:solidFill>
                  <a:srgbClr val="374151"/>
                </a:solidFill>
                <a:latin typeface="Calibri"/>
                <a:cs typeface="Calibri"/>
              </a:rPr>
              <a:t> </a:t>
            </a:r>
            <a:r>
              <a:rPr sz="1800" dirty="0">
                <a:solidFill>
                  <a:srgbClr val="374151"/>
                </a:solidFill>
                <a:latin typeface="Calibri"/>
                <a:cs typeface="Calibri"/>
              </a:rPr>
              <a:t>that</a:t>
            </a:r>
            <a:r>
              <a:rPr sz="1800" spc="150" dirty="0">
                <a:solidFill>
                  <a:srgbClr val="374151"/>
                </a:solidFill>
                <a:latin typeface="Calibri"/>
                <a:cs typeface="Calibri"/>
              </a:rPr>
              <a:t> </a:t>
            </a:r>
            <a:r>
              <a:rPr sz="1800" dirty="0">
                <a:solidFill>
                  <a:srgbClr val="374151"/>
                </a:solidFill>
                <a:latin typeface="Calibri"/>
                <a:cs typeface="Calibri"/>
              </a:rPr>
              <a:t>the</a:t>
            </a:r>
            <a:r>
              <a:rPr sz="1800" spc="155" dirty="0">
                <a:solidFill>
                  <a:srgbClr val="374151"/>
                </a:solidFill>
                <a:latin typeface="Calibri"/>
                <a:cs typeface="Calibri"/>
              </a:rPr>
              <a:t> </a:t>
            </a:r>
            <a:r>
              <a:rPr sz="1800" dirty="0">
                <a:solidFill>
                  <a:srgbClr val="374151"/>
                </a:solidFill>
                <a:latin typeface="Calibri"/>
                <a:cs typeface="Calibri"/>
              </a:rPr>
              <a:t>number</a:t>
            </a:r>
            <a:r>
              <a:rPr sz="1800" spc="155" dirty="0">
                <a:solidFill>
                  <a:srgbClr val="374151"/>
                </a:solidFill>
                <a:latin typeface="Calibri"/>
                <a:cs typeface="Calibri"/>
              </a:rPr>
              <a:t> </a:t>
            </a:r>
            <a:r>
              <a:rPr sz="1800" dirty="0">
                <a:solidFill>
                  <a:srgbClr val="374151"/>
                </a:solidFill>
                <a:latin typeface="Calibri"/>
                <a:cs typeface="Calibri"/>
              </a:rPr>
              <a:t>of</a:t>
            </a:r>
            <a:r>
              <a:rPr sz="1800" spc="180" dirty="0">
                <a:solidFill>
                  <a:srgbClr val="374151"/>
                </a:solidFill>
                <a:latin typeface="Calibri"/>
                <a:cs typeface="Calibri"/>
              </a:rPr>
              <a:t> </a:t>
            </a:r>
            <a:r>
              <a:rPr sz="1800" dirty="0">
                <a:solidFill>
                  <a:srgbClr val="374151"/>
                </a:solidFill>
                <a:latin typeface="Calibri"/>
                <a:cs typeface="Calibri"/>
              </a:rPr>
              <a:t>neurons</a:t>
            </a:r>
            <a:r>
              <a:rPr sz="1800" spc="155" dirty="0">
                <a:solidFill>
                  <a:srgbClr val="374151"/>
                </a:solidFill>
                <a:latin typeface="Calibri"/>
                <a:cs typeface="Calibri"/>
              </a:rPr>
              <a:t> </a:t>
            </a:r>
            <a:r>
              <a:rPr sz="1800" dirty="0">
                <a:solidFill>
                  <a:srgbClr val="374151"/>
                </a:solidFill>
                <a:latin typeface="Calibri"/>
                <a:cs typeface="Calibri"/>
              </a:rPr>
              <a:t>in</a:t>
            </a:r>
            <a:r>
              <a:rPr sz="1800" spc="155" dirty="0">
                <a:solidFill>
                  <a:srgbClr val="374151"/>
                </a:solidFill>
                <a:latin typeface="Calibri"/>
                <a:cs typeface="Calibri"/>
              </a:rPr>
              <a:t> </a:t>
            </a:r>
            <a:r>
              <a:rPr sz="1800" spc="-25" dirty="0">
                <a:solidFill>
                  <a:srgbClr val="374151"/>
                </a:solidFill>
                <a:latin typeface="Calibri"/>
                <a:cs typeface="Calibri"/>
              </a:rPr>
              <a:t>the </a:t>
            </a:r>
            <a:r>
              <a:rPr sz="1800" dirty="0">
                <a:solidFill>
                  <a:srgbClr val="374151"/>
                </a:solidFill>
                <a:latin typeface="Calibri"/>
                <a:cs typeface="Calibri"/>
              </a:rPr>
              <a:t>latent</a:t>
            </a:r>
            <a:r>
              <a:rPr sz="1800" spc="200" dirty="0">
                <a:solidFill>
                  <a:srgbClr val="374151"/>
                </a:solidFill>
                <a:latin typeface="Calibri"/>
                <a:cs typeface="Calibri"/>
              </a:rPr>
              <a:t>  </a:t>
            </a:r>
            <a:r>
              <a:rPr sz="1800" dirty="0">
                <a:solidFill>
                  <a:srgbClr val="374151"/>
                </a:solidFill>
                <a:latin typeface="Calibri"/>
                <a:cs typeface="Calibri"/>
              </a:rPr>
              <a:t>layer</a:t>
            </a:r>
            <a:r>
              <a:rPr sz="1800" spc="204" dirty="0">
                <a:solidFill>
                  <a:srgbClr val="374151"/>
                </a:solidFill>
                <a:latin typeface="Calibri"/>
                <a:cs typeface="Calibri"/>
              </a:rPr>
              <a:t>  </a:t>
            </a:r>
            <a:r>
              <a:rPr sz="1800" dirty="0">
                <a:solidFill>
                  <a:srgbClr val="374151"/>
                </a:solidFill>
                <a:latin typeface="Calibri"/>
                <a:cs typeface="Calibri"/>
              </a:rPr>
              <a:t>is</a:t>
            </a:r>
            <a:r>
              <a:rPr sz="1800" spc="210" dirty="0">
                <a:solidFill>
                  <a:srgbClr val="374151"/>
                </a:solidFill>
                <a:latin typeface="Calibri"/>
                <a:cs typeface="Calibri"/>
              </a:rPr>
              <a:t>  </a:t>
            </a:r>
            <a:r>
              <a:rPr sz="1800" dirty="0">
                <a:solidFill>
                  <a:srgbClr val="374151"/>
                </a:solidFill>
                <a:latin typeface="Calibri"/>
                <a:cs typeface="Calibri"/>
              </a:rPr>
              <a:t>larger</a:t>
            </a:r>
            <a:r>
              <a:rPr sz="1800" spc="204" dirty="0">
                <a:solidFill>
                  <a:srgbClr val="374151"/>
                </a:solidFill>
                <a:latin typeface="Calibri"/>
                <a:cs typeface="Calibri"/>
              </a:rPr>
              <a:t>  </a:t>
            </a:r>
            <a:r>
              <a:rPr sz="1800" dirty="0">
                <a:solidFill>
                  <a:srgbClr val="374151"/>
                </a:solidFill>
                <a:latin typeface="Calibri"/>
                <a:cs typeface="Calibri"/>
              </a:rPr>
              <a:t>than</a:t>
            </a:r>
            <a:r>
              <a:rPr sz="1800" spc="204" dirty="0">
                <a:solidFill>
                  <a:srgbClr val="374151"/>
                </a:solidFill>
                <a:latin typeface="Calibri"/>
                <a:cs typeface="Calibri"/>
              </a:rPr>
              <a:t>  </a:t>
            </a:r>
            <a:r>
              <a:rPr sz="1800" dirty="0">
                <a:solidFill>
                  <a:srgbClr val="374151"/>
                </a:solidFill>
                <a:latin typeface="Calibri"/>
                <a:cs typeface="Calibri"/>
              </a:rPr>
              <a:t>the</a:t>
            </a:r>
            <a:r>
              <a:rPr sz="1800" spc="204" dirty="0">
                <a:solidFill>
                  <a:srgbClr val="374151"/>
                </a:solidFill>
                <a:latin typeface="Calibri"/>
                <a:cs typeface="Calibri"/>
              </a:rPr>
              <a:t>  </a:t>
            </a:r>
            <a:r>
              <a:rPr sz="1800" dirty="0">
                <a:solidFill>
                  <a:srgbClr val="374151"/>
                </a:solidFill>
                <a:latin typeface="Calibri"/>
                <a:cs typeface="Calibri"/>
              </a:rPr>
              <a:t>number</a:t>
            </a:r>
            <a:r>
              <a:rPr sz="1800" spc="204" dirty="0">
                <a:solidFill>
                  <a:srgbClr val="374151"/>
                </a:solidFill>
                <a:latin typeface="Calibri"/>
                <a:cs typeface="Calibri"/>
              </a:rPr>
              <a:t>  </a:t>
            </a:r>
            <a:r>
              <a:rPr sz="1800" spc="-25" dirty="0">
                <a:solidFill>
                  <a:srgbClr val="374151"/>
                </a:solidFill>
                <a:latin typeface="Calibri"/>
                <a:cs typeface="Calibri"/>
              </a:rPr>
              <a:t>of </a:t>
            </a:r>
            <a:r>
              <a:rPr sz="1800" dirty="0">
                <a:solidFill>
                  <a:srgbClr val="374151"/>
                </a:solidFill>
                <a:latin typeface="Calibri"/>
                <a:cs typeface="Calibri"/>
              </a:rPr>
              <a:t>neurons</a:t>
            </a:r>
            <a:r>
              <a:rPr sz="1800" spc="-40" dirty="0">
                <a:solidFill>
                  <a:srgbClr val="374151"/>
                </a:solidFill>
                <a:latin typeface="Calibri"/>
                <a:cs typeface="Calibri"/>
              </a:rPr>
              <a:t> </a:t>
            </a:r>
            <a:r>
              <a:rPr sz="1800" dirty="0">
                <a:solidFill>
                  <a:srgbClr val="374151"/>
                </a:solidFill>
                <a:latin typeface="Calibri"/>
                <a:cs typeface="Calibri"/>
              </a:rPr>
              <a:t>in</a:t>
            </a:r>
            <a:r>
              <a:rPr sz="1800" spc="-35" dirty="0">
                <a:solidFill>
                  <a:srgbClr val="374151"/>
                </a:solidFill>
                <a:latin typeface="Calibri"/>
                <a:cs typeface="Calibri"/>
              </a:rPr>
              <a:t> </a:t>
            </a:r>
            <a:r>
              <a:rPr sz="1800" dirty="0">
                <a:solidFill>
                  <a:srgbClr val="374151"/>
                </a:solidFill>
                <a:latin typeface="Calibri"/>
                <a:cs typeface="Calibri"/>
              </a:rPr>
              <a:t>the</a:t>
            </a:r>
            <a:r>
              <a:rPr sz="1800" spc="-40" dirty="0">
                <a:solidFill>
                  <a:srgbClr val="374151"/>
                </a:solidFill>
                <a:latin typeface="Calibri"/>
                <a:cs typeface="Calibri"/>
              </a:rPr>
              <a:t> </a:t>
            </a:r>
            <a:r>
              <a:rPr sz="1800" dirty="0">
                <a:solidFill>
                  <a:srgbClr val="374151"/>
                </a:solidFill>
                <a:latin typeface="Calibri"/>
                <a:cs typeface="Calibri"/>
              </a:rPr>
              <a:t>input</a:t>
            </a:r>
            <a:r>
              <a:rPr sz="1800" spc="-20" dirty="0">
                <a:solidFill>
                  <a:srgbClr val="374151"/>
                </a:solidFill>
                <a:latin typeface="Calibri"/>
                <a:cs typeface="Calibri"/>
              </a:rPr>
              <a:t> </a:t>
            </a:r>
            <a:r>
              <a:rPr sz="1800" spc="-10" dirty="0">
                <a:solidFill>
                  <a:srgbClr val="374151"/>
                </a:solidFill>
                <a:latin typeface="Calibri"/>
                <a:cs typeface="Calibri"/>
              </a:rPr>
              <a:t>layer.</a:t>
            </a:r>
            <a:endParaRPr sz="1800">
              <a:latin typeface="Calibri"/>
              <a:cs typeface="Calibri"/>
            </a:endParaRPr>
          </a:p>
          <a:p>
            <a:pPr marL="286385" marR="5095240" indent="-287020" algn="just">
              <a:lnSpc>
                <a:spcPct val="100000"/>
              </a:lnSpc>
              <a:buFont typeface="Arial MT"/>
              <a:buChar char="•"/>
              <a:tabLst>
                <a:tab pos="286385" algn="l"/>
              </a:tabLst>
            </a:pPr>
            <a:r>
              <a:rPr sz="1800" dirty="0">
                <a:solidFill>
                  <a:srgbClr val="374151"/>
                </a:solidFill>
                <a:latin typeface="Calibri"/>
                <a:cs typeface="Calibri"/>
              </a:rPr>
              <a:t>Overcomplete</a:t>
            </a:r>
            <a:r>
              <a:rPr sz="1800" spc="380" dirty="0">
                <a:solidFill>
                  <a:srgbClr val="374151"/>
                </a:solidFill>
                <a:latin typeface="Calibri"/>
                <a:cs typeface="Calibri"/>
              </a:rPr>
              <a:t>   </a:t>
            </a:r>
            <a:r>
              <a:rPr sz="1800" dirty="0">
                <a:solidFill>
                  <a:srgbClr val="374151"/>
                </a:solidFill>
                <a:latin typeface="Calibri"/>
                <a:cs typeface="Calibri"/>
              </a:rPr>
              <a:t>autoencoders</a:t>
            </a:r>
            <a:r>
              <a:rPr sz="1800" spc="380" dirty="0">
                <a:solidFill>
                  <a:srgbClr val="374151"/>
                </a:solidFill>
                <a:latin typeface="Calibri"/>
                <a:cs typeface="Calibri"/>
              </a:rPr>
              <a:t>   </a:t>
            </a:r>
            <a:r>
              <a:rPr sz="1800" dirty="0">
                <a:solidFill>
                  <a:srgbClr val="374151"/>
                </a:solidFill>
                <a:latin typeface="Calibri"/>
                <a:cs typeface="Calibri"/>
              </a:rPr>
              <a:t>have</a:t>
            </a:r>
            <a:r>
              <a:rPr sz="1800" spc="380" dirty="0">
                <a:solidFill>
                  <a:srgbClr val="374151"/>
                </a:solidFill>
                <a:latin typeface="Calibri"/>
                <a:cs typeface="Calibri"/>
              </a:rPr>
              <a:t>   </a:t>
            </a:r>
            <a:r>
              <a:rPr sz="1800" spc="-20" dirty="0">
                <a:solidFill>
                  <a:srgbClr val="374151"/>
                </a:solidFill>
                <a:latin typeface="Calibri"/>
                <a:cs typeface="Calibri"/>
              </a:rPr>
              <a:t>more </a:t>
            </a:r>
            <a:r>
              <a:rPr sz="1800" spc="-10" dirty="0">
                <a:solidFill>
                  <a:srgbClr val="374151"/>
                </a:solidFill>
                <a:latin typeface="Calibri"/>
                <a:cs typeface="Calibri"/>
              </a:rPr>
              <a:t>parameters </a:t>
            </a:r>
            <a:r>
              <a:rPr sz="1800" dirty="0">
                <a:solidFill>
                  <a:srgbClr val="374151"/>
                </a:solidFill>
                <a:latin typeface="Calibri"/>
                <a:cs typeface="Calibri"/>
              </a:rPr>
              <a:t>and</a:t>
            </a:r>
            <a:r>
              <a:rPr sz="1800" spc="-5" dirty="0">
                <a:solidFill>
                  <a:srgbClr val="374151"/>
                </a:solidFill>
                <a:latin typeface="Calibri"/>
                <a:cs typeface="Calibri"/>
              </a:rPr>
              <a:t> </a:t>
            </a:r>
            <a:r>
              <a:rPr sz="1800" dirty="0">
                <a:solidFill>
                  <a:srgbClr val="374151"/>
                </a:solidFill>
                <a:latin typeface="Calibri"/>
                <a:cs typeface="Calibri"/>
              </a:rPr>
              <a:t>capacity</a:t>
            </a:r>
            <a:r>
              <a:rPr sz="1800" spc="-15" dirty="0">
                <a:solidFill>
                  <a:srgbClr val="374151"/>
                </a:solidFill>
                <a:latin typeface="Calibri"/>
                <a:cs typeface="Calibri"/>
              </a:rPr>
              <a:t> </a:t>
            </a:r>
            <a:r>
              <a:rPr sz="1800" dirty="0">
                <a:solidFill>
                  <a:srgbClr val="374151"/>
                </a:solidFill>
                <a:latin typeface="Calibri"/>
                <a:cs typeface="Calibri"/>
              </a:rPr>
              <a:t>to</a:t>
            </a:r>
            <a:r>
              <a:rPr sz="1800" spc="-15" dirty="0">
                <a:solidFill>
                  <a:srgbClr val="374151"/>
                </a:solidFill>
                <a:latin typeface="Calibri"/>
                <a:cs typeface="Calibri"/>
              </a:rPr>
              <a:t> </a:t>
            </a:r>
            <a:r>
              <a:rPr sz="1800" dirty="0">
                <a:solidFill>
                  <a:srgbClr val="374151"/>
                </a:solidFill>
                <a:latin typeface="Calibri"/>
                <a:cs typeface="Calibri"/>
              </a:rPr>
              <a:t>learn</a:t>
            </a:r>
            <a:r>
              <a:rPr sz="1800" spc="5" dirty="0">
                <a:solidFill>
                  <a:srgbClr val="374151"/>
                </a:solidFill>
                <a:latin typeface="Calibri"/>
                <a:cs typeface="Calibri"/>
              </a:rPr>
              <a:t> </a:t>
            </a:r>
            <a:r>
              <a:rPr sz="1800" dirty="0">
                <a:solidFill>
                  <a:srgbClr val="374151"/>
                </a:solidFill>
                <a:latin typeface="Calibri"/>
                <a:cs typeface="Calibri"/>
              </a:rPr>
              <a:t>than</a:t>
            </a:r>
            <a:r>
              <a:rPr sz="1800" spc="-10" dirty="0">
                <a:solidFill>
                  <a:srgbClr val="374151"/>
                </a:solidFill>
                <a:latin typeface="Calibri"/>
                <a:cs typeface="Calibri"/>
              </a:rPr>
              <a:t> </a:t>
            </a:r>
            <a:r>
              <a:rPr sz="1800" dirty="0">
                <a:solidFill>
                  <a:srgbClr val="374151"/>
                </a:solidFill>
                <a:latin typeface="Calibri"/>
                <a:cs typeface="Calibri"/>
              </a:rPr>
              <a:t>the</a:t>
            </a:r>
            <a:r>
              <a:rPr sz="1800" spc="-10" dirty="0">
                <a:solidFill>
                  <a:srgbClr val="374151"/>
                </a:solidFill>
                <a:latin typeface="Calibri"/>
                <a:cs typeface="Calibri"/>
              </a:rPr>
              <a:t> input </a:t>
            </a:r>
            <a:r>
              <a:rPr sz="1800" dirty="0">
                <a:solidFill>
                  <a:srgbClr val="374151"/>
                </a:solidFill>
                <a:latin typeface="Calibri"/>
                <a:cs typeface="Calibri"/>
              </a:rPr>
              <a:t>data,</a:t>
            </a:r>
            <a:r>
              <a:rPr sz="1800" spc="-55" dirty="0">
                <a:solidFill>
                  <a:srgbClr val="374151"/>
                </a:solidFill>
                <a:latin typeface="Calibri"/>
                <a:cs typeface="Calibri"/>
              </a:rPr>
              <a:t> </a:t>
            </a:r>
            <a:r>
              <a:rPr sz="1800" dirty="0">
                <a:solidFill>
                  <a:srgbClr val="374151"/>
                </a:solidFill>
                <a:latin typeface="Calibri"/>
                <a:cs typeface="Calibri"/>
              </a:rPr>
              <a:t>which</a:t>
            </a:r>
            <a:r>
              <a:rPr sz="1800" spc="-50" dirty="0">
                <a:solidFill>
                  <a:srgbClr val="374151"/>
                </a:solidFill>
                <a:latin typeface="Calibri"/>
                <a:cs typeface="Calibri"/>
              </a:rPr>
              <a:t> </a:t>
            </a:r>
            <a:r>
              <a:rPr sz="1800" dirty="0">
                <a:solidFill>
                  <a:srgbClr val="374151"/>
                </a:solidFill>
                <a:latin typeface="Calibri"/>
                <a:cs typeface="Calibri"/>
              </a:rPr>
              <a:t>can</a:t>
            </a:r>
            <a:r>
              <a:rPr sz="1800" spc="-35" dirty="0">
                <a:solidFill>
                  <a:srgbClr val="374151"/>
                </a:solidFill>
                <a:latin typeface="Calibri"/>
                <a:cs typeface="Calibri"/>
              </a:rPr>
              <a:t> </a:t>
            </a:r>
            <a:r>
              <a:rPr sz="1800" dirty="0">
                <a:solidFill>
                  <a:srgbClr val="374151"/>
                </a:solidFill>
                <a:latin typeface="Calibri"/>
                <a:cs typeface="Calibri"/>
              </a:rPr>
              <a:t>potentially</a:t>
            </a:r>
            <a:r>
              <a:rPr sz="1800" spc="-40" dirty="0">
                <a:solidFill>
                  <a:srgbClr val="374151"/>
                </a:solidFill>
                <a:latin typeface="Calibri"/>
                <a:cs typeface="Calibri"/>
              </a:rPr>
              <a:t> </a:t>
            </a:r>
            <a:r>
              <a:rPr sz="1800" dirty="0">
                <a:solidFill>
                  <a:srgbClr val="374151"/>
                </a:solidFill>
                <a:latin typeface="Calibri"/>
                <a:cs typeface="Calibri"/>
              </a:rPr>
              <a:t>lead</a:t>
            </a:r>
            <a:r>
              <a:rPr sz="1800" spc="-35" dirty="0">
                <a:solidFill>
                  <a:srgbClr val="374151"/>
                </a:solidFill>
                <a:latin typeface="Calibri"/>
                <a:cs typeface="Calibri"/>
              </a:rPr>
              <a:t> </a:t>
            </a:r>
            <a:r>
              <a:rPr sz="1800" dirty="0">
                <a:solidFill>
                  <a:srgbClr val="374151"/>
                </a:solidFill>
                <a:latin typeface="Calibri"/>
                <a:cs typeface="Calibri"/>
              </a:rPr>
              <a:t>to</a:t>
            </a:r>
            <a:r>
              <a:rPr sz="1800" spc="-60" dirty="0">
                <a:solidFill>
                  <a:srgbClr val="374151"/>
                </a:solidFill>
                <a:latin typeface="Calibri"/>
                <a:cs typeface="Calibri"/>
              </a:rPr>
              <a:t> </a:t>
            </a:r>
            <a:r>
              <a:rPr sz="1800" spc="-10" dirty="0">
                <a:solidFill>
                  <a:srgbClr val="374151"/>
                </a:solidFill>
                <a:latin typeface="Calibri"/>
                <a:cs typeface="Calibri"/>
              </a:rPr>
              <a:t>overfitting.</a:t>
            </a:r>
            <a:endParaRPr sz="1800">
              <a:latin typeface="Calibri"/>
              <a:cs typeface="Calibri"/>
            </a:endParaRPr>
          </a:p>
          <a:p>
            <a:pPr marL="286385" marR="5094605" indent="-287020" algn="just">
              <a:lnSpc>
                <a:spcPct val="100000"/>
              </a:lnSpc>
              <a:buFont typeface="Arial MT"/>
              <a:buChar char="•"/>
              <a:tabLst>
                <a:tab pos="286385" algn="l"/>
                <a:tab pos="337185" algn="l"/>
              </a:tabLst>
            </a:pPr>
            <a:r>
              <a:rPr sz="1800" dirty="0">
                <a:solidFill>
                  <a:srgbClr val="374151"/>
                </a:solidFill>
                <a:latin typeface="Calibri"/>
                <a:cs typeface="Calibri"/>
              </a:rPr>
              <a:t>	However,</a:t>
            </a:r>
            <a:r>
              <a:rPr sz="1800" spc="45" dirty="0">
                <a:solidFill>
                  <a:srgbClr val="374151"/>
                </a:solidFill>
                <a:latin typeface="Calibri"/>
                <a:cs typeface="Calibri"/>
              </a:rPr>
              <a:t>  </a:t>
            </a:r>
            <a:r>
              <a:rPr sz="1800" dirty="0">
                <a:solidFill>
                  <a:srgbClr val="374151"/>
                </a:solidFill>
                <a:latin typeface="Calibri"/>
                <a:cs typeface="Calibri"/>
              </a:rPr>
              <a:t>they</a:t>
            </a:r>
            <a:r>
              <a:rPr sz="1800" spc="50" dirty="0">
                <a:solidFill>
                  <a:srgbClr val="374151"/>
                </a:solidFill>
                <a:latin typeface="Calibri"/>
                <a:cs typeface="Calibri"/>
              </a:rPr>
              <a:t>  </a:t>
            </a:r>
            <a:r>
              <a:rPr sz="1800" dirty="0">
                <a:solidFill>
                  <a:srgbClr val="374151"/>
                </a:solidFill>
                <a:latin typeface="Calibri"/>
                <a:cs typeface="Calibri"/>
              </a:rPr>
              <a:t>can</a:t>
            </a:r>
            <a:r>
              <a:rPr sz="1800" spc="50" dirty="0">
                <a:solidFill>
                  <a:srgbClr val="374151"/>
                </a:solidFill>
                <a:latin typeface="Calibri"/>
                <a:cs typeface="Calibri"/>
              </a:rPr>
              <a:t>  </a:t>
            </a:r>
            <a:r>
              <a:rPr sz="1800" dirty="0">
                <a:solidFill>
                  <a:srgbClr val="374151"/>
                </a:solidFill>
                <a:latin typeface="Calibri"/>
                <a:cs typeface="Calibri"/>
              </a:rPr>
              <a:t>still</a:t>
            </a:r>
            <a:r>
              <a:rPr sz="1800" spc="50" dirty="0">
                <a:solidFill>
                  <a:srgbClr val="374151"/>
                </a:solidFill>
                <a:latin typeface="Calibri"/>
                <a:cs typeface="Calibri"/>
              </a:rPr>
              <a:t>  </a:t>
            </a:r>
            <a:r>
              <a:rPr sz="1800" dirty="0">
                <a:solidFill>
                  <a:srgbClr val="374151"/>
                </a:solidFill>
                <a:latin typeface="Calibri"/>
                <a:cs typeface="Calibri"/>
              </a:rPr>
              <a:t>be</a:t>
            </a:r>
            <a:r>
              <a:rPr sz="1800" spc="50" dirty="0">
                <a:solidFill>
                  <a:srgbClr val="374151"/>
                </a:solidFill>
                <a:latin typeface="Calibri"/>
                <a:cs typeface="Calibri"/>
              </a:rPr>
              <a:t>  </a:t>
            </a:r>
            <a:r>
              <a:rPr sz="1800" dirty="0">
                <a:solidFill>
                  <a:srgbClr val="374151"/>
                </a:solidFill>
                <a:latin typeface="Calibri"/>
                <a:cs typeface="Calibri"/>
              </a:rPr>
              <a:t>useful</a:t>
            </a:r>
            <a:r>
              <a:rPr sz="1800" spc="495" dirty="0">
                <a:solidFill>
                  <a:srgbClr val="374151"/>
                </a:solidFill>
                <a:latin typeface="Calibri"/>
                <a:cs typeface="Calibri"/>
              </a:rPr>
              <a:t> </a:t>
            </a:r>
            <a:r>
              <a:rPr sz="1800" dirty="0">
                <a:solidFill>
                  <a:srgbClr val="374151"/>
                </a:solidFill>
                <a:latin typeface="Calibri"/>
                <a:cs typeface="Calibri"/>
              </a:rPr>
              <a:t>in</a:t>
            </a:r>
            <a:r>
              <a:rPr sz="1800" spc="50" dirty="0">
                <a:solidFill>
                  <a:srgbClr val="374151"/>
                </a:solidFill>
                <a:latin typeface="Calibri"/>
                <a:cs typeface="Calibri"/>
              </a:rPr>
              <a:t>  </a:t>
            </a:r>
            <a:r>
              <a:rPr sz="1800" spc="-10" dirty="0">
                <a:solidFill>
                  <a:srgbClr val="374151"/>
                </a:solidFill>
                <a:latin typeface="Calibri"/>
                <a:cs typeface="Calibri"/>
              </a:rPr>
              <a:t>certain </a:t>
            </a:r>
            <a:r>
              <a:rPr sz="1800" dirty="0">
                <a:solidFill>
                  <a:srgbClr val="374151"/>
                </a:solidFill>
                <a:latin typeface="Calibri"/>
                <a:cs typeface="Calibri"/>
              </a:rPr>
              <a:t>scenarios,</a:t>
            </a:r>
            <a:r>
              <a:rPr sz="1800" spc="-25" dirty="0">
                <a:solidFill>
                  <a:srgbClr val="374151"/>
                </a:solidFill>
                <a:latin typeface="Calibri"/>
                <a:cs typeface="Calibri"/>
              </a:rPr>
              <a:t> </a:t>
            </a:r>
            <a:r>
              <a:rPr sz="1800" dirty="0">
                <a:solidFill>
                  <a:srgbClr val="374151"/>
                </a:solidFill>
                <a:latin typeface="Calibri"/>
                <a:cs typeface="Calibri"/>
              </a:rPr>
              <a:t>such as</a:t>
            </a:r>
            <a:r>
              <a:rPr sz="1800" spc="-20" dirty="0">
                <a:solidFill>
                  <a:srgbClr val="374151"/>
                </a:solidFill>
                <a:latin typeface="Calibri"/>
                <a:cs typeface="Calibri"/>
              </a:rPr>
              <a:t> </a:t>
            </a:r>
            <a:r>
              <a:rPr sz="1800" dirty="0">
                <a:solidFill>
                  <a:srgbClr val="374151"/>
                </a:solidFill>
                <a:latin typeface="Calibri"/>
                <a:cs typeface="Calibri"/>
              </a:rPr>
              <a:t>feature</a:t>
            </a:r>
            <a:r>
              <a:rPr sz="1800" spc="-15" dirty="0">
                <a:solidFill>
                  <a:srgbClr val="374151"/>
                </a:solidFill>
                <a:latin typeface="Calibri"/>
                <a:cs typeface="Calibri"/>
              </a:rPr>
              <a:t> </a:t>
            </a:r>
            <a:r>
              <a:rPr sz="1800" dirty="0">
                <a:solidFill>
                  <a:srgbClr val="374151"/>
                </a:solidFill>
                <a:latin typeface="Calibri"/>
                <a:cs typeface="Calibri"/>
              </a:rPr>
              <a:t>extraction,</a:t>
            </a:r>
            <a:r>
              <a:rPr sz="1800" spc="-15" dirty="0">
                <a:solidFill>
                  <a:srgbClr val="374151"/>
                </a:solidFill>
                <a:latin typeface="Calibri"/>
                <a:cs typeface="Calibri"/>
              </a:rPr>
              <a:t> </a:t>
            </a:r>
            <a:r>
              <a:rPr sz="1800" dirty="0">
                <a:solidFill>
                  <a:srgbClr val="374151"/>
                </a:solidFill>
                <a:latin typeface="Calibri"/>
                <a:cs typeface="Calibri"/>
              </a:rPr>
              <a:t>where</a:t>
            </a:r>
            <a:r>
              <a:rPr sz="1800" spc="-15" dirty="0">
                <a:solidFill>
                  <a:srgbClr val="374151"/>
                </a:solidFill>
                <a:latin typeface="Calibri"/>
                <a:cs typeface="Calibri"/>
              </a:rPr>
              <a:t> </a:t>
            </a:r>
            <a:r>
              <a:rPr sz="1800" spc="-25" dirty="0">
                <a:solidFill>
                  <a:srgbClr val="374151"/>
                </a:solidFill>
                <a:latin typeface="Calibri"/>
                <a:cs typeface="Calibri"/>
              </a:rPr>
              <a:t>the </a:t>
            </a:r>
            <a:r>
              <a:rPr sz="1800" dirty="0">
                <a:solidFill>
                  <a:srgbClr val="374151"/>
                </a:solidFill>
                <a:latin typeface="Calibri"/>
                <a:cs typeface="Calibri"/>
              </a:rPr>
              <a:t>autoencoder</a:t>
            </a:r>
            <a:r>
              <a:rPr sz="1800" spc="45" dirty="0">
                <a:solidFill>
                  <a:srgbClr val="374151"/>
                </a:solidFill>
                <a:latin typeface="Calibri"/>
                <a:cs typeface="Calibri"/>
              </a:rPr>
              <a:t> </a:t>
            </a:r>
            <a:r>
              <a:rPr sz="1800" dirty="0">
                <a:solidFill>
                  <a:srgbClr val="374151"/>
                </a:solidFill>
                <a:latin typeface="Calibri"/>
                <a:cs typeface="Calibri"/>
              </a:rPr>
              <a:t>is</a:t>
            </a:r>
            <a:r>
              <a:rPr sz="1800" spc="60" dirty="0">
                <a:solidFill>
                  <a:srgbClr val="374151"/>
                </a:solidFill>
                <a:latin typeface="Calibri"/>
                <a:cs typeface="Calibri"/>
              </a:rPr>
              <a:t> </a:t>
            </a:r>
            <a:r>
              <a:rPr sz="1800" dirty="0">
                <a:solidFill>
                  <a:srgbClr val="374151"/>
                </a:solidFill>
                <a:latin typeface="Calibri"/>
                <a:cs typeface="Calibri"/>
              </a:rPr>
              <a:t>forced</a:t>
            </a:r>
            <a:r>
              <a:rPr sz="1800" spc="55" dirty="0">
                <a:solidFill>
                  <a:srgbClr val="374151"/>
                </a:solidFill>
                <a:latin typeface="Calibri"/>
                <a:cs typeface="Calibri"/>
              </a:rPr>
              <a:t> </a:t>
            </a:r>
            <a:r>
              <a:rPr sz="1800" dirty="0">
                <a:solidFill>
                  <a:srgbClr val="374151"/>
                </a:solidFill>
                <a:latin typeface="Calibri"/>
                <a:cs typeface="Calibri"/>
              </a:rPr>
              <a:t>to</a:t>
            </a:r>
            <a:r>
              <a:rPr sz="1800" spc="50" dirty="0">
                <a:solidFill>
                  <a:srgbClr val="374151"/>
                </a:solidFill>
                <a:latin typeface="Calibri"/>
                <a:cs typeface="Calibri"/>
              </a:rPr>
              <a:t> </a:t>
            </a:r>
            <a:r>
              <a:rPr sz="1800" dirty="0">
                <a:solidFill>
                  <a:srgbClr val="374151"/>
                </a:solidFill>
                <a:latin typeface="Calibri"/>
                <a:cs typeface="Calibri"/>
              </a:rPr>
              <a:t>learn</a:t>
            </a:r>
            <a:r>
              <a:rPr sz="1800" spc="60" dirty="0">
                <a:solidFill>
                  <a:srgbClr val="374151"/>
                </a:solidFill>
                <a:latin typeface="Calibri"/>
                <a:cs typeface="Calibri"/>
              </a:rPr>
              <a:t> </a:t>
            </a:r>
            <a:r>
              <a:rPr sz="1800" dirty="0">
                <a:solidFill>
                  <a:srgbClr val="374151"/>
                </a:solidFill>
                <a:latin typeface="Calibri"/>
                <a:cs typeface="Calibri"/>
              </a:rPr>
              <a:t>a</a:t>
            </a:r>
            <a:r>
              <a:rPr sz="1800" spc="60" dirty="0">
                <a:solidFill>
                  <a:srgbClr val="374151"/>
                </a:solidFill>
                <a:latin typeface="Calibri"/>
                <a:cs typeface="Calibri"/>
              </a:rPr>
              <a:t> </a:t>
            </a:r>
            <a:r>
              <a:rPr sz="1800" spc="-10" dirty="0">
                <a:solidFill>
                  <a:srgbClr val="374151"/>
                </a:solidFill>
                <a:latin typeface="Calibri"/>
                <a:cs typeface="Calibri"/>
              </a:rPr>
              <a:t>representation </a:t>
            </a:r>
            <a:r>
              <a:rPr sz="1800" dirty="0">
                <a:solidFill>
                  <a:srgbClr val="374151"/>
                </a:solidFill>
                <a:latin typeface="Calibri"/>
                <a:cs typeface="Calibri"/>
              </a:rPr>
              <a:t>of</a:t>
            </a:r>
            <a:r>
              <a:rPr sz="1800" spc="-30" dirty="0">
                <a:solidFill>
                  <a:srgbClr val="374151"/>
                </a:solidFill>
                <a:latin typeface="Calibri"/>
                <a:cs typeface="Calibri"/>
              </a:rPr>
              <a:t> </a:t>
            </a:r>
            <a:r>
              <a:rPr sz="1800" dirty="0">
                <a:solidFill>
                  <a:srgbClr val="374151"/>
                </a:solidFill>
                <a:latin typeface="Calibri"/>
                <a:cs typeface="Calibri"/>
              </a:rPr>
              <a:t>the</a:t>
            </a:r>
            <a:r>
              <a:rPr sz="1800" spc="-15" dirty="0">
                <a:solidFill>
                  <a:srgbClr val="374151"/>
                </a:solidFill>
                <a:latin typeface="Calibri"/>
                <a:cs typeface="Calibri"/>
              </a:rPr>
              <a:t> </a:t>
            </a:r>
            <a:r>
              <a:rPr sz="1800" dirty="0">
                <a:solidFill>
                  <a:srgbClr val="374151"/>
                </a:solidFill>
                <a:latin typeface="Calibri"/>
                <a:cs typeface="Calibri"/>
              </a:rPr>
              <a:t>input</a:t>
            </a:r>
            <a:r>
              <a:rPr sz="1800" spc="-20" dirty="0">
                <a:solidFill>
                  <a:srgbClr val="374151"/>
                </a:solidFill>
                <a:latin typeface="Calibri"/>
                <a:cs typeface="Calibri"/>
              </a:rPr>
              <a:t> data.</a:t>
            </a:r>
            <a:endParaRPr sz="1800">
              <a:latin typeface="Calibri"/>
              <a:cs typeface="Calibri"/>
            </a:endParaRPr>
          </a:p>
          <a:p>
            <a:pPr marL="69215" algn="just">
              <a:lnSpc>
                <a:spcPct val="100000"/>
              </a:lnSpc>
              <a:spcBef>
                <a:spcPts val="1280"/>
              </a:spcBef>
            </a:pPr>
            <a:r>
              <a:rPr sz="1800" dirty="0">
                <a:solidFill>
                  <a:srgbClr val="292929"/>
                </a:solidFill>
                <a:latin typeface="Calibri"/>
                <a:cs typeface="Calibri"/>
              </a:rPr>
              <a:t>Network</a:t>
            </a:r>
            <a:r>
              <a:rPr sz="1800" spc="-45" dirty="0">
                <a:solidFill>
                  <a:srgbClr val="292929"/>
                </a:solidFill>
                <a:latin typeface="Calibri"/>
                <a:cs typeface="Calibri"/>
              </a:rPr>
              <a:t> </a:t>
            </a:r>
            <a:r>
              <a:rPr sz="1800" dirty="0">
                <a:solidFill>
                  <a:srgbClr val="292929"/>
                </a:solidFill>
                <a:latin typeface="Calibri"/>
                <a:cs typeface="Calibri"/>
              </a:rPr>
              <a:t>might</a:t>
            </a:r>
            <a:r>
              <a:rPr sz="1800" spc="-40" dirty="0">
                <a:solidFill>
                  <a:srgbClr val="292929"/>
                </a:solidFill>
                <a:latin typeface="Calibri"/>
                <a:cs typeface="Calibri"/>
              </a:rPr>
              <a:t> </a:t>
            </a:r>
            <a:r>
              <a:rPr sz="1800" dirty="0">
                <a:solidFill>
                  <a:srgbClr val="292929"/>
                </a:solidFill>
                <a:latin typeface="Calibri"/>
                <a:cs typeface="Calibri"/>
              </a:rPr>
              <a:t>cheat</a:t>
            </a:r>
            <a:r>
              <a:rPr sz="1800" spc="-30" dirty="0">
                <a:solidFill>
                  <a:srgbClr val="292929"/>
                </a:solidFill>
                <a:latin typeface="Calibri"/>
                <a:cs typeface="Calibri"/>
              </a:rPr>
              <a:t> </a:t>
            </a:r>
            <a:r>
              <a:rPr sz="1800" dirty="0">
                <a:solidFill>
                  <a:srgbClr val="292929"/>
                </a:solidFill>
                <a:latin typeface="Calibri"/>
                <a:cs typeface="Calibri"/>
              </a:rPr>
              <a:t>and</a:t>
            </a:r>
            <a:r>
              <a:rPr sz="1800" spc="-20" dirty="0">
                <a:solidFill>
                  <a:srgbClr val="292929"/>
                </a:solidFill>
                <a:latin typeface="Calibri"/>
                <a:cs typeface="Calibri"/>
              </a:rPr>
              <a:t> </a:t>
            </a:r>
            <a:r>
              <a:rPr sz="1800" dirty="0">
                <a:solidFill>
                  <a:srgbClr val="292929"/>
                </a:solidFill>
                <a:latin typeface="Calibri"/>
                <a:cs typeface="Calibri"/>
              </a:rPr>
              <a:t>overfit</a:t>
            </a:r>
            <a:r>
              <a:rPr sz="1800" spc="-40"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input</a:t>
            </a:r>
            <a:r>
              <a:rPr sz="1800" spc="-25" dirty="0">
                <a:solidFill>
                  <a:srgbClr val="292929"/>
                </a:solidFill>
                <a:latin typeface="Calibri"/>
                <a:cs typeface="Calibri"/>
              </a:rPr>
              <a:t> </a:t>
            </a:r>
            <a:r>
              <a:rPr sz="1800" dirty="0">
                <a:solidFill>
                  <a:srgbClr val="292929"/>
                </a:solidFill>
                <a:latin typeface="Calibri"/>
                <a:cs typeface="Calibri"/>
              </a:rPr>
              <a:t>data</a:t>
            </a:r>
            <a:r>
              <a:rPr sz="1800" spc="-40" dirty="0">
                <a:solidFill>
                  <a:srgbClr val="292929"/>
                </a:solidFill>
                <a:latin typeface="Calibri"/>
                <a:cs typeface="Calibri"/>
              </a:rPr>
              <a:t> </a:t>
            </a:r>
            <a:r>
              <a:rPr sz="1800" dirty="0">
                <a:solidFill>
                  <a:srgbClr val="292929"/>
                </a:solidFill>
                <a:latin typeface="Calibri"/>
                <a:cs typeface="Calibri"/>
              </a:rPr>
              <a:t>by</a:t>
            </a:r>
            <a:r>
              <a:rPr sz="1800" spc="-25" dirty="0">
                <a:solidFill>
                  <a:srgbClr val="292929"/>
                </a:solidFill>
                <a:latin typeface="Calibri"/>
                <a:cs typeface="Calibri"/>
              </a:rPr>
              <a:t> </a:t>
            </a:r>
            <a:r>
              <a:rPr sz="1800" dirty="0">
                <a:solidFill>
                  <a:srgbClr val="292929"/>
                </a:solidFill>
                <a:latin typeface="Calibri"/>
                <a:cs typeface="Calibri"/>
              </a:rPr>
              <a:t>simply</a:t>
            </a:r>
            <a:r>
              <a:rPr sz="1800" spc="-35" dirty="0">
                <a:solidFill>
                  <a:srgbClr val="292929"/>
                </a:solidFill>
                <a:latin typeface="Calibri"/>
                <a:cs typeface="Calibri"/>
              </a:rPr>
              <a:t> </a:t>
            </a:r>
            <a:r>
              <a:rPr sz="1800" spc="-10" dirty="0">
                <a:solidFill>
                  <a:srgbClr val="292929"/>
                </a:solidFill>
                <a:latin typeface="Calibri"/>
                <a:cs typeface="Calibri"/>
              </a:rPr>
              <a:t>remembering</a:t>
            </a:r>
            <a:r>
              <a:rPr sz="1800" spc="-25"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input</a:t>
            </a:r>
            <a:r>
              <a:rPr sz="1800" spc="-20" dirty="0">
                <a:solidFill>
                  <a:srgbClr val="292929"/>
                </a:solidFill>
                <a:latin typeface="Calibri"/>
                <a:cs typeface="Calibri"/>
              </a:rPr>
              <a:t> </a:t>
            </a:r>
            <a:r>
              <a:rPr sz="1800" dirty="0">
                <a:solidFill>
                  <a:srgbClr val="292929"/>
                </a:solidFill>
                <a:latin typeface="Calibri"/>
                <a:cs typeface="Calibri"/>
              </a:rPr>
              <a:t>data.</a:t>
            </a:r>
            <a:r>
              <a:rPr sz="1800" spc="-40" dirty="0">
                <a:solidFill>
                  <a:srgbClr val="292929"/>
                </a:solidFill>
                <a:latin typeface="Calibri"/>
                <a:cs typeface="Calibri"/>
              </a:rPr>
              <a:t> </a:t>
            </a:r>
            <a:r>
              <a:rPr sz="1800" dirty="0">
                <a:solidFill>
                  <a:srgbClr val="292929"/>
                </a:solidFill>
                <a:latin typeface="Calibri"/>
                <a:cs typeface="Calibri"/>
              </a:rPr>
              <a:t>In</a:t>
            </a:r>
            <a:r>
              <a:rPr sz="1800" spc="-40" dirty="0">
                <a:solidFill>
                  <a:srgbClr val="292929"/>
                </a:solidFill>
                <a:latin typeface="Calibri"/>
                <a:cs typeface="Calibri"/>
              </a:rPr>
              <a:t> </a:t>
            </a:r>
            <a:r>
              <a:rPr sz="1800" dirty="0">
                <a:solidFill>
                  <a:srgbClr val="292929"/>
                </a:solidFill>
                <a:latin typeface="Calibri"/>
                <a:cs typeface="Calibri"/>
              </a:rPr>
              <a:t>this</a:t>
            </a:r>
            <a:r>
              <a:rPr sz="1800" spc="-40" dirty="0">
                <a:solidFill>
                  <a:srgbClr val="292929"/>
                </a:solidFill>
                <a:latin typeface="Calibri"/>
                <a:cs typeface="Calibri"/>
              </a:rPr>
              <a:t> </a:t>
            </a:r>
            <a:r>
              <a:rPr sz="1800" dirty="0">
                <a:solidFill>
                  <a:srgbClr val="292929"/>
                </a:solidFill>
                <a:latin typeface="Calibri"/>
                <a:cs typeface="Calibri"/>
              </a:rPr>
              <a:t>case,</a:t>
            </a:r>
            <a:r>
              <a:rPr sz="1800" spc="-30" dirty="0">
                <a:solidFill>
                  <a:srgbClr val="292929"/>
                </a:solidFill>
                <a:latin typeface="Calibri"/>
                <a:cs typeface="Calibri"/>
              </a:rPr>
              <a:t> </a:t>
            </a:r>
            <a:r>
              <a:rPr sz="1800" spc="-25" dirty="0">
                <a:solidFill>
                  <a:srgbClr val="292929"/>
                </a:solidFill>
                <a:latin typeface="Calibri"/>
                <a:cs typeface="Calibri"/>
              </a:rPr>
              <a:t>we</a:t>
            </a:r>
            <a:endParaRPr sz="1800">
              <a:latin typeface="Calibri"/>
              <a:cs typeface="Calibri"/>
            </a:endParaRPr>
          </a:p>
          <a:p>
            <a:pPr marL="69215" algn="just">
              <a:lnSpc>
                <a:spcPct val="100000"/>
              </a:lnSpc>
            </a:pPr>
            <a:r>
              <a:rPr sz="1800" dirty="0">
                <a:solidFill>
                  <a:srgbClr val="292929"/>
                </a:solidFill>
                <a:latin typeface="Calibri"/>
                <a:cs typeface="Calibri"/>
              </a:rPr>
              <a:t>will</a:t>
            </a:r>
            <a:r>
              <a:rPr sz="1800" spc="-15" dirty="0">
                <a:solidFill>
                  <a:srgbClr val="292929"/>
                </a:solidFill>
                <a:latin typeface="Calibri"/>
                <a:cs typeface="Calibri"/>
              </a:rPr>
              <a:t> </a:t>
            </a:r>
            <a:r>
              <a:rPr sz="1800" dirty="0">
                <a:solidFill>
                  <a:srgbClr val="292929"/>
                </a:solidFill>
                <a:latin typeface="Calibri"/>
                <a:cs typeface="Calibri"/>
              </a:rPr>
              <a:t>not</a:t>
            </a:r>
            <a:r>
              <a:rPr sz="1800" spc="-25" dirty="0">
                <a:solidFill>
                  <a:srgbClr val="292929"/>
                </a:solidFill>
                <a:latin typeface="Calibri"/>
                <a:cs typeface="Calibri"/>
              </a:rPr>
              <a:t> </a:t>
            </a:r>
            <a:r>
              <a:rPr sz="1800" dirty="0">
                <a:solidFill>
                  <a:srgbClr val="292929"/>
                </a:solidFill>
                <a:latin typeface="Calibri"/>
                <a:cs typeface="Calibri"/>
              </a:rPr>
              <a:t>be</a:t>
            </a:r>
            <a:r>
              <a:rPr sz="1800" spc="-15" dirty="0">
                <a:solidFill>
                  <a:srgbClr val="292929"/>
                </a:solidFill>
                <a:latin typeface="Calibri"/>
                <a:cs typeface="Calibri"/>
              </a:rPr>
              <a:t> </a:t>
            </a:r>
            <a:r>
              <a:rPr sz="1800" dirty="0">
                <a:solidFill>
                  <a:srgbClr val="292929"/>
                </a:solidFill>
                <a:latin typeface="Calibri"/>
                <a:cs typeface="Calibri"/>
              </a:rPr>
              <a:t>able</a:t>
            </a:r>
            <a:r>
              <a:rPr sz="1800" spc="-20" dirty="0">
                <a:solidFill>
                  <a:srgbClr val="292929"/>
                </a:solidFill>
                <a:latin typeface="Calibri"/>
                <a:cs typeface="Calibri"/>
              </a:rPr>
              <a:t> </a:t>
            </a:r>
            <a:r>
              <a:rPr sz="1800" dirty="0">
                <a:solidFill>
                  <a:srgbClr val="292929"/>
                </a:solidFill>
                <a:latin typeface="Calibri"/>
                <a:cs typeface="Calibri"/>
              </a:rPr>
              <a:t>to</a:t>
            </a:r>
            <a:r>
              <a:rPr sz="1800" spc="-30" dirty="0">
                <a:solidFill>
                  <a:srgbClr val="292929"/>
                </a:solidFill>
                <a:latin typeface="Calibri"/>
                <a:cs typeface="Calibri"/>
              </a:rPr>
              <a:t> </a:t>
            </a:r>
            <a:r>
              <a:rPr sz="1800" dirty="0">
                <a:solidFill>
                  <a:srgbClr val="292929"/>
                </a:solidFill>
                <a:latin typeface="Calibri"/>
                <a:cs typeface="Calibri"/>
              </a:rPr>
              <a:t>get</a:t>
            </a:r>
            <a:r>
              <a:rPr sz="1800" spc="-25" dirty="0">
                <a:solidFill>
                  <a:srgbClr val="292929"/>
                </a:solidFill>
                <a:latin typeface="Calibri"/>
                <a:cs typeface="Calibri"/>
              </a:rPr>
              <a:t> </a:t>
            </a:r>
            <a:r>
              <a:rPr sz="1800" dirty="0">
                <a:solidFill>
                  <a:srgbClr val="292929"/>
                </a:solidFill>
                <a:latin typeface="Calibri"/>
                <a:cs typeface="Calibri"/>
              </a:rPr>
              <a:t>the</a:t>
            </a:r>
            <a:r>
              <a:rPr sz="1800" spc="-10" dirty="0">
                <a:solidFill>
                  <a:srgbClr val="292929"/>
                </a:solidFill>
                <a:latin typeface="Calibri"/>
                <a:cs typeface="Calibri"/>
              </a:rPr>
              <a:t> </a:t>
            </a:r>
            <a:r>
              <a:rPr sz="1800" dirty="0">
                <a:solidFill>
                  <a:srgbClr val="292929"/>
                </a:solidFill>
                <a:latin typeface="Calibri"/>
                <a:cs typeface="Calibri"/>
              </a:rPr>
              <a:t>correct</a:t>
            </a:r>
            <a:r>
              <a:rPr sz="1800" spc="-25" dirty="0">
                <a:solidFill>
                  <a:srgbClr val="292929"/>
                </a:solidFill>
                <a:latin typeface="Calibri"/>
                <a:cs typeface="Calibri"/>
              </a:rPr>
              <a:t> </a:t>
            </a:r>
            <a:r>
              <a:rPr sz="1800" spc="-10" dirty="0">
                <a:solidFill>
                  <a:srgbClr val="292929"/>
                </a:solidFill>
                <a:latin typeface="Calibri"/>
                <a:cs typeface="Calibri"/>
              </a:rPr>
              <a:t>relationships</a:t>
            </a:r>
            <a:r>
              <a:rPr sz="1800" spc="-20" dirty="0">
                <a:solidFill>
                  <a:srgbClr val="292929"/>
                </a:solidFill>
                <a:latin typeface="Calibri"/>
                <a:cs typeface="Calibri"/>
              </a:rPr>
              <a:t> </a:t>
            </a:r>
            <a:r>
              <a:rPr sz="1800" dirty="0">
                <a:solidFill>
                  <a:srgbClr val="292929"/>
                </a:solidFill>
                <a:latin typeface="Calibri"/>
                <a:cs typeface="Calibri"/>
              </a:rPr>
              <a:t>in</a:t>
            </a:r>
            <a:r>
              <a:rPr sz="1800" spc="-15" dirty="0">
                <a:solidFill>
                  <a:srgbClr val="292929"/>
                </a:solidFill>
                <a:latin typeface="Calibri"/>
                <a:cs typeface="Calibri"/>
              </a:rPr>
              <a:t> </a:t>
            </a:r>
            <a:r>
              <a:rPr sz="1800" dirty="0">
                <a:solidFill>
                  <a:srgbClr val="292929"/>
                </a:solidFill>
                <a:latin typeface="Calibri"/>
                <a:cs typeface="Calibri"/>
              </a:rPr>
              <a:t>our</a:t>
            </a:r>
            <a:r>
              <a:rPr sz="1800" spc="-20" dirty="0">
                <a:solidFill>
                  <a:srgbClr val="292929"/>
                </a:solidFill>
                <a:latin typeface="Calibri"/>
                <a:cs typeface="Calibri"/>
              </a:rPr>
              <a:t> </a:t>
            </a:r>
            <a:r>
              <a:rPr sz="1800" spc="-10" dirty="0">
                <a:solidFill>
                  <a:srgbClr val="292929"/>
                </a:solidFill>
                <a:latin typeface="Calibri"/>
                <a:cs typeface="Calibri"/>
              </a:rPr>
              <a:t>encodings.</a:t>
            </a:r>
            <a:endParaRPr sz="1800">
              <a:latin typeface="Calibri"/>
              <a:cs typeface="Calibri"/>
            </a:endParaRPr>
          </a:p>
        </p:txBody>
      </p:sp>
      <p:pic>
        <p:nvPicPr>
          <p:cNvPr id="6" name="object 6"/>
          <p:cNvPicPr/>
          <p:nvPr/>
        </p:nvPicPr>
        <p:blipFill>
          <a:blip r:embed="rId3" cstate="print"/>
          <a:stretch>
            <a:fillRect/>
          </a:stretch>
        </p:blipFill>
        <p:spPr>
          <a:xfrm>
            <a:off x="9296779" y="5206365"/>
            <a:ext cx="2657126" cy="342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Regularisation</a:t>
            </a:r>
            <a:r>
              <a:rPr b="0" spc="-45" dirty="0">
                <a:solidFill>
                  <a:srgbClr val="A3123E"/>
                </a:solidFill>
                <a:latin typeface="Georgia"/>
                <a:cs typeface="Georgia"/>
              </a:rPr>
              <a:t> </a:t>
            </a:r>
            <a:r>
              <a:rPr b="0" dirty="0">
                <a:solidFill>
                  <a:srgbClr val="A3123E"/>
                </a:solidFill>
                <a:latin typeface="Georgia"/>
                <a:cs typeface="Georgia"/>
              </a:rPr>
              <a:t>of</a:t>
            </a:r>
            <a:r>
              <a:rPr b="0" spc="-15" dirty="0">
                <a:solidFill>
                  <a:srgbClr val="A3123E"/>
                </a:solidFill>
                <a:latin typeface="Georgia"/>
                <a:cs typeface="Georgia"/>
              </a:rPr>
              <a:t> </a:t>
            </a:r>
            <a:r>
              <a:rPr b="0" spc="-10" dirty="0">
                <a:solidFill>
                  <a:srgbClr val="A3123E"/>
                </a:solidFill>
                <a:latin typeface="Georgia"/>
                <a:cs typeface="Georgia"/>
              </a:rPr>
              <a:t>Autoencoders</a:t>
            </a:r>
          </a:p>
        </p:txBody>
      </p:sp>
      <p:pic>
        <p:nvPicPr>
          <p:cNvPr id="3" name="object 3"/>
          <p:cNvPicPr/>
          <p:nvPr/>
        </p:nvPicPr>
        <p:blipFill>
          <a:blip r:embed="rId2" cstate="print"/>
          <a:stretch>
            <a:fillRect/>
          </a:stretch>
        </p:blipFill>
        <p:spPr>
          <a:xfrm>
            <a:off x="733870" y="1941146"/>
            <a:ext cx="4716470" cy="2944790"/>
          </a:xfrm>
          <a:prstGeom prst="rect">
            <a:avLst/>
          </a:prstGeom>
        </p:spPr>
      </p:pic>
      <p:pic>
        <p:nvPicPr>
          <p:cNvPr id="4" name="object 4"/>
          <p:cNvPicPr/>
          <p:nvPr/>
        </p:nvPicPr>
        <p:blipFill>
          <a:blip r:embed="rId3" cstate="print"/>
          <a:stretch>
            <a:fillRect/>
          </a:stretch>
        </p:blipFill>
        <p:spPr>
          <a:xfrm>
            <a:off x="7022980" y="451759"/>
            <a:ext cx="4573992" cy="3038849"/>
          </a:xfrm>
          <a:prstGeom prst="rect">
            <a:avLst/>
          </a:prstGeom>
        </p:spPr>
      </p:pic>
      <p:pic>
        <p:nvPicPr>
          <p:cNvPr id="5" name="object 5"/>
          <p:cNvPicPr/>
          <p:nvPr/>
        </p:nvPicPr>
        <p:blipFill>
          <a:blip r:embed="rId4" cstate="print"/>
          <a:stretch>
            <a:fillRect/>
          </a:stretch>
        </p:blipFill>
        <p:spPr>
          <a:xfrm>
            <a:off x="7085172" y="3864575"/>
            <a:ext cx="4452741" cy="18247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Denoising</a:t>
            </a:r>
            <a:r>
              <a:rPr b="0" spc="-55" dirty="0">
                <a:solidFill>
                  <a:srgbClr val="A3123E"/>
                </a:solidFill>
                <a:latin typeface="Georgia"/>
                <a:cs typeface="Georgia"/>
              </a:rPr>
              <a:t> </a:t>
            </a: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790103" y="1479826"/>
            <a:ext cx="4301554" cy="3686862"/>
          </a:xfrm>
          <a:prstGeom prst="rect">
            <a:avLst/>
          </a:prstGeom>
        </p:spPr>
      </p:pic>
      <p:pic>
        <p:nvPicPr>
          <p:cNvPr id="4" name="object 4"/>
          <p:cNvPicPr/>
          <p:nvPr/>
        </p:nvPicPr>
        <p:blipFill>
          <a:blip r:embed="rId3" cstate="print"/>
          <a:stretch>
            <a:fillRect/>
          </a:stretch>
        </p:blipFill>
        <p:spPr>
          <a:xfrm>
            <a:off x="6531448" y="1243079"/>
            <a:ext cx="4409197" cy="4098365"/>
          </a:xfrm>
          <a:prstGeom prst="rect">
            <a:avLst/>
          </a:prstGeom>
        </p:spPr>
      </p:pic>
      <p:sp>
        <p:nvSpPr>
          <p:cNvPr id="5" name="object 5"/>
          <p:cNvSpPr txBox="1"/>
          <p:nvPr/>
        </p:nvSpPr>
        <p:spPr>
          <a:xfrm>
            <a:off x="2773172" y="6510934"/>
            <a:ext cx="3701415"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Calibri"/>
                <a:cs typeface="Calibri"/>
              </a:rPr>
              <a:t>Courtesy</a:t>
            </a:r>
            <a:r>
              <a:rPr sz="1600" spc="-35" dirty="0">
                <a:solidFill>
                  <a:srgbClr val="FFFFFF"/>
                </a:solidFill>
                <a:latin typeface="Calibri"/>
                <a:cs typeface="Calibri"/>
              </a:rPr>
              <a:t> </a:t>
            </a:r>
            <a:r>
              <a:rPr sz="1600" dirty="0">
                <a:solidFill>
                  <a:srgbClr val="FFFFFF"/>
                </a:solidFill>
                <a:latin typeface="Calibri"/>
                <a:cs typeface="Calibri"/>
              </a:rPr>
              <a:t>:</a:t>
            </a:r>
            <a:r>
              <a:rPr sz="1600" spc="-50" dirty="0">
                <a:solidFill>
                  <a:srgbClr val="FFFFFF"/>
                </a:solidFill>
                <a:latin typeface="Calibri"/>
                <a:cs typeface="Calibri"/>
              </a:rPr>
              <a:t> </a:t>
            </a:r>
            <a:r>
              <a:rPr sz="1600" dirty="0">
                <a:solidFill>
                  <a:srgbClr val="FFFFFF"/>
                </a:solidFill>
                <a:latin typeface="Calibri"/>
                <a:cs typeface="Calibri"/>
              </a:rPr>
              <a:t>NPTEL</a:t>
            </a:r>
            <a:r>
              <a:rPr sz="1600" spc="-30" dirty="0">
                <a:solidFill>
                  <a:srgbClr val="FFFFFF"/>
                </a:solidFill>
                <a:latin typeface="Calibri"/>
                <a:cs typeface="Calibri"/>
              </a:rPr>
              <a:t> </a:t>
            </a:r>
            <a:r>
              <a:rPr sz="1600" dirty="0">
                <a:solidFill>
                  <a:srgbClr val="FFFFFF"/>
                </a:solidFill>
                <a:latin typeface="Calibri"/>
                <a:cs typeface="Calibri"/>
              </a:rPr>
              <a:t>lectures</a:t>
            </a:r>
            <a:r>
              <a:rPr sz="1600" spc="-40" dirty="0">
                <a:solidFill>
                  <a:srgbClr val="FFFFFF"/>
                </a:solidFill>
                <a:latin typeface="Calibri"/>
                <a:cs typeface="Calibri"/>
              </a:rPr>
              <a:t> </a:t>
            </a:r>
            <a:r>
              <a:rPr sz="1600" dirty="0">
                <a:solidFill>
                  <a:srgbClr val="FFFFFF"/>
                </a:solidFill>
                <a:latin typeface="Calibri"/>
                <a:cs typeface="Calibri"/>
              </a:rPr>
              <a:t>of</a:t>
            </a:r>
            <a:r>
              <a:rPr sz="1600" spc="-20" dirty="0">
                <a:solidFill>
                  <a:srgbClr val="FFFFFF"/>
                </a:solidFill>
                <a:latin typeface="Calibri"/>
                <a:cs typeface="Calibri"/>
              </a:rPr>
              <a:t> </a:t>
            </a:r>
            <a:r>
              <a:rPr sz="1600" spc="-25" dirty="0">
                <a:solidFill>
                  <a:srgbClr val="FFFFFF"/>
                </a:solidFill>
                <a:latin typeface="Calibri"/>
                <a:cs typeface="Calibri"/>
              </a:rPr>
              <a:t>Dr.Mitesh</a:t>
            </a:r>
            <a:r>
              <a:rPr sz="1600" spc="-60" dirty="0">
                <a:solidFill>
                  <a:srgbClr val="FFFFFF"/>
                </a:solidFill>
                <a:latin typeface="Calibri"/>
                <a:cs typeface="Calibri"/>
              </a:rPr>
              <a:t> </a:t>
            </a:r>
            <a:r>
              <a:rPr sz="1600" spc="-10" dirty="0">
                <a:solidFill>
                  <a:srgbClr val="FFFFFF"/>
                </a:solidFill>
                <a:latin typeface="Calibri"/>
                <a:cs typeface="Calibri"/>
              </a:rPr>
              <a:t>Kapra</a:t>
            </a:r>
            <a:endParaRPr sz="16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Denoising</a:t>
            </a:r>
            <a:r>
              <a:rPr b="0" spc="-55" dirty="0">
                <a:solidFill>
                  <a:srgbClr val="A3123E"/>
                </a:solidFill>
                <a:latin typeface="Georgia"/>
                <a:cs typeface="Georgia"/>
              </a:rPr>
              <a:t> </a:t>
            </a: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790103" y="1479826"/>
            <a:ext cx="4301554" cy="3686862"/>
          </a:xfrm>
          <a:prstGeom prst="rect">
            <a:avLst/>
          </a:prstGeom>
        </p:spPr>
      </p:pic>
      <p:pic>
        <p:nvPicPr>
          <p:cNvPr id="4" name="object 4"/>
          <p:cNvPicPr/>
          <p:nvPr/>
        </p:nvPicPr>
        <p:blipFill>
          <a:blip r:embed="rId3" cstate="print"/>
          <a:stretch>
            <a:fillRect/>
          </a:stretch>
        </p:blipFill>
        <p:spPr>
          <a:xfrm>
            <a:off x="6341672" y="731644"/>
            <a:ext cx="4957930" cy="50704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351" y="-18846"/>
            <a:ext cx="2111375" cy="514350"/>
          </a:xfrm>
          <a:prstGeom prst="rect">
            <a:avLst/>
          </a:prstGeom>
        </p:spPr>
        <p:txBody>
          <a:bodyPr vert="horz" wrap="square" lIns="0" tIns="13335" rIns="0" bIns="0" rtlCol="0">
            <a:spAutoFit/>
          </a:bodyPr>
          <a:lstStyle/>
          <a:p>
            <a:pPr marL="12700">
              <a:lnSpc>
                <a:spcPct val="100000"/>
              </a:lnSpc>
              <a:spcBef>
                <a:spcPts val="105"/>
              </a:spcBef>
            </a:pPr>
            <a:r>
              <a:rPr b="0" spc="-10" dirty="0">
                <a:solidFill>
                  <a:srgbClr val="A3123E"/>
                </a:solidFill>
                <a:latin typeface="Georgia"/>
                <a:cs typeface="Georgia"/>
              </a:rPr>
              <a:t>Application</a:t>
            </a:r>
          </a:p>
        </p:txBody>
      </p:sp>
      <p:pic>
        <p:nvPicPr>
          <p:cNvPr id="3" name="object 3"/>
          <p:cNvPicPr/>
          <p:nvPr/>
        </p:nvPicPr>
        <p:blipFill>
          <a:blip r:embed="rId2" cstate="print"/>
          <a:stretch>
            <a:fillRect/>
          </a:stretch>
        </p:blipFill>
        <p:spPr>
          <a:xfrm>
            <a:off x="858106" y="779677"/>
            <a:ext cx="10468009" cy="54748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8368" y="512063"/>
            <a:ext cx="11296015" cy="5727065"/>
            <a:chOff x="658368" y="512063"/>
            <a:chExt cx="11296015" cy="5727065"/>
          </a:xfrm>
        </p:grpSpPr>
        <p:pic>
          <p:nvPicPr>
            <p:cNvPr id="3" name="object 3"/>
            <p:cNvPicPr/>
            <p:nvPr/>
          </p:nvPicPr>
          <p:blipFill>
            <a:blip r:embed="rId2" cstate="print"/>
            <a:stretch>
              <a:fillRect/>
            </a:stretch>
          </p:blipFill>
          <p:spPr>
            <a:xfrm>
              <a:off x="658368" y="512063"/>
              <a:ext cx="11209020" cy="5726828"/>
            </a:xfrm>
            <a:prstGeom prst="rect">
              <a:avLst/>
            </a:prstGeom>
          </p:spPr>
        </p:pic>
        <p:pic>
          <p:nvPicPr>
            <p:cNvPr id="4" name="object 4"/>
            <p:cNvPicPr/>
            <p:nvPr/>
          </p:nvPicPr>
          <p:blipFill>
            <a:blip r:embed="rId3" cstate="print"/>
            <a:stretch>
              <a:fillRect/>
            </a:stretch>
          </p:blipFill>
          <p:spPr>
            <a:xfrm>
              <a:off x="5355335" y="751331"/>
              <a:ext cx="6598919" cy="535533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8368" y="512063"/>
            <a:ext cx="11209020" cy="57268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7948" y="276085"/>
            <a:ext cx="10918090" cy="60591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Gaussian</a:t>
            </a:r>
            <a:r>
              <a:rPr b="0" spc="-25" dirty="0">
                <a:solidFill>
                  <a:srgbClr val="A3123E"/>
                </a:solidFill>
                <a:latin typeface="Georgia"/>
                <a:cs typeface="Georgia"/>
              </a:rPr>
              <a:t> </a:t>
            </a:r>
            <a:r>
              <a:rPr b="0" dirty="0">
                <a:solidFill>
                  <a:srgbClr val="A3123E"/>
                </a:solidFill>
                <a:latin typeface="Georgia"/>
                <a:cs typeface="Georgia"/>
              </a:rPr>
              <a:t>Noise</a:t>
            </a:r>
            <a:r>
              <a:rPr b="0" spc="-10" dirty="0">
                <a:solidFill>
                  <a:srgbClr val="A3123E"/>
                </a:solidFill>
                <a:latin typeface="Georgia"/>
                <a:cs typeface="Georgia"/>
              </a:rPr>
              <a:t> corruption</a:t>
            </a:r>
          </a:p>
        </p:txBody>
      </p:sp>
      <p:pic>
        <p:nvPicPr>
          <p:cNvPr id="3" name="object 3"/>
          <p:cNvPicPr/>
          <p:nvPr/>
        </p:nvPicPr>
        <p:blipFill>
          <a:blip r:embed="rId2" cstate="print"/>
          <a:stretch>
            <a:fillRect/>
          </a:stretch>
        </p:blipFill>
        <p:spPr>
          <a:xfrm>
            <a:off x="228759" y="1154256"/>
            <a:ext cx="11751427" cy="44562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0309" y="1362439"/>
            <a:ext cx="10935629" cy="45903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Sparse</a:t>
            </a:r>
            <a:r>
              <a:rPr b="0" spc="-60" dirty="0">
                <a:solidFill>
                  <a:srgbClr val="A3123E"/>
                </a:solidFill>
                <a:latin typeface="Georgia"/>
                <a:cs typeface="Georgia"/>
              </a:rPr>
              <a:t> </a:t>
            </a: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242315" y="1091183"/>
            <a:ext cx="4939284" cy="3128544"/>
          </a:xfrm>
          <a:prstGeom prst="rect">
            <a:avLst/>
          </a:prstGeom>
        </p:spPr>
      </p:pic>
      <p:pic>
        <p:nvPicPr>
          <p:cNvPr id="4" name="object 4"/>
          <p:cNvPicPr/>
          <p:nvPr/>
        </p:nvPicPr>
        <p:blipFill>
          <a:blip r:embed="rId3" cstate="print"/>
          <a:stretch>
            <a:fillRect/>
          </a:stretch>
        </p:blipFill>
        <p:spPr>
          <a:xfrm>
            <a:off x="6110837" y="1208083"/>
            <a:ext cx="5516250" cy="2316076"/>
          </a:xfrm>
          <a:prstGeom prst="rect">
            <a:avLst/>
          </a:prstGeom>
        </p:spPr>
      </p:pic>
      <p:sp>
        <p:nvSpPr>
          <p:cNvPr id="5" name="object 5"/>
          <p:cNvSpPr txBox="1"/>
          <p:nvPr/>
        </p:nvSpPr>
        <p:spPr>
          <a:xfrm>
            <a:off x="571500" y="4684776"/>
            <a:ext cx="10624185" cy="1478280"/>
          </a:xfrm>
          <a:prstGeom prst="rect">
            <a:avLst/>
          </a:prstGeom>
          <a:solidFill>
            <a:srgbClr val="E1EFD9"/>
          </a:solidFill>
        </p:spPr>
        <p:txBody>
          <a:bodyPr vert="horz" wrap="square" lIns="0" tIns="31750" rIns="0" bIns="0" rtlCol="0">
            <a:spAutoFit/>
          </a:bodyPr>
          <a:lstStyle/>
          <a:p>
            <a:pPr marL="91440" marR="287655" algn="just">
              <a:lnSpc>
                <a:spcPct val="100000"/>
              </a:lnSpc>
              <a:spcBef>
                <a:spcPts val="250"/>
              </a:spcBef>
            </a:pPr>
            <a:r>
              <a:rPr sz="1800" dirty="0">
                <a:solidFill>
                  <a:srgbClr val="374151"/>
                </a:solidFill>
                <a:latin typeface="Calibri"/>
                <a:cs typeface="Calibri"/>
              </a:rPr>
              <a:t>Sparse</a:t>
            </a:r>
            <a:r>
              <a:rPr sz="1800" spc="-40" dirty="0">
                <a:solidFill>
                  <a:srgbClr val="374151"/>
                </a:solidFill>
                <a:latin typeface="Calibri"/>
                <a:cs typeface="Calibri"/>
              </a:rPr>
              <a:t> </a:t>
            </a:r>
            <a:r>
              <a:rPr sz="1800" spc="-10" dirty="0">
                <a:solidFill>
                  <a:srgbClr val="374151"/>
                </a:solidFill>
                <a:latin typeface="Calibri"/>
                <a:cs typeface="Calibri"/>
              </a:rPr>
              <a:t>autoencoders</a:t>
            </a:r>
            <a:r>
              <a:rPr sz="1800" spc="-25" dirty="0">
                <a:solidFill>
                  <a:srgbClr val="374151"/>
                </a:solidFill>
                <a:latin typeface="Calibri"/>
                <a:cs typeface="Calibri"/>
              </a:rPr>
              <a:t> </a:t>
            </a:r>
            <a:r>
              <a:rPr sz="1800" dirty="0">
                <a:solidFill>
                  <a:srgbClr val="374151"/>
                </a:solidFill>
                <a:latin typeface="Calibri"/>
                <a:cs typeface="Calibri"/>
              </a:rPr>
              <a:t>are</a:t>
            </a:r>
            <a:r>
              <a:rPr sz="1800" spc="-40" dirty="0">
                <a:solidFill>
                  <a:srgbClr val="374151"/>
                </a:solidFill>
                <a:latin typeface="Calibri"/>
                <a:cs typeface="Calibri"/>
              </a:rPr>
              <a:t> </a:t>
            </a:r>
            <a:r>
              <a:rPr sz="1800" dirty="0">
                <a:solidFill>
                  <a:srgbClr val="374151"/>
                </a:solidFill>
                <a:latin typeface="Calibri"/>
                <a:cs typeface="Calibri"/>
              </a:rPr>
              <a:t>a</a:t>
            </a:r>
            <a:r>
              <a:rPr sz="1800" spc="-35" dirty="0">
                <a:solidFill>
                  <a:srgbClr val="374151"/>
                </a:solidFill>
                <a:latin typeface="Calibri"/>
                <a:cs typeface="Calibri"/>
              </a:rPr>
              <a:t> </a:t>
            </a:r>
            <a:r>
              <a:rPr sz="1800" dirty="0">
                <a:solidFill>
                  <a:srgbClr val="374151"/>
                </a:solidFill>
                <a:latin typeface="Calibri"/>
                <a:cs typeface="Calibri"/>
              </a:rPr>
              <a:t>type</a:t>
            </a:r>
            <a:r>
              <a:rPr sz="1800" spc="-30" dirty="0">
                <a:solidFill>
                  <a:srgbClr val="374151"/>
                </a:solidFill>
                <a:latin typeface="Calibri"/>
                <a:cs typeface="Calibri"/>
              </a:rPr>
              <a:t> </a:t>
            </a:r>
            <a:r>
              <a:rPr sz="1800" dirty="0">
                <a:solidFill>
                  <a:srgbClr val="374151"/>
                </a:solidFill>
                <a:latin typeface="Calibri"/>
                <a:cs typeface="Calibri"/>
              </a:rPr>
              <a:t>of</a:t>
            </a:r>
            <a:r>
              <a:rPr sz="1800" spc="-45" dirty="0">
                <a:solidFill>
                  <a:srgbClr val="374151"/>
                </a:solidFill>
                <a:latin typeface="Calibri"/>
                <a:cs typeface="Calibri"/>
              </a:rPr>
              <a:t> </a:t>
            </a:r>
            <a:r>
              <a:rPr sz="1800" spc="-10" dirty="0">
                <a:solidFill>
                  <a:srgbClr val="374151"/>
                </a:solidFill>
                <a:latin typeface="Calibri"/>
                <a:cs typeface="Calibri"/>
              </a:rPr>
              <a:t>autoencoder</a:t>
            </a:r>
            <a:r>
              <a:rPr sz="1800" spc="-35" dirty="0">
                <a:solidFill>
                  <a:srgbClr val="374151"/>
                </a:solidFill>
                <a:latin typeface="Calibri"/>
                <a:cs typeface="Calibri"/>
              </a:rPr>
              <a:t> </a:t>
            </a:r>
            <a:r>
              <a:rPr sz="1800" dirty="0">
                <a:solidFill>
                  <a:srgbClr val="374151"/>
                </a:solidFill>
                <a:latin typeface="Calibri"/>
                <a:cs typeface="Calibri"/>
              </a:rPr>
              <a:t>that</a:t>
            </a:r>
            <a:r>
              <a:rPr sz="1800" spc="-45" dirty="0">
                <a:solidFill>
                  <a:srgbClr val="374151"/>
                </a:solidFill>
                <a:latin typeface="Calibri"/>
                <a:cs typeface="Calibri"/>
              </a:rPr>
              <a:t> </a:t>
            </a:r>
            <a:r>
              <a:rPr sz="1800" spc="-10" dirty="0">
                <a:solidFill>
                  <a:srgbClr val="374151"/>
                </a:solidFill>
                <a:latin typeface="Calibri"/>
                <a:cs typeface="Calibri"/>
              </a:rPr>
              <a:t>incorporates</a:t>
            </a:r>
            <a:r>
              <a:rPr sz="1800" spc="-30" dirty="0">
                <a:solidFill>
                  <a:srgbClr val="374151"/>
                </a:solidFill>
                <a:latin typeface="Calibri"/>
                <a:cs typeface="Calibri"/>
              </a:rPr>
              <a:t> </a:t>
            </a:r>
            <a:r>
              <a:rPr sz="1800" dirty="0">
                <a:solidFill>
                  <a:srgbClr val="374151"/>
                </a:solidFill>
                <a:latin typeface="Calibri"/>
                <a:cs typeface="Calibri"/>
              </a:rPr>
              <a:t>a</a:t>
            </a:r>
            <a:r>
              <a:rPr sz="1800" spc="-45" dirty="0">
                <a:solidFill>
                  <a:srgbClr val="374151"/>
                </a:solidFill>
                <a:latin typeface="Calibri"/>
                <a:cs typeface="Calibri"/>
              </a:rPr>
              <a:t> </a:t>
            </a:r>
            <a:r>
              <a:rPr sz="1800" dirty="0">
                <a:solidFill>
                  <a:srgbClr val="374151"/>
                </a:solidFill>
                <a:latin typeface="Calibri"/>
                <a:cs typeface="Calibri"/>
              </a:rPr>
              <a:t>sparsity</a:t>
            </a:r>
            <a:r>
              <a:rPr sz="1800" spc="-40" dirty="0">
                <a:solidFill>
                  <a:srgbClr val="374151"/>
                </a:solidFill>
                <a:latin typeface="Calibri"/>
                <a:cs typeface="Calibri"/>
              </a:rPr>
              <a:t> </a:t>
            </a:r>
            <a:r>
              <a:rPr sz="1800" spc="-10" dirty="0">
                <a:solidFill>
                  <a:srgbClr val="374151"/>
                </a:solidFill>
                <a:latin typeface="Calibri"/>
                <a:cs typeface="Calibri"/>
              </a:rPr>
              <a:t>constraint</a:t>
            </a:r>
            <a:r>
              <a:rPr sz="1800" spc="-35" dirty="0">
                <a:solidFill>
                  <a:srgbClr val="374151"/>
                </a:solidFill>
                <a:latin typeface="Calibri"/>
                <a:cs typeface="Calibri"/>
              </a:rPr>
              <a:t> </a:t>
            </a:r>
            <a:r>
              <a:rPr sz="1800" dirty="0">
                <a:solidFill>
                  <a:srgbClr val="374151"/>
                </a:solidFill>
                <a:latin typeface="Calibri"/>
                <a:cs typeface="Calibri"/>
              </a:rPr>
              <a:t>in</a:t>
            </a:r>
            <a:r>
              <a:rPr sz="1800" spc="-30" dirty="0">
                <a:solidFill>
                  <a:srgbClr val="374151"/>
                </a:solidFill>
                <a:latin typeface="Calibri"/>
                <a:cs typeface="Calibri"/>
              </a:rPr>
              <a:t> </a:t>
            </a:r>
            <a:r>
              <a:rPr sz="1800" dirty="0">
                <a:solidFill>
                  <a:srgbClr val="374151"/>
                </a:solidFill>
                <a:latin typeface="Calibri"/>
                <a:cs typeface="Calibri"/>
              </a:rPr>
              <a:t>the</a:t>
            </a:r>
            <a:r>
              <a:rPr sz="1800" spc="-40" dirty="0">
                <a:solidFill>
                  <a:srgbClr val="374151"/>
                </a:solidFill>
                <a:latin typeface="Calibri"/>
                <a:cs typeface="Calibri"/>
              </a:rPr>
              <a:t> </a:t>
            </a:r>
            <a:r>
              <a:rPr sz="1800" dirty="0">
                <a:solidFill>
                  <a:srgbClr val="374151"/>
                </a:solidFill>
                <a:latin typeface="Calibri"/>
                <a:cs typeface="Calibri"/>
              </a:rPr>
              <a:t>learning</a:t>
            </a:r>
            <a:r>
              <a:rPr sz="1800" spc="-30" dirty="0">
                <a:solidFill>
                  <a:srgbClr val="374151"/>
                </a:solidFill>
                <a:latin typeface="Calibri"/>
                <a:cs typeface="Calibri"/>
              </a:rPr>
              <a:t> </a:t>
            </a:r>
            <a:r>
              <a:rPr sz="1800" spc="-10" dirty="0">
                <a:solidFill>
                  <a:srgbClr val="374151"/>
                </a:solidFill>
                <a:latin typeface="Calibri"/>
                <a:cs typeface="Calibri"/>
              </a:rPr>
              <a:t>process. </a:t>
            </a:r>
            <a:r>
              <a:rPr sz="1800" dirty="0">
                <a:solidFill>
                  <a:srgbClr val="374151"/>
                </a:solidFill>
                <a:latin typeface="Calibri"/>
                <a:cs typeface="Calibri"/>
              </a:rPr>
              <a:t>The</a:t>
            </a:r>
            <a:r>
              <a:rPr sz="1800" spc="-45" dirty="0">
                <a:solidFill>
                  <a:srgbClr val="374151"/>
                </a:solidFill>
                <a:latin typeface="Calibri"/>
                <a:cs typeface="Calibri"/>
              </a:rPr>
              <a:t> </a:t>
            </a:r>
            <a:r>
              <a:rPr sz="1800" dirty="0">
                <a:solidFill>
                  <a:srgbClr val="374151"/>
                </a:solidFill>
                <a:latin typeface="Calibri"/>
                <a:cs typeface="Calibri"/>
              </a:rPr>
              <a:t>sparsity</a:t>
            </a:r>
            <a:r>
              <a:rPr sz="1800" spc="-40" dirty="0">
                <a:solidFill>
                  <a:srgbClr val="374151"/>
                </a:solidFill>
                <a:latin typeface="Calibri"/>
                <a:cs typeface="Calibri"/>
              </a:rPr>
              <a:t> </a:t>
            </a:r>
            <a:r>
              <a:rPr sz="1800" spc="-10" dirty="0">
                <a:solidFill>
                  <a:srgbClr val="374151"/>
                </a:solidFill>
                <a:latin typeface="Calibri"/>
                <a:cs typeface="Calibri"/>
              </a:rPr>
              <a:t>constraint</a:t>
            </a:r>
            <a:r>
              <a:rPr sz="1800" spc="-40" dirty="0">
                <a:solidFill>
                  <a:srgbClr val="374151"/>
                </a:solidFill>
                <a:latin typeface="Calibri"/>
                <a:cs typeface="Calibri"/>
              </a:rPr>
              <a:t> </a:t>
            </a:r>
            <a:r>
              <a:rPr sz="1800" spc="-10" dirty="0">
                <a:solidFill>
                  <a:srgbClr val="374151"/>
                </a:solidFill>
                <a:latin typeface="Calibri"/>
                <a:cs typeface="Calibri"/>
              </a:rPr>
              <a:t>encourages</a:t>
            </a:r>
            <a:r>
              <a:rPr sz="1800" spc="-35" dirty="0">
                <a:solidFill>
                  <a:srgbClr val="374151"/>
                </a:solidFill>
                <a:latin typeface="Calibri"/>
                <a:cs typeface="Calibri"/>
              </a:rPr>
              <a:t> </a:t>
            </a:r>
            <a:r>
              <a:rPr sz="1800" dirty="0">
                <a:solidFill>
                  <a:srgbClr val="374151"/>
                </a:solidFill>
                <a:latin typeface="Calibri"/>
                <a:cs typeface="Calibri"/>
              </a:rPr>
              <a:t>the</a:t>
            </a:r>
            <a:r>
              <a:rPr sz="1800" spc="-40" dirty="0">
                <a:solidFill>
                  <a:srgbClr val="374151"/>
                </a:solidFill>
                <a:latin typeface="Calibri"/>
                <a:cs typeface="Calibri"/>
              </a:rPr>
              <a:t> </a:t>
            </a:r>
            <a:r>
              <a:rPr sz="1800" spc="-10" dirty="0">
                <a:solidFill>
                  <a:srgbClr val="374151"/>
                </a:solidFill>
                <a:latin typeface="Calibri"/>
                <a:cs typeface="Calibri"/>
              </a:rPr>
              <a:t>autoencoder</a:t>
            </a:r>
            <a:r>
              <a:rPr sz="1800" spc="-40" dirty="0">
                <a:solidFill>
                  <a:srgbClr val="374151"/>
                </a:solidFill>
                <a:latin typeface="Calibri"/>
                <a:cs typeface="Calibri"/>
              </a:rPr>
              <a:t> </a:t>
            </a:r>
            <a:r>
              <a:rPr sz="1800" dirty="0">
                <a:solidFill>
                  <a:srgbClr val="374151"/>
                </a:solidFill>
                <a:latin typeface="Calibri"/>
                <a:cs typeface="Calibri"/>
              </a:rPr>
              <a:t>to</a:t>
            </a:r>
            <a:r>
              <a:rPr sz="1800" spc="-45" dirty="0">
                <a:solidFill>
                  <a:srgbClr val="374151"/>
                </a:solidFill>
                <a:latin typeface="Calibri"/>
                <a:cs typeface="Calibri"/>
              </a:rPr>
              <a:t> </a:t>
            </a:r>
            <a:r>
              <a:rPr sz="1800" dirty="0">
                <a:solidFill>
                  <a:srgbClr val="374151"/>
                </a:solidFill>
                <a:latin typeface="Calibri"/>
                <a:cs typeface="Calibri"/>
              </a:rPr>
              <a:t>have</a:t>
            </a:r>
            <a:r>
              <a:rPr sz="1800" spc="-45" dirty="0">
                <a:solidFill>
                  <a:srgbClr val="374151"/>
                </a:solidFill>
                <a:latin typeface="Calibri"/>
                <a:cs typeface="Calibri"/>
              </a:rPr>
              <a:t> </a:t>
            </a:r>
            <a:r>
              <a:rPr sz="1800" dirty="0">
                <a:solidFill>
                  <a:srgbClr val="374151"/>
                </a:solidFill>
                <a:latin typeface="Calibri"/>
                <a:cs typeface="Calibri"/>
              </a:rPr>
              <a:t>a</a:t>
            </a:r>
            <a:r>
              <a:rPr sz="1800" spc="-35" dirty="0">
                <a:solidFill>
                  <a:srgbClr val="374151"/>
                </a:solidFill>
                <a:latin typeface="Calibri"/>
                <a:cs typeface="Calibri"/>
              </a:rPr>
              <a:t> </a:t>
            </a:r>
            <a:r>
              <a:rPr sz="1800" dirty="0">
                <a:solidFill>
                  <a:srgbClr val="374151"/>
                </a:solidFill>
                <a:latin typeface="Calibri"/>
                <a:cs typeface="Calibri"/>
              </a:rPr>
              <a:t>small</a:t>
            </a:r>
            <a:r>
              <a:rPr sz="1800" spc="-50" dirty="0">
                <a:solidFill>
                  <a:srgbClr val="374151"/>
                </a:solidFill>
                <a:latin typeface="Calibri"/>
                <a:cs typeface="Calibri"/>
              </a:rPr>
              <a:t> </a:t>
            </a:r>
            <a:r>
              <a:rPr sz="1800" dirty="0">
                <a:solidFill>
                  <a:srgbClr val="374151"/>
                </a:solidFill>
                <a:latin typeface="Calibri"/>
                <a:cs typeface="Calibri"/>
              </a:rPr>
              <a:t>number</a:t>
            </a:r>
            <a:r>
              <a:rPr sz="1800" spc="-40" dirty="0">
                <a:solidFill>
                  <a:srgbClr val="374151"/>
                </a:solidFill>
                <a:latin typeface="Calibri"/>
                <a:cs typeface="Calibri"/>
              </a:rPr>
              <a:t> </a:t>
            </a:r>
            <a:r>
              <a:rPr sz="1800" dirty="0">
                <a:solidFill>
                  <a:srgbClr val="374151"/>
                </a:solidFill>
                <a:latin typeface="Calibri"/>
                <a:cs typeface="Calibri"/>
              </a:rPr>
              <a:t>of</a:t>
            </a:r>
            <a:r>
              <a:rPr sz="1800" spc="-45" dirty="0">
                <a:solidFill>
                  <a:srgbClr val="374151"/>
                </a:solidFill>
                <a:latin typeface="Calibri"/>
                <a:cs typeface="Calibri"/>
              </a:rPr>
              <a:t> </a:t>
            </a:r>
            <a:r>
              <a:rPr sz="1800" dirty="0">
                <a:solidFill>
                  <a:srgbClr val="374151"/>
                </a:solidFill>
                <a:latin typeface="Calibri"/>
                <a:cs typeface="Calibri"/>
              </a:rPr>
              <a:t>active</a:t>
            </a:r>
            <a:r>
              <a:rPr sz="1800" spc="-30" dirty="0">
                <a:solidFill>
                  <a:srgbClr val="374151"/>
                </a:solidFill>
                <a:latin typeface="Calibri"/>
                <a:cs typeface="Calibri"/>
              </a:rPr>
              <a:t> </a:t>
            </a:r>
            <a:r>
              <a:rPr sz="1800" dirty="0">
                <a:solidFill>
                  <a:srgbClr val="374151"/>
                </a:solidFill>
                <a:latin typeface="Calibri"/>
                <a:cs typeface="Calibri"/>
              </a:rPr>
              <a:t>neurons,</a:t>
            </a:r>
            <a:r>
              <a:rPr sz="1800" spc="-45" dirty="0">
                <a:solidFill>
                  <a:srgbClr val="374151"/>
                </a:solidFill>
                <a:latin typeface="Calibri"/>
                <a:cs typeface="Calibri"/>
              </a:rPr>
              <a:t> </a:t>
            </a:r>
            <a:r>
              <a:rPr sz="1800" dirty="0">
                <a:solidFill>
                  <a:srgbClr val="374151"/>
                </a:solidFill>
                <a:latin typeface="Calibri"/>
                <a:cs typeface="Calibri"/>
              </a:rPr>
              <a:t>meaning</a:t>
            </a:r>
            <a:r>
              <a:rPr sz="1800" spc="-30" dirty="0">
                <a:solidFill>
                  <a:srgbClr val="374151"/>
                </a:solidFill>
                <a:latin typeface="Calibri"/>
                <a:cs typeface="Calibri"/>
              </a:rPr>
              <a:t> </a:t>
            </a:r>
            <a:r>
              <a:rPr sz="1800" dirty="0">
                <a:solidFill>
                  <a:srgbClr val="374151"/>
                </a:solidFill>
                <a:latin typeface="Calibri"/>
                <a:cs typeface="Calibri"/>
              </a:rPr>
              <a:t>only</a:t>
            </a:r>
            <a:r>
              <a:rPr sz="1800" spc="-45" dirty="0">
                <a:solidFill>
                  <a:srgbClr val="374151"/>
                </a:solidFill>
                <a:latin typeface="Calibri"/>
                <a:cs typeface="Calibri"/>
              </a:rPr>
              <a:t> </a:t>
            </a:r>
            <a:r>
              <a:rPr sz="1800" spc="-50" dirty="0">
                <a:solidFill>
                  <a:srgbClr val="374151"/>
                </a:solidFill>
                <a:latin typeface="Calibri"/>
                <a:cs typeface="Calibri"/>
              </a:rPr>
              <a:t>a </a:t>
            </a:r>
            <a:r>
              <a:rPr sz="1800" dirty="0">
                <a:solidFill>
                  <a:srgbClr val="374151"/>
                </a:solidFill>
                <a:latin typeface="Calibri"/>
                <a:cs typeface="Calibri"/>
              </a:rPr>
              <a:t>subset</a:t>
            </a:r>
            <a:r>
              <a:rPr sz="1800" spc="-55" dirty="0">
                <a:solidFill>
                  <a:srgbClr val="374151"/>
                </a:solidFill>
                <a:latin typeface="Calibri"/>
                <a:cs typeface="Calibri"/>
              </a:rPr>
              <a:t> </a:t>
            </a:r>
            <a:r>
              <a:rPr sz="1800" dirty="0">
                <a:solidFill>
                  <a:srgbClr val="374151"/>
                </a:solidFill>
                <a:latin typeface="Calibri"/>
                <a:cs typeface="Calibri"/>
              </a:rPr>
              <a:t>of</a:t>
            </a:r>
            <a:r>
              <a:rPr sz="1800" spc="-55" dirty="0">
                <a:solidFill>
                  <a:srgbClr val="374151"/>
                </a:solidFill>
                <a:latin typeface="Calibri"/>
                <a:cs typeface="Calibri"/>
              </a:rPr>
              <a:t> </a:t>
            </a:r>
            <a:r>
              <a:rPr sz="1800" dirty="0">
                <a:solidFill>
                  <a:srgbClr val="374151"/>
                </a:solidFill>
                <a:latin typeface="Calibri"/>
                <a:cs typeface="Calibri"/>
              </a:rPr>
              <a:t>neurons</a:t>
            </a:r>
            <a:r>
              <a:rPr sz="1800" spc="-40" dirty="0">
                <a:solidFill>
                  <a:srgbClr val="374151"/>
                </a:solidFill>
                <a:latin typeface="Calibri"/>
                <a:cs typeface="Calibri"/>
              </a:rPr>
              <a:t> </a:t>
            </a:r>
            <a:r>
              <a:rPr sz="1800" dirty="0">
                <a:solidFill>
                  <a:srgbClr val="374151"/>
                </a:solidFill>
                <a:latin typeface="Calibri"/>
                <a:cs typeface="Calibri"/>
              </a:rPr>
              <a:t>are</a:t>
            </a:r>
            <a:r>
              <a:rPr sz="1800" spc="-35" dirty="0">
                <a:solidFill>
                  <a:srgbClr val="374151"/>
                </a:solidFill>
                <a:latin typeface="Calibri"/>
                <a:cs typeface="Calibri"/>
              </a:rPr>
              <a:t> </a:t>
            </a:r>
            <a:r>
              <a:rPr sz="1800" spc="-10" dirty="0">
                <a:solidFill>
                  <a:srgbClr val="374151"/>
                </a:solidFill>
                <a:latin typeface="Calibri"/>
                <a:cs typeface="Calibri"/>
              </a:rPr>
              <a:t>activated</a:t>
            </a:r>
            <a:r>
              <a:rPr sz="1800" spc="-45" dirty="0">
                <a:solidFill>
                  <a:srgbClr val="374151"/>
                </a:solidFill>
                <a:latin typeface="Calibri"/>
                <a:cs typeface="Calibri"/>
              </a:rPr>
              <a:t> </a:t>
            </a:r>
            <a:r>
              <a:rPr sz="1800" dirty="0">
                <a:solidFill>
                  <a:srgbClr val="374151"/>
                </a:solidFill>
                <a:latin typeface="Calibri"/>
                <a:cs typeface="Calibri"/>
              </a:rPr>
              <a:t>for</a:t>
            </a:r>
            <a:r>
              <a:rPr sz="1800" spc="-40" dirty="0">
                <a:solidFill>
                  <a:srgbClr val="374151"/>
                </a:solidFill>
                <a:latin typeface="Calibri"/>
                <a:cs typeface="Calibri"/>
              </a:rPr>
              <a:t> </a:t>
            </a:r>
            <a:r>
              <a:rPr sz="1800" dirty="0">
                <a:solidFill>
                  <a:srgbClr val="374151"/>
                </a:solidFill>
                <a:latin typeface="Calibri"/>
                <a:cs typeface="Calibri"/>
              </a:rPr>
              <a:t>each</a:t>
            </a:r>
            <a:r>
              <a:rPr sz="1800" spc="-40" dirty="0">
                <a:solidFill>
                  <a:srgbClr val="374151"/>
                </a:solidFill>
                <a:latin typeface="Calibri"/>
                <a:cs typeface="Calibri"/>
              </a:rPr>
              <a:t> </a:t>
            </a:r>
            <a:r>
              <a:rPr sz="1800" dirty="0">
                <a:solidFill>
                  <a:srgbClr val="374151"/>
                </a:solidFill>
                <a:latin typeface="Calibri"/>
                <a:cs typeface="Calibri"/>
              </a:rPr>
              <a:t>input</a:t>
            </a:r>
            <a:r>
              <a:rPr sz="1800" spc="-35" dirty="0">
                <a:solidFill>
                  <a:srgbClr val="374151"/>
                </a:solidFill>
                <a:latin typeface="Calibri"/>
                <a:cs typeface="Calibri"/>
              </a:rPr>
              <a:t> </a:t>
            </a:r>
            <a:r>
              <a:rPr sz="1800" dirty="0">
                <a:solidFill>
                  <a:srgbClr val="374151"/>
                </a:solidFill>
                <a:latin typeface="Calibri"/>
                <a:cs typeface="Calibri"/>
              </a:rPr>
              <a:t>sample.</a:t>
            </a:r>
            <a:r>
              <a:rPr sz="1800" spc="-55" dirty="0">
                <a:solidFill>
                  <a:srgbClr val="374151"/>
                </a:solidFill>
                <a:latin typeface="Calibri"/>
                <a:cs typeface="Calibri"/>
              </a:rPr>
              <a:t> </a:t>
            </a:r>
            <a:r>
              <a:rPr sz="1800" spc="-50" dirty="0">
                <a:solidFill>
                  <a:srgbClr val="374151"/>
                </a:solidFill>
                <a:latin typeface="Calibri"/>
                <a:cs typeface="Calibri"/>
              </a:rPr>
              <a:t>:</a:t>
            </a:r>
            <a:endParaRPr sz="1800">
              <a:latin typeface="Calibri"/>
              <a:cs typeface="Calibri"/>
            </a:endParaRPr>
          </a:p>
          <a:p>
            <a:pPr marL="91440" algn="just">
              <a:lnSpc>
                <a:spcPct val="100000"/>
              </a:lnSpc>
              <a:spcBef>
                <a:spcPts val="5"/>
              </a:spcBef>
            </a:pPr>
            <a:r>
              <a:rPr sz="1800" dirty="0">
                <a:solidFill>
                  <a:srgbClr val="374151"/>
                </a:solidFill>
                <a:latin typeface="Calibri"/>
                <a:cs typeface="Calibri"/>
              </a:rPr>
              <a:t>sparse</a:t>
            </a:r>
            <a:r>
              <a:rPr sz="1800" spc="-50" dirty="0">
                <a:solidFill>
                  <a:srgbClr val="374151"/>
                </a:solidFill>
                <a:latin typeface="Calibri"/>
                <a:cs typeface="Calibri"/>
              </a:rPr>
              <a:t> </a:t>
            </a:r>
            <a:r>
              <a:rPr sz="1800" spc="-10" dirty="0">
                <a:solidFill>
                  <a:srgbClr val="374151"/>
                </a:solidFill>
                <a:latin typeface="Calibri"/>
                <a:cs typeface="Calibri"/>
              </a:rPr>
              <a:t>autoencoders</a:t>
            </a:r>
            <a:r>
              <a:rPr sz="1800" spc="-50" dirty="0">
                <a:solidFill>
                  <a:srgbClr val="374151"/>
                </a:solidFill>
                <a:latin typeface="Calibri"/>
                <a:cs typeface="Calibri"/>
              </a:rPr>
              <a:t> </a:t>
            </a:r>
            <a:r>
              <a:rPr sz="1800" dirty="0">
                <a:solidFill>
                  <a:srgbClr val="374151"/>
                </a:solidFill>
                <a:latin typeface="Calibri"/>
                <a:cs typeface="Calibri"/>
              </a:rPr>
              <a:t>are</a:t>
            </a:r>
            <a:r>
              <a:rPr sz="1800" spc="-35" dirty="0">
                <a:solidFill>
                  <a:srgbClr val="374151"/>
                </a:solidFill>
                <a:latin typeface="Calibri"/>
                <a:cs typeface="Calibri"/>
              </a:rPr>
              <a:t> </a:t>
            </a:r>
            <a:r>
              <a:rPr sz="1800" dirty="0">
                <a:solidFill>
                  <a:srgbClr val="374151"/>
                </a:solidFill>
                <a:latin typeface="Calibri"/>
                <a:cs typeface="Calibri"/>
              </a:rPr>
              <a:t>useful</a:t>
            </a:r>
            <a:r>
              <a:rPr sz="1800" spc="-55" dirty="0">
                <a:solidFill>
                  <a:srgbClr val="374151"/>
                </a:solidFill>
                <a:latin typeface="Calibri"/>
                <a:cs typeface="Calibri"/>
              </a:rPr>
              <a:t> </a:t>
            </a:r>
            <a:r>
              <a:rPr sz="1800" dirty="0">
                <a:solidFill>
                  <a:srgbClr val="374151"/>
                </a:solidFill>
                <a:latin typeface="Calibri"/>
                <a:cs typeface="Calibri"/>
              </a:rPr>
              <a:t>for</a:t>
            </a:r>
            <a:r>
              <a:rPr sz="1800" spc="-50" dirty="0">
                <a:solidFill>
                  <a:srgbClr val="374151"/>
                </a:solidFill>
                <a:latin typeface="Calibri"/>
                <a:cs typeface="Calibri"/>
              </a:rPr>
              <a:t> </a:t>
            </a:r>
            <a:r>
              <a:rPr sz="1800" spc="-10" dirty="0">
                <a:solidFill>
                  <a:srgbClr val="374151"/>
                </a:solidFill>
                <a:latin typeface="Calibri"/>
                <a:cs typeface="Calibri"/>
              </a:rPr>
              <a:t>unsupervised</a:t>
            </a:r>
            <a:r>
              <a:rPr sz="1800" spc="-50" dirty="0">
                <a:solidFill>
                  <a:srgbClr val="374151"/>
                </a:solidFill>
                <a:latin typeface="Calibri"/>
                <a:cs typeface="Calibri"/>
              </a:rPr>
              <a:t> </a:t>
            </a:r>
            <a:r>
              <a:rPr sz="1800" dirty="0">
                <a:solidFill>
                  <a:srgbClr val="374151"/>
                </a:solidFill>
                <a:latin typeface="Calibri"/>
                <a:cs typeface="Calibri"/>
              </a:rPr>
              <a:t>feature</a:t>
            </a:r>
            <a:r>
              <a:rPr sz="1800" spc="-35" dirty="0">
                <a:solidFill>
                  <a:srgbClr val="374151"/>
                </a:solidFill>
                <a:latin typeface="Calibri"/>
                <a:cs typeface="Calibri"/>
              </a:rPr>
              <a:t> </a:t>
            </a:r>
            <a:r>
              <a:rPr sz="1800" dirty="0">
                <a:solidFill>
                  <a:srgbClr val="374151"/>
                </a:solidFill>
                <a:latin typeface="Calibri"/>
                <a:cs typeface="Calibri"/>
              </a:rPr>
              <a:t>learning</a:t>
            </a:r>
            <a:r>
              <a:rPr sz="1800" spc="-40" dirty="0">
                <a:solidFill>
                  <a:srgbClr val="374151"/>
                </a:solidFill>
                <a:latin typeface="Calibri"/>
                <a:cs typeface="Calibri"/>
              </a:rPr>
              <a:t> </a:t>
            </a:r>
            <a:r>
              <a:rPr sz="1800" dirty="0">
                <a:solidFill>
                  <a:srgbClr val="374151"/>
                </a:solidFill>
                <a:latin typeface="Calibri"/>
                <a:cs typeface="Calibri"/>
              </a:rPr>
              <a:t>tasks,</a:t>
            </a:r>
            <a:r>
              <a:rPr sz="1800" spc="-65" dirty="0">
                <a:solidFill>
                  <a:srgbClr val="374151"/>
                </a:solidFill>
                <a:latin typeface="Calibri"/>
                <a:cs typeface="Calibri"/>
              </a:rPr>
              <a:t> </a:t>
            </a:r>
            <a:r>
              <a:rPr sz="1800" dirty="0">
                <a:solidFill>
                  <a:srgbClr val="374151"/>
                </a:solidFill>
                <a:latin typeface="Calibri"/>
                <a:cs typeface="Calibri"/>
              </a:rPr>
              <a:t>such</a:t>
            </a:r>
            <a:r>
              <a:rPr sz="1800" spc="-50" dirty="0">
                <a:solidFill>
                  <a:srgbClr val="374151"/>
                </a:solidFill>
                <a:latin typeface="Calibri"/>
                <a:cs typeface="Calibri"/>
              </a:rPr>
              <a:t> </a:t>
            </a:r>
            <a:r>
              <a:rPr sz="1800" dirty="0">
                <a:solidFill>
                  <a:srgbClr val="374151"/>
                </a:solidFill>
                <a:latin typeface="Calibri"/>
                <a:cs typeface="Calibri"/>
              </a:rPr>
              <a:t>as</a:t>
            </a:r>
            <a:r>
              <a:rPr sz="1800" spc="-50" dirty="0">
                <a:solidFill>
                  <a:srgbClr val="374151"/>
                </a:solidFill>
                <a:latin typeface="Calibri"/>
                <a:cs typeface="Calibri"/>
              </a:rPr>
              <a:t> </a:t>
            </a:r>
            <a:r>
              <a:rPr sz="1800" spc="-10" dirty="0">
                <a:solidFill>
                  <a:srgbClr val="374151"/>
                </a:solidFill>
                <a:latin typeface="Calibri"/>
                <a:cs typeface="Calibri"/>
              </a:rPr>
              <a:t>dimensionality</a:t>
            </a:r>
            <a:r>
              <a:rPr sz="1800" spc="-45" dirty="0">
                <a:solidFill>
                  <a:srgbClr val="374151"/>
                </a:solidFill>
                <a:latin typeface="Calibri"/>
                <a:cs typeface="Calibri"/>
              </a:rPr>
              <a:t> </a:t>
            </a:r>
            <a:r>
              <a:rPr sz="1800" dirty="0">
                <a:solidFill>
                  <a:srgbClr val="374151"/>
                </a:solidFill>
                <a:latin typeface="Calibri"/>
                <a:cs typeface="Calibri"/>
              </a:rPr>
              <a:t>reduction</a:t>
            </a:r>
            <a:r>
              <a:rPr sz="1800" spc="-35" dirty="0">
                <a:solidFill>
                  <a:srgbClr val="374151"/>
                </a:solidFill>
                <a:latin typeface="Calibri"/>
                <a:cs typeface="Calibri"/>
              </a:rPr>
              <a:t> </a:t>
            </a:r>
            <a:r>
              <a:rPr sz="1800" spc="-25" dirty="0">
                <a:solidFill>
                  <a:srgbClr val="374151"/>
                </a:solidFill>
                <a:latin typeface="Calibri"/>
                <a:cs typeface="Calibri"/>
              </a:rPr>
              <a:t>or</a:t>
            </a:r>
            <a:endParaRPr sz="1800">
              <a:latin typeface="Calibri"/>
              <a:cs typeface="Calibri"/>
            </a:endParaRPr>
          </a:p>
          <a:p>
            <a:pPr marL="91440" algn="just">
              <a:lnSpc>
                <a:spcPct val="100000"/>
              </a:lnSpc>
            </a:pPr>
            <a:r>
              <a:rPr sz="1800" spc="-10" dirty="0">
                <a:solidFill>
                  <a:srgbClr val="374151"/>
                </a:solidFill>
                <a:latin typeface="Calibri"/>
                <a:cs typeface="Calibri"/>
              </a:rPr>
              <a:t>pretraining</a:t>
            </a:r>
            <a:r>
              <a:rPr sz="1800" spc="-20" dirty="0">
                <a:solidFill>
                  <a:srgbClr val="374151"/>
                </a:solidFill>
                <a:latin typeface="Calibri"/>
                <a:cs typeface="Calibri"/>
              </a:rPr>
              <a:t> </a:t>
            </a:r>
            <a:r>
              <a:rPr sz="1800" dirty="0">
                <a:solidFill>
                  <a:srgbClr val="374151"/>
                </a:solidFill>
                <a:latin typeface="Calibri"/>
                <a:cs typeface="Calibri"/>
              </a:rPr>
              <a:t>deep</a:t>
            </a:r>
            <a:r>
              <a:rPr sz="1800" spc="-40" dirty="0">
                <a:solidFill>
                  <a:srgbClr val="374151"/>
                </a:solidFill>
                <a:latin typeface="Calibri"/>
                <a:cs typeface="Calibri"/>
              </a:rPr>
              <a:t> </a:t>
            </a:r>
            <a:r>
              <a:rPr sz="1800" dirty="0">
                <a:solidFill>
                  <a:srgbClr val="374151"/>
                </a:solidFill>
                <a:latin typeface="Calibri"/>
                <a:cs typeface="Calibri"/>
              </a:rPr>
              <a:t>neural</a:t>
            </a:r>
            <a:r>
              <a:rPr sz="1800" spc="-30" dirty="0">
                <a:solidFill>
                  <a:srgbClr val="374151"/>
                </a:solidFill>
                <a:latin typeface="Calibri"/>
                <a:cs typeface="Calibri"/>
              </a:rPr>
              <a:t> </a:t>
            </a:r>
            <a:r>
              <a:rPr sz="1800" spc="-10" dirty="0">
                <a:solidFill>
                  <a:srgbClr val="374151"/>
                </a:solidFill>
                <a:latin typeface="Calibri"/>
                <a:cs typeface="Calibri"/>
              </a:rPr>
              <a:t>networks.</a:t>
            </a:r>
            <a:endParaRPr sz="18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Sparse</a:t>
            </a:r>
            <a:r>
              <a:rPr b="0" spc="-60" dirty="0">
                <a:solidFill>
                  <a:srgbClr val="A3123E"/>
                </a:solidFill>
                <a:latin typeface="Georgia"/>
                <a:cs typeface="Georgia"/>
              </a:rPr>
              <a:t> </a:t>
            </a: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300227" y="1069847"/>
            <a:ext cx="4940808" cy="3129947"/>
          </a:xfrm>
          <a:prstGeom prst="rect">
            <a:avLst/>
          </a:prstGeom>
        </p:spPr>
      </p:pic>
      <p:pic>
        <p:nvPicPr>
          <p:cNvPr id="4" name="object 4"/>
          <p:cNvPicPr/>
          <p:nvPr/>
        </p:nvPicPr>
        <p:blipFill>
          <a:blip r:embed="rId3" cstate="print"/>
          <a:stretch>
            <a:fillRect/>
          </a:stretch>
        </p:blipFill>
        <p:spPr>
          <a:xfrm>
            <a:off x="5448242" y="588895"/>
            <a:ext cx="5495003" cy="4905700"/>
          </a:xfrm>
          <a:prstGeom prst="rect">
            <a:avLst/>
          </a:prstGeom>
        </p:spPr>
      </p:pic>
      <p:pic>
        <p:nvPicPr>
          <p:cNvPr id="5" name="object 5"/>
          <p:cNvPicPr/>
          <p:nvPr/>
        </p:nvPicPr>
        <p:blipFill>
          <a:blip r:embed="rId4" cstate="print"/>
          <a:stretch>
            <a:fillRect/>
          </a:stretch>
        </p:blipFill>
        <p:spPr>
          <a:xfrm>
            <a:off x="1001820" y="4581104"/>
            <a:ext cx="3502871" cy="15986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Sparse</a:t>
            </a:r>
            <a:r>
              <a:rPr b="0" spc="-60" dirty="0">
                <a:solidFill>
                  <a:srgbClr val="A3123E"/>
                </a:solidFill>
                <a:latin typeface="Georgia"/>
                <a:cs typeface="Georgia"/>
              </a:rPr>
              <a:t> </a:t>
            </a:r>
            <a:r>
              <a:rPr b="0" spc="-10" dirty="0">
                <a:solidFill>
                  <a:srgbClr val="A3123E"/>
                </a:solidFill>
                <a:latin typeface="Georgia"/>
                <a:cs typeface="Georgia"/>
              </a:rPr>
              <a:t>Autoencoder</a:t>
            </a:r>
          </a:p>
        </p:txBody>
      </p:sp>
      <p:pic>
        <p:nvPicPr>
          <p:cNvPr id="3" name="object 3"/>
          <p:cNvPicPr/>
          <p:nvPr/>
        </p:nvPicPr>
        <p:blipFill>
          <a:blip r:embed="rId2" cstate="print"/>
          <a:stretch>
            <a:fillRect/>
          </a:stretch>
        </p:blipFill>
        <p:spPr>
          <a:xfrm>
            <a:off x="5554922" y="116455"/>
            <a:ext cx="5495003" cy="4905700"/>
          </a:xfrm>
          <a:prstGeom prst="rect">
            <a:avLst/>
          </a:prstGeom>
        </p:spPr>
      </p:pic>
      <p:pic>
        <p:nvPicPr>
          <p:cNvPr id="4" name="object 4"/>
          <p:cNvPicPr/>
          <p:nvPr/>
        </p:nvPicPr>
        <p:blipFill>
          <a:blip r:embed="rId3" cstate="print"/>
          <a:stretch>
            <a:fillRect/>
          </a:stretch>
        </p:blipFill>
        <p:spPr>
          <a:xfrm>
            <a:off x="1001820" y="4581104"/>
            <a:ext cx="3502871" cy="1598681"/>
          </a:xfrm>
          <a:prstGeom prst="rect">
            <a:avLst/>
          </a:prstGeom>
        </p:spPr>
      </p:pic>
      <p:pic>
        <p:nvPicPr>
          <p:cNvPr id="5" name="object 5"/>
          <p:cNvPicPr/>
          <p:nvPr/>
        </p:nvPicPr>
        <p:blipFill>
          <a:blip r:embed="rId4" cstate="print"/>
          <a:stretch>
            <a:fillRect/>
          </a:stretch>
        </p:blipFill>
        <p:spPr>
          <a:xfrm>
            <a:off x="691439" y="1233058"/>
            <a:ext cx="3544212" cy="26381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8447" y="3906011"/>
            <a:ext cx="9448800" cy="1199515"/>
          </a:xfrm>
          <a:prstGeom prst="rect">
            <a:avLst/>
          </a:prstGeom>
          <a:solidFill>
            <a:srgbClr val="ECECEC"/>
          </a:solidFill>
        </p:spPr>
        <p:txBody>
          <a:bodyPr vert="horz" wrap="square" lIns="0" tIns="30480" rIns="0" bIns="0" rtlCol="0">
            <a:spAutoFit/>
          </a:bodyPr>
          <a:lstStyle/>
          <a:p>
            <a:pPr marL="90805" marR="260985">
              <a:lnSpc>
                <a:spcPct val="100000"/>
              </a:lnSpc>
              <a:spcBef>
                <a:spcPts val="240"/>
              </a:spcBef>
            </a:pPr>
            <a:r>
              <a:rPr sz="1800" dirty="0">
                <a:solidFill>
                  <a:srgbClr val="374151"/>
                </a:solidFill>
                <a:latin typeface="Calibri"/>
                <a:cs typeface="Calibri"/>
              </a:rPr>
              <a:t>The</a:t>
            </a:r>
            <a:r>
              <a:rPr sz="1800" spc="-50" dirty="0">
                <a:solidFill>
                  <a:srgbClr val="374151"/>
                </a:solidFill>
                <a:latin typeface="Calibri"/>
                <a:cs typeface="Calibri"/>
              </a:rPr>
              <a:t> </a:t>
            </a:r>
            <a:r>
              <a:rPr sz="1800" dirty="0">
                <a:solidFill>
                  <a:srgbClr val="374151"/>
                </a:solidFill>
                <a:latin typeface="Calibri"/>
                <a:cs typeface="Calibri"/>
              </a:rPr>
              <a:t>sparsity</a:t>
            </a:r>
            <a:r>
              <a:rPr sz="1800" spc="-50" dirty="0">
                <a:solidFill>
                  <a:srgbClr val="374151"/>
                </a:solidFill>
                <a:latin typeface="Calibri"/>
                <a:cs typeface="Calibri"/>
              </a:rPr>
              <a:t> </a:t>
            </a:r>
            <a:r>
              <a:rPr sz="1800" spc="-10" dirty="0">
                <a:solidFill>
                  <a:srgbClr val="374151"/>
                </a:solidFill>
                <a:latin typeface="Calibri"/>
                <a:cs typeface="Calibri"/>
              </a:rPr>
              <a:t>constraint</a:t>
            </a:r>
            <a:r>
              <a:rPr sz="1800" spc="-40" dirty="0">
                <a:solidFill>
                  <a:srgbClr val="374151"/>
                </a:solidFill>
                <a:latin typeface="Calibri"/>
                <a:cs typeface="Calibri"/>
              </a:rPr>
              <a:t> </a:t>
            </a:r>
            <a:r>
              <a:rPr sz="1800" dirty="0">
                <a:solidFill>
                  <a:srgbClr val="374151"/>
                </a:solidFill>
                <a:latin typeface="Calibri"/>
                <a:cs typeface="Calibri"/>
              </a:rPr>
              <a:t>in</a:t>
            </a:r>
            <a:r>
              <a:rPr sz="1800" spc="-40" dirty="0">
                <a:solidFill>
                  <a:srgbClr val="374151"/>
                </a:solidFill>
                <a:latin typeface="Calibri"/>
                <a:cs typeface="Calibri"/>
              </a:rPr>
              <a:t> </a:t>
            </a:r>
            <a:r>
              <a:rPr sz="1800" dirty="0">
                <a:solidFill>
                  <a:srgbClr val="374151"/>
                </a:solidFill>
                <a:latin typeface="Calibri"/>
                <a:cs typeface="Calibri"/>
              </a:rPr>
              <a:t>sparse</a:t>
            </a:r>
            <a:r>
              <a:rPr sz="1800" spc="-55" dirty="0">
                <a:solidFill>
                  <a:srgbClr val="374151"/>
                </a:solidFill>
                <a:latin typeface="Calibri"/>
                <a:cs typeface="Calibri"/>
              </a:rPr>
              <a:t> </a:t>
            </a:r>
            <a:r>
              <a:rPr sz="1800" spc="-10" dirty="0">
                <a:solidFill>
                  <a:srgbClr val="374151"/>
                </a:solidFill>
                <a:latin typeface="Calibri"/>
                <a:cs typeface="Calibri"/>
              </a:rPr>
              <a:t>autoencoders</a:t>
            </a:r>
            <a:r>
              <a:rPr sz="1800" spc="-30" dirty="0">
                <a:solidFill>
                  <a:srgbClr val="374151"/>
                </a:solidFill>
                <a:latin typeface="Calibri"/>
                <a:cs typeface="Calibri"/>
              </a:rPr>
              <a:t> </a:t>
            </a:r>
            <a:r>
              <a:rPr sz="1800" dirty="0">
                <a:solidFill>
                  <a:srgbClr val="374151"/>
                </a:solidFill>
                <a:latin typeface="Calibri"/>
                <a:cs typeface="Calibri"/>
              </a:rPr>
              <a:t>can</a:t>
            </a:r>
            <a:r>
              <a:rPr sz="1800" spc="-35" dirty="0">
                <a:solidFill>
                  <a:srgbClr val="374151"/>
                </a:solidFill>
                <a:latin typeface="Calibri"/>
                <a:cs typeface="Calibri"/>
              </a:rPr>
              <a:t> </a:t>
            </a:r>
            <a:r>
              <a:rPr sz="1800" dirty="0">
                <a:solidFill>
                  <a:srgbClr val="374151"/>
                </a:solidFill>
                <a:latin typeface="Calibri"/>
                <a:cs typeface="Calibri"/>
              </a:rPr>
              <a:t>enhance</a:t>
            </a:r>
            <a:r>
              <a:rPr sz="1800" spc="-35" dirty="0">
                <a:solidFill>
                  <a:srgbClr val="374151"/>
                </a:solidFill>
                <a:latin typeface="Calibri"/>
                <a:cs typeface="Calibri"/>
              </a:rPr>
              <a:t> </a:t>
            </a:r>
            <a:r>
              <a:rPr sz="1800" dirty="0">
                <a:solidFill>
                  <a:srgbClr val="374151"/>
                </a:solidFill>
                <a:latin typeface="Calibri"/>
                <a:cs typeface="Calibri"/>
              </a:rPr>
              <a:t>their</a:t>
            </a:r>
            <a:r>
              <a:rPr sz="1800" spc="-50" dirty="0">
                <a:solidFill>
                  <a:srgbClr val="374151"/>
                </a:solidFill>
                <a:latin typeface="Calibri"/>
                <a:cs typeface="Calibri"/>
              </a:rPr>
              <a:t> </a:t>
            </a:r>
            <a:r>
              <a:rPr sz="1800" spc="-10" dirty="0">
                <a:solidFill>
                  <a:srgbClr val="374151"/>
                </a:solidFill>
                <a:latin typeface="Calibri"/>
                <a:cs typeface="Calibri"/>
              </a:rPr>
              <a:t>robustness</a:t>
            </a:r>
            <a:r>
              <a:rPr sz="1800" spc="-55" dirty="0">
                <a:solidFill>
                  <a:srgbClr val="374151"/>
                </a:solidFill>
                <a:latin typeface="Calibri"/>
                <a:cs typeface="Calibri"/>
              </a:rPr>
              <a:t> </a:t>
            </a:r>
            <a:r>
              <a:rPr sz="1800" dirty="0">
                <a:solidFill>
                  <a:srgbClr val="374151"/>
                </a:solidFill>
                <a:latin typeface="Calibri"/>
                <a:cs typeface="Calibri"/>
              </a:rPr>
              <a:t>to</a:t>
            </a:r>
            <a:r>
              <a:rPr sz="1800" spc="-55" dirty="0">
                <a:solidFill>
                  <a:srgbClr val="374151"/>
                </a:solidFill>
                <a:latin typeface="Calibri"/>
                <a:cs typeface="Calibri"/>
              </a:rPr>
              <a:t> </a:t>
            </a:r>
            <a:r>
              <a:rPr sz="1800" dirty="0">
                <a:solidFill>
                  <a:srgbClr val="374151"/>
                </a:solidFill>
                <a:latin typeface="Calibri"/>
                <a:cs typeface="Calibri"/>
              </a:rPr>
              <a:t>noisy</a:t>
            </a:r>
            <a:r>
              <a:rPr sz="1800" spc="-35" dirty="0">
                <a:solidFill>
                  <a:srgbClr val="374151"/>
                </a:solidFill>
                <a:latin typeface="Calibri"/>
                <a:cs typeface="Calibri"/>
              </a:rPr>
              <a:t> </a:t>
            </a:r>
            <a:r>
              <a:rPr sz="1800" dirty="0">
                <a:solidFill>
                  <a:srgbClr val="374151"/>
                </a:solidFill>
                <a:latin typeface="Calibri"/>
                <a:cs typeface="Calibri"/>
              </a:rPr>
              <a:t>or</a:t>
            </a:r>
            <a:r>
              <a:rPr sz="1800" spc="-50" dirty="0">
                <a:solidFill>
                  <a:srgbClr val="374151"/>
                </a:solidFill>
                <a:latin typeface="Calibri"/>
                <a:cs typeface="Calibri"/>
              </a:rPr>
              <a:t> </a:t>
            </a:r>
            <a:r>
              <a:rPr sz="1800" spc="-10" dirty="0">
                <a:solidFill>
                  <a:srgbClr val="374151"/>
                </a:solidFill>
                <a:latin typeface="Calibri"/>
                <a:cs typeface="Calibri"/>
              </a:rPr>
              <a:t>corrupted </a:t>
            </a:r>
            <a:r>
              <a:rPr sz="1800" dirty="0">
                <a:solidFill>
                  <a:srgbClr val="374151"/>
                </a:solidFill>
                <a:latin typeface="Calibri"/>
                <a:cs typeface="Calibri"/>
              </a:rPr>
              <a:t>input</a:t>
            </a:r>
            <a:r>
              <a:rPr sz="1800" spc="-30" dirty="0">
                <a:solidFill>
                  <a:srgbClr val="374151"/>
                </a:solidFill>
                <a:latin typeface="Calibri"/>
                <a:cs typeface="Calibri"/>
              </a:rPr>
              <a:t> </a:t>
            </a:r>
            <a:r>
              <a:rPr sz="1800" dirty="0">
                <a:solidFill>
                  <a:srgbClr val="374151"/>
                </a:solidFill>
                <a:latin typeface="Calibri"/>
                <a:cs typeface="Calibri"/>
              </a:rPr>
              <a:t>data.</a:t>
            </a:r>
            <a:r>
              <a:rPr sz="1800" spc="-35" dirty="0">
                <a:solidFill>
                  <a:srgbClr val="374151"/>
                </a:solidFill>
                <a:latin typeface="Calibri"/>
                <a:cs typeface="Calibri"/>
              </a:rPr>
              <a:t> </a:t>
            </a:r>
            <a:r>
              <a:rPr sz="1800" dirty="0">
                <a:solidFill>
                  <a:srgbClr val="374151"/>
                </a:solidFill>
                <a:latin typeface="Calibri"/>
                <a:cs typeface="Calibri"/>
              </a:rPr>
              <a:t>By</a:t>
            </a:r>
            <a:r>
              <a:rPr sz="1800" spc="-50" dirty="0">
                <a:solidFill>
                  <a:srgbClr val="374151"/>
                </a:solidFill>
                <a:latin typeface="Calibri"/>
                <a:cs typeface="Calibri"/>
              </a:rPr>
              <a:t> </a:t>
            </a:r>
            <a:r>
              <a:rPr sz="1800" spc="-10" dirty="0">
                <a:solidFill>
                  <a:srgbClr val="374151"/>
                </a:solidFill>
                <a:latin typeface="Calibri"/>
                <a:cs typeface="Calibri"/>
              </a:rPr>
              <a:t>encouraging</a:t>
            </a:r>
            <a:r>
              <a:rPr sz="1800" spc="-20" dirty="0">
                <a:solidFill>
                  <a:srgbClr val="374151"/>
                </a:solidFill>
                <a:latin typeface="Calibri"/>
                <a:cs typeface="Calibri"/>
              </a:rPr>
              <a:t> </a:t>
            </a:r>
            <a:r>
              <a:rPr sz="1800" dirty="0">
                <a:solidFill>
                  <a:srgbClr val="374151"/>
                </a:solidFill>
                <a:latin typeface="Calibri"/>
                <a:cs typeface="Calibri"/>
              </a:rPr>
              <a:t>only</a:t>
            </a:r>
            <a:r>
              <a:rPr sz="1800" spc="-30" dirty="0">
                <a:solidFill>
                  <a:srgbClr val="374151"/>
                </a:solidFill>
                <a:latin typeface="Calibri"/>
                <a:cs typeface="Calibri"/>
              </a:rPr>
              <a:t> </a:t>
            </a:r>
            <a:r>
              <a:rPr sz="1800" dirty="0">
                <a:solidFill>
                  <a:srgbClr val="374151"/>
                </a:solidFill>
                <a:latin typeface="Calibri"/>
                <a:cs typeface="Calibri"/>
              </a:rPr>
              <a:t>a</a:t>
            </a:r>
            <a:r>
              <a:rPr sz="1800" spc="-40" dirty="0">
                <a:solidFill>
                  <a:srgbClr val="374151"/>
                </a:solidFill>
                <a:latin typeface="Calibri"/>
                <a:cs typeface="Calibri"/>
              </a:rPr>
              <a:t> </a:t>
            </a:r>
            <a:r>
              <a:rPr sz="1800" dirty="0">
                <a:solidFill>
                  <a:srgbClr val="374151"/>
                </a:solidFill>
                <a:latin typeface="Calibri"/>
                <a:cs typeface="Calibri"/>
              </a:rPr>
              <a:t>subset</a:t>
            </a:r>
            <a:r>
              <a:rPr sz="1800" spc="-45" dirty="0">
                <a:solidFill>
                  <a:srgbClr val="374151"/>
                </a:solidFill>
                <a:latin typeface="Calibri"/>
                <a:cs typeface="Calibri"/>
              </a:rPr>
              <a:t> </a:t>
            </a:r>
            <a:r>
              <a:rPr sz="1800" dirty="0">
                <a:solidFill>
                  <a:srgbClr val="374151"/>
                </a:solidFill>
                <a:latin typeface="Calibri"/>
                <a:cs typeface="Calibri"/>
              </a:rPr>
              <a:t>of</a:t>
            </a:r>
            <a:r>
              <a:rPr sz="1800" spc="-35" dirty="0">
                <a:solidFill>
                  <a:srgbClr val="374151"/>
                </a:solidFill>
                <a:latin typeface="Calibri"/>
                <a:cs typeface="Calibri"/>
              </a:rPr>
              <a:t> </a:t>
            </a:r>
            <a:r>
              <a:rPr sz="1800" dirty="0">
                <a:solidFill>
                  <a:srgbClr val="374151"/>
                </a:solidFill>
                <a:latin typeface="Calibri"/>
                <a:cs typeface="Calibri"/>
              </a:rPr>
              <a:t>neurons</a:t>
            </a:r>
            <a:r>
              <a:rPr sz="1800" spc="-30" dirty="0">
                <a:solidFill>
                  <a:srgbClr val="374151"/>
                </a:solidFill>
                <a:latin typeface="Calibri"/>
                <a:cs typeface="Calibri"/>
              </a:rPr>
              <a:t> </a:t>
            </a:r>
            <a:r>
              <a:rPr sz="1800" dirty="0">
                <a:solidFill>
                  <a:srgbClr val="374151"/>
                </a:solidFill>
                <a:latin typeface="Calibri"/>
                <a:cs typeface="Calibri"/>
              </a:rPr>
              <a:t>to</a:t>
            </a:r>
            <a:r>
              <a:rPr sz="1800" spc="-40" dirty="0">
                <a:solidFill>
                  <a:srgbClr val="374151"/>
                </a:solidFill>
                <a:latin typeface="Calibri"/>
                <a:cs typeface="Calibri"/>
              </a:rPr>
              <a:t> </a:t>
            </a:r>
            <a:r>
              <a:rPr sz="1800" dirty="0">
                <a:solidFill>
                  <a:srgbClr val="374151"/>
                </a:solidFill>
                <a:latin typeface="Calibri"/>
                <a:cs typeface="Calibri"/>
              </a:rPr>
              <a:t>be</a:t>
            </a:r>
            <a:r>
              <a:rPr sz="1800" spc="-20" dirty="0">
                <a:solidFill>
                  <a:srgbClr val="374151"/>
                </a:solidFill>
                <a:latin typeface="Calibri"/>
                <a:cs typeface="Calibri"/>
              </a:rPr>
              <a:t> </a:t>
            </a:r>
            <a:r>
              <a:rPr sz="1800" spc="-10" dirty="0">
                <a:solidFill>
                  <a:srgbClr val="374151"/>
                </a:solidFill>
                <a:latin typeface="Calibri"/>
                <a:cs typeface="Calibri"/>
              </a:rPr>
              <a:t>activated,</a:t>
            </a:r>
            <a:r>
              <a:rPr sz="1800" spc="-30" dirty="0">
                <a:solidFill>
                  <a:srgbClr val="374151"/>
                </a:solidFill>
                <a:latin typeface="Calibri"/>
                <a:cs typeface="Calibri"/>
              </a:rPr>
              <a:t> </a:t>
            </a:r>
            <a:r>
              <a:rPr sz="1800" dirty="0">
                <a:solidFill>
                  <a:srgbClr val="374151"/>
                </a:solidFill>
                <a:latin typeface="Calibri"/>
                <a:cs typeface="Calibri"/>
              </a:rPr>
              <a:t>the</a:t>
            </a:r>
            <a:r>
              <a:rPr sz="1800" spc="-20" dirty="0">
                <a:solidFill>
                  <a:srgbClr val="374151"/>
                </a:solidFill>
                <a:latin typeface="Calibri"/>
                <a:cs typeface="Calibri"/>
              </a:rPr>
              <a:t> </a:t>
            </a:r>
            <a:r>
              <a:rPr sz="1800" spc="-10" dirty="0">
                <a:solidFill>
                  <a:srgbClr val="374151"/>
                </a:solidFill>
                <a:latin typeface="Calibri"/>
                <a:cs typeface="Calibri"/>
              </a:rPr>
              <a:t>autoencoder</a:t>
            </a:r>
            <a:r>
              <a:rPr sz="1800" spc="-30" dirty="0">
                <a:solidFill>
                  <a:srgbClr val="374151"/>
                </a:solidFill>
                <a:latin typeface="Calibri"/>
                <a:cs typeface="Calibri"/>
              </a:rPr>
              <a:t> </a:t>
            </a:r>
            <a:r>
              <a:rPr sz="1800" dirty="0">
                <a:solidFill>
                  <a:srgbClr val="374151"/>
                </a:solidFill>
                <a:latin typeface="Calibri"/>
                <a:cs typeface="Calibri"/>
              </a:rPr>
              <a:t>learns</a:t>
            </a:r>
            <a:r>
              <a:rPr sz="1800" spc="-30" dirty="0">
                <a:solidFill>
                  <a:srgbClr val="374151"/>
                </a:solidFill>
                <a:latin typeface="Calibri"/>
                <a:cs typeface="Calibri"/>
              </a:rPr>
              <a:t> </a:t>
            </a:r>
            <a:r>
              <a:rPr sz="1800" spc="-25" dirty="0">
                <a:solidFill>
                  <a:srgbClr val="374151"/>
                </a:solidFill>
                <a:latin typeface="Calibri"/>
                <a:cs typeface="Calibri"/>
              </a:rPr>
              <a:t>to </a:t>
            </a:r>
            <a:r>
              <a:rPr sz="1800" dirty="0">
                <a:solidFill>
                  <a:srgbClr val="374151"/>
                </a:solidFill>
                <a:latin typeface="Calibri"/>
                <a:cs typeface="Calibri"/>
              </a:rPr>
              <a:t>focus</a:t>
            </a:r>
            <a:r>
              <a:rPr sz="1800" spc="-30" dirty="0">
                <a:solidFill>
                  <a:srgbClr val="374151"/>
                </a:solidFill>
                <a:latin typeface="Calibri"/>
                <a:cs typeface="Calibri"/>
              </a:rPr>
              <a:t> </a:t>
            </a:r>
            <a:r>
              <a:rPr sz="1800" dirty="0">
                <a:solidFill>
                  <a:srgbClr val="374151"/>
                </a:solidFill>
                <a:latin typeface="Calibri"/>
                <a:cs typeface="Calibri"/>
              </a:rPr>
              <a:t>on</a:t>
            </a:r>
            <a:r>
              <a:rPr sz="1800" spc="-15" dirty="0">
                <a:solidFill>
                  <a:srgbClr val="374151"/>
                </a:solidFill>
                <a:latin typeface="Calibri"/>
                <a:cs typeface="Calibri"/>
              </a:rPr>
              <a:t> </a:t>
            </a:r>
            <a:r>
              <a:rPr sz="1800" dirty="0">
                <a:solidFill>
                  <a:srgbClr val="374151"/>
                </a:solidFill>
                <a:latin typeface="Calibri"/>
                <a:cs typeface="Calibri"/>
              </a:rPr>
              <a:t>the</a:t>
            </a:r>
            <a:r>
              <a:rPr sz="1800" spc="-30" dirty="0">
                <a:solidFill>
                  <a:srgbClr val="374151"/>
                </a:solidFill>
                <a:latin typeface="Calibri"/>
                <a:cs typeface="Calibri"/>
              </a:rPr>
              <a:t> </a:t>
            </a:r>
            <a:r>
              <a:rPr sz="1800" dirty="0">
                <a:solidFill>
                  <a:srgbClr val="374151"/>
                </a:solidFill>
                <a:latin typeface="Calibri"/>
                <a:cs typeface="Calibri"/>
              </a:rPr>
              <a:t>most</a:t>
            </a:r>
            <a:r>
              <a:rPr sz="1800" spc="-20" dirty="0">
                <a:solidFill>
                  <a:srgbClr val="374151"/>
                </a:solidFill>
                <a:latin typeface="Calibri"/>
                <a:cs typeface="Calibri"/>
              </a:rPr>
              <a:t> </a:t>
            </a:r>
            <a:r>
              <a:rPr sz="1800" spc="-10" dirty="0">
                <a:solidFill>
                  <a:srgbClr val="374151"/>
                </a:solidFill>
                <a:latin typeface="Calibri"/>
                <a:cs typeface="Calibri"/>
              </a:rPr>
              <a:t>informative</a:t>
            </a:r>
            <a:r>
              <a:rPr sz="1800" spc="-35" dirty="0">
                <a:solidFill>
                  <a:srgbClr val="374151"/>
                </a:solidFill>
                <a:latin typeface="Calibri"/>
                <a:cs typeface="Calibri"/>
              </a:rPr>
              <a:t> </a:t>
            </a:r>
            <a:r>
              <a:rPr sz="1800" spc="-10" dirty="0">
                <a:solidFill>
                  <a:srgbClr val="374151"/>
                </a:solidFill>
                <a:latin typeface="Calibri"/>
                <a:cs typeface="Calibri"/>
              </a:rPr>
              <a:t>features</a:t>
            </a:r>
            <a:r>
              <a:rPr sz="1800" spc="-25" dirty="0">
                <a:solidFill>
                  <a:srgbClr val="374151"/>
                </a:solidFill>
                <a:latin typeface="Calibri"/>
                <a:cs typeface="Calibri"/>
              </a:rPr>
              <a:t> </a:t>
            </a:r>
            <a:r>
              <a:rPr sz="1800" dirty="0">
                <a:solidFill>
                  <a:srgbClr val="374151"/>
                </a:solidFill>
                <a:latin typeface="Calibri"/>
                <a:cs typeface="Calibri"/>
              </a:rPr>
              <a:t>and</a:t>
            </a:r>
            <a:r>
              <a:rPr sz="1800" spc="-15" dirty="0">
                <a:solidFill>
                  <a:srgbClr val="374151"/>
                </a:solidFill>
                <a:latin typeface="Calibri"/>
                <a:cs typeface="Calibri"/>
              </a:rPr>
              <a:t> </a:t>
            </a:r>
            <a:r>
              <a:rPr sz="1800" dirty="0">
                <a:solidFill>
                  <a:srgbClr val="374151"/>
                </a:solidFill>
                <a:latin typeface="Calibri"/>
                <a:cs typeface="Calibri"/>
              </a:rPr>
              <a:t>filter</a:t>
            </a:r>
            <a:r>
              <a:rPr sz="1800" spc="-15" dirty="0">
                <a:solidFill>
                  <a:srgbClr val="374151"/>
                </a:solidFill>
                <a:latin typeface="Calibri"/>
                <a:cs typeface="Calibri"/>
              </a:rPr>
              <a:t> </a:t>
            </a:r>
            <a:r>
              <a:rPr sz="1800" dirty="0">
                <a:solidFill>
                  <a:srgbClr val="374151"/>
                </a:solidFill>
                <a:latin typeface="Calibri"/>
                <a:cs typeface="Calibri"/>
              </a:rPr>
              <a:t>out</a:t>
            </a:r>
            <a:r>
              <a:rPr sz="1800" spc="-25" dirty="0">
                <a:solidFill>
                  <a:srgbClr val="374151"/>
                </a:solidFill>
                <a:latin typeface="Calibri"/>
                <a:cs typeface="Calibri"/>
              </a:rPr>
              <a:t> </a:t>
            </a:r>
            <a:r>
              <a:rPr sz="1800" spc="-10" dirty="0">
                <a:solidFill>
                  <a:srgbClr val="374151"/>
                </a:solidFill>
                <a:latin typeface="Calibri"/>
                <a:cs typeface="Calibri"/>
              </a:rPr>
              <a:t>irrelevant</a:t>
            </a:r>
            <a:r>
              <a:rPr sz="1800" spc="-25" dirty="0">
                <a:solidFill>
                  <a:srgbClr val="374151"/>
                </a:solidFill>
                <a:latin typeface="Calibri"/>
                <a:cs typeface="Calibri"/>
              </a:rPr>
              <a:t> </a:t>
            </a:r>
            <a:r>
              <a:rPr sz="1800" dirty="0">
                <a:solidFill>
                  <a:srgbClr val="374151"/>
                </a:solidFill>
                <a:latin typeface="Calibri"/>
                <a:cs typeface="Calibri"/>
              </a:rPr>
              <a:t>or</a:t>
            </a:r>
            <a:r>
              <a:rPr sz="1800" spc="-25" dirty="0">
                <a:solidFill>
                  <a:srgbClr val="374151"/>
                </a:solidFill>
                <a:latin typeface="Calibri"/>
                <a:cs typeface="Calibri"/>
              </a:rPr>
              <a:t> </a:t>
            </a:r>
            <a:r>
              <a:rPr sz="1800" dirty="0">
                <a:solidFill>
                  <a:srgbClr val="374151"/>
                </a:solidFill>
                <a:latin typeface="Calibri"/>
                <a:cs typeface="Calibri"/>
              </a:rPr>
              <a:t>noisy</a:t>
            </a:r>
            <a:r>
              <a:rPr sz="1800" spc="-30" dirty="0">
                <a:solidFill>
                  <a:srgbClr val="374151"/>
                </a:solidFill>
                <a:latin typeface="Calibri"/>
                <a:cs typeface="Calibri"/>
              </a:rPr>
              <a:t> </a:t>
            </a:r>
            <a:r>
              <a:rPr sz="1800" spc="-10" dirty="0">
                <a:solidFill>
                  <a:srgbClr val="374151"/>
                </a:solidFill>
                <a:latin typeface="Calibri"/>
                <a:cs typeface="Calibri"/>
              </a:rPr>
              <a:t>information.</a:t>
            </a:r>
            <a:r>
              <a:rPr sz="1800" spc="-15" dirty="0">
                <a:solidFill>
                  <a:srgbClr val="374151"/>
                </a:solidFill>
                <a:latin typeface="Calibri"/>
                <a:cs typeface="Calibri"/>
              </a:rPr>
              <a:t> </a:t>
            </a:r>
            <a:r>
              <a:rPr sz="1800" dirty="0">
                <a:solidFill>
                  <a:srgbClr val="374151"/>
                </a:solidFill>
                <a:latin typeface="Calibri"/>
                <a:cs typeface="Calibri"/>
              </a:rPr>
              <a:t>This</a:t>
            </a:r>
            <a:r>
              <a:rPr sz="1800" spc="-30" dirty="0">
                <a:solidFill>
                  <a:srgbClr val="374151"/>
                </a:solidFill>
                <a:latin typeface="Calibri"/>
                <a:cs typeface="Calibri"/>
              </a:rPr>
              <a:t> </a:t>
            </a:r>
            <a:r>
              <a:rPr sz="1800" spc="-25" dirty="0">
                <a:solidFill>
                  <a:srgbClr val="374151"/>
                </a:solidFill>
                <a:latin typeface="Calibri"/>
                <a:cs typeface="Calibri"/>
              </a:rPr>
              <a:t>can </a:t>
            </a:r>
            <a:r>
              <a:rPr sz="1800" spc="-10" dirty="0">
                <a:solidFill>
                  <a:srgbClr val="374151"/>
                </a:solidFill>
                <a:latin typeface="Calibri"/>
                <a:cs typeface="Calibri"/>
              </a:rPr>
              <a:t>improve</a:t>
            </a:r>
            <a:r>
              <a:rPr sz="1800" spc="-50" dirty="0">
                <a:solidFill>
                  <a:srgbClr val="374151"/>
                </a:solidFill>
                <a:latin typeface="Calibri"/>
                <a:cs typeface="Calibri"/>
              </a:rPr>
              <a:t> </a:t>
            </a:r>
            <a:r>
              <a:rPr sz="1800" dirty="0">
                <a:solidFill>
                  <a:srgbClr val="374151"/>
                </a:solidFill>
                <a:latin typeface="Calibri"/>
                <a:cs typeface="Calibri"/>
              </a:rPr>
              <a:t>the</a:t>
            </a:r>
            <a:r>
              <a:rPr sz="1800" spc="-30" dirty="0">
                <a:solidFill>
                  <a:srgbClr val="374151"/>
                </a:solidFill>
                <a:latin typeface="Calibri"/>
                <a:cs typeface="Calibri"/>
              </a:rPr>
              <a:t> </a:t>
            </a:r>
            <a:r>
              <a:rPr sz="1800" spc="-10" dirty="0">
                <a:solidFill>
                  <a:srgbClr val="374151"/>
                </a:solidFill>
                <a:latin typeface="Calibri"/>
                <a:cs typeface="Calibri"/>
              </a:rPr>
              <a:t>autoencoder's</a:t>
            </a:r>
            <a:r>
              <a:rPr sz="1800" spc="-40" dirty="0">
                <a:solidFill>
                  <a:srgbClr val="374151"/>
                </a:solidFill>
                <a:latin typeface="Calibri"/>
                <a:cs typeface="Calibri"/>
              </a:rPr>
              <a:t> </a:t>
            </a:r>
            <a:r>
              <a:rPr sz="1800" dirty="0">
                <a:solidFill>
                  <a:srgbClr val="374151"/>
                </a:solidFill>
                <a:latin typeface="Calibri"/>
                <a:cs typeface="Calibri"/>
              </a:rPr>
              <a:t>ability</a:t>
            </a:r>
            <a:r>
              <a:rPr sz="1800" spc="-20" dirty="0">
                <a:solidFill>
                  <a:srgbClr val="374151"/>
                </a:solidFill>
                <a:latin typeface="Calibri"/>
                <a:cs typeface="Calibri"/>
              </a:rPr>
              <a:t> </a:t>
            </a:r>
            <a:r>
              <a:rPr sz="1800" dirty="0">
                <a:solidFill>
                  <a:srgbClr val="374151"/>
                </a:solidFill>
                <a:latin typeface="Calibri"/>
                <a:cs typeface="Calibri"/>
              </a:rPr>
              <a:t>to</a:t>
            </a:r>
            <a:r>
              <a:rPr sz="1800" spc="-45" dirty="0">
                <a:solidFill>
                  <a:srgbClr val="374151"/>
                </a:solidFill>
                <a:latin typeface="Calibri"/>
                <a:cs typeface="Calibri"/>
              </a:rPr>
              <a:t> </a:t>
            </a:r>
            <a:r>
              <a:rPr sz="1800" dirty="0">
                <a:solidFill>
                  <a:srgbClr val="374151"/>
                </a:solidFill>
                <a:latin typeface="Calibri"/>
                <a:cs typeface="Calibri"/>
              </a:rPr>
              <a:t>denoise</a:t>
            </a:r>
            <a:r>
              <a:rPr sz="1800" spc="-40" dirty="0">
                <a:solidFill>
                  <a:srgbClr val="374151"/>
                </a:solidFill>
                <a:latin typeface="Calibri"/>
                <a:cs typeface="Calibri"/>
              </a:rPr>
              <a:t> </a:t>
            </a:r>
            <a:r>
              <a:rPr sz="1800" dirty="0">
                <a:solidFill>
                  <a:srgbClr val="374151"/>
                </a:solidFill>
                <a:latin typeface="Calibri"/>
                <a:cs typeface="Calibri"/>
              </a:rPr>
              <a:t>or</a:t>
            </a:r>
            <a:r>
              <a:rPr sz="1800" spc="-30" dirty="0">
                <a:solidFill>
                  <a:srgbClr val="374151"/>
                </a:solidFill>
                <a:latin typeface="Calibri"/>
                <a:cs typeface="Calibri"/>
              </a:rPr>
              <a:t> </a:t>
            </a:r>
            <a:r>
              <a:rPr sz="1800" spc="-10" dirty="0">
                <a:solidFill>
                  <a:srgbClr val="374151"/>
                </a:solidFill>
                <a:latin typeface="Calibri"/>
                <a:cs typeface="Calibri"/>
              </a:rPr>
              <a:t>reconstruct</a:t>
            </a:r>
            <a:r>
              <a:rPr sz="1800" spc="-35" dirty="0">
                <a:solidFill>
                  <a:srgbClr val="374151"/>
                </a:solidFill>
                <a:latin typeface="Calibri"/>
                <a:cs typeface="Calibri"/>
              </a:rPr>
              <a:t> </a:t>
            </a:r>
            <a:r>
              <a:rPr sz="1800" dirty="0">
                <a:solidFill>
                  <a:srgbClr val="374151"/>
                </a:solidFill>
                <a:latin typeface="Calibri"/>
                <a:cs typeface="Calibri"/>
              </a:rPr>
              <a:t>corrupted input</a:t>
            </a:r>
            <a:r>
              <a:rPr sz="1800" spc="-30" dirty="0">
                <a:solidFill>
                  <a:srgbClr val="374151"/>
                </a:solidFill>
                <a:latin typeface="Calibri"/>
                <a:cs typeface="Calibri"/>
              </a:rPr>
              <a:t> </a:t>
            </a:r>
            <a:r>
              <a:rPr sz="1800" spc="-10" dirty="0">
                <a:solidFill>
                  <a:srgbClr val="374151"/>
                </a:solidFill>
                <a:latin typeface="Calibri"/>
                <a:cs typeface="Calibri"/>
              </a:rPr>
              <a:t>samples.</a:t>
            </a:r>
            <a:endParaRPr sz="1800">
              <a:latin typeface="Calibri"/>
              <a:cs typeface="Calibri"/>
            </a:endParaRPr>
          </a:p>
        </p:txBody>
      </p:sp>
      <p:sp>
        <p:nvSpPr>
          <p:cNvPr id="3" name="object 3"/>
          <p:cNvSpPr txBox="1">
            <a:spLocks noGrp="1"/>
          </p:cNvSpPr>
          <p:nvPr>
            <p:ph type="title"/>
          </p:nvPr>
        </p:nvSpPr>
        <p:spPr>
          <a:xfrm>
            <a:off x="1816607" y="1821179"/>
            <a:ext cx="7988934" cy="1201420"/>
          </a:xfrm>
          <a:prstGeom prst="rect">
            <a:avLst/>
          </a:prstGeom>
          <a:solidFill>
            <a:srgbClr val="E1EFD9"/>
          </a:solidFill>
        </p:spPr>
        <p:txBody>
          <a:bodyPr vert="horz" wrap="square" lIns="0" tIns="31750" rIns="0" bIns="0" rtlCol="0">
            <a:spAutoFit/>
          </a:bodyPr>
          <a:lstStyle/>
          <a:p>
            <a:pPr marL="91440" marR="240665">
              <a:lnSpc>
                <a:spcPct val="100000"/>
              </a:lnSpc>
              <a:spcBef>
                <a:spcPts val="250"/>
              </a:spcBef>
            </a:pPr>
            <a:r>
              <a:rPr sz="1800" b="0" dirty="0">
                <a:solidFill>
                  <a:srgbClr val="374151"/>
                </a:solidFill>
                <a:latin typeface="Calibri"/>
                <a:cs typeface="Calibri"/>
              </a:rPr>
              <a:t>By</a:t>
            </a:r>
            <a:r>
              <a:rPr sz="1800" b="0" spc="-55" dirty="0">
                <a:solidFill>
                  <a:srgbClr val="374151"/>
                </a:solidFill>
                <a:latin typeface="Calibri"/>
                <a:cs typeface="Calibri"/>
              </a:rPr>
              <a:t> </a:t>
            </a:r>
            <a:r>
              <a:rPr sz="1800" b="0" spc="-10" dirty="0">
                <a:solidFill>
                  <a:srgbClr val="374151"/>
                </a:solidFill>
                <a:latin typeface="Calibri"/>
                <a:cs typeface="Calibri"/>
              </a:rPr>
              <a:t>enforcing</a:t>
            </a:r>
            <a:r>
              <a:rPr sz="1800" b="0" spc="-25" dirty="0">
                <a:solidFill>
                  <a:srgbClr val="374151"/>
                </a:solidFill>
                <a:latin typeface="Calibri"/>
                <a:cs typeface="Calibri"/>
              </a:rPr>
              <a:t> </a:t>
            </a:r>
            <a:r>
              <a:rPr sz="1800" b="0" spc="-10" dirty="0">
                <a:solidFill>
                  <a:srgbClr val="374151"/>
                </a:solidFill>
                <a:latin typeface="Calibri"/>
                <a:cs typeface="Calibri"/>
              </a:rPr>
              <a:t>sparsity,</a:t>
            </a:r>
            <a:r>
              <a:rPr sz="1800" b="0" spc="-35" dirty="0">
                <a:solidFill>
                  <a:srgbClr val="374151"/>
                </a:solidFill>
                <a:latin typeface="Calibri"/>
                <a:cs typeface="Calibri"/>
              </a:rPr>
              <a:t> </a:t>
            </a:r>
            <a:r>
              <a:rPr sz="1800" b="0" dirty="0">
                <a:solidFill>
                  <a:srgbClr val="374151"/>
                </a:solidFill>
                <a:latin typeface="Calibri"/>
                <a:cs typeface="Calibri"/>
              </a:rPr>
              <a:t>the</a:t>
            </a:r>
            <a:r>
              <a:rPr sz="1800" b="0" spc="-35" dirty="0">
                <a:solidFill>
                  <a:srgbClr val="374151"/>
                </a:solidFill>
                <a:latin typeface="Calibri"/>
                <a:cs typeface="Calibri"/>
              </a:rPr>
              <a:t> </a:t>
            </a:r>
            <a:r>
              <a:rPr sz="1800" b="0" spc="-10" dirty="0">
                <a:solidFill>
                  <a:srgbClr val="374151"/>
                </a:solidFill>
                <a:latin typeface="Calibri"/>
                <a:cs typeface="Calibri"/>
              </a:rPr>
              <a:t>autoencoder</a:t>
            </a:r>
            <a:r>
              <a:rPr sz="1800" b="0" spc="-35" dirty="0">
                <a:solidFill>
                  <a:srgbClr val="374151"/>
                </a:solidFill>
                <a:latin typeface="Calibri"/>
                <a:cs typeface="Calibri"/>
              </a:rPr>
              <a:t> </a:t>
            </a:r>
            <a:r>
              <a:rPr sz="1800" b="0" dirty="0">
                <a:solidFill>
                  <a:srgbClr val="374151"/>
                </a:solidFill>
                <a:latin typeface="Calibri"/>
                <a:cs typeface="Calibri"/>
              </a:rPr>
              <a:t>learns</a:t>
            </a:r>
            <a:r>
              <a:rPr sz="1800" b="0" spc="-35" dirty="0">
                <a:solidFill>
                  <a:srgbClr val="374151"/>
                </a:solidFill>
                <a:latin typeface="Calibri"/>
                <a:cs typeface="Calibri"/>
              </a:rPr>
              <a:t> </a:t>
            </a:r>
            <a:r>
              <a:rPr sz="1800" b="0" dirty="0">
                <a:solidFill>
                  <a:srgbClr val="374151"/>
                </a:solidFill>
                <a:latin typeface="Calibri"/>
                <a:cs typeface="Calibri"/>
              </a:rPr>
              <a:t>to</a:t>
            </a:r>
            <a:r>
              <a:rPr sz="1800" b="0" spc="-45" dirty="0">
                <a:solidFill>
                  <a:srgbClr val="374151"/>
                </a:solidFill>
                <a:latin typeface="Calibri"/>
                <a:cs typeface="Calibri"/>
              </a:rPr>
              <a:t> </a:t>
            </a:r>
            <a:r>
              <a:rPr sz="1800" b="0" dirty="0">
                <a:solidFill>
                  <a:srgbClr val="374151"/>
                </a:solidFill>
                <a:latin typeface="Calibri"/>
                <a:cs typeface="Calibri"/>
              </a:rPr>
              <a:t>identify</a:t>
            </a:r>
            <a:r>
              <a:rPr sz="1800" b="0" spc="-30" dirty="0">
                <a:solidFill>
                  <a:srgbClr val="374151"/>
                </a:solidFill>
                <a:latin typeface="Calibri"/>
                <a:cs typeface="Calibri"/>
              </a:rPr>
              <a:t> </a:t>
            </a:r>
            <a:r>
              <a:rPr sz="1800" b="0" dirty="0">
                <a:solidFill>
                  <a:srgbClr val="374151"/>
                </a:solidFill>
                <a:latin typeface="Calibri"/>
                <a:cs typeface="Calibri"/>
              </a:rPr>
              <a:t>and</a:t>
            </a:r>
            <a:r>
              <a:rPr sz="1800" b="0" spc="-40" dirty="0">
                <a:solidFill>
                  <a:srgbClr val="374151"/>
                </a:solidFill>
                <a:latin typeface="Calibri"/>
                <a:cs typeface="Calibri"/>
              </a:rPr>
              <a:t> </a:t>
            </a:r>
            <a:r>
              <a:rPr sz="1800" b="0" dirty="0">
                <a:solidFill>
                  <a:srgbClr val="374151"/>
                </a:solidFill>
                <a:latin typeface="Calibri"/>
                <a:cs typeface="Calibri"/>
              </a:rPr>
              <a:t>capture</a:t>
            </a:r>
            <a:r>
              <a:rPr sz="1800" b="0" spc="-15" dirty="0">
                <a:solidFill>
                  <a:srgbClr val="374151"/>
                </a:solidFill>
                <a:latin typeface="Calibri"/>
                <a:cs typeface="Calibri"/>
              </a:rPr>
              <a:t> </a:t>
            </a:r>
            <a:r>
              <a:rPr sz="1800" b="0" dirty="0">
                <a:solidFill>
                  <a:srgbClr val="374151"/>
                </a:solidFill>
                <a:latin typeface="Calibri"/>
                <a:cs typeface="Calibri"/>
              </a:rPr>
              <a:t>the</a:t>
            </a:r>
            <a:r>
              <a:rPr sz="1800" b="0" spc="-35" dirty="0">
                <a:solidFill>
                  <a:srgbClr val="374151"/>
                </a:solidFill>
                <a:latin typeface="Calibri"/>
                <a:cs typeface="Calibri"/>
              </a:rPr>
              <a:t> </a:t>
            </a:r>
            <a:r>
              <a:rPr sz="1800" b="0" spc="-20" dirty="0">
                <a:solidFill>
                  <a:srgbClr val="374151"/>
                </a:solidFill>
                <a:latin typeface="Calibri"/>
                <a:cs typeface="Calibri"/>
              </a:rPr>
              <a:t>most </a:t>
            </a:r>
            <a:r>
              <a:rPr sz="1800" b="0" dirty="0">
                <a:solidFill>
                  <a:srgbClr val="374151"/>
                </a:solidFill>
                <a:latin typeface="Calibri"/>
                <a:cs typeface="Calibri"/>
              </a:rPr>
              <a:t>salient</a:t>
            </a:r>
            <a:r>
              <a:rPr sz="1800" b="0" spc="-55" dirty="0">
                <a:solidFill>
                  <a:srgbClr val="374151"/>
                </a:solidFill>
                <a:latin typeface="Calibri"/>
                <a:cs typeface="Calibri"/>
              </a:rPr>
              <a:t> </a:t>
            </a:r>
            <a:r>
              <a:rPr sz="1800" b="0" spc="-10" dirty="0">
                <a:solidFill>
                  <a:srgbClr val="374151"/>
                </a:solidFill>
                <a:latin typeface="Calibri"/>
                <a:cs typeface="Calibri"/>
              </a:rPr>
              <a:t>features</a:t>
            </a:r>
            <a:r>
              <a:rPr sz="1800" b="0" spc="-40" dirty="0">
                <a:solidFill>
                  <a:srgbClr val="374151"/>
                </a:solidFill>
                <a:latin typeface="Calibri"/>
                <a:cs typeface="Calibri"/>
              </a:rPr>
              <a:t> </a:t>
            </a:r>
            <a:r>
              <a:rPr sz="1800" b="0" dirty="0">
                <a:solidFill>
                  <a:srgbClr val="374151"/>
                </a:solidFill>
                <a:latin typeface="Calibri"/>
                <a:cs typeface="Calibri"/>
              </a:rPr>
              <a:t>in</a:t>
            </a:r>
            <a:r>
              <a:rPr sz="1800" b="0" spc="-35" dirty="0">
                <a:solidFill>
                  <a:srgbClr val="374151"/>
                </a:solidFill>
                <a:latin typeface="Calibri"/>
                <a:cs typeface="Calibri"/>
              </a:rPr>
              <a:t> </a:t>
            </a:r>
            <a:r>
              <a:rPr sz="1800" b="0" dirty="0">
                <a:solidFill>
                  <a:srgbClr val="374151"/>
                </a:solidFill>
                <a:latin typeface="Calibri"/>
                <a:cs typeface="Calibri"/>
              </a:rPr>
              <a:t>the</a:t>
            </a:r>
            <a:r>
              <a:rPr sz="1800" b="0" spc="-45" dirty="0">
                <a:solidFill>
                  <a:srgbClr val="374151"/>
                </a:solidFill>
                <a:latin typeface="Calibri"/>
                <a:cs typeface="Calibri"/>
              </a:rPr>
              <a:t> </a:t>
            </a:r>
            <a:r>
              <a:rPr sz="1800" b="0" dirty="0">
                <a:solidFill>
                  <a:srgbClr val="374151"/>
                </a:solidFill>
                <a:latin typeface="Calibri"/>
                <a:cs typeface="Calibri"/>
              </a:rPr>
              <a:t>data,</a:t>
            </a:r>
            <a:r>
              <a:rPr sz="1800" b="0" spc="-40" dirty="0">
                <a:solidFill>
                  <a:srgbClr val="374151"/>
                </a:solidFill>
                <a:latin typeface="Calibri"/>
                <a:cs typeface="Calibri"/>
              </a:rPr>
              <a:t> </a:t>
            </a:r>
            <a:r>
              <a:rPr sz="1800" b="0" dirty="0">
                <a:solidFill>
                  <a:srgbClr val="374151"/>
                </a:solidFill>
                <a:latin typeface="Calibri"/>
                <a:cs typeface="Calibri"/>
              </a:rPr>
              <a:t>discarding</a:t>
            </a:r>
            <a:r>
              <a:rPr sz="1800" b="0" spc="-35" dirty="0">
                <a:solidFill>
                  <a:srgbClr val="374151"/>
                </a:solidFill>
                <a:latin typeface="Calibri"/>
                <a:cs typeface="Calibri"/>
              </a:rPr>
              <a:t> </a:t>
            </a:r>
            <a:r>
              <a:rPr sz="1800" b="0" dirty="0">
                <a:solidFill>
                  <a:srgbClr val="374151"/>
                </a:solidFill>
                <a:latin typeface="Calibri"/>
                <a:cs typeface="Calibri"/>
              </a:rPr>
              <a:t>irrelevant</a:t>
            </a:r>
            <a:r>
              <a:rPr sz="1800" b="0" spc="-40" dirty="0">
                <a:solidFill>
                  <a:srgbClr val="374151"/>
                </a:solidFill>
                <a:latin typeface="Calibri"/>
                <a:cs typeface="Calibri"/>
              </a:rPr>
              <a:t> </a:t>
            </a:r>
            <a:r>
              <a:rPr sz="1800" b="0" dirty="0">
                <a:solidFill>
                  <a:srgbClr val="374151"/>
                </a:solidFill>
                <a:latin typeface="Calibri"/>
                <a:cs typeface="Calibri"/>
              </a:rPr>
              <a:t>or</a:t>
            </a:r>
            <a:r>
              <a:rPr sz="1800" b="0" spc="-45" dirty="0">
                <a:solidFill>
                  <a:srgbClr val="374151"/>
                </a:solidFill>
                <a:latin typeface="Calibri"/>
                <a:cs typeface="Calibri"/>
              </a:rPr>
              <a:t> </a:t>
            </a:r>
            <a:r>
              <a:rPr sz="1800" b="0" dirty="0">
                <a:solidFill>
                  <a:srgbClr val="374151"/>
                </a:solidFill>
                <a:latin typeface="Calibri"/>
                <a:cs typeface="Calibri"/>
              </a:rPr>
              <a:t>redundant</a:t>
            </a:r>
            <a:r>
              <a:rPr sz="1800" b="0" spc="-45" dirty="0">
                <a:solidFill>
                  <a:srgbClr val="374151"/>
                </a:solidFill>
                <a:latin typeface="Calibri"/>
                <a:cs typeface="Calibri"/>
              </a:rPr>
              <a:t> </a:t>
            </a:r>
            <a:r>
              <a:rPr sz="1800" b="0" spc="-10" dirty="0">
                <a:solidFill>
                  <a:srgbClr val="374151"/>
                </a:solidFill>
                <a:latin typeface="Calibri"/>
                <a:cs typeface="Calibri"/>
              </a:rPr>
              <a:t>information.</a:t>
            </a:r>
            <a:r>
              <a:rPr sz="1800" b="0" spc="-50" dirty="0">
                <a:solidFill>
                  <a:srgbClr val="374151"/>
                </a:solidFill>
                <a:latin typeface="Calibri"/>
                <a:cs typeface="Calibri"/>
              </a:rPr>
              <a:t> </a:t>
            </a:r>
            <a:r>
              <a:rPr sz="1800" b="0" spc="-20" dirty="0">
                <a:solidFill>
                  <a:srgbClr val="374151"/>
                </a:solidFill>
                <a:latin typeface="Calibri"/>
                <a:cs typeface="Calibri"/>
              </a:rPr>
              <a:t>This </a:t>
            </a:r>
            <a:r>
              <a:rPr sz="1800" b="0" dirty="0">
                <a:solidFill>
                  <a:srgbClr val="374151"/>
                </a:solidFill>
                <a:latin typeface="Calibri"/>
                <a:cs typeface="Calibri"/>
              </a:rPr>
              <a:t>makes</a:t>
            </a:r>
            <a:r>
              <a:rPr sz="1800" b="0" spc="-55" dirty="0">
                <a:solidFill>
                  <a:srgbClr val="374151"/>
                </a:solidFill>
                <a:latin typeface="Calibri"/>
                <a:cs typeface="Calibri"/>
              </a:rPr>
              <a:t> </a:t>
            </a:r>
            <a:r>
              <a:rPr sz="1800" b="0" dirty="0">
                <a:solidFill>
                  <a:srgbClr val="374151"/>
                </a:solidFill>
                <a:latin typeface="Calibri"/>
                <a:cs typeface="Calibri"/>
              </a:rPr>
              <a:t>sparse</a:t>
            </a:r>
            <a:r>
              <a:rPr sz="1800" b="0" spc="-50" dirty="0">
                <a:solidFill>
                  <a:srgbClr val="374151"/>
                </a:solidFill>
                <a:latin typeface="Calibri"/>
                <a:cs typeface="Calibri"/>
              </a:rPr>
              <a:t> </a:t>
            </a:r>
            <a:r>
              <a:rPr sz="1800" b="0" spc="-10" dirty="0">
                <a:solidFill>
                  <a:srgbClr val="374151"/>
                </a:solidFill>
                <a:latin typeface="Calibri"/>
                <a:cs typeface="Calibri"/>
              </a:rPr>
              <a:t>autoencoders</a:t>
            </a:r>
            <a:r>
              <a:rPr sz="1800" b="0" spc="-30" dirty="0">
                <a:solidFill>
                  <a:srgbClr val="374151"/>
                </a:solidFill>
                <a:latin typeface="Calibri"/>
                <a:cs typeface="Calibri"/>
              </a:rPr>
              <a:t> </a:t>
            </a:r>
            <a:r>
              <a:rPr sz="1800" b="0" dirty="0">
                <a:solidFill>
                  <a:srgbClr val="374151"/>
                </a:solidFill>
                <a:latin typeface="Calibri"/>
                <a:cs typeface="Calibri"/>
              </a:rPr>
              <a:t>useful</a:t>
            </a:r>
            <a:r>
              <a:rPr sz="1800" b="0" spc="-50" dirty="0">
                <a:solidFill>
                  <a:srgbClr val="374151"/>
                </a:solidFill>
                <a:latin typeface="Calibri"/>
                <a:cs typeface="Calibri"/>
              </a:rPr>
              <a:t> </a:t>
            </a:r>
            <a:r>
              <a:rPr sz="1800" b="0" dirty="0">
                <a:solidFill>
                  <a:srgbClr val="374151"/>
                </a:solidFill>
                <a:latin typeface="Calibri"/>
                <a:cs typeface="Calibri"/>
              </a:rPr>
              <a:t>for</a:t>
            </a:r>
            <a:r>
              <a:rPr sz="1800" b="0" spc="-50" dirty="0">
                <a:solidFill>
                  <a:srgbClr val="374151"/>
                </a:solidFill>
                <a:latin typeface="Calibri"/>
                <a:cs typeface="Calibri"/>
              </a:rPr>
              <a:t> </a:t>
            </a:r>
            <a:r>
              <a:rPr sz="1800" b="0" dirty="0">
                <a:solidFill>
                  <a:srgbClr val="374151"/>
                </a:solidFill>
                <a:latin typeface="Calibri"/>
                <a:cs typeface="Calibri"/>
              </a:rPr>
              <a:t>unsupervised</a:t>
            </a:r>
            <a:r>
              <a:rPr sz="1800" b="0" spc="-45" dirty="0">
                <a:solidFill>
                  <a:srgbClr val="374151"/>
                </a:solidFill>
                <a:latin typeface="Calibri"/>
                <a:cs typeface="Calibri"/>
              </a:rPr>
              <a:t> </a:t>
            </a:r>
            <a:r>
              <a:rPr sz="1800" b="0" spc="-10" dirty="0">
                <a:solidFill>
                  <a:srgbClr val="374151"/>
                </a:solidFill>
                <a:latin typeface="Calibri"/>
                <a:cs typeface="Calibri"/>
              </a:rPr>
              <a:t>feature</a:t>
            </a:r>
            <a:r>
              <a:rPr sz="1800" b="0" spc="-45" dirty="0">
                <a:solidFill>
                  <a:srgbClr val="374151"/>
                </a:solidFill>
                <a:latin typeface="Calibri"/>
                <a:cs typeface="Calibri"/>
              </a:rPr>
              <a:t> </a:t>
            </a:r>
            <a:r>
              <a:rPr sz="1800" b="0" dirty="0">
                <a:solidFill>
                  <a:srgbClr val="374151"/>
                </a:solidFill>
                <a:latin typeface="Calibri"/>
                <a:cs typeface="Calibri"/>
              </a:rPr>
              <a:t>learning</a:t>
            </a:r>
            <a:r>
              <a:rPr sz="1800" b="0" spc="-20" dirty="0">
                <a:solidFill>
                  <a:srgbClr val="374151"/>
                </a:solidFill>
                <a:latin typeface="Calibri"/>
                <a:cs typeface="Calibri"/>
              </a:rPr>
              <a:t> </a:t>
            </a:r>
            <a:r>
              <a:rPr sz="1800" b="0" dirty="0">
                <a:solidFill>
                  <a:srgbClr val="374151"/>
                </a:solidFill>
                <a:latin typeface="Calibri"/>
                <a:cs typeface="Calibri"/>
              </a:rPr>
              <a:t>tasks,</a:t>
            </a:r>
            <a:r>
              <a:rPr sz="1800" b="0" spc="-65" dirty="0">
                <a:solidFill>
                  <a:srgbClr val="374151"/>
                </a:solidFill>
                <a:latin typeface="Calibri"/>
                <a:cs typeface="Calibri"/>
              </a:rPr>
              <a:t> </a:t>
            </a:r>
            <a:r>
              <a:rPr sz="1800" b="0" dirty="0">
                <a:solidFill>
                  <a:srgbClr val="374151"/>
                </a:solidFill>
                <a:latin typeface="Calibri"/>
                <a:cs typeface="Calibri"/>
              </a:rPr>
              <a:t>such</a:t>
            </a:r>
            <a:r>
              <a:rPr sz="1800" b="0" spc="-50" dirty="0">
                <a:solidFill>
                  <a:srgbClr val="374151"/>
                </a:solidFill>
                <a:latin typeface="Calibri"/>
                <a:cs typeface="Calibri"/>
              </a:rPr>
              <a:t> </a:t>
            </a:r>
            <a:r>
              <a:rPr sz="1800" b="0" spc="-25" dirty="0">
                <a:solidFill>
                  <a:srgbClr val="374151"/>
                </a:solidFill>
                <a:latin typeface="Calibri"/>
                <a:cs typeface="Calibri"/>
              </a:rPr>
              <a:t>as </a:t>
            </a:r>
            <a:r>
              <a:rPr sz="1800" b="0" dirty="0">
                <a:solidFill>
                  <a:srgbClr val="374151"/>
                </a:solidFill>
                <a:latin typeface="Calibri"/>
                <a:cs typeface="Calibri"/>
              </a:rPr>
              <a:t>dimensionality</a:t>
            </a:r>
            <a:r>
              <a:rPr sz="1800" b="0" spc="-45" dirty="0">
                <a:solidFill>
                  <a:srgbClr val="374151"/>
                </a:solidFill>
                <a:latin typeface="Calibri"/>
                <a:cs typeface="Calibri"/>
              </a:rPr>
              <a:t> </a:t>
            </a:r>
            <a:r>
              <a:rPr sz="1800" b="0" dirty="0">
                <a:solidFill>
                  <a:srgbClr val="374151"/>
                </a:solidFill>
                <a:latin typeface="Calibri"/>
                <a:cs typeface="Calibri"/>
              </a:rPr>
              <a:t>reduction</a:t>
            </a:r>
            <a:r>
              <a:rPr sz="1800" b="0" spc="-25" dirty="0">
                <a:solidFill>
                  <a:srgbClr val="374151"/>
                </a:solidFill>
                <a:latin typeface="Calibri"/>
                <a:cs typeface="Calibri"/>
              </a:rPr>
              <a:t> </a:t>
            </a:r>
            <a:r>
              <a:rPr sz="1800" b="0" dirty="0">
                <a:solidFill>
                  <a:srgbClr val="374151"/>
                </a:solidFill>
                <a:latin typeface="Calibri"/>
                <a:cs typeface="Calibri"/>
              </a:rPr>
              <a:t>or</a:t>
            </a:r>
            <a:r>
              <a:rPr sz="1800" b="0" spc="-45" dirty="0">
                <a:solidFill>
                  <a:srgbClr val="374151"/>
                </a:solidFill>
                <a:latin typeface="Calibri"/>
                <a:cs typeface="Calibri"/>
              </a:rPr>
              <a:t> </a:t>
            </a:r>
            <a:r>
              <a:rPr sz="1800" b="0" spc="-10" dirty="0">
                <a:solidFill>
                  <a:srgbClr val="374151"/>
                </a:solidFill>
                <a:latin typeface="Calibri"/>
                <a:cs typeface="Calibri"/>
              </a:rPr>
              <a:t>pretraining</a:t>
            </a:r>
            <a:r>
              <a:rPr sz="1800" b="0" spc="-25" dirty="0">
                <a:solidFill>
                  <a:srgbClr val="374151"/>
                </a:solidFill>
                <a:latin typeface="Calibri"/>
                <a:cs typeface="Calibri"/>
              </a:rPr>
              <a:t> </a:t>
            </a:r>
            <a:r>
              <a:rPr sz="1800" b="0" dirty="0">
                <a:solidFill>
                  <a:srgbClr val="374151"/>
                </a:solidFill>
                <a:latin typeface="Calibri"/>
                <a:cs typeface="Calibri"/>
              </a:rPr>
              <a:t>deep</a:t>
            </a:r>
            <a:r>
              <a:rPr sz="1800" b="0" spc="-50" dirty="0">
                <a:solidFill>
                  <a:srgbClr val="374151"/>
                </a:solidFill>
                <a:latin typeface="Calibri"/>
                <a:cs typeface="Calibri"/>
              </a:rPr>
              <a:t> </a:t>
            </a:r>
            <a:r>
              <a:rPr sz="1800" b="0" dirty="0">
                <a:solidFill>
                  <a:srgbClr val="374151"/>
                </a:solidFill>
                <a:latin typeface="Calibri"/>
                <a:cs typeface="Calibri"/>
              </a:rPr>
              <a:t>neural</a:t>
            </a:r>
            <a:r>
              <a:rPr sz="1800" b="0" spc="-45" dirty="0">
                <a:solidFill>
                  <a:srgbClr val="374151"/>
                </a:solidFill>
                <a:latin typeface="Calibri"/>
                <a:cs typeface="Calibri"/>
              </a:rPr>
              <a:t> </a:t>
            </a:r>
            <a:r>
              <a:rPr sz="1800" b="0" spc="-10" dirty="0">
                <a:solidFill>
                  <a:srgbClr val="374151"/>
                </a:solidFill>
                <a:latin typeface="Calibri"/>
                <a:cs typeface="Calibri"/>
              </a:rPr>
              <a:t>networks.</a:t>
            </a:r>
            <a:endParaRPr sz="18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Variational</a:t>
            </a:r>
            <a:r>
              <a:rPr b="0" spc="-80" dirty="0">
                <a:solidFill>
                  <a:srgbClr val="A3123E"/>
                </a:solidFill>
                <a:latin typeface="Georgia"/>
                <a:cs typeface="Georgia"/>
              </a:rPr>
              <a:t> </a:t>
            </a:r>
            <a:r>
              <a:rPr b="0" spc="-10" dirty="0">
                <a:solidFill>
                  <a:srgbClr val="A3123E"/>
                </a:solidFill>
                <a:latin typeface="Georgia"/>
                <a:cs typeface="Georgia"/>
              </a:rPr>
              <a:t>Autoencoder</a:t>
            </a:r>
          </a:p>
        </p:txBody>
      </p:sp>
      <p:sp>
        <p:nvSpPr>
          <p:cNvPr id="3" name="object 3"/>
          <p:cNvSpPr txBox="1"/>
          <p:nvPr/>
        </p:nvSpPr>
        <p:spPr>
          <a:xfrm>
            <a:off x="196697" y="4309998"/>
            <a:ext cx="11600815" cy="1671955"/>
          </a:xfrm>
          <a:prstGeom prst="rect">
            <a:avLst/>
          </a:prstGeom>
        </p:spPr>
        <p:txBody>
          <a:bodyPr vert="horz" wrap="square" lIns="0" tIns="12700" rIns="0" bIns="0" rtlCol="0">
            <a:spAutoFit/>
          </a:bodyPr>
          <a:lstStyle/>
          <a:p>
            <a:pPr marL="12700" marR="5080">
              <a:lnSpc>
                <a:spcPct val="100000"/>
              </a:lnSpc>
              <a:spcBef>
                <a:spcPts val="100"/>
              </a:spcBef>
            </a:pPr>
            <a:r>
              <a:rPr sz="1800" b="1" dirty="0">
                <a:solidFill>
                  <a:srgbClr val="292929"/>
                </a:solidFill>
                <a:latin typeface="Calibri"/>
                <a:cs typeface="Calibri"/>
              </a:rPr>
              <a:t>Lower</a:t>
            </a:r>
            <a:r>
              <a:rPr sz="1800" b="1" spc="-65" dirty="0">
                <a:solidFill>
                  <a:srgbClr val="292929"/>
                </a:solidFill>
                <a:latin typeface="Calibri"/>
                <a:cs typeface="Calibri"/>
              </a:rPr>
              <a:t> </a:t>
            </a:r>
            <a:r>
              <a:rPr sz="1800" b="1" dirty="0">
                <a:solidFill>
                  <a:srgbClr val="292929"/>
                </a:solidFill>
                <a:latin typeface="Calibri"/>
                <a:cs typeface="Calibri"/>
              </a:rPr>
              <a:t>dimensional</a:t>
            </a:r>
            <a:r>
              <a:rPr sz="1800" b="1" spc="-70" dirty="0">
                <a:solidFill>
                  <a:srgbClr val="292929"/>
                </a:solidFill>
                <a:latin typeface="Calibri"/>
                <a:cs typeface="Calibri"/>
              </a:rPr>
              <a:t> </a:t>
            </a:r>
            <a:r>
              <a:rPr sz="1800" b="1" dirty="0">
                <a:solidFill>
                  <a:srgbClr val="292929"/>
                </a:solidFill>
                <a:latin typeface="Calibri"/>
                <a:cs typeface="Calibri"/>
              </a:rPr>
              <a:t>encoding</a:t>
            </a:r>
            <a:r>
              <a:rPr sz="1800" dirty="0">
                <a:solidFill>
                  <a:srgbClr val="292929"/>
                </a:solidFill>
                <a:latin typeface="Calibri"/>
                <a:cs typeface="Calibri"/>
              </a:rPr>
              <a:t>?</a:t>
            </a:r>
            <a:r>
              <a:rPr sz="1800" spc="-60" dirty="0">
                <a:solidFill>
                  <a:srgbClr val="292929"/>
                </a:solidFill>
                <a:latin typeface="Calibri"/>
                <a:cs typeface="Calibri"/>
              </a:rPr>
              <a:t> </a:t>
            </a:r>
            <a:r>
              <a:rPr sz="1800" dirty="0">
                <a:solidFill>
                  <a:srgbClr val="292929"/>
                </a:solidFill>
                <a:latin typeface="Calibri"/>
                <a:cs typeface="Calibri"/>
              </a:rPr>
              <a:t>when</a:t>
            </a:r>
            <a:r>
              <a:rPr sz="1800" spc="-25" dirty="0">
                <a:solidFill>
                  <a:srgbClr val="292929"/>
                </a:solidFill>
                <a:latin typeface="Calibri"/>
                <a:cs typeface="Calibri"/>
              </a:rPr>
              <a:t> </a:t>
            </a:r>
            <a:r>
              <a:rPr sz="1800" dirty="0">
                <a:solidFill>
                  <a:srgbClr val="292929"/>
                </a:solidFill>
                <a:latin typeface="Calibri"/>
                <a:cs typeface="Calibri"/>
              </a:rPr>
              <a:t>we</a:t>
            </a:r>
            <a:r>
              <a:rPr sz="1800" spc="-35" dirty="0">
                <a:solidFill>
                  <a:srgbClr val="292929"/>
                </a:solidFill>
                <a:latin typeface="Calibri"/>
                <a:cs typeface="Calibri"/>
              </a:rPr>
              <a:t> </a:t>
            </a:r>
            <a:r>
              <a:rPr sz="1800" dirty="0">
                <a:solidFill>
                  <a:srgbClr val="292929"/>
                </a:solidFill>
                <a:latin typeface="Calibri"/>
                <a:cs typeface="Calibri"/>
              </a:rPr>
              <a:t>encode</a:t>
            </a:r>
            <a:r>
              <a:rPr sz="1800" spc="-15" dirty="0">
                <a:solidFill>
                  <a:srgbClr val="292929"/>
                </a:solidFill>
                <a:latin typeface="Calibri"/>
                <a:cs typeface="Calibri"/>
              </a:rPr>
              <a:t> </a:t>
            </a:r>
            <a:r>
              <a:rPr sz="1800" dirty="0">
                <a:solidFill>
                  <a:srgbClr val="292929"/>
                </a:solidFill>
                <a:latin typeface="Calibri"/>
                <a:cs typeface="Calibri"/>
              </a:rPr>
              <a:t>784x1</a:t>
            </a:r>
            <a:r>
              <a:rPr sz="1800" spc="-35" dirty="0">
                <a:solidFill>
                  <a:srgbClr val="292929"/>
                </a:solidFill>
                <a:latin typeface="Calibri"/>
                <a:cs typeface="Calibri"/>
              </a:rPr>
              <a:t> </a:t>
            </a:r>
            <a:r>
              <a:rPr sz="1800" dirty="0">
                <a:solidFill>
                  <a:srgbClr val="292929"/>
                </a:solidFill>
                <a:latin typeface="Calibri"/>
                <a:cs typeface="Calibri"/>
              </a:rPr>
              <a:t>or</a:t>
            </a:r>
            <a:r>
              <a:rPr sz="1800" spc="-40" dirty="0">
                <a:solidFill>
                  <a:srgbClr val="292929"/>
                </a:solidFill>
                <a:latin typeface="Calibri"/>
                <a:cs typeface="Calibri"/>
              </a:rPr>
              <a:t> </a:t>
            </a:r>
            <a:r>
              <a:rPr sz="1800" dirty="0">
                <a:solidFill>
                  <a:srgbClr val="292929"/>
                </a:solidFill>
                <a:latin typeface="Calibri"/>
                <a:cs typeface="Calibri"/>
              </a:rPr>
              <a:t>28x28</a:t>
            </a:r>
            <a:r>
              <a:rPr sz="1800" spc="-35" dirty="0">
                <a:solidFill>
                  <a:srgbClr val="292929"/>
                </a:solidFill>
                <a:latin typeface="Calibri"/>
                <a:cs typeface="Calibri"/>
              </a:rPr>
              <a:t> </a:t>
            </a:r>
            <a:r>
              <a:rPr sz="1800" dirty="0">
                <a:solidFill>
                  <a:srgbClr val="292929"/>
                </a:solidFill>
                <a:latin typeface="Calibri"/>
                <a:cs typeface="Calibri"/>
              </a:rPr>
              <a:t>dimension</a:t>
            </a:r>
            <a:r>
              <a:rPr sz="1800" spc="-30"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a</a:t>
            </a:r>
            <a:r>
              <a:rPr sz="1800" spc="-25" dirty="0">
                <a:solidFill>
                  <a:srgbClr val="292929"/>
                </a:solidFill>
                <a:latin typeface="Calibri"/>
                <a:cs typeface="Calibri"/>
              </a:rPr>
              <a:t> </a:t>
            </a:r>
            <a:r>
              <a:rPr sz="1800" dirty="0">
                <a:solidFill>
                  <a:srgbClr val="292929"/>
                </a:solidFill>
                <a:latin typeface="Calibri"/>
                <a:cs typeface="Calibri"/>
              </a:rPr>
              <a:t>say</a:t>
            </a:r>
            <a:r>
              <a:rPr sz="1800" spc="-50" dirty="0">
                <a:solidFill>
                  <a:srgbClr val="292929"/>
                </a:solidFill>
                <a:latin typeface="Calibri"/>
                <a:cs typeface="Calibri"/>
              </a:rPr>
              <a:t> </a:t>
            </a:r>
            <a:r>
              <a:rPr sz="1800" dirty="0">
                <a:solidFill>
                  <a:srgbClr val="292929"/>
                </a:solidFill>
                <a:latin typeface="Calibri"/>
                <a:cs typeface="Calibri"/>
              </a:rPr>
              <a:t>much</a:t>
            </a:r>
            <a:r>
              <a:rPr sz="1800" spc="-30" dirty="0">
                <a:solidFill>
                  <a:srgbClr val="292929"/>
                </a:solidFill>
                <a:latin typeface="Calibri"/>
                <a:cs typeface="Calibri"/>
              </a:rPr>
              <a:t> </a:t>
            </a:r>
            <a:r>
              <a:rPr sz="1800" dirty="0">
                <a:solidFill>
                  <a:srgbClr val="292929"/>
                </a:solidFill>
                <a:latin typeface="Calibri"/>
                <a:cs typeface="Calibri"/>
              </a:rPr>
              <a:t>smaller</a:t>
            </a:r>
            <a:r>
              <a:rPr sz="1800" spc="-35" dirty="0">
                <a:solidFill>
                  <a:srgbClr val="292929"/>
                </a:solidFill>
                <a:latin typeface="Calibri"/>
                <a:cs typeface="Calibri"/>
              </a:rPr>
              <a:t> </a:t>
            </a:r>
            <a:r>
              <a:rPr sz="1800" dirty="0">
                <a:solidFill>
                  <a:srgbClr val="292929"/>
                </a:solidFill>
                <a:latin typeface="Calibri"/>
                <a:cs typeface="Calibri"/>
              </a:rPr>
              <a:t>32x1</a:t>
            </a:r>
            <a:r>
              <a:rPr sz="1800" spc="-25" dirty="0">
                <a:solidFill>
                  <a:srgbClr val="292929"/>
                </a:solidFill>
                <a:latin typeface="Calibri"/>
                <a:cs typeface="Calibri"/>
              </a:rPr>
              <a:t> </a:t>
            </a:r>
            <a:r>
              <a:rPr sz="1800" dirty="0">
                <a:solidFill>
                  <a:srgbClr val="292929"/>
                </a:solidFill>
                <a:latin typeface="Calibri"/>
                <a:cs typeface="Calibri"/>
              </a:rPr>
              <a:t>dimension,</a:t>
            </a:r>
            <a:r>
              <a:rPr sz="1800" spc="-35" dirty="0">
                <a:solidFill>
                  <a:srgbClr val="292929"/>
                </a:solidFill>
                <a:latin typeface="Calibri"/>
                <a:cs typeface="Calibri"/>
              </a:rPr>
              <a:t> </a:t>
            </a:r>
            <a:r>
              <a:rPr sz="1800" spc="-25" dirty="0">
                <a:solidFill>
                  <a:srgbClr val="292929"/>
                </a:solidFill>
                <a:latin typeface="Calibri"/>
                <a:cs typeface="Calibri"/>
              </a:rPr>
              <a:t>we </a:t>
            </a:r>
            <a:r>
              <a:rPr sz="1800" dirty="0">
                <a:solidFill>
                  <a:srgbClr val="292929"/>
                </a:solidFill>
                <a:latin typeface="Calibri"/>
                <a:cs typeface="Calibri"/>
              </a:rPr>
              <a:t>basically</a:t>
            </a:r>
            <a:r>
              <a:rPr sz="1800" spc="-35" dirty="0">
                <a:solidFill>
                  <a:srgbClr val="292929"/>
                </a:solidFill>
                <a:latin typeface="Calibri"/>
                <a:cs typeface="Calibri"/>
              </a:rPr>
              <a:t> </a:t>
            </a:r>
            <a:r>
              <a:rPr sz="1800" dirty="0">
                <a:solidFill>
                  <a:srgbClr val="292929"/>
                </a:solidFill>
                <a:latin typeface="Calibri"/>
                <a:cs typeface="Calibri"/>
              </a:rPr>
              <a:t>mean</a:t>
            </a:r>
            <a:r>
              <a:rPr sz="1800" spc="-45" dirty="0">
                <a:solidFill>
                  <a:srgbClr val="292929"/>
                </a:solidFill>
                <a:latin typeface="Calibri"/>
                <a:cs typeface="Calibri"/>
              </a:rPr>
              <a:t> </a:t>
            </a:r>
            <a:r>
              <a:rPr sz="1800" dirty="0">
                <a:solidFill>
                  <a:srgbClr val="292929"/>
                </a:solidFill>
                <a:latin typeface="Calibri"/>
                <a:cs typeface="Calibri"/>
              </a:rPr>
              <a:t>that</a:t>
            </a:r>
            <a:r>
              <a:rPr sz="1800" spc="-45" dirty="0">
                <a:solidFill>
                  <a:srgbClr val="292929"/>
                </a:solidFill>
                <a:latin typeface="Calibri"/>
                <a:cs typeface="Calibri"/>
              </a:rPr>
              <a:t> </a:t>
            </a:r>
            <a:r>
              <a:rPr sz="1800" dirty="0">
                <a:solidFill>
                  <a:srgbClr val="292929"/>
                </a:solidFill>
                <a:latin typeface="Calibri"/>
                <a:cs typeface="Calibri"/>
              </a:rPr>
              <a:t>now</a:t>
            </a:r>
            <a:r>
              <a:rPr sz="1800" spc="-40" dirty="0">
                <a:solidFill>
                  <a:srgbClr val="292929"/>
                </a:solidFill>
                <a:latin typeface="Calibri"/>
                <a:cs typeface="Calibri"/>
              </a:rPr>
              <a:t> </a:t>
            </a:r>
            <a:r>
              <a:rPr sz="1800" dirty="0">
                <a:solidFill>
                  <a:srgbClr val="292929"/>
                </a:solidFill>
                <a:latin typeface="Calibri"/>
                <a:cs typeface="Calibri"/>
              </a:rPr>
              <a:t>we</a:t>
            </a:r>
            <a:r>
              <a:rPr sz="1800" spc="-25" dirty="0">
                <a:solidFill>
                  <a:srgbClr val="292929"/>
                </a:solidFill>
                <a:latin typeface="Calibri"/>
                <a:cs typeface="Calibri"/>
              </a:rPr>
              <a:t> </a:t>
            </a:r>
            <a:r>
              <a:rPr sz="1800" dirty="0">
                <a:solidFill>
                  <a:srgbClr val="292929"/>
                </a:solidFill>
                <a:latin typeface="Calibri"/>
                <a:cs typeface="Calibri"/>
              </a:rPr>
              <a:t>have</a:t>
            </a:r>
            <a:r>
              <a:rPr sz="1800" spc="-55" dirty="0">
                <a:solidFill>
                  <a:srgbClr val="292929"/>
                </a:solidFill>
                <a:latin typeface="Calibri"/>
                <a:cs typeface="Calibri"/>
              </a:rPr>
              <a:t> </a:t>
            </a:r>
            <a:r>
              <a:rPr sz="1800" dirty="0">
                <a:solidFill>
                  <a:srgbClr val="292929"/>
                </a:solidFill>
                <a:latin typeface="Calibri"/>
                <a:cs typeface="Calibri"/>
              </a:rPr>
              <a:t>32</a:t>
            </a:r>
            <a:r>
              <a:rPr sz="1800" spc="-40" dirty="0">
                <a:solidFill>
                  <a:srgbClr val="292929"/>
                </a:solidFill>
                <a:latin typeface="Calibri"/>
                <a:cs typeface="Calibri"/>
              </a:rPr>
              <a:t> </a:t>
            </a:r>
            <a:r>
              <a:rPr sz="1800" spc="-10" dirty="0">
                <a:solidFill>
                  <a:srgbClr val="292929"/>
                </a:solidFill>
                <a:latin typeface="Calibri"/>
                <a:cs typeface="Calibri"/>
              </a:rPr>
              <a:t>features</a:t>
            </a:r>
            <a:r>
              <a:rPr sz="1800" spc="-35" dirty="0">
                <a:solidFill>
                  <a:srgbClr val="292929"/>
                </a:solidFill>
                <a:latin typeface="Calibri"/>
                <a:cs typeface="Calibri"/>
              </a:rPr>
              <a:t> </a:t>
            </a:r>
            <a:r>
              <a:rPr sz="1800" dirty="0">
                <a:solidFill>
                  <a:srgbClr val="292929"/>
                </a:solidFill>
                <a:latin typeface="Calibri"/>
                <a:cs typeface="Calibri"/>
              </a:rPr>
              <a:t>which</a:t>
            </a:r>
            <a:r>
              <a:rPr sz="1800" spc="-20" dirty="0">
                <a:solidFill>
                  <a:srgbClr val="292929"/>
                </a:solidFill>
                <a:latin typeface="Calibri"/>
                <a:cs typeface="Calibri"/>
              </a:rPr>
              <a:t> </a:t>
            </a:r>
            <a:r>
              <a:rPr sz="1800" dirty="0">
                <a:solidFill>
                  <a:srgbClr val="292929"/>
                </a:solidFill>
                <a:latin typeface="Calibri"/>
                <a:cs typeface="Calibri"/>
              </a:rPr>
              <a:t>are</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most</a:t>
            </a:r>
            <a:r>
              <a:rPr sz="1800" spc="-45" dirty="0">
                <a:solidFill>
                  <a:srgbClr val="292929"/>
                </a:solidFill>
                <a:latin typeface="Calibri"/>
                <a:cs typeface="Calibri"/>
              </a:rPr>
              <a:t> </a:t>
            </a:r>
            <a:r>
              <a:rPr sz="1800" dirty="0">
                <a:solidFill>
                  <a:srgbClr val="292929"/>
                </a:solidFill>
                <a:latin typeface="Calibri"/>
                <a:cs typeface="Calibri"/>
              </a:rPr>
              <a:t>important</a:t>
            </a:r>
            <a:r>
              <a:rPr sz="1800" spc="-40" dirty="0">
                <a:solidFill>
                  <a:srgbClr val="292929"/>
                </a:solidFill>
                <a:latin typeface="Calibri"/>
                <a:cs typeface="Calibri"/>
              </a:rPr>
              <a:t> </a:t>
            </a:r>
            <a:r>
              <a:rPr sz="1800" spc="-10" dirty="0">
                <a:solidFill>
                  <a:srgbClr val="292929"/>
                </a:solidFill>
                <a:latin typeface="Calibri"/>
                <a:cs typeface="Calibri"/>
              </a:rPr>
              <a:t>features</a:t>
            </a:r>
            <a:r>
              <a:rPr sz="1800" spc="-50" dirty="0">
                <a:solidFill>
                  <a:srgbClr val="292929"/>
                </a:solidFill>
                <a:latin typeface="Calibri"/>
                <a:cs typeface="Calibri"/>
              </a:rPr>
              <a:t> </a:t>
            </a:r>
            <a:r>
              <a:rPr sz="1800" dirty="0">
                <a:solidFill>
                  <a:srgbClr val="292929"/>
                </a:solidFill>
                <a:latin typeface="Calibri"/>
                <a:cs typeface="Calibri"/>
              </a:rPr>
              <a:t>and</a:t>
            </a:r>
            <a:r>
              <a:rPr sz="1800" spc="-25" dirty="0">
                <a:solidFill>
                  <a:srgbClr val="292929"/>
                </a:solidFill>
                <a:latin typeface="Calibri"/>
                <a:cs typeface="Calibri"/>
              </a:rPr>
              <a:t> </a:t>
            </a:r>
            <a:r>
              <a:rPr sz="1800" dirty="0">
                <a:solidFill>
                  <a:srgbClr val="292929"/>
                </a:solidFill>
                <a:latin typeface="Calibri"/>
                <a:cs typeface="Calibri"/>
              </a:rPr>
              <a:t>reflect</a:t>
            </a:r>
            <a:r>
              <a:rPr sz="1800" spc="-45" dirty="0">
                <a:solidFill>
                  <a:srgbClr val="292929"/>
                </a:solidFill>
                <a:latin typeface="Calibri"/>
                <a:cs typeface="Calibri"/>
              </a:rPr>
              <a:t> </a:t>
            </a:r>
            <a:r>
              <a:rPr sz="1800" dirty="0">
                <a:solidFill>
                  <a:srgbClr val="292929"/>
                </a:solidFill>
                <a:latin typeface="Calibri"/>
                <a:cs typeface="Calibri"/>
              </a:rPr>
              <a:t>most</a:t>
            </a:r>
            <a:r>
              <a:rPr sz="1800" spc="-45"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spc="-10" dirty="0">
                <a:solidFill>
                  <a:srgbClr val="292929"/>
                </a:solidFill>
                <a:latin typeface="Calibri"/>
                <a:cs typeface="Calibri"/>
              </a:rPr>
              <a:t>information</a:t>
            </a:r>
            <a:r>
              <a:rPr sz="1800" spc="-30" dirty="0">
                <a:solidFill>
                  <a:srgbClr val="292929"/>
                </a:solidFill>
                <a:latin typeface="Calibri"/>
                <a:cs typeface="Calibri"/>
              </a:rPr>
              <a:t> </a:t>
            </a:r>
            <a:r>
              <a:rPr sz="1800" spc="-25" dirty="0">
                <a:solidFill>
                  <a:srgbClr val="292929"/>
                </a:solidFill>
                <a:latin typeface="Calibri"/>
                <a:cs typeface="Calibri"/>
              </a:rPr>
              <a:t>in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data,</a:t>
            </a:r>
            <a:r>
              <a:rPr sz="1800" spc="-40" dirty="0">
                <a:solidFill>
                  <a:srgbClr val="292929"/>
                </a:solidFill>
                <a:latin typeface="Calibri"/>
                <a:cs typeface="Calibri"/>
              </a:rPr>
              <a:t> </a:t>
            </a:r>
            <a:r>
              <a:rPr sz="1800" dirty="0">
                <a:solidFill>
                  <a:srgbClr val="292929"/>
                </a:solidFill>
                <a:latin typeface="Calibri"/>
                <a:cs typeface="Calibri"/>
              </a:rPr>
              <a:t>or</a:t>
            </a:r>
            <a:r>
              <a:rPr sz="1800" spc="-40" dirty="0">
                <a:solidFill>
                  <a:srgbClr val="292929"/>
                </a:solidFill>
                <a:latin typeface="Calibri"/>
                <a:cs typeface="Calibri"/>
              </a:rPr>
              <a:t> </a:t>
            </a:r>
            <a:r>
              <a:rPr sz="1800" dirty="0">
                <a:solidFill>
                  <a:srgbClr val="292929"/>
                </a:solidFill>
                <a:latin typeface="Calibri"/>
                <a:cs typeface="Calibri"/>
              </a:rPr>
              <a:t>image.</a:t>
            </a:r>
            <a:r>
              <a:rPr sz="1800" spc="-45" dirty="0">
                <a:solidFill>
                  <a:srgbClr val="292929"/>
                </a:solidFill>
                <a:latin typeface="Calibri"/>
                <a:cs typeface="Calibri"/>
              </a:rPr>
              <a:t> </a:t>
            </a:r>
            <a:r>
              <a:rPr sz="1800" dirty="0">
                <a:solidFill>
                  <a:srgbClr val="292929"/>
                </a:solidFill>
                <a:latin typeface="Calibri"/>
                <a:cs typeface="Calibri"/>
              </a:rPr>
              <a:t>So,</a:t>
            </a:r>
            <a:r>
              <a:rPr sz="1800" spc="-35" dirty="0">
                <a:solidFill>
                  <a:srgbClr val="292929"/>
                </a:solidFill>
                <a:latin typeface="Calibri"/>
                <a:cs typeface="Calibri"/>
              </a:rPr>
              <a:t> </a:t>
            </a:r>
            <a:r>
              <a:rPr sz="1800" dirty="0">
                <a:solidFill>
                  <a:srgbClr val="292929"/>
                </a:solidFill>
                <a:latin typeface="Calibri"/>
                <a:cs typeface="Calibri"/>
              </a:rPr>
              <a:t>say</a:t>
            </a:r>
            <a:r>
              <a:rPr sz="1800" spc="-40" dirty="0">
                <a:solidFill>
                  <a:srgbClr val="292929"/>
                </a:solidFill>
                <a:latin typeface="Calibri"/>
                <a:cs typeface="Calibri"/>
              </a:rPr>
              <a:t> </a:t>
            </a:r>
            <a:r>
              <a:rPr sz="1800" dirty="0">
                <a:solidFill>
                  <a:srgbClr val="292929"/>
                </a:solidFill>
                <a:latin typeface="Calibri"/>
                <a:cs typeface="Calibri"/>
              </a:rPr>
              <a:t>for</a:t>
            </a:r>
            <a:r>
              <a:rPr sz="1800" spc="-40" dirty="0">
                <a:solidFill>
                  <a:srgbClr val="292929"/>
                </a:solidFill>
                <a:latin typeface="Calibri"/>
                <a:cs typeface="Calibri"/>
              </a:rPr>
              <a:t> </a:t>
            </a:r>
            <a:r>
              <a:rPr sz="1800" dirty="0">
                <a:solidFill>
                  <a:srgbClr val="292929"/>
                </a:solidFill>
                <a:latin typeface="Calibri"/>
                <a:cs typeface="Calibri"/>
              </a:rPr>
              <a:t>a</a:t>
            </a:r>
            <a:r>
              <a:rPr sz="1800" spc="-45" dirty="0">
                <a:solidFill>
                  <a:srgbClr val="292929"/>
                </a:solidFill>
                <a:latin typeface="Calibri"/>
                <a:cs typeface="Calibri"/>
              </a:rPr>
              <a:t> </a:t>
            </a:r>
            <a:r>
              <a:rPr sz="1800" dirty="0">
                <a:solidFill>
                  <a:srgbClr val="292929"/>
                </a:solidFill>
                <a:latin typeface="Calibri"/>
                <a:cs typeface="Calibri"/>
              </a:rPr>
              <a:t>face,</a:t>
            </a:r>
            <a:r>
              <a:rPr sz="1800" spc="-25" dirty="0">
                <a:solidFill>
                  <a:srgbClr val="292929"/>
                </a:solidFill>
                <a:latin typeface="Calibri"/>
                <a:cs typeface="Calibri"/>
              </a:rPr>
              <a:t> </a:t>
            </a:r>
            <a:r>
              <a:rPr sz="1800" dirty="0">
                <a:solidFill>
                  <a:srgbClr val="292929"/>
                </a:solidFill>
                <a:latin typeface="Calibri"/>
                <a:cs typeface="Calibri"/>
              </a:rPr>
              <a:t>when</a:t>
            </a:r>
            <a:r>
              <a:rPr sz="1800" spc="-30" dirty="0">
                <a:solidFill>
                  <a:srgbClr val="292929"/>
                </a:solidFill>
                <a:latin typeface="Calibri"/>
                <a:cs typeface="Calibri"/>
              </a:rPr>
              <a:t> </a:t>
            </a:r>
            <a:r>
              <a:rPr sz="1800" dirty="0">
                <a:solidFill>
                  <a:srgbClr val="292929"/>
                </a:solidFill>
                <a:latin typeface="Calibri"/>
                <a:cs typeface="Calibri"/>
              </a:rPr>
              <a:t>we</a:t>
            </a:r>
            <a:r>
              <a:rPr sz="1800" spc="-40" dirty="0">
                <a:solidFill>
                  <a:srgbClr val="292929"/>
                </a:solidFill>
                <a:latin typeface="Calibri"/>
                <a:cs typeface="Calibri"/>
              </a:rPr>
              <a:t> </a:t>
            </a:r>
            <a:r>
              <a:rPr sz="1800" dirty="0">
                <a:solidFill>
                  <a:srgbClr val="292929"/>
                </a:solidFill>
                <a:latin typeface="Calibri"/>
                <a:cs typeface="Calibri"/>
              </a:rPr>
              <a:t>encode</a:t>
            </a:r>
            <a:r>
              <a:rPr sz="1800" spc="-25" dirty="0">
                <a:solidFill>
                  <a:srgbClr val="292929"/>
                </a:solidFill>
                <a:latin typeface="Calibri"/>
                <a:cs typeface="Calibri"/>
              </a:rPr>
              <a:t> </a:t>
            </a:r>
            <a:r>
              <a:rPr sz="1800" dirty="0">
                <a:solidFill>
                  <a:srgbClr val="292929"/>
                </a:solidFill>
                <a:latin typeface="Calibri"/>
                <a:cs typeface="Calibri"/>
              </a:rPr>
              <a:t>a</a:t>
            </a:r>
            <a:r>
              <a:rPr sz="1800" spc="-45" dirty="0">
                <a:solidFill>
                  <a:srgbClr val="292929"/>
                </a:solidFill>
                <a:latin typeface="Calibri"/>
                <a:cs typeface="Calibri"/>
              </a:rPr>
              <a:t> </a:t>
            </a:r>
            <a:r>
              <a:rPr sz="1800" dirty="0">
                <a:solidFill>
                  <a:srgbClr val="292929"/>
                </a:solidFill>
                <a:latin typeface="Calibri"/>
                <a:cs typeface="Calibri"/>
              </a:rPr>
              <a:t>face</a:t>
            </a:r>
            <a:r>
              <a:rPr sz="1800" spc="-30" dirty="0">
                <a:solidFill>
                  <a:srgbClr val="292929"/>
                </a:solidFill>
                <a:latin typeface="Calibri"/>
                <a:cs typeface="Calibri"/>
              </a:rPr>
              <a:t> </a:t>
            </a:r>
            <a:r>
              <a:rPr sz="1800" dirty="0">
                <a:solidFill>
                  <a:srgbClr val="292929"/>
                </a:solidFill>
                <a:latin typeface="Calibri"/>
                <a:cs typeface="Calibri"/>
              </a:rPr>
              <a:t>image</a:t>
            </a:r>
            <a:r>
              <a:rPr sz="1800" spc="-40"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dirty="0">
                <a:solidFill>
                  <a:srgbClr val="292929"/>
                </a:solidFill>
                <a:latin typeface="Calibri"/>
                <a:cs typeface="Calibri"/>
              </a:rPr>
              <a:t>say</a:t>
            </a:r>
            <a:r>
              <a:rPr sz="1800" spc="-35" dirty="0">
                <a:solidFill>
                  <a:srgbClr val="292929"/>
                </a:solidFill>
                <a:latin typeface="Calibri"/>
                <a:cs typeface="Calibri"/>
              </a:rPr>
              <a:t> </a:t>
            </a:r>
            <a:r>
              <a:rPr sz="1800" dirty="0">
                <a:solidFill>
                  <a:srgbClr val="292929"/>
                </a:solidFill>
                <a:latin typeface="Calibri"/>
                <a:cs typeface="Calibri"/>
              </a:rPr>
              <a:t>32x32</a:t>
            </a:r>
            <a:r>
              <a:rPr sz="1800" spc="-40" dirty="0">
                <a:solidFill>
                  <a:srgbClr val="292929"/>
                </a:solidFill>
                <a:latin typeface="Calibri"/>
                <a:cs typeface="Calibri"/>
              </a:rPr>
              <a:t> </a:t>
            </a:r>
            <a:r>
              <a:rPr sz="1800" dirty="0">
                <a:solidFill>
                  <a:srgbClr val="292929"/>
                </a:solidFill>
                <a:latin typeface="Calibri"/>
                <a:cs typeface="Calibri"/>
              </a:rPr>
              <a:t>dimension,</a:t>
            </a:r>
            <a:r>
              <a:rPr sz="1800" spc="-35" dirty="0">
                <a:solidFill>
                  <a:srgbClr val="292929"/>
                </a:solidFill>
                <a:latin typeface="Calibri"/>
                <a:cs typeface="Calibri"/>
              </a:rPr>
              <a:t> </a:t>
            </a:r>
            <a:r>
              <a:rPr sz="1800" dirty="0">
                <a:solidFill>
                  <a:srgbClr val="292929"/>
                </a:solidFill>
                <a:latin typeface="Calibri"/>
                <a:cs typeface="Calibri"/>
              </a:rPr>
              <a:t>it</a:t>
            </a:r>
            <a:r>
              <a:rPr sz="1800" spc="-35" dirty="0">
                <a:solidFill>
                  <a:srgbClr val="292929"/>
                </a:solidFill>
                <a:latin typeface="Calibri"/>
                <a:cs typeface="Calibri"/>
              </a:rPr>
              <a:t> </a:t>
            </a:r>
            <a:r>
              <a:rPr sz="1800" dirty="0">
                <a:solidFill>
                  <a:srgbClr val="292929"/>
                </a:solidFill>
                <a:latin typeface="Calibri"/>
                <a:cs typeface="Calibri"/>
              </a:rPr>
              <a:t>has</a:t>
            </a:r>
            <a:r>
              <a:rPr sz="1800" spc="-40"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full</a:t>
            </a:r>
            <a:r>
              <a:rPr sz="1800" spc="-35" dirty="0">
                <a:solidFill>
                  <a:srgbClr val="292929"/>
                </a:solidFill>
                <a:latin typeface="Calibri"/>
                <a:cs typeface="Calibri"/>
              </a:rPr>
              <a:t> </a:t>
            </a:r>
            <a:r>
              <a:rPr sz="1800" dirty="0">
                <a:solidFill>
                  <a:srgbClr val="292929"/>
                </a:solidFill>
                <a:latin typeface="Calibri"/>
                <a:cs typeface="Calibri"/>
              </a:rPr>
              <a:t>facial</a:t>
            </a:r>
            <a:r>
              <a:rPr sz="1800" spc="-35" dirty="0">
                <a:solidFill>
                  <a:srgbClr val="292929"/>
                </a:solidFill>
                <a:latin typeface="Calibri"/>
                <a:cs typeface="Calibri"/>
              </a:rPr>
              <a:t> </a:t>
            </a:r>
            <a:r>
              <a:rPr sz="1800" spc="-20" dirty="0">
                <a:solidFill>
                  <a:srgbClr val="292929"/>
                </a:solidFill>
                <a:latin typeface="Calibri"/>
                <a:cs typeface="Calibri"/>
              </a:rPr>
              <a:t>two- </a:t>
            </a:r>
            <a:r>
              <a:rPr sz="1800" spc="-10" dirty="0">
                <a:solidFill>
                  <a:srgbClr val="292929"/>
                </a:solidFill>
                <a:latin typeface="Calibri"/>
                <a:cs typeface="Calibri"/>
              </a:rPr>
              <a:t>dimensional</a:t>
            </a:r>
            <a:r>
              <a:rPr sz="1800" spc="-30" dirty="0">
                <a:solidFill>
                  <a:srgbClr val="292929"/>
                </a:solidFill>
                <a:latin typeface="Calibri"/>
                <a:cs typeface="Calibri"/>
              </a:rPr>
              <a:t> </a:t>
            </a:r>
            <a:r>
              <a:rPr sz="1800" dirty="0">
                <a:solidFill>
                  <a:srgbClr val="292929"/>
                </a:solidFill>
                <a:latin typeface="Calibri"/>
                <a:cs typeface="Calibri"/>
              </a:rPr>
              <a:t>image,</a:t>
            </a:r>
            <a:r>
              <a:rPr sz="1800" spc="-35" dirty="0">
                <a:solidFill>
                  <a:srgbClr val="292929"/>
                </a:solidFill>
                <a:latin typeface="Calibri"/>
                <a:cs typeface="Calibri"/>
              </a:rPr>
              <a:t> </a:t>
            </a:r>
            <a:r>
              <a:rPr sz="1800" spc="-40" dirty="0">
                <a:solidFill>
                  <a:srgbClr val="292929"/>
                </a:solidFill>
                <a:latin typeface="Calibri"/>
                <a:cs typeface="Calibri"/>
              </a:rPr>
              <a:t>now,</a:t>
            </a:r>
            <a:r>
              <a:rPr sz="1800" spc="-20" dirty="0">
                <a:solidFill>
                  <a:srgbClr val="292929"/>
                </a:solidFill>
                <a:latin typeface="Calibri"/>
                <a:cs typeface="Calibri"/>
              </a:rPr>
              <a:t> </a:t>
            </a:r>
            <a:r>
              <a:rPr sz="1800" dirty="0">
                <a:solidFill>
                  <a:srgbClr val="292929"/>
                </a:solidFill>
                <a:latin typeface="Calibri"/>
                <a:cs typeface="Calibri"/>
              </a:rPr>
              <a:t>if</a:t>
            </a:r>
            <a:r>
              <a:rPr sz="1800" spc="-40" dirty="0">
                <a:solidFill>
                  <a:srgbClr val="292929"/>
                </a:solidFill>
                <a:latin typeface="Calibri"/>
                <a:cs typeface="Calibri"/>
              </a:rPr>
              <a:t> </a:t>
            </a:r>
            <a:r>
              <a:rPr sz="1800" dirty="0">
                <a:solidFill>
                  <a:srgbClr val="292929"/>
                </a:solidFill>
                <a:latin typeface="Calibri"/>
                <a:cs typeface="Calibri"/>
              </a:rPr>
              <a:t>we</a:t>
            </a:r>
            <a:r>
              <a:rPr sz="1800" spc="-20" dirty="0">
                <a:solidFill>
                  <a:srgbClr val="292929"/>
                </a:solidFill>
                <a:latin typeface="Calibri"/>
                <a:cs typeface="Calibri"/>
              </a:rPr>
              <a:t> </a:t>
            </a:r>
            <a:r>
              <a:rPr sz="1800" dirty="0">
                <a:solidFill>
                  <a:srgbClr val="292929"/>
                </a:solidFill>
                <a:latin typeface="Calibri"/>
                <a:cs typeface="Calibri"/>
              </a:rPr>
              <a:t>encode</a:t>
            </a:r>
            <a:r>
              <a:rPr sz="1800" spc="-20" dirty="0">
                <a:solidFill>
                  <a:srgbClr val="292929"/>
                </a:solidFill>
                <a:latin typeface="Calibri"/>
                <a:cs typeface="Calibri"/>
              </a:rPr>
              <a:t> </a:t>
            </a:r>
            <a:r>
              <a:rPr sz="1800" dirty="0">
                <a:solidFill>
                  <a:srgbClr val="292929"/>
                </a:solidFill>
                <a:latin typeface="Calibri"/>
                <a:cs typeface="Calibri"/>
              </a:rPr>
              <a:t>it</a:t>
            </a:r>
            <a:r>
              <a:rPr sz="1800" spc="-30" dirty="0">
                <a:solidFill>
                  <a:srgbClr val="292929"/>
                </a:solidFill>
                <a:latin typeface="Calibri"/>
                <a:cs typeface="Calibri"/>
              </a:rPr>
              <a:t> </a:t>
            </a:r>
            <a:r>
              <a:rPr sz="1800" dirty="0">
                <a:solidFill>
                  <a:srgbClr val="292929"/>
                </a:solidFill>
                <a:latin typeface="Calibri"/>
                <a:cs typeface="Calibri"/>
              </a:rPr>
              <a:t>to</a:t>
            </a:r>
            <a:r>
              <a:rPr sz="1800" spc="-35" dirty="0">
                <a:solidFill>
                  <a:srgbClr val="292929"/>
                </a:solidFill>
                <a:latin typeface="Calibri"/>
                <a:cs typeface="Calibri"/>
              </a:rPr>
              <a:t> </a:t>
            </a:r>
            <a:r>
              <a:rPr sz="1800" dirty="0">
                <a:solidFill>
                  <a:srgbClr val="292929"/>
                </a:solidFill>
                <a:latin typeface="Calibri"/>
                <a:cs typeface="Calibri"/>
              </a:rPr>
              <a:t>6x1</a:t>
            </a:r>
            <a:r>
              <a:rPr sz="1800" spc="-35" dirty="0">
                <a:solidFill>
                  <a:srgbClr val="292929"/>
                </a:solidFill>
                <a:latin typeface="Calibri"/>
                <a:cs typeface="Calibri"/>
              </a:rPr>
              <a:t> </a:t>
            </a:r>
            <a:r>
              <a:rPr sz="1800" dirty="0">
                <a:solidFill>
                  <a:srgbClr val="292929"/>
                </a:solidFill>
                <a:latin typeface="Calibri"/>
                <a:cs typeface="Calibri"/>
              </a:rPr>
              <a:t>dimension,</a:t>
            </a:r>
            <a:r>
              <a:rPr sz="1800" spc="-15" dirty="0">
                <a:solidFill>
                  <a:srgbClr val="292929"/>
                </a:solidFill>
                <a:latin typeface="Calibri"/>
                <a:cs typeface="Calibri"/>
              </a:rPr>
              <a:t> </a:t>
            </a:r>
            <a:r>
              <a:rPr sz="1800" dirty="0">
                <a:solidFill>
                  <a:srgbClr val="292929"/>
                </a:solidFill>
                <a:latin typeface="Calibri"/>
                <a:cs typeface="Calibri"/>
              </a:rPr>
              <a:t>i.e,</a:t>
            </a:r>
            <a:r>
              <a:rPr sz="1800" spc="-30" dirty="0">
                <a:solidFill>
                  <a:srgbClr val="292929"/>
                </a:solidFill>
                <a:latin typeface="Calibri"/>
                <a:cs typeface="Calibri"/>
              </a:rPr>
              <a:t> </a:t>
            </a:r>
            <a:r>
              <a:rPr sz="1800" dirty="0">
                <a:solidFill>
                  <a:srgbClr val="292929"/>
                </a:solidFill>
                <a:latin typeface="Calibri"/>
                <a:cs typeface="Calibri"/>
              </a:rPr>
              <a:t>send</a:t>
            </a:r>
            <a:r>
              <a:rPr sz="1800" spc="-35" dirty="0">
                <a:solidFill>
                  <a:srgbClr val="292929"/>
                </a:solidFill>
                <a:latin typeface="Calibri"/>
                <a:cs typeface="Calibri"/>
              </a:rPr>
              <a:t> </a:t>
            </a:r>
            <a:r>
              <a:rPr sz="1800" dirty="0">
                <a:solidFill>
                  <a:srgbClr val="292929"/>
                </a:solidFill>
                <a:latin typeface="Calibri"/>
                <a:cs typeface="Calibri"/>
              </a:rPr>
              <a:t>it</a:t>
            </a:r>
            <a:r>
              <a:rPr sz="1800" spc="-35" dirty="0">
                <a:solidFill>
                  <a:srgbClr val="292929"/>
                </a:solidFill>
                <a:latin typeface="Calibri"/>
                <a:cs typeface="Calibri"/>
              </a:rPr>
              <a:t> </a:t>
            </a:r>
            <a:r>
              <a:rPr sz="1800" dirty="0">
                <a:solidFill>
                  <a:srgbClr val="292929"/>
                </a:solidFill>
                <a:latin typeface="Calibri"/>
                <a:cs typeface="Calibri"/>
              </a:rPr>
              <a:t>through</a:t>
            </a:r>
            <a:r>
              <a:rPr sz="1800" spc="-40" dirty="0">
                <a:solidFill>
                  <a:srgbClr val="292929"/>
                </a:solidFill>
                <a:latin typeface="Calibri"/>
                <a:cs typeface="Calibri"/>
              </a:rPr>
              <a:t> </a:t>
            </a:r>
            <a:r>
              <a:rPr sz="1800" dirty="0">
                <a:solidFill>
                  <a:srgbClr val="292929"/>
                </a:solidFill>
                <a:latin typeface="Calibri"/>
                <a:cs typeface="Calibri"/>
              </a:rPr>
              <a:t>a</a:t>
            </a:r>
            <a:r>
              <a:rPr sz="1800" spc="-30" dirty="0">
                <a:solidFill>
                  <a:srgbClr val="292929"/>
                </a:solidFill>
                <a:latin typeface="Calibri"/>
                <a:cs typeface="Calibri"/>
              </a:rPr>
              <a:t> </a:t>
            </a:r>
            <a:r>
              <a:rPr sz="1800" dirty="0">
                <a:solidFill>
                  <a:srgbClr val="292929"/>
                </a:solidFill>
                <a:latin typeface="Calibri"/>
                <a:cs typeface="Calibri"/>
              </a:rPr>
              <a:t>bottleneck</a:t>
            </a:r>
            <a:r>
              <a:rPr sz="1800" spc="-20" dirty="0">
                <a:solidFill>
                  <a:srgbClr val="292929"/>
                </a:solidFill>
                <a:latin typeface="Calibri"/>
                <a:cs typeface="Calibri"/>
              </a:rPr>
              <a:t> </a:t>
            </a:r>
            <a:r>
              <a:rPr sz="1800" dirty="0">
                <a:solidFill>
                  <a:srgbClr val="292929"/>
                </a:solidFill>
                <a:latin typeface="Calibri"/>
                <a:cs typeface="Calibri"/>
              </a:rPr>
              <a:t>layer</a:t>
            </a:r>
            <a:r>
              <a:rPr sz="1800" spc="-25"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dirty="0">
                <a:solidFill>
                  <a:srgbClr val="292929"/>
                </a:solidFill>
                <a:latin typeface="Calibri"/>
                <a:cs typeface="Calibri"/>
              </a:rPr>
              <a:t>6</a:t>
            </a:r>
            <a:r>
              <a:rPr sz="1800" spc="-35" dirty="0">
                <a:solidFill>
                  <a:srgbClr val="292929"/>
                </a:solidFill>
                <a:latin typeface="Calibri"/>
                <a:cs typeface="Calibri"/>
              </a:rPr>
              <a:t> </a:t>
            </a:r>
            <a:r>
              <a:rPr sz="1800" dirty="0">
                <a:solidFill>
                  <a:srgbClr val="292929"/>
                </a:solidFill>
                <a:latin typeface="Calibri"/>
                <a:cs typeface="Calibri"/>
              </a:rPr>
              <a:t>nodes,</a:t>
            </a:r>
            <a:r>
              <a:rPr sz="1800" spc="-30" dirty="0">
                <a:solidFill>
                  <a:srgbClr val="292929"/>
                </a:solidFill>
                <a:latin typeface="Calibri"/>
                <a:cs typeface="Calibri"/>
              </a:rPr>
              <a:t> </a:t>
            </a:r>
            <a:r>
              <a:rPr sz="1800" dirty="0">
                <a:solidFill>
                  <a:srgbClr val="292929"/>
                </a:solidFill>
                <a:latin typeface="Calibri"/>
                <a:cs typeface="Calibri"/>
              </a:rPr>
              <a:t>we</a:t>
            </a:r>
            <a:r>
              <a:rPr sz="1800" spc="-30" dirty="0">
                <a:solidFill>
                  <a:srgbClr val="292929"/>
                </a:solidFill>
                <a:latin typeface="Calibri"/>
                <a:cs typeface="Calibri"/>
              </a:rPr>
              <a:t> </a:t>
            </a:r>
            <a:r>
              <a:rPr sz="1800" dirty="0">
                <a:solidFill>
                  <a:srgbClr val="292929"/>
                </a:solidFill>
                <a:latin typeface="Calibri"/>
                <a:cs typeface="Calibri"/>
              </a:rPr>
              <a:t>will</a:t>
            </a:r>
            <a:r>
              <a:rPr sz="1800" spc="-20" dirty="0">
                <a:solidFill>
                  <a:srgbClr val="292929"/>
                </a:solidFill>
                <a:latin typeface="Calibri"/>
                <a:cs typeface="Calibri"/>
              </a:rPr>
              <a:t> </a:t>
            </a:r>
            <a:r>
              <a:rPr sz="1800" spc="-10" dirty="0">
                <a:solidFill>
                  <a:srgbClr val="292929"/>
                </a:solidFill>
                <a:latin typeface="Calibri"/>
                <a:cs typeface="Calibri"/>
              </a:rPr>
              <a:t>basically </a:t>
            </a:r>
            <a:r>
              <a:rPr sz="1800" dirty="0">
                <a:solidFill>
                  <a:srgbClr val="292929"/>
                </a:solidFill>
                <a:latin typeface="Calibri"/>
                <a:cs typeface="Calibri"/>
              </a:rPr>
              <a:t>get</a:t>
            </a:r>
            <a:r>
              <a:rPr sz="1800" spc="-30" dirty="0">
                <a:solidFill>
                  <a:srgbClr val="292929"/>
                </a:solidFill>
                <a:latin typeface="Calibri"/>
                <a:cs typeface="Calibri"/>
              </a:rPr>
              <a:t> </a:t>
            </a:r>
            <a:r>
              <a:rPr sz="1800" dirty="0">
                <a:solidFill>
                  <a:srgbClr val="292929"/>
                </a:solidFill>
                <a:latin typeface="Calibri"/>
                <a:cs typeface="Calibri"/>
              </a:rPr>
              <a:t>6</a:t>
            </a:r>
            <a:r>
              <a:rPr sz="1800" spc="-30" dirty="0">
                <a:solidFill>
                  <a:srgbClr val="292929"/>
                </a:solidFill>
                <a:latin typeface="Calibri"/>
                <a:cs typeface="Calibri"/>
              </a:rPr>
              <a:t> </a:t>
            </a:r>
            <a:r>
              <a:rPr sz="1800" spc="-10" dirty="0">
                <a:solidFill>
                  <a:srgbClr val="292929"/>
                </a:solidFill>
                <a:latin typeface="Calibri"/>
                <a:cs typeface="Calibri"/>
              </a:rPr>
              <a:t>features</a:t>
            </a:r>
            <a:r>
              <a:rPr sz="1800" spc="-35" dirty="0">
                <a:solidFill>
                  <a:srgbClr val="292929"/>
                </a:solidFill>
                <a:latin typeface="Calibri"/>
                <a:cs typeface="Calibri"/>
              </a:rPr>
              <a:t> </a:t>
            </a:r>
            <a:r>
              <a:rPr sz="1800" dirty="0">
                <a:solidFill>
                  <a:srgbClr val="292929"/>
                </a:solidFill>
                <a:latin typeface="Calibri"/>
                <a:cs typeface="Calibri"/>
              </a:rPr>
              <a:t>which</a:t>
            </a:r>
            <a:r>
              <a:rPr sz="1800" spc="-15" dirty="0">
                <a:solidFill>
                  <a:srgbClr val="292929"/>
                </a:solidFill>
                <a:latin typeface="Calibri"/>
                <a:cs typeface="Calibri"/>
              </a:rPr>
              <a:t> </a:t>
            </a:r>
            <a:r>
              <a:rPr sz="1800" spc="-10" dirty="0">
                <a:solidFill>
                  <a:srgbClr val="292929"/>
                </a:solidFill>
                <a:latin typeface="Calibri"/>
                <a:cs typeface="Calibri"/>
              </a:rPr>
              <a:t>contribute</a:t>
            </a:r>
            <a:r>
              <a:rPr sz="1800" spc="-5" dirty="0">
                <a:solidFill>
                  <a:srgbClr val="292929"/>
                </a:solidFill>
                <a:latin typeface="Calibri"/>
                <a:cs typeface="Calibri"/>
              </a:rPr>
              <a:t> </a:t>
            </a:r>
            <a:r>
              <a:rPr sz="1800" dirty="0">
                <a:solidFill>
                  <a:srgbClr val="292929"/>
                </a:solidFill>
                <a:latin typeface="Calibri"/>
                <a:cs typeface="Calibri"/>
              </a:rPr>
              <a:t>most</a:t>
            </a:r>
            <a:r>
              <a:rPr sz="1800" spc="-30" dirty="0">
                <a:solidFill>
                  <a:srgbClr val="292929"/>
                </a:solidFill>
                <a:latin typeface="Calibri"/>
                <a:cs typeface="Calibri"/>
              </a:rPr>
              <a:t> </a:t>
            </a:r>
            <a:r>
              <a:rPr sz="1800" dirty="0">
                <a:solidFill>
                  <a:srgbClr val="292929"/>
                </a:solidFill>
                <a:latin typeface="Calibri"/>
                <a:cs typeface="Calibri"/>
              </a:rPr>
              <a:t>or</a:t>
            </a:r>
            <a:r>
              <a:rPr sz="1800" spc="-3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major</a:t>
            </a:r>
            <a:r>
              <a:rPr sz="1800" spc="-30" dirty="0">
                <a:solidFill>
                  <a:srgbClr val="292929"/>
                </a:solidFill>
                <a:latin typeface="Calibri"/>
                <a:cs typeface="Calibri"/>
              </a:rPr>
              <a:t> </a:t>
            </a:r>
            <a:r>
              <a:rPr sz="1800" spc="-10" dirty="0">
                <a:solidFill>
                  <a:srgbClr val="292929"/>
                </a:solidFill>
                <a:latin typeface="Calibri"/>
                <a:cs typeface="Calibri"/>
              </a:rPr>
              <a:t>information</a:t>
            </a:r>
            <a:r>
              <a:rPr sz="1800" spc="-20" dirty="0">
                <a:solidFill>
                  <a:srgbClr val="292929"/>
                </a:solidFill>
                <a:latin typeface="Calibri"/>
                <a:cs typeface="Calibri"/>
              </a:rPr>
              <a:t> </a:t>
            </a:r>
            <a:r>
              <a:rPr sz="1800" dirty="0">
                <a:solidFill>
                  <a:srgbClr val="292929"/>
                </a:solidFill>
                <a:latin typeface="Calibri"/>
                <a:cs typeface="Calibri"/>
              </a:rPr>
              <a:t>about</a:t>
            </a:r>
            <a:r>
              <a:rPr sz="1800" spc="-30"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facial</a:t>
            </a:r>
            <a:r>
              <a:rPr sz="1800" spc="-25" dirty="0">
                <a:solidFill>
                  <a:srgbClr val="292929"/>
                </a:solidFill>
                <a:latin typeface="Calibri"/>
                <a:cs typeface="Calibri"/>
              </a:rPr>
              <a:t> </a:t>
            </a:r>
            <a:r>
              <a:rPr sz="1800" dirty="0">
                <a:solidFill>
                  <a:srgbClr val="292929"/>
                </a:solidFill>
                <a:latin typeface="Calibri"/>
                <a:cs typeface="Calibri"/>
              </a:rPr>
              <a:t>image.</a:t>
            </a:r>
            <a:r>
              <a:rPr sz="1800" spc="-35" dirty="0">
                <a:solidFill>
                  <a:srgbClr val="292929"/>
                </a:solidFill>
                <a:latin typeface="Calibri"/>
                <a:cs typeface="Calibri"/>
              </a:rPr>
              <a:t> Say,</a:t>
            </a:r>
            <a:r>
              <a:rPr sz="1800" spc="-30" dirty="0">
                <a:solidFill>
                  <a:srgbClr val="292929"/>
                </a:solidFill>
                <a:latin typeface="Calibri"/>
                <a:cs typeface="Calibri"/>
              </a:rPr>
              <a:t> </a:t>
            </a:r>
            <a:r>
              <a:rPr sz="1800" dirty="0">
                <a:solidFill>
                  <a:srgbClr val="292929"/>
                </a:solidFill>
                <a:latin typeface="Calibri"/>
                <a:cs typeface="Calibri"/>
              </a:rPr>
              <a:t>for</a:t>
            </a:r>
            <a:r>
              <a:rPr sz="1800" spc="-40"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dirty="0">
                <a:solidFill>
                  <a:srgbClr val="292929"/>
                </a:solidFill>
                <a:latin typeface="Calibri"/>
                <a:cs typeface="Calibri"/>
              </a:rPr>
              <a:t>6</a:t>
            </a:r>
            <a:r>
              <a:rPr sz="1800" spc="-20" dirty="0">
                <a:solidFill>
                  <a:srgbClr val="292929"/>
                </a:solidFill>
                <a:latin typeface="Calibri"/>
                <a:cs typeface="Calibri"/>
              </a:rPr>
              <a:t> </a:t>
            </a:r>
            <a:r>
              <a:rPr sz="1800" spc="-10" dirty="0">
                <a:solidFill>
                  <a:srgbClr val="292929"/>
                </a:solidFill>
                <a:latin typeface="Calibri"/>
                <a:cs typeface="Calibri"/>
              </a:rPr>
              <a:t>features</a:t>
            </a:r>
            <a:r>
              <a:rPr sz="1800" spc="-40" dirty="0">
                <a:solidFill>
                  <a:srgbClr val="292929"/>
                </a:solidFill>
                <a:latin typeface="Calibri"/>
                <a:cs typeface="Calibri"/>
              </a:rPr>
              <a:t> </a:t>
            </a:r>
            <a:r>
              <a:rPr sz="1800" dirty="0">
                <a:solidFill>
                  <a:srgbClr val="292929"/>
                </a:solidFill>
                <a:latin typeface="Calibri"/>
                <a:cs typeface="Calibri"/>
              </a:rPr>
              <a:t>we</a:t>
            </a:r>
            <a:r>
              <a:rPr sz="1800" spc="-20" dirty="0">
                <a:solidFill>
                  <a:srgbClr val="292929"/>
                </a:solidFill>
                <a:latin typeface="Calibri"/>
                <a:cs typeface="Calibri"/>
              </a:rPr>
              <a:t> </a:t>
            </a:r>
            <a:r>
              <a:rPr sz="1800" dirty="0">
                <a:solidFill>
                  <a:srgbClr val="292929"/>
                </a:solidFill>
                <a:latin typeface="Calibri"/>
                <a:cs typeface="Calibri"/>
              </a:rPr>
              <a:t>have</a:t>
            </a:r>
            <a:r>
              <a:rPr sz="1800" spc="-20" dirty="0">
                <a:solidFill>
                  <a:srgbClr val="292929"/>
                </a:solidFill>
                <a:latin typeface="Calibri"/>
                <a:cs typeface="Calibri"/>
              </a:rPr>
              <a:t> </a:t>
            </a:r>
            <a:r>
              <a:rPr sz="1800" b="1" spc="-50" dirty="0">
                <a:solidFill>
                  <a:srgbClr val="292929"/>
                </a:solidFill>
                <a:latin typeface="Calibri"/>
                <a:cs typeface="Calibri"/>
              </a:rPr>
              <a:t>a</a:t>
            </a:r>
            <a:r>
              <a:rPr sz="1800" b="1" spc="500" dirty="0">
                <a:solidFill>
                  <a:srgbClr val="292929"/>
                </a:solidFill>
                <a:latin typeface="Calibri"/>
                <a:cs typeface="Calibri"/>
              </a:rPr>
              <a:t> </a:t>
            </a:r>
            <a:r>
              <a:rPr sz="1800" b="1" dirty="0">
                <a:solidFill>
                  <a:srgbClr val="292929"/>
                </a:solidFill>
                <a:latin typeface="Calibri"/>
                <a:cs typeface="Calibri"/>
              </a:rPr>
              <a:t>smile,</a:t>
            </a:r>
            <a:r>
              <a:rPr sz="1800" b="1" spc="-60" dirty="0">
                <a:solidFill>
                  <a:srgbClr val="292929"/>
                </a:solidFill>
                <a:latin typeface="Calibri"/>
                <a:cs typeface="Calibri"/>
              </a:rPr>
              <a:t> </a:t>
            </a:r>
            <a:r>
              <a:rPr sz="1800" b="1" dirty="0">
                <a:solidFill>
                  <a:srgbClr val="292929"/>
                </a:solidFill>
                <a:latin typeface="Calibri"/>
                <a:cs typeface="Calibri"/>
              </a:rPr>
              <a:t>skin</a:t>
            </a:r>
            <a:r>
              <a:rPr sz="1800" b="1" spc="-40" dirty="0">
                <a:solidFill>
                  <a:srgbClr val="292929"/>
                </a:solidFill>
                <a:latin typeface="Calibri"/>
                <a:cs typeface="Calibri"/>
              </a:rPr>
              <a:t> </a:t>
            </a:r>
            <a:r>
              <a:rPr sz="1800" b="1" dirty="0">
                <a:solidFill>
                  <a:srgbClr val="292929"/>
                </a:solidFill>
                <a:latin typeface="Calibri"/>
                <a:cs typeface="Calibri"/>
              </a:rPr>
              <a:t>tone,</a:t>
            </a:r>
            <a:r>
              <a:rPr sz="1800" b="1" spc="-55" dirty="0">
                <a:solidFill>
                  <a:srgbClr val="292929"/>
                </a:solidFill>
                <a:latin typeface="Calibri"/>
                <a:cs typeface="Calibri"/>
              </a:rPr>
              <a:t> </a:t>
            </a:r>
            <a:r>
              <a:rPr sz="1800" b="1" spc="-20" dirty="0">
                <a:solidFill>
                  <a:srgbClr val="292929"/>
                </a:solidFill>
                <a:latin typeface="Calibri"/>
                <a:cs typeface="Calibri"/>
              </a:rPr>
              <a:t>gender,</a:t>
            </a:r>
            <a:r>
              <a:rPr sz="1800" b="1" spc="-55" dirty="0">
                <a:solidFill>
                  <a:srgbClr val="292929"/>
                </a:solidFill>
                <a:latin typeface="Calibri"/>
                <a:cs typeface="Calibri"/>
              </a:rPr>
              <a:t> </a:t>
            </a:r>
            <a:r>
              <a:rPr sz="1800" b="1" dirty="0">
                <a:solidFill>
                  <a:srgbClr val="292929"/>
                </a:solidFill>
                <a:latin typeface="Calibri"/>
                <a:cs typeface="Calibri"/>
              </a:rPr>
              <a:t>beard,</a:t>
            </a:r>
            <a:r>
              <a:rPr sz="1800" b="1" spc="-40" dirty="0">
                <a:solidFill>
                  <a:srgbClr val="292929"/>
                </a:solidFill>
                <a:latin typeface="Calibri"/>
                <a:cs typeface="Calibri"/>
              </a:rPr>
              <a:t> </a:t>
            </a:r>
            <a:r>
              <a:rPr sz="1800" b="1" dirty="0">
                <a:solidFill>
                  <a:srgbClr val="292929"/>
                </a:solidFill>
                <a:latin typeface="Calibri"/>
                <a:cs typeface="Calibri"/>
              </a:rPr>
              <a:t>wears</a:t>
            </a:r>
            <a:r>
              <a:rPr sz="1800" b="1" spc="-45" dirty="0">
                <a:solidFill>
                  <a:srgbClr val="292929"/>
                </a:solidFill>
                <a:latin typeface="Calibri"/>
                <a:cs typeface="Calibri"/>
              </a:rPr>
              <a:t> </a:t>
            </a:r>
            <a:r>
              <a:rPr sz="1800" b="1" dirty="0">
                <a:solidFill>
                  <a:srgbClr val="292929"/>
                </a:solidFill>
                <a:latin typeface="Calibri"/>
                <a:cs typeface="Calibri"/>
              </a:rPr>
              <a:t>glasses,</a:t>
            </a:r>
            <a:r>
              <a:rPr sz="1800" b="1" spc="-55" dirty="0">
                <a:solidFill>
                  <a:srgbClr val="292929"/>
                </a:solidFill>
                <a:latin typeface="Calibri"/>
                <a:cs typeface="Calibri"/>
              </a:rPr>
              <a:t> </a:t>
            </a:r>
            <a:r>
              <a:rPr sz="1800" b="1" dirty="0">
                <a:solidFill>
                  <a:srgbClr val="292929"/>
                </a:solidFill>
                <a:latin typeface="Calibri"/>
                <a:cs typeface="Calibri"/>
              </a:rPr>
              <a:t>and</a:t>
            </a:r>
            <a:r>
              <a:rPr sz="1800" b="1" spc="-30" dirty="0">
                <a:solidFill>
                  <a:srgbClr val="292929"/>
                </a:solidFill>
                <a:latin typeface="Calibri"/>
                <a:cs typeface="Calibri"/>
              </a:rPr>
              <a:t> </a:t>
            </a:r>
            <a:r>
              <a:rPr sz="1800" b="1" dirty="0">
                <a:solidFill>
                  <a:srgbClr val="292929"/>
                </a:solidFill>
                <a:latin typeface="Calibri"/>
                <a:cs typeface="Calibri"/>
              </a:rPr>
              <a:t>hair</a:t>
            </a:r>
            <a:r>
              <a:rPr sz="1800" b="1" spc="-40" dirty="0">
                <a:solidFill>
                  <a:srgbClr val="292929"/>
                </a:solidFill>
                <a:latin typeface="Calibri"/>
                <a:cs typeface="Calibri"/>
              </a:rPr>
              <a:t> </a:t>
            </a:r>
            <a:r>
              <a:rPr sz="1800" b="1" spc="-10" dirty="0">
                <a:solidFill>
                  <a:srgbClr val="292929"/>
                </a:solidFill>
                <a:latin typeface="Calibri"/>
                <a:cs typeface="Calibri"/>
              </a:rPr>
              <a:t>color</a:t>
            </a:r>
            <a:r>
              <a:rPr sz="1800" spc="-10" dirty="0">
                <a:solidFill>
                  <a:srgbClr val="292929"/>
                </a:solidFill>
                <a:latin typeface="Calibri"/>
                <a:cs typeface="Calibri"/>
              </a:rPr>
              <a:t>.</a:t>
            </a:r>
            <a:endParaRPr sz="1800">
              <a:latin typeface="Calibri"/>
              <a:cs typeface="Calibri"/>
            </a:endParaRPr>
          </a:p>
        </p:txBody>
      </p:sp>
      <p:pic>
        <p:nvPicPr>
          <p:cNvPr id="4" name="object 4"/>
          <p:cNvPicPr/>
          <p:nvPr/>
        </p:nvPicPr>
        <p:blipFill>
          <a:blip r:embed="rId2" cstate="print"/>
          <a:stretch>
            <a:fillRect/>
          </a:stretch>
        </p:blipFill>
        <p:spPr>
          <a:xfrm>
            <a:off x="2118391" y="1431350"/>
            <a:ext cx="7639752" cy="2781001"/>
          </a:xfrm>
          <a:prstGeom prst="rect">
            <a:avLst/>
          </a:prstGeom>
        </p:spPr>
      </p:pic>
      <p:sp>
        <p:nvSpPr>
          <p:cNvPr id="5" name="object 5"/>
          <p:cNvSpPr txBox="1"/>
          <p:nvPr/>
        </p:nvSpPr>
        <p:spPr>
          <a:xfrm>
            <a:off x="1041603" y="970534"/>
            <a:ext cx="347726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92929"/>
                </a:solidFill>
                <a:latin typeface="Calibri"/>
                <a:cs typeface="Calibri"/>
              </a:rPr>
              <a:t>Basics</a:t>
            </a:r>
            <a:r>
              <a:rPr sz="1800" b="1" spc="-40" dirty="0">
                <a:solidFill>
                  <a:srgbClr val="292929"/>
                </a:solidFill>
                <a:latin typeface="Calibri"/>
                <a:cs typeface="Calibri"/>
              </a:rPr>
              <a:t> </a:t>
            </a:r>
            <a:r>
              <a:rPr sz="1800" b="1" dirty="0">
                <a:solidFill>
                  <a:srgbClr val="292929"/>
                </a:solidFill>
                <a:latin typeface="Calibri"/>
                <a:cs typeface="Calibri"/>
              </a:rPr>
              <a:t>:</a:t>
            </a:r>
            <a:r>
              <a:rPr sz="1800" b="1" spc="-10" dirty="0">
                <a:solidFill>
                  <a:srgbClr val="292929"/>
                </a:solidFill>
                <a:latin typeface="Calibri"/>
                <a:cs typeface="Calibri"/>
              </a:rPr>
              <a:t> </a:t>
            </a:r>
            <a:r>
              <a:rPr sz="1800" b="1" dirty="0">
                <a:solidFill>
                  <a:srgbClr val="292929"/>
                </a:solidFill>
                <a:latin typeface="Calibri"/>
                <a:cs typeface="Calibri"/>
              </a:rPr>
              <a:t>Lower</a:t>
            </a:r>
            <a:r>
              <a:rPr sz="1800" b="1" spc="-35" dirty="0">
                <a:solidFill>
                  <a:srgbClr val="292929"/>
                </a:solidFill>
                <a:latin typeface="Calibri"/>
                <a:cs typeface="Calibri"/>
              </a:rPr>
              <a:t> </a:t>
            </a:r>
            <a:r>
              <a:rPr sz="1800" b="1" dirty="0">
                <a:solidFill>
                  <a:srgbClr val="292929"/>
                </a:solidFill>
                <a:latin typeface="Calibri"/>
                <a:cs typeface="Calibri"/>
              </a:rPr>
              <a:t>dimensional</a:t>
            </a:r>
            <a:r>
              <a:rPr sz="1800" b="1" spc="-30" dirty="0">
                <a:solidFill>
                  <a:srgbClr val="292929"/>
                </a:solidFill>
                <a:latin typeface="Calibri"/>
                <a:cs typeface="Calibri"/>
              </a:rPr>
              <a:t> </a:t>
            </a:r>
            <a:r>
              <a:rPr sz="1800" b="1" spc="-10" dirty="0">
                <a:solidFill>
                  <a:srgbClr val="292929"/>
                </a:solidFill>
                <a:latin typeface="Calibri"/>
                <a:cs typeface="Calibri"/>
              </a:rPr>
              <a:t>encoding</a:t>
            </a:r>
            <a:endParaRPr sz="18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67945" rIns="0" bIns="0" rtlCol="0">
            <a:spAutoFit/>
          </a:bodyPr>
          <a:lstStyle/>
          <a:p>
            <a:pPr marL="12700" marR="5080">
              <a:lnSpc>
                <a:spcPts val="3460"/>
              </a:lnSpc>
              <a:spcBef>
                <a:spcPts val="535"/>
              </a:spcBef>
            </a:pPr>
            <a:r>
              <a:rPr b="0" dirty="0">
                <a:solidFill>
                  <a:srgbClr val="A3123E"/>
                </a:solidFill>
                <a:latin typeface="Georgia"/>
                <a:cs typeface="Georgia"/>
              </a:rPr>
              <a:t>Variational</a:t>
            </a:r>
            <a:r>
              <a:rPr b="0" spc="-60" dirty="0">
                <a:solidFill>
                  <a:srgbClr val="A3123E"/>
                </a:solidFill>
                <a:latin typeface="Georgia"/>
                <a:cs typeface="Georgia"/>
              </a:rPr>
              <a:t> </a:t>
            </a:r>
            <a:r>
              <a:rPr b="0" dirty="0">
                <a:solidFill>
                  <a:srgbClr val="A3123E"/>
                </a:solidFill>
                <a:latin typeface="Georgia"/>
                <a:cs typeface="Georgia"/>
              </a:rPr>
              <a:t>Autoencoder:</a:t>
            </a:r>
            <a:r>
              <a:rPr b="0" spc="-40" dirty="0">
                <a:solidFill>
                  <a:srgbClr val="A3123E"/>
                </a:solidFill>
                <a:latin typeface="Georgia"/>
                <a:cs typeface="Georgia"/>
              </a:rPr>
              <a:t> </a:t>
            </a:r>
            <a:r>
              <a:rPr b="0" dirty="0">
                <a:solidFill>
                  <a:srgbClr val="A3123E"/>
                </a:solidFill>
                <a:latin typeface="Georgia"/>
                <a:cs typeface="Georgia"/>
              </a:rPr>
              <a:t>Latent</a:t>
            </a:r>
            <a:r>
              <a:rPr b="0" spc="-60" dirty="0">
                <a:solidFill>
                  <a:srgbClr val="A3123E"/>
                </a:solidFill>
                <a:latin typeface="Georgia"/>
                <a:cs typeface="Georgia"/>
              </a:rPr>
              <a:t> </a:t>
            </a:r>
            <a:r>
              <a:rPr b="0" dirty="0">
                <a:solidFill>
                  <a:srgbClr val="A3123E"/>
                </a:solidFill>
                <a:latin typeface="Georgia"/>
                <a:cs typeface="Georgia"/>
              </a:rPr>
              <a:t>attribute</a:t>
            </a:r>
            <a:r>
              <a:rPr b="0" spc="-65" dirty="0">
                <a:solidFill>
                  <a:srgbClr val="A3123E"/>
                </a:solidFill>
                <a:latin typeface="Georgia"/>
                <a:cs typeface="Georgia"/>
              </a:rPr>
              <a:t> </a:t>
            </a:r>
            <a:r>
              <a:rPr b="0" dirty="0">
                <a:solidFill>
                  <a:srgbClr val="A3123E"/>
                </a:solidFill>
                <a:latin typeface="Georgia"/>
                <a:cs typeface="Georgia"/>
              </a:rPr>
              <a:t>as</a:t>
            </a:r>
            <a:r>
              <a:rPr b="0" spc="-25" dirty="0">
                <a:solidFill>
                  <a:srgbClr val="A3123E"/>
                </a:solidFill>
                <a:latin typeface="Georgia"/>
                <a:cs typeface="Georgia"/>
              </a:rPr>
              <a:t> </a:t>
            </a:r>
            <a:r>
              <a:rPr b="0" spc="-10" dirty="0">
                <a:solidFill>
                  <a:srgbClr val="A3123E"/>
                </a:solidFill>
                <a:latin typeface="Georgia"/>
                <a:cs typeface="Georgia"/>
              </a:rPr>
              <a:t>probability distribution</a:t>
            </a:r>
          </a:p>
        </p:txBody>
      </p:sp>
      <p:pic>
        <p:nvPicPr>
          <p:cNvPr id="3" name="object 3"/>
          <p:cNvPicPr/>
          <p:nvPr/>
        </p:nvPicPr>
        <p:blipFill>
          <a:blip r:embed="rId2" cstate="print"/>
          <a:stretch>
            <a:fillRect/>
          </a:stretch>
        </p:blipFill>
        <p:spPr>
          <a:xfrm>
            <a:off x="3224870" y="2010849"/>
            <a:ext cx="7106796" cy="3957134"/>
          </a:xfrm>
          <a:prstGeom prst="rect">
            <a:avLst/>
          </a:prstGeom>
        </p:spPr>
      </p:pic>
      <p:sp>
        <p:nvSpPr>
          <p:cNvPr id="4" name="object 4"/>
          <p:cNvSpPr txBox="1"/>
          <p:nvPr/>
        </p:nvSpPr>
        <p:spPr>
          <a:xfrm>
            <a:off x="650240" y="1113535"/>
            <a:ext cx="10534015"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292929"/>
                </a:solidFill>
                <a:latin typeface="Calibri"/>
                <a:cs typeface="Calibri"/>
              </a:rPr>
              <a:t>We</a:t>
            </a:r>
            <a:r>
              <a:rPr sz="1800" spc="-50" dirty="0">
                <a:solidFill>
                  <a:srgbClr val="292929"/>
                </a:solidFill>
                <a:latin typeface="Calibri"/>
                <a:cs typeface="Calibri"/>
              </a:rPr>
              <a:t> </a:t>
            </a:r>
            <a:r>
              <a:rPr sz="1800" dirty="0">
                <a:solidFill>
                  <a:srgbClr val="292929"/>
                </a:solidFill>
                <a:latin typeface="Calibri"/>
                <a:cs typeface="Calibri"/>
              </a:rPr>
              <a:t>have</a:t>
            </a:r>
            <a:r>
              <a:rPr sz="1800" spc="-50" dirty="0">
                <a:solidFill>
                  <a:srgbClr val="292929"/>
                </a:solidFill>
                <a:latin typeface="Calibri"/>
                <a:cs typeface="Calibri"/>
              </a:rPr>
              <a:t> </a:t>
            </a:r>
            <a:r>
              <a:rPr sz="1800" dirty="0">
                <a:solidFill>
                  <a:srgbClr val="292929"/>
                </a:solidFill>
                <a:latin typeface="Calibri"/>
                <a:cs typeface="Calibri"/>
              </a:rPr>
              <a:t>seen</a:t>
            </a:r>
            <a:r>
              <a:rPr sz="1800" spc="-45" dirty="0">
                <a:solidFill>
                  <a:srgbClr val="292929"/>
                </a:solidFill>
                <a:latin typeface="Calibri"/>
                <a:cs typeface="Calibri"/>
              </a:rPr>
              <a:t> </a:t>
            </a:r>
            <a:r>
              <a:rPr sz="1800" dirty="0">
                <a:solidFill>
                  <a:srgbClr val="292929"/>
                </a:solidFill>
                <a:latin typeface="Calibri"/>
                <a:cs typeface="Calibri"/>
              </a:rPr>
              <a:t>that</a:t>
            </a:r>
            <a:r>
              <a:rPr sz="1800" spc="-5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values</a:t>
            </a:r>
            <a:r>
              <a:rPr sz="1800" spc="-50"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dirty="0">
                <a:solidFill>
                  <a:srgbClr val="292929"/>
                </a:solidFill>
                <a:latin typeface="Calibri"/>
                <a:cs typeface="Calibri"/>
              </a:rPr>
              <a:t>latent</a:t>
            </a:r>
            <a:r>
              <a:rPr sz="1800" spc="-40" dirty="0">
                <a:solidFill>
                  <a:srgbClr val="292929"/>
                </a:solidFill>
                <a:latin typeface="Calibri"/>
                <a:cs typeface="Calibri"/>
              </a:rPr>
              <a:t> </a:t>
            </a:r>
            <a:r>
              <a:rPr sz="1800" spc="-10" dirty="0">
                <a:solidFill>
                  <a:srgbClr val="292929"/>
                </a:solidFill>
                <a:latin typeface="Calibri"/>
                <a:cs typeface="Calibri"/>
              </a:rPr>
              <a:t>attributes</a:t>
            </a:r>
            <a:r>
              <a:rPr sz="1800" spc="-40" dirty="0">
                <a:solidFill>
                  <a:srgbClr val="292929"/>
                </a:solidFill>
                <a:latin typeface="Calibri"/>
                <a:cs typeface="Calibri"/>
              </a:rPr>
              <a:t> </a:t>
            </a:r>
            <a:r>
              <a:rPr sz="1800" dirty="0">
                <a:solidFill>
                  <a:srgbClr val="292929"/>
                </a:solidFill>
                <a:latin typeface="Calibri"/>
                <a:cs typeface="Calibri"/>
              </a:rPr>
              <a:t>are</a:t>
            </a:r>
            <a:r>
              <a:rPr sz="1800" spc="-45" dirty="0">
                <a:solidFill>
                  <a:srgbClr val="292929"/>
                </a:solidFill>
                <a:latin typeface="Calibri"/>
                <a:cs typeface="Calibri"/>
              </a:rPr>
              <a:t> </a:t>
            </a:r>
            <a:r>
              <a:rPr sz="1800" spc="-10" dirty="0">
                <a:solidFill>
                  <a:srgbClr val="292929"/>
                </a:solidFill>
                <a:latin typeface="Calibri"/>
                <a:cs typeface="Calibri"/>
              </a:rPr>
              <a:t>always</a:t>
            </a:r>
            <a:r>
              <a:rPr sz="1800" spc="-45" dirty="0">
                <a:solidFill>
                  <a:srgbClr val="292929"/>
                </a:solidFill>
                <a:latin typeface="Calibri"/>
                <a:cs typeface="Calibri"/>
              </a:rPr>
              <a:t> </a:t>
            </a:r>
            <a:r>
              <a:rPr sz="1800" dirty="0">
                <a:solidFill>
                  <a:srgbClr val="292929"/>
                </a:solidFill>
                <a:latin typeface="Calibri"/>
                <a:cs typeface="Calibri"/>
              </a:rPr>
              <a:t>discrete.</a:t>
            </a:r>
            <a:r>
              <a:rPr sz="1800" spc="-35" dirty="0">
                <a:solidFill>
                  <a:srgbClr val="292929"/>
                </a:solidFill>
                <a:latin typeface="Calibri"/>
                <a:cs typeface="Calibri"/>
              </a:rPr>
              <a:t> </a:t>
            </a:r>
            <a:r>
              <a:rPr sz="1800" dirty="0">
                <a:solidFill>
                  <a:srgbClr val="292929"/>
                </a:solidFill>
                <a:latin typeface="Calibri"/>
                <a:cs typeface="Calibri"/>
              </a:rPr>
              <a:t>This</a:t>
            </a:r>
            <a:r>
              <a:rPr sz="1800" spc="-40" dirty="0">
                <a:solidFill>
                  <a:srgbClr val="292929"/>
                </a:solidFill>
                <a:latin typeface="Calibri"/>
                <a:cs typeface="Calibri"/>
              </a:rPr>
              <a:t> </a:t>
            </a:r>
            <a:r>
              <a:rPr sz="1800" dirty="0">
                <a:solidFill>
                  <a:srgbClr val="292929"/>
                </a:solidFill>
                <a:latin typeface="Calibri"/>
                <a:cs typeface="Calibri"/>
              </a:rPr>
              <a:t>is</a:t>
            </a:r>
            <a:r>
              <a:rPr sz="1800" spc="-45" dirty="0">
                <a:solidFill>
                  <a:srgbClr val="292929"/>
                </a:solidFill>
                <a:latin typeface="Calibri"/>
                <a:cs typeface="Calibri"/>
              </a:rPr>
              <a:t> </a:t>
            </a:r>
            <a:r>
              <a:rPr sz="1800" dirty="0">
                <a:solidFill>
                  <a:srgbClr val="292929"/>
                </a:solidFill>
                <a:latin typeface="Calibri"/>
                <a:cs typeface="Calibri"/>
              </a:rPr>
              <a:t>where</a:t>
            </a:r>
            <a:r>
              <a:rPr sz="1800" spc="-3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spc="-10" dirty="0">
                <a:solidFill>
                  <a:srgbClr val="292929"/>
                </a:solidFill>
                <a:latin typeface="Calibri"/>
                <a:cs typeface="Calibri"/>
              </a:rPr>
              <a:t>variational autoencoders</a:t>
            </a:r>
            <a:r>
              <a:rPr sz="1800" spc="-45" dirty="0">
                <a:solidFill>
                  <a:srgbClr val="292929"/>
                </a:solidFill>
                <a:latin typeface="Calibri"/>
                <a:cs typeface="Calibri"/>
              </a:rPr>
              <a:t> </a:t>
            </a:r>
            <a:r>
              <a:rPr sz="1800" dirty="0">
                <a:solidFill>
                  <a:srgbClr val="292929"/>
                </a:solidFill>
                <a:latin typeface="Calibri"/>
                <a:cs typeface="Calibri"/>
              </a:rPr>
              <a:t>are</a:t>
            </a:r>
            <a:r>
              <a:rPr sz="1800" spc="-60" dirty="0">
                <a:solidFill>
                  <a:srgbClr val="292929"/>
                </a:solidFill>
                <a:latin typeface="Calibri"/>
                <a:cs typeface="Calibri"/>
              </a:rPr>
              <a:t> </a:t>
            </a:r>
            <a:r>
              <a:rPr sz="1800" spc="-10" dirty="0">
                <a:solidFill>
                  <a:srgbClr val="292929"/>
                </a:solidFill>
                <a:latin typeface="Calibri"/>
                <a:cs typeface="Calibri"/>
              </a:rPr>
              <a:t>different.</a:t>
            </a:r>
            <a:r>
              <a:rPr sz="1800" spc="-60" dirty="0">
                <a:solidFill>
                  <a:srgbClr val="292929"/>
                </a:solidFill>
                <a:latin typeface="Calibri"/>
                <a:cs typeface="Calibri"/>
              </a:rPr>
              <a:t> </a:t>
            </a:r>
            <a:r>
              <a:rPr sz="1800" dirty="0">
                <a:solidFill>
                  <a:srgbClr val="292929"/>
                </a:solidFill>
                <a:latin typeface="Calibri"/>
                <a:cs typeface="Calibri"/>
              </a:rPr>
              <a:t>Instead</a:t>
            </a:r>
            <a:r>
              <a:rPr sz="1800" spc="-55" dirty="0">
                <a:solidFill>
                  <a:srgbClr val="292929"/>
                </a:solidFill>
                <a:latin typeface="Calibri"/>
                <a:cs typeface="Calibri"/>
              </a:rPr>
              <a:t> </a:t>
            </a:r>
            <a:r>
              <a:rPr sz="1800" dirty="0">
                <a:solidFill>
                  <a:srgbClr val="292929"/>
                </a:solidFill>
                <a:latin typeface="Calibri"/>
                <a:cs typeface="Calibri"/>
              </a:rPr>
              <a:t>of</a:t>
            </a:r>
            <a:r>
              <a:rPr sz="1800" spc="-60" dirty="0">
                <a:solidFill>
                  <a:srgbClr val="292929"/>
                </a:solidFill>
                <a:latin typeface="Calibri"/>
                <a:cs typeface="Calibri"/>
              </a:rPr>
              <a:t> </a:t>
            </a:r>
            <a:r>
              <a:rPr sz="1800" dirty="0">
                <a:solidFill>
                  <a:srgbClr val="292929"/>
                </a:solidFill>
                <a:latin typeface="Calibri"/>
                <a:cs typeface="Calibri"/>
              </a:rPr>
              <a:t>considering</a:t>
            </a:r>
            <a:r>
              <a:rPr sz="1800" spc="-35" dirty="0">
                <a:solidFill>
                  <a:srgbClr val="292929"/>
                </a:solidFill>
                <a:latin typeface="Calibri"/>
                <a:cs typeface="Calibri"/>
              </a:rPr>
              <a:t> </a:t>
            </a:r>
            <a:r>
              <a:rPr sz="1800" dirty="0">
                <a:solidFill>
                  <a:srgbClr val="292929"/>
                </a:solidFill>
                <a:latin typeface="Calibri"/>
                <a:cs typeface="Calibri"/>
              </a:rPr>
              <a:t>to</a:t>
            </a:r>
            <a:r>
              <a:rPr sz="1800" spc="-60" dirty="0">
                <a:solidFill>
                  <a:srgbClr val="292929"/>
                </a:solidFill>
                <a:latin typeface="Calibri"/>
                <a:cs typeface="Calibri"/>
              </a:rPr>
              <a:t> </a:t>
            </a:r>
            <a:r>
              <a:rPr sz="1800" dirty="0">
                <a:solidFill>
                  <a:srgbClr val="292929"/>
                </a:solidFill>
                <a:latin typeface="Calibri"/>
                <a:cs typeface="Calibri"/>
              </a:rPr>
              <a:t>pass</a:t>
            </a:r>
            <a:r>
              <a:rPr sz="1800" spc="-65" dirty="0">
                <a:solidFill>
                  <a:srgbClr val="292929"/>
                </a:solidFill>
                <a:latin typeface="Calibri"/>
                <a:cs typeface="Calibri"/>
              </a:rPr>
              <a:t> </a:t>
            </a:r>
            <a:r>
              <a:rPr sz="1800" dirty="0">
                <a:solidFill>
                  <a:srgbClr val="292929"/>
                </a:solidFill>
                <a:latin typeface="Calibri"/>
                <a:cs typeface="Calibri"/>
              </a:rPr>
              <a:t>discrete</a:t>
            </a:r>
            <a:r>
              <a:rPr sz="1800" spc="-45" dirty="0">
                <a:solidFill>
                  <a:srgbClr val="292929"/>
                </a:solidFill>
                <a:latin typeface="Calibri"/>
                <a:cs typeface="Calibri"/>
              </a:rPr>
              <a:t> </a:t>
            </a:r>
            <a:r>
              <a:rPr sz="1800" dirty="0">
                <a:solidFill>
                  <a:srgbClr val="292929"/>
                </a:solidFill>
                <a:latin typeface="Calibri"/>
                <a:cs typeface="Calibri"/>
              </a:rPr>
              <a:t>values,</a:t>
            </a:r>
            <a:r>
              <a:rPr sz="1800" spc="-50" dirty="0">
                <a:solidFill>
                  <a:srgbClr val="292929"/>
                </a:solidFill>
                <a:latin typeface="Calibri"/>
                <a:cs typeface="Calibri"/>
              </a:rPr>
              <a:t> </a:t>
            </a:r>
            <a:r>
              <a:rPr sz="1800" dirty="0">
                <a:solidFill>
                  <a:srgbClr val="292929"/>
                </a:solidFill>
                <a:latin typeface="Calibri"/>
                <a:cs typeface="Calibri"/>
              </a:rPr>
              <a:t>the</a:t>
            </a:r>
            <a:r>
              <a:rPr sz="1800" spc="-60" dirty="0">
                <a:solidFill>
                  <a:srgbClr val="292929"/>
                </a:solidFill>
                <a:latin typeface="Calibri"/>
                <a:cs typeface="Calibri"/>
              </a:rPr>
              <a:t> </a:t>
            </a:r>
            <a:r>
              <a:rPr sz="1800" dirty="0">
                <a:solidFill>
                  <a:srgbClr val="292929"/>
                </a:solidFill>
                <a:latin typeface="Calibri"/>
                <a:cs typeface="Calibri"/>
              </a:rPr>
              <a:t>variational</a:t>
            </a:r>
            <a:r>
              <a:rPr sz="1800" spc="-50" dirty="0">
                <a:solidFill>
                  <a:srgbClr val="292929"/>
                </a:solidFill>
                <a:latin typeface="Calibri"/>
                <a:cs typeface="Calibri"/>
              </a:rPr>
              <a:t> </a:t>
            </a:r>
            <a:r>
              <a:rPr sz="1800" spc="-10" dirty="0">
                <a:solidFill>
                  <a:srgbClr val="292929"/>
                </a:solidFill>
                <a:latin typeface="Calibri"/>
                <a:cs typeface="Calibri"/>
              </a:rPr>
              <a:t>autoencoders</a:t>
            </a:r>
            <a:r>
              <a:rPr sz="1800" spc="-45" dirty="0">
                <a:solidFill>
                  <a:srgbClr val="292929"/>
                </a:solidFill>
                <a:latin typeface="Calibri"/>
                <a:cs typeface="Calibri"/>
              </a:rPr>
              <a:t> </a:t>
            </a:r>
            <a:r>
              <a:rPr sz="1800" dirty="0">
                <a:solidFill>
                  <a:srgbClr val="292929"/>
                </a:solidFill>
                <a:latin typeface="Calibri"/>
                <a:cs typeface="Calibri"/>
              </a:rPr>
              <a:t>pass</a:t>
            </a:r>
            <a:r>
              <a:rPr sz="1800" spc="-65" dirty="0">
                <a:solidFill>
                  <a:srgbClr val="292929"/>
                </a:solidFill>
                <a:latin typeface="Calibri"/>
                <a:cs typeface="Calibri"/>
              </a:rPr>
              <a:t> </a:t>
            </a:r>
            <a:r>
              <a:rPr sz="1800" spc="-20" dirty="0">
                <a:solidFill>
                  <a:srgbClr val="292929"/>
                </a:solidFill>
                <a:latin typeface="Calibri"/>
                <a:cs typeface="Calibri"/>
              </a:rPr>
              <a:t>each </a:t>
            </a:r>
            <a:r>
              <a:rPr sz="1800" dirty="0">
                <a:solidFill>
                  <a:srgbClr val="292929"/>
                </a:solidFill>
                <a:latin typeface="Calibri"/>
                <a:cs typeface="Calibri"/>
              </a:rPr>
              <a:t>latent</a:t>
            </a:r>
            <a:r>
              <a:rPr sz="1800" spc="-55" dirty="0">
                <a:solidFill>
                  <a:srgbClr val="292929"/>
                </a:solidFill>
                <a:latin typeface="Calibri"/>
                <a:cs typeface="Calibri"/>
              </a:rPr>
              <a:t> </a:t>
            </a:r>
            <a:r>
              <a:rPr sz="1800" spc="-10" dirty="0">
                <a:solidFill>
                  <a:srgbClr val="292929"/>
                </a:solidFill>
                <a:latin typeface="Calibri"/>
                <a:cs typeface="Calibri"/>
              </a:rPr>
              <a:t>attribute</a:t>
            </a:r>
            <a:r>
              <a:rPr sz="1800" spc="-40"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a</a:t>
            </a:r>
            <a:r>
              <a:rPr sz="1800" spc="-55" dirty="0">
                <a:solidFill>
                  <a:srgbClr val="292929"/>
                </a:solidFill>
                <a:latin typeface="Calibri"/>
                <a:cs typeface="Calibri"/>
              </a:rPr>
              <a:t> </a:t>
            </a:r>
            <a:r>
              <a:rPr sz="1800" dirty="0">
                <a:solidFill>
                  <a:srgbClr val="292929"/>
                </a:solidFill>
                <a:latin typeface="Calibri"/>
                <a:cs typeface="Calibri"/>
              </a:rPr>
              <a:t>probability</a:t>
            </a:r>
            <a:r>
              <a:rPr sz="1800" spc="-30" dirty="0">
                <a:solidFill>
                  <a:srgbClr val="292929"/>
                </a:solidFill>
                <a:latin typeface="Calibri"/>
                <a:cs typeface="Calibri"/>
              </a:rPr>
              <a:t> </a:t>
            </a:r>
            <a:r>
              <a:rPr sz="1800" spc="-10" dirty="0">
                <a:solidFill>
                  <a:srgbClr val="292929"/>
                </a:solidFill>
                <a:latin typeface="Calibri"/>
                <a:cs typeface="Calibri"/>
              </a:rPr>
              <a:t>distribution.</a:t>
            </a:r>
            <a:endParaRPr sz="18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0240" y="66243"/>
            <a:ext cx="10040620" cy="953769"/>
          </a:xfrm>
          <a:prstGeom prst="rect">
            <a:avLst/>
          </a:prstGeom>
        </p:spPr>
        <p:txBody>
          <a:bodyPr vert="horz" wrap="square" lIns="0" tIns="67945" rIns="0" bIns="0" rtlCol="0">
            <a:spAutoFit/>
          </a:bodyPr>
          <a:lstStyle/>
          <a:p>
            <a:pPr marL="12700" marR="5080">
              <a:lnSpc>
                <a:spcPts val="3460"/>
              </a:lnSpc>
              <a:spcBef>
                <a:spcPts val="535"/>
              </a:spcBef>
            </a:pPr>
            <a:r>
              <a:rPr b="0" dirty="0">
                <a:solidFill>
                  <a:srgbClr val="A3123E"/>
                </a:solidFill>
                <a:latin typeface="Georgia"/>
                <a:cs typeface="Georgia"/>
              </a:rPr>
              <a:t>Variational</a:t>
            </a:r>
            <a:r>
              <a:rPr b="0" spc="-60" dirty="0">
                <a:solidFill>
                  <a:srgbClr val="A3123E"/>
                </a:solidFill>
                <a:latin typeface="Georgia"/>
                <a:cs typeface="Georgia"/>
              </a:rPr>
              <a:t> </a:t>
            </a:r>
            <a:r>
              <a:rPr b="0" dirty="0">
                <a:solidFill>
                  <a:srgbClr val="A3123E"/>
                </a:solidFill>
                <a:latin typeface="Georgia"/>
                <a:cs typeface="Georgia"/>
              </a:rPr>
              <a:t>Autoencoder:</a:t>
            </a:r>
            <a:r>
              <a:rPr b="0" spc="-40" dirty="0">
                <a:solidFill>
                  <a:srgbClr val="A3123E"/>
                </a:solidFill>
                <a:latin typeface="Georgia"/>
                <a:cs typeface="Georgia"/>
              </a:rPr>
              <a:t> </a:t>
            </a:r>
            <a:r>
              <a:rPr b="0" dirty="0">
                <a:solidFill>
                  <a:srgbClr val="A3123E"/>
                </a:solidFill>
                <a:latin typeface="Georgia"/>
                <a:cs typeface="Georgia"/>
              </a:rPr>
              <a:t>Latent</a:t>
            </a:r>
            <a:r>
              <a:rPr b="0" spc="-60" dirty="0">
                <a:solidFill>
                  <a:srgbClr val="A3123E"/>
                </a:solidFill>
                <a:latin typeface="Georgia"/>
                <a:cs typeface="Georgia"/>
              </a:rPr>
              <a:t> </a:t>
            </a:r>
            <a:r>
              <a:rPr b="0" dirty="0">
                <a:solidFill>
                  <a:srgbClr val="A3123E"/>
                </a:solidFill>
                <a:latin typeface="Georgia"/>
                <a:cs typeface="Georgia"/>
              </a:rPr>
              <a:t>attribute</a:t>
            </a:r>
            <a:r>
              <a:rPr b="0" spc="-65" dirty="0">
                <a:solidFill>
                  <a:srgbClr val="A3123E"/>
                </a:solidFill>
                <a:latin typeface="Georgia"/>
                <a:cs typeface="Georgia"/>
              </a:rPr>
              <a:t> </a:t>
            </a:r>
            <a:r>
              <a:rPr b="0" dirty="0">
                <a:solidFill>
                  <a:srgbClr val="A3123E"/>
                </a:solidFill>
                <a:latin typeface="Georgia"/>
                <a:cs typeface="Georgia"/>
              </a:rPr>
              <a:t>as</a:t>
            </a:r>
            <a:r>
              <a:rPr b="0" spc="-25" dirty="0">
                <a:solidFill>
                  <a:srgbClr val="A3123E"/>
                </a:solidFill>
                <a:latin typeface="Georgia"/>
                <a:cs typeface="Georgia"/>
              </a:rPr>
              <a:t> </a:t>
            </a:r>
            <a:r>
              <a:rPr b="0" spc="-10" dirty="0">
                <a:solidFill>
                  <a:srgbClr val="A3123E"/>
                </a:solidFill>
                <a:latin typeface="Georgia"/>
                <a:cs typeface="Georgia"/>
              </a:rPr>
              <a:t>probability distribution</a:t>
            </a:r>
          </a:p>
        </p:txBody>
      </p:sp>
      <p:sp>
        <p:nvSpPr>
          <p:cNvPr id="3" name="object 3"/>
          <p:cNvSpPr txBox="1"/>
          <p:nvPr/>
        </p:nvSpPr>
        <p:spPr>
          <a:xfrm>
            <a:off x="650240" y="1113535"/>
            <a:ext cx="10534015"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292929"/>
                </a:solidFill>
                <a:latin typeface="Calibri"/>
                <a:cs typeface="Calibri"/>
              </a:rPr>
              <a:t>We</a:t>
            </a:r>
            <a:r>
              <a:rPr sz="1800" spc="-50" dirty="0">
                <a:solidFill>
                  <a:srgbClr val="292929"/>
                </a:solidFill>
                <a:latin typeface="Calibri"/>
                <a:cs typeface="Calibri"/>
              </a:rPr>
              <a:t> </a:t>
            </a:r>
            <a:r>
              <a:rPr sz="1800" dirty="0">
                <a:solidFill>
                  <a:srgbClr val="292929"/>
                </a:solidFill>
                <a:latin typeface="Calibri"/>
                <a:cs typeface="Calibri"/>
              </a:rPr>
              <a:t>have</a:t>
            </a:r>
            <a:r>
              <a:rPr sz="1800" spc="-50" dirty="0">
                <a:solidFill>
                  <a:srgbClr val="292929"/>
                </a:solidFill>
                <a:latin typeface="Calibri"/>
                <a:cs typeface="Calibri"/>
              </a:rPr>
              <a:t> </a:t>
            </a:r>
            <a:r>
              <a:rPr sz="1800" dirty="0">
                <a:solidFill>
                  <a:srgbClr val="292929"/>
                </a:solidFill>
                <a:latin typeface="Calibri"/>
                <a:cs typeface="Calibri"/>
              </a:rPr>
              <a:t>seen</a:t>
            </a:r>
            <a:r>
              <a:rPr sz="1800" spc="-45" dirty="0">
                <a:solidFill>
                  <a:srgbClr val="292929"/>
                </a:solidFill>
                <a:latin typeface="Calibri"/>
                <a:cs typeface="Calibri"/>
              </a:rPr>
              <a:t> </a:t>
            </a:r>
            <a:r>
              <a:rPr sz="1800" dirty="0">
                <a:solidFill>
                  <a:srgbClr val="292929"/>
                </a:solidFill>
                <a:latin typeface="Calibri"/>
                <a:cs typeface="Calibri"/>
              </a:rPr>
              <a:t>that</a:t>
            </a:r>
            <a:r>
              <a:rPr sz="1800" spc="-50"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values</a:t>
            </a:r>
            <a:r>
              <a:rPr sz="1800" spc="-50"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dirty="0">
                <a:solidFill>
                  <a:srgbClr val="292929"/>
                </a:solidFill>
                <a:latin typeface="Calibri"/>
                <a:cs typeface="Calibri"/>
              </a:rPr>
              <a:t>latent</a:t>
            </a:r>
            <a:r>
              <a:rPr sz="1800" spc="-40" dirty="0">
                <a:solidFill>
                  <a:srgbClr val="292929"/>
                </a:solidFill>
                <a:latin typeface="Calibri"/>
                <a:cs typeface="Calibri"/>
              </a:rPr>
              <a:t> </a:t>
            </a:r>
            <a:r>
              <a:rPr sz="1800" spc="-10" dirty="0">
                <a:solidFill>
                  <a:srgbClr val="292929"/>
                </a:solidFill>
                <a:latin typeface="Calibri"/>
                <a:cs typeface="Calibri"/>
              </a:rPr>
              <a:t>attributes</a:t>
            </a:r>
            <a:r>
              <a:rPr sz="1800" spc="-40" dirty="0">
                <a:solidFill>
                  <a:srgbClr val="292929"/>
                </a:solidFill>
                <a:latin typeface="Calibri"/>
                <a:cs typeface="Calibri"/>
              </a:rPr>
              <a:t> </a:t>
            </a:r>
            <a:r>
              <a:rPr sz="1800" dirty="0">
                <a:solidFill>
                  <a:srgbClr val="292929"/>
                </a:solidFill>
                <a:latin typeface="Calibri"/>
                <a:cs typeface="Calibri"/>
              </a:rPr>
              <a:t>are</a:t>
            </a:r>
            <a:r>
              <a:rPr sz="1800" spc="-45" dirty="0">
                <a:solidFill>
                  <a:srgbClr val="292929"/>
                </a:solidFill>
                <a:latin typeface="Calibri"/>
                <a:cs typeface="Calibri"/>
              </a:rPr>
              <a:t> </a:t>
            </a:r>
            <a:r>
              <a:rPr sz="1800" spc="-10" dirty="0">
                <a:solidFill>
                  <a:srgbClr val="292929"/>
                </a:solidFill>
                <a:latin typeface="Calibri"/>
                <a:cs typeface="Calibri"/>
              </a:rPr>
              <a:t>always</a:t>
            </a:r>
            <a:r>
              <a:rPr sz="1800" spc="-45" dirty="0">
                <a:solidFill>
                  <a:srgbClr val="292929"/>
                </a:solidFill>
                <a:latin typeface="Calibri"/>
                <a:cs typeface="Calibri"/>
              </a:rPr>
              <a:t> </a:t>
            </a:r>
            <a:r>
              <a:rPr sz="1800" dirty="0">
                <a:solidFill>
                  <a:srgbClr val="292929"/>
                </a:solidFill>
                <a:latin typeface="Calibri"/>
                <a:cs typeface="Calibri"/>
              </a:rPr>
              <a:t>discrete.</a:t>
            </a:r>
            <a:r>
              <a:rPr sz="1800" spc="-35" dirty="0">
                <a:solidFill>
                  <a:srgbClr val="292929"/>
                </a:solidFill>
                <a:latin typeface="Calibri"/>
                <a:cs typeface="Calibri"/>
              </a:rPr>
              <a:t> </a:t>
            </a:r>
            <a:r>
              <a:rPr sz="1800" dirty="0">
                <a:solidFill>
                  <a:srgbClr val="292929"/>
                </a:solidFill>
                <a:latin typeface="Calibri"/>
                <a:cs typeface="Calibri"/>
              </a:rPr>
              <a:t>This</a:t>
            </a:r>
            <a:r>
              <a:rPr sz="1800" spc="-40" dirty="0">
                <a:solidFill>
                  <a:srgbClr val="292929"/>
                </a:solidFill>
                <a:latin typeface="Calibri"/>
                <a:cs typeface="Calibri"/>
              </a:rPr>
              <a:t> </a:t>
            </a:r>
            <a:r>
              <a:rPr sz="1800" dirty="0">
                <a:solidFill>
                  <a:srgbClr val="292929"/>
                </a:solidFill>
                <a:latin typeface="Calibri"/>
                <a:cs typeface="Calibri"/>
              </a:rPr>
              <a:t>is</a:t>
            </a:r>
            <a:r>
              <a:rPr sz="1800" spc="-45" dirty="0">
                <a:solidFill>
                  <a:srgbClr val="292929"/>
                </a:solidFill>
                <a:latin typeface="Calibri"/>
                <a:cs typeface="Calibri"/>
              </a:rPr>
              <a:t> </a:t>
            </a:r>
            <a:r>
              <a:rPr sz="1800" dirty="0">
                <a:solidFill>
                  <a:srgbClr val="292929"/>
                </a:solidFill>
                <a:latin typeface="Calibri"/>
                <a:cs typeface="Calibri"/>
              </a:rPr>
              <a:t>where</a:t>
            </a:r>
            <a:r>
              <a:rPr sz="1800" spc="-30"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spc="-10" dirty="0">
                <a:solidFill>
                  <a:srgbClr val="292929"/>
                </a:solidFill>
                <a:latin typeface="Calibri"/>
                <a:cs typeface="Calibri"/>
              </a:rPr>
              <a:t>variational autoencoders</a:t>
            </a:r>
            <a:r>
              <a:rPr sz="1800" spc="-45" dirty="0">
                <a:solidFill>
                  <a:srgbClr val="292929"/>
                </a:solidFill>
                <a:latin typeface="Calibri"/>
                <a:cs typeface="Calibri"/>
              </a:rPr>
              <a:t> </a:t>
            </a:r>
            <a:r>
              <a:rPr sz="1800" dirty="0">
                <a:solidFill>
                  <a:srgbClr val="292929"/>
                </a:solidFill>
                <a:latin typeface="Calibri"/>
                <a:cs typeface="Calibri"/>
              </a:rPr>
              <a:t>are</a:t>
            </a:r>
            <a:r>
              <a:rPr sz="1800" spc="-60" dirty="0">
                <a:solidFill>
                  <a:srgbClr val="292929"/>
                </a:solidFill>
                <a:latin typeface="Calibri"/>
                <a:cs typeface="Calibri"/>
              </a:rPr>
              <a:t> </a:t>
            </a:r>
            <a:r>
              <a:rPr sz="1800" spc="-10" dirty="0">
                <a:solidFill>
                  <a:srgbClr val="292929"/>
                </a:solidFill>
                <a:latin typeface="Calibri"/>
                <a:cs typeface="Calibri"/>
              </a:rPr>
              <a:t>different.</a:t>
            </a:r>
            <a:r>
              <a:rPr sz="1800" spc="-60" dirty="0">
                <a:solidFill>
                  <a:srgbClr val="292929"/>
                </a:solidFill>
                <a:latin typeface="Calibri"/>
                <a:cs typeface="Calibri"/>
              </a:rPr>
              <a:t> </a:t>
            </a:r>
            <a:r>
              <a:rPr sz="1800" dirty="0">
                <a:solidFill>
                  <a:srgbClr val="292929"/>
                </a:solidFill>
                <a:latin typeface="Calibri"/>
                <a:cs typeface="Calibri"/>
              </a:rPr>
              <a:t>Instead</a:t>
            </a:r>
            <a:r>
              <a:rPr sz="1800" spc="-55" dirty="0">
                <a:solidFill>
                  <a:srgbClr val="292929"/>
                </a:solidFill>
                <a:latin typeface="Calibri"/>
                <a:cs typeface="Calibri"/>
              </a:rPr>
              <a:t> </a:t>
            </a:r>
            <a:r>
              <a:rPr sz="1800" dirty="0">
                <a:solidFill>
                  <a:srgbClr val="292929"/>
                </a:solidFill>
                <a:latin typeface="Calibri"/>
                <a:cs typeface="Calibri"/>
              </a:rPr>
              <a:t>of</a:t>
            </a:r>
            <a:r>
              <a:rPr sz="1800" spc="-60" dirty="0">
                <a:solidFill>
                  <a:srgbClr val="292929"/>
                </a:solidFill>
                <a:latin typeface="Calibri"/>
                <a:cs typeface="Calibri"/>
              </a:rPr>
              <a:t> </a:t>
            </a:r>
            <a:r>
              <a:rPr sz="1800" dirty="0">
                <a:solidFill>
                  <a:srgbClr val="292929"/>
                </a:solidFill>
                <a:latin typeface="Calibri"/>
                <a:cs typeface="Calibri"/>
              </a:rPr>
              <a:t>considering</a:t>
            </a:r>
            <a:r>
              <a:rPr sz="1800" spc="-35" dirty="0">
                <a:solidFill>
                  <a:srgbClr val="292929"/>
                </a:solidFill>
                <a:latin typeface="Calibri"/>
                <a:cs typeface="Calibri"/>
              </a:rPr>
              <a:t> </a:t>
            </a:r>
            <a:r>
              <a:rPr sz="1800" dirty="0">
                <a:solidFill>
                  <a:srgbClr val="292929"/>
                </a:solidFill>
                <a:latin typeface="Calibri"/>
                <a:cs typeface="Calibri"/>
              </a:rPr>
              <a:t>to</a:t>
            </a:r>
            <a:r>
              <a:rPr sz="1800" spc="-60" dirty="0">
                <a:solidFill>
                  <a:srgbClr val="292929"/>
                </a:solidFill>
                <a:latin typeface="Calibri"/>
                <a:cs typeface="Calibri"/>
              </a:rPr>
              <a:t> </a:t>
            </a:r>
            <a:r>
              <a:rPr sz="1800" dirty="0">
                <a:solidFill>
                  <a:srgbClr val="292929"/>
                </a:solidFill>
                <a:latin typeface="Calibri"/>
                <a:cs typeface="Calibri"/>
              </a:rPr>
              <a:t>pass</a:t>
            </a:r>
            <a:r>
              <a:rPr sz="1800" spc="-65" dirty="0">
                <a:solidFill>
                  <a:srgbClr val="292929"/>
                </a:solidFill>
                <a:latin typeface="Calibri"/>
                <a:cs typeface="Calibri"/>
              </a:rPr>
              <a:t> </a:t>
            </a:r>
            <a:r>
              <a:rPr sz="1800" dirty="0">
                <a:solidFill>
                  <a:srgbClr val="292929"/>
                </a:solidFill>
                <a:latin typeface="Calibri"/>
                <a:cs typeface="Calibri"/>
              </a:rPr>
              <a:t>discrete</a:t>
            </a:r>
            <a:r>
              <a:rPr sz="1800" spc="-45" dirty="0">
                <a:solidFill>
                  <a:srgbClr val="292929"/>
                </a:solidFill>
                <a:latin typeface="Calibri"/>
                <a:cs typeface="Calibri"/>
              </a:rPr>
              <a:t> </a:t>
            </a:r>
            <a:r>
              <a:rPr sz="1800" dirty="0">
                <a:solidFill>
                  <a:srgbClr val="292929"/>
                </a:solidFill>
                <a:latin typeface="Calibri"/>
                <a:cs typeface="Calibri"/>
              </a:rPr>
              <a:t>values,</a:t>
            </a:r>
            <a:r>
              <a:rPr sz="1800" spc="-50" dirty="0">
                <a:solidFill>
                  <a:srgbClr val="292929"/>
                </a:solidFill>
                <a:latin typeface="Calibri"/>
                <a:cs typeface="Calibri"/>
              </a:rPr>
              <a:t> </a:t>
            </a:r>
            <a:r>
              <a:rPr sz="1800" dirty="0">
                <a:solidFill>
                  <a:srgbClr val="292929"/>
                </a:solidFill>
                <a:latin typeface="Calibri"/>
                <a:cs typeface="Calibri"/>
              </a:rPr>
              <a:t>the</a:t>
            </a:r>
            <a:r>
              <a:rPr sz="1800" spc="-60" dirty="0">
                <a:solidFill>
                  <a:srgbClr val="292929"/>
                </a:solidFill>
                <a:latin typeface="Calibri"/>
                <a:cs typeface="Calibri"/>
              </a:rPr>
              <a:t> </a:t>
            </a:r>
            <a:r>
              <a:rPr sz="1800" dirty="0">
                <a:solidFill>
                  <a:srgbClr val="292929"/>
                </a:solidFill>
                <a:latin typeface="Calibri"/>
                <a:cs typeface="Calibri"/>
              </a:rPr>
              <a:t>variational</a:t>
            </a:r>
            <a:r>
              <a:rPr sz="1800" spc="-50" dirty="0">
                <a:solidFill>
                  <a:srgbClr val="292929"/>
                </a:solidFill>
                <a:latin typeface="Calibri"/>
                <a:cs typeface="Calibri"/>
              </a:rPr>
              <a:t> </a:t>
            </a:r>
            <a:r>
              <a:rPr sz="1800" spc="-10" dirty="0">
                <a:solidFill>
                  <a:srgbClr val="292929"/>
                </a:solidFill>
                <a:latin typeface="Calibri"/>
                <a:cs typeface="Calibri"/>
              </a:rPr>
              <a:t>autoencoders</a:t>
            </a:r>
            <a:r>
              <a:rPr sz="1800" spc="-45" dirty="0">
                <a:solidFill>
                  <a:srgbClr val="292929"/>
                </a:solidFill>
                <a:latin typeface="Calibri"/>
                <a:cs typeface="Calibri"/>
              </a:rPr>
              <a:t> </a:t>
            </a:r>
            <a:r>
              <a:rPr sz="1800" dirty="0">
                <a:solidFill>
                  <a:srgbClr val="292929"/>
                </a:solidFill>
                <a:latin typeface="Calibri"/>
                <a:cs typeface="Calibri"/>
              </a:rPr>
              <a:t>pass</a:t>
            </a:r>
            <a:r>
              <a:rPr sz="1800" spc="-65" dirty="0">
                <a:solidFill>
                  <a:srgbClr val="292929"/>
                </a:solidFill>
                <a:latin typeface="Calibri"/>
                <a:cs typeface="Calibri"/>
              </a:rPr>
              <a:t> </a:t>
            </a:r>
            <a:r>
              <a:rPr sz="1800" spc="-20" dirty="0">
                <a:solidFill>
                  <a:srgbClr val="292929"/>
                </a:solidFill>
                <a:latin typeface="Calibri"/>
                <a:cs typeface="Calibri"/>
              </a:rPr>
              <a:t>each </a:t>
            </a:r>
            <a:r>
              <a:rPr sz="1800" dirty="0">
                <a:solidFill>
                  <a:srgbClr val="292929"/>
                </a:solidFill>
                <a:latin typeface="Calibri"/>
                <a:cs typeface="Calibri"/>
              </a:rPr>
              <a:t>latent</a:t>
            </a:r>
            <a:r>
              <a:rPr sz="1800" spc="-55" dirty="0">
                <a:solidFill>
                  <a:srgbClr val="292929"/>
                </a:solidFill>
                <a:latin typeface="Calibri"/>
                <a:cs typeface="Calibri"/>
              </a:rPr>
              <a:t> </a:t>
            </a:r>
            <a:r>
              <a:rPr sz="1800" spc="-10" dirty="0">
                <a:solidFill>
                  <a:srgbClr val="292929"/>
                </a:solidFill>
                <a:latin typeface="Calibri"/>
                <a:cs typeface="Calibri"/>
              </a:rPr>
              <a:t>attribute</a:t>
            </a:r>
            <a:r>
              <a:rPr sz="1800" spc="-40"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a</a:t>
            </a:r>
            <a:r>
              <a:rPr sz="1800" spc="-55" dirty="0">
                <a:solidFill>
                  <a:srgbClr val="292929"/>
                </a:solidFill>
                <a:latin typeface="Calibri"/>
                <a:cs typeface="Calibri"/>
              </a:rPr>
              <a:t> </a:t>
            </a:r>
            <a:r>
              <a:rPr sz="1800" dirty="0">
                <a:solidFill>
                  <a:srgbClr val="292929"/>
                </a:solidFill>
                <a:latin typeface="Calibri"/>
                <a:cs typeface="Calibri"/>
              </a:rPr>
              <a:t>probability</a:t>
            </a:r>
            <a:r>
              <a:rPr sz="1800" spc="-30" dirty="0">
                <a:solidFill>
                  <a:srgbClr val="292929"/>
                </a:solidFill>
                <a:latin typeface="Calibri"/>
                <a:cs typeface="Calibri"/>
              </a:rPr>
              <a:t> </a:t>
            </a:r>
            <a:r>
              <a:rPr sz="1800" spc="-10" dirty="0">
                <a:solidFill>
                  <a:srgbClr val="292929"/>
                </a:solidFill>
                <a:latin typeface="Calibri"/>
                <a:cs typeface="Calibri"/>
              </a:rPr>
              <a:t>distribution.</a:t>
            </a:r>
            <a:endParaRPr sz="1800">
              <a:latin typeface="Calibri"/>
              <a:cs typeface="Calibri"/>
            </a:endParaRPr>
          </a:p>
        </p:txBody>
      </p:sp>
      <p:pic>
        <p:nvPicPr>
          <p:cNvPr id="4" name="object 4"/>
          <p:cNvPicPr/>
          <p:nvPr/>
        </p:nvPicPr>
        <p:blipFill>
          <a:blip r:embed="rId2" cstate="print"/>
          <a:stretch>
            <a:fillRect/>
          </a:stretch>
        </p:blipFill>
        <p:spPr>
          <a:xfrm>
            <a:off x="3695758" y="2701719"/>
            <a:ext cx="6519206" cy="2586358"/>
          </a:xfrm>
          <a:prstGeom prst="rect">
            <a:avLst/>
          </a:prstGeom>
        </p:spPr>
      </p:pic>
      <p:sp>
        <p:nvSpPr>
          <p:cNvPr id="5" name="object 5"/>
          <p:cNvSpPr txBox="1"/>
          <p:nvPr/>
        </p:nvSpPr>
        <p:spPr>
          <a:xfrm>
            <a:off x="186944" y="3102102"/>
            <a:ext cx="334962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Now</a:t>
            </a:r>
            <a:r>
              <a:rPr sz="2400" spc="-60"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representation</a:t>
            </a:r>
            <a:r>
              <a:rPr sz="2400" spc="-60" dirty="0">
                <a:latin typeface="Calibri"/>
                <a:cs typeface="Calibri"/>
              </a:rPr>
              <a:t> </a:t>
            </a:r>
            <a:r>
              <a:rPr sz="2400" spc="-50" dirty="0">
                <a:latin typeface="Wingdings"/>
                <a:cs typeface="Wingdings"/>
              </a:rPr>
              <a:t></a:t>
            </a:r>
            <a:endParaRPr sz="2400">
              <a:latin typeface="Wingdings"/>
              <a:cs typeface="Wingding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03220" y="2125979"/>
            <a:ext cx="9172956" cy="4258056"/>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solidFill>
                  <a:srgbClr val="A3123E"/>
                </a:solidFill>
                <a:latin typeface="Georgia"/>
                <a:cs typeface="Georgia"/>
              </a:rPr>
              <a:t>Variational</a:t>
            </a:r>
            <a:r>
              <a:rPr b="0" spc="-65" dirty="0">
                <a:solidFill>
                  <a:srgbClr val="A3123E"/>
                </a:solidFill>
                <a:latin typeface="Georgia"/>
                <a:cs typeface="Georgia"/>
              </a:rPr>
              <a:t> </a:t>
            </a:r>
            <a:r>
              <a:rPr b="0" dirty="0">
                <a:solidFill>
                  <a:srgbClr val="A3123E"/>
                </a:solidFill>
                <a:latin typeface="Georgia"/>
                <a:cs typeface="Georgia"/>
              </a:rPr>
              <a:t>autoencoders</a:t>
            </a:r>
            <a:r>
              <a:rPr b="0" spc="-65" dirty="0">
                <a:solidFill>
                  <a:srgbClr val="A3123E"/>
                </a:solidFill>
                <a:latin typeface="Georgia"/>
                <a:cs typeface="Georgia"/>
              </a:rPr>
              <a:t> </a:t>
            </a:r>
            <a:r>
              <a:rPr b="0" dirty="0">
                <a:solidFill>
                  <a:srgbClr val="A3123E"/>
                </a:solidFill>
                <a:latin typeface="Georgia"/>
                <a:cs typeface="Georgia"/>
              </a:rPr>
              <a:t>as</a:t>
            </a:r>
            <a:r>
              <a:rPr b="0" spc="-40" dirty="0">
                <a:solidFill>
                  <a:srgbClr val="A3123E"/>
                </a:solidFill>
                <a:latin typeface="Georgia"/>
                <a:cs typeface="Georgia"/>
              </a:rPr>
              <a:t> </a:t>
            </a:r>
            <a:r>
              <a:rPr b="0" dirty="0">
                <a:solidFill>
                  <a:srgbClr val="A3123E"/>
                </a:solidFill>
                <a:latin typeface="Georgia"/>
                <a:cs typeface="Georgia"/>
              </a:rPr>
              <a:t>a</a:t>
            </a:r>
            <a:r>
              <a:rPr b="0" spc="-30" dirty="0">
                <a:solidFill>
                  <a:srgbClr val="A3123E"/>
                </a:solidFill>
                <a:latin typeface="Georgia"/>
                <a:cs typeface="Georgia"/>
              </a:rPr>
              <a:t> </a:t>
            </a:r>
            <a:r>
              <a:rPr b="0" dirty="0">
                <a:solidFill>
                  <a:srgbClr val="A3123E"/>
                </a:solidFill>
                <a:latin typeface="Georgia"/>
                <a:cs typeface="Georgia"/>
              </a:rPr>
              <a:t>generative</a:t>
            </a:r>
            <a:r>
              <a:rPr b="0" spc="-60" dirty="0">
                <a:solidFill>
                  <a:srgbClr val="A3123E"/>
                </a:solidFill>
                <a:latin typeface="Georgia"/>
                <a:cs typeface="Georgia"/>
              </a:rPr>
              <a:t> </a:t>
            </a:r>
            <a:r>
              <a:rPr b="0" spc="-10" dirty="0">
                <a:solidFill>
                  <a:srgbClr val="A3123E"/>
                </a:solidFill>
                <a:latin typeface="Georgia"/>
                <a:cs typeface="Georgia"/>
              </a:rPr>
              <a:t>network</a:t>
            </a:r>
          </a:p>
        </p:txBody>
      </p:sp>
      <p:sp>
        <p:nvSpPr>
          <p:cNvPr id="4" name="object 4"/>
          <p:cNvSpPr txBox="1"/>
          <p:nvPr/>
        </p:nvSpPr>
        <p:spPr>
          <a:xfrm>
            <a:off x="650240" y="944371"/>
            <a:ext cx="9855835" cy="1122680"/>
          </a:xfrm>
          <a:prstGeom prst="rect">
            <a:avLst/>
          </a:prstGeom>
        </p:spPr>
        <p:txBody>
          <a:bodyPr vert="horz" wrap="square" lIns="0" tIns="12700" rIns="0" bIns="0" rtlCol="0">
            <a:spAutoFit/>
          </a:bodyPr>
          <a:lstStyle/>
          <a:p>
            <a:pPr marL="12700" marR="5080">
              <a:lnSpc>
                <a:spcPct val="100000"/>
              </a:lnSpc>
              <a:spcBef>
                <a:spcPts val="100"/>
              </a:spcBef>
            </a:pPr>
            <a:r>
              <a:rPr sz="1800" spc="-35" dirty="0">
                <a:solidFill>
                  <a:srgbClr val="292929"/>
                </a:solidFill>
                <a:latin typeface="Calibri"/>
                <a:cs typeface="Calibri"/>
              </a:rPr>
              <a:t>Now,</a:t>
            </a:r>
            <a:r>
              <a:rPr sz="1800" spc="-40" dirty="0">
                <a:solidFill>
                  <a:srgbClr val="292929"/>
                </a:solidFill>
                <a:latin typeface="Calibri"/>
                <a:cs typeface="Calibri"/>
              </a:rPr>
              <a:t> </a:t>
            </a:r>
            <a:r>
              <a:rPr sz="1800" dirty="0">
                <a:solidFill>
                  <a:srgbClr val="292929"/>
                </a:solidFill>
                <a:latin typeface="Calibri"/>
                <a:cs typeface="Calibri"/>
              </a:rPr>
              <a:t>we</a:t>
            </a:r>
            <a:r>
              <a:rPr sz="1800" spc="-50" dirty="0">
                <a:solidFill>
                  <a:srgbClr val="292929"/>
                </a:solidFill>
                <a:latin typeface="Calibri"/>
                <a:cs typeface="Calibri"/>
              </a:rPr>
              <a:t> </a:t>
            </a:r>
            <a:r>
              <a:rPr sz="1800" dirty="0">
                <a:solidFill>
                  <a:srgbClr val="292929"/>
                </a:solidFill>
                <a:latin typeface="Calibri"/>
                <a:cs typeface="Calibri"/>
              </a:rPr>
              <a:t>can</a:t>
            </a:r>
            <a:r>
              <a:rPr sz="1800" spc="-35" dirty="0">
                <a:solidFill>
                  <a:srgbClr val="292929"/>
                </a:solidFill>
                <a:latin typeface="Calibri"/>
                <a:cs typeface="Calibri"/>
              </a:rPr>
              <a:t> </a:t>
            </a:r>
            <a:r>
              <a:rPr sz="1800" dirty="0">
                <a:solidFill>
                  <a:srgbClr val="292929"/>
                </a:solidFill>
                <a:latin typeface="Calibri"/>
                <a:cs typeface="Calibri"/>
              </a:rPr>
              <a:t>see</a:t>
            </a:r>
            <a:r>
              <a:rPr sz="1800" spc="-50" dirty="0">
                <a:solidFill>
                  <a:srgbClr val="292929"/>
                </a:solidFill>
                <a:latin typeface="Calibri"/>
                <a:cs typeface="Calibri"/>
              </a:rPr>
              <a:t> </a:t>
            </a:r>
            <a:r>
              <a:rPr sz="1800" dirty="0">
                <a:solidFill>
                  <a:srgbClr val="292929"/>
                </a:solidFill>
                <a:latin typeface="Calibri"/>
                <a:cs typeface="Calibri"/>
              </a:rPr>
              <a:t>each</a:t>
            </a:r>
            <a:r>
              <a:rPr sz="1800" spc="-55" dirty="0">
                <a:solidFill>
                  <a:srgbClr val="292929"/>
                </a:solidFill>
                <a:latin typeface="Calibri"/>
                <a:cs typeface="Calibri"/>
              </a:rPr>
              <a:t> </a:t>
            </a:r>
            <a:r>
              <a:rPr sz="1800" dirty="0">
                <a:solidFill>
                  <a:srgbClr val="292929"/>
                </a:solidFill>
                <a:latin typeface="Calibri"/>
                <a:cs typeface="Calibri"/>
              </a:rPr>
              <a:t>latent</a:t>
            </a:r>
            <a:r>
              <a:rPr sz="1800" spc="-45" dirty="0">
                <a:solidFill>
                  <a:srgbClr val="292929"/>
                </a:solidFill>
                <a:latin typeface="Calibri"/>
                <a:cs typeface="Calibri"/>
              </a:rPr>
              <a:t> </a:t>
            </a:r>
            <a:r>
              <a:rPr sz="1800" spc="-10" dirty="0">
                <a:solidFill>
                  <a:srgbClr val="292929"/>
                </a:solidFill>
                <a:latin typeface="Calibri"/>
                <a:cs typeface="Calibri"/>
              </a:rPr>
              <a:t>attribute</a:t>
            </a:r>
            <a:r>
              <a:rPr sz="1800" spc="-40" dirty="0">
                <a:solidFill>
                  <a:srgbClr val="292929"/>
                </a:solidFill>
                <a:latin typeface="Calibri"/>
                <a:cs typeface="Calibri"/>
              </a:rPr>
              <a:t> </a:t>
            </a:r>
            <a:r>
              <a:rPr sz="1800" dirty="0">
                <a:solidFill>
                  <a:srgbClr val="292929"/>
                </a:solidFill>
                <a:latin typeface="Calibri"/>
                <a:cs typeface="Calibri"/>
              </a:rPr>
              <a:t>is</a:t>
            </a:r>
            <a:r>
              <a:rPr sz="1800" spc="-50" dirty="0">
                <a:solidFill>
                  <a:srgbClr val="292929"/>
                </a:solidFill>
                <a:latin typeface="Calibri"/>
                <a:cs typeface="Calibri"/>
              </a:rPr>
              <a:t> </a:t>
            </a:r>
            <a:r>
              <a:rPr sz="1800" dirty="0">
                <a:solidFill>
                  <a:srgbClr val="292929"/>
                </a:solidFill>
                <a:latin typeface="Calibri"/>
                <a:cs typeface="Calibri"/>
              </a:rPr>
              <a:t>passed</a:t>
            </a:r>
            <a:r>
              <a:rPr sz="1800" spc="-55"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a</a:t>
            </a:r>
            <a:r>
              <a:rPr sz="1800" spc="-55" dirty="0">
                <a:solidFill>
                  <a:srgbClr val="292929"/>
                </a:solidFill>
                <a:latin typeface="Calibri"/>
                <a:cs typeface="Calibri"/>
              </a:rPr>
              <a:t> </a:t>
            </a:r>
            <a:r>
              <a:rPr sz="1800" dirty="0">
                <a:solidFill>
                  <a:srgbClr val="292929"/>
                </a:solidFill>
                <a:latin typeface="Calibri"/>
                <a:cs typeface="Calibri"/>
              </a:rPr>
              <a:t>probability</a:t>
            </a:r>
            <a:r>
              <a:rPr sz="1800" spc="-45" dirty="0">
                <a:solidFill>
                  <a:srgbClr val="292929"/>
                </a:solidFill>
                <a:latin typeface="Calibri"/>
                <a:cs typeface="Calibri"/>
              </a:rPr>
              <a:t> </a:t>
            </a:r>
            <a:r>
              <a:rPr sz="1800" dirty="0">
                <a:solidFill>
                  <a:srgbClr val="292929"/>
                </a:solidFill>
                <a:latin typeface="Calibri"/>
                <a:cs typeface="Calibri"/>
              </a:rPr>
              <a:t>distribution.</a:t>
            </a:r>
            <a:r>
              <a:rPr sz="1800" spc="-30" dirty="0">
                <a:solidFill>
                  <a:srgbClr val="292929"/>
                </a:solidFill>
                <a:latin typeface="Calibri"/>
                <a:cs typeface="Calibri"/>
              </a:rPr>
              <a:t> </a:t>
            </a: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decoder</a:t>
            </a:r>
            <a:r>
              <a:rPr sz="1800" spc="-30" dirty="0">
                <a:solidFill>
                  <a:srgbClr val="292929"/>
                </a:solidFill>
                <a:latin typeface="Calibri"/>
                <a:cs typeface="Calibri"/>
              </a:rPr>
              <a:t> </a:t>
            </a:r>
            <a:r>
              <a:rPr sz="1800" dirty="0">
                <a:solidFill>
                  <a:srgbClr val="292929"/>
                </a:solidFill>
                <a:latin typeface="Calibri"/>
                <a:cs typeface="Calibri"/>
              </a:rPr>
              <a:t>samples</a:t>
            </a:r>
            <a:r>
              <a:rPr sz="1800" spc="-60" dirty="0">
                <a:solidFill>
                  <a:srgbClr val="292929"/>
                </a:solidFill>
                <a:latin typeface="Calibri"/>
                <a:cs typeface="Calibri"/>
              </a:rPr>
              <a:t> </a:t>
            </a:r>
            <a:r>
              <a:rPr sz="1800" spc="-20" dirty="0">
                <a:solidFill>
                  <a:srgbClr val="292929"/>
                </a:solidFill>
                <a:latin typeface="Calibri"/>
                <a:cs typeface="Calibri"/>
              </a:rPr>
              <a:t>from </a:t>
            </a:r>
            <a:r>
              <a:rPr sz="1800" dirty="0">
                <a:solidFill>
                  <a:srgbClr val="292929"/>
                </a:solidFill>
                <a:latin typeface="Calibri"/>
                <a:cs typeface="Calibri"/>
              </a:rPr>
              <a:t>each</a:t>
            </a:r>
            <a:r>
              <a:rPr sz="1800" spc="-45" dirty="0">
                <a:solidFill>
                  <a:srgbClr val="292929"/>
                </a:solidFill>
                <a:latin typeface="Calibri"/>
                <a:cs typeface="Calibri"/>
              </a:rPr>
              <a:t> </a:t>
            </a:r>
            <a:r>
              <a:rPr sz="1800" dirty="0">
                <a:solidFill>
                  <a:srgbClr val="292929"/>
                </a:solidFill>
                <a:latin typeface="Calibri"/>
                <a:cs typeface="Calibri"/>
              </a:rPr>
              <a:t>latent</a:t>
            </a:r>
            <a:r>
              <a:rPr sz="1800" spc="-50" dirty="0">
                <a:solidFill>
                  <a:srgbClr val="292929"/>
                </a:solidFill>
                <a:latin typeface="Calibri"/>
                <a:cs typeface="Calibri"/>
              </a:rPr>
              <a:t> </a:t>
            </a:r>
            <a:r>
              <a:rPr sz="1800" dirty="0">
                <a:solidFill>
                  <a:srgbClr val="292929"/>
                </a:solidFill>
                <a:latin typeface="Calibri"/>
                <a:cs typeface="Calibri"/>
              </a:rPr>
              <a:t>distribution</a:t>
            </a:r>
            <a:r>
              <a:rPr sz="1800" spc="-30" dirty="0">
                <a:solidFill>
                  <a:srgbClr val="292929"/>
                </a:solidFill>
                <a:latin typeface="Calibri"/>
                <a:cs typeface="Calibri"/>
              </a:rPr>
              <a:t> </a:t>
            </a:r>
            <a:r>
              <a:rPr sz="1800" dirty="0">
                <a:solidFill>
                  <a:srgbClr val="292929"/>
                </a:solidFill>
                <a:latin typeface="Calibri"/>
                <a:cs typeface="Calibri"/>
              </a:rPr>
              <a:t>and</a:t>
            </a:r>
            <a:r>
              <a:rPr sz="1800" spc="-40" dirty="0">
                <a:solidFill>
                  <a:srgbClr val="292929"/>
                </a:solidFill>
                <a:latin typeface="Calibri"/>
                <a:cs typeface="Calibri"/>
              </a:rPr>
              <a:t> </a:t>
            </a:r>
            <a:r>
              <a:rPr sz="1800" dirty="0">
                <a:solidFill>
                  <a:srgbClr val="292929"/>
                </a:solidFill>
                <a:latin typeface="Calibri"/>
                <a:cs typeface="Calibri"/>
              </a:rPr>
              <a:t>decodes</a:t>
            </a:r>
            <a:r>
              <a:rPr sz="1800" spc="-35" dirty="0">
                <a:solidFill>
                  <a:srgbClr val="292929"/>
                </a:solidFill>
                <a:latin typeface="Calibri"/>
                <a:cs typeface="Calibri"/>
              </a:rPr>
              <a:t> </a:t>
            </a:r>
            <a:r>
              <a:rPr sz="1800" dirty="0">
                <a:solidFill>
                  <a:srgbClr val="292929"/>
                </a:solidFill>
                <a:latin typeface="Calibri"/>
                <a:cs typeface="Calibri"/>
              </a:rPr>
              <a:t>to</a:t>
            </a:r>
            <a:r>
              <a:rPr sz="1800" spc="-50" dirty="0">
                <a:solidFill>
                  <a:srgbClr val="292929"/>
                </a:solidFill>
                <a:latin typeface="Calibri"/>
                <a:cs typeface="Calibri"/>
              </a:rPr>
              <a:t> </a:t>
            </a:r>
            <a:r>
              <a:rPr sz="1800" spc="-10" dirty="0">
                <a:solidFill>
                  <a:srgbClr val="292929"/>
                </a:solidFill>
                <a:latin typeface="Calibri"/>
                <a:cs typeface="Calibri"/>
              </a:rPr>
              <a:t>reconstruct</a:t>
            </a:r>
            <a:r>
              <a:rPr sz="1800" spc="-45" dirty="0">
                <a:solidFill>
                  <a:srgbClr val="292929"/>
                </a:solidFill>
                <a:latin typeface="Calibri"/>
                <a:cs typeface="Calibri"/>
              </a:rPr>
              <a:t> </a:t>
            </a:r>
            <a:r>
              <a:rPr sz="1800" dirty="0">
                <a:solidFill>
                  <a:srgbClr val="292929"/>
                </a:solidFill>
                <a:latin typeface="Calibri"/>
                <a:cs typeface="Calibri"/>
              </a:rPr>
              <a:t>the</a:t>
            </a:r>
            <a:r>
              <a:rPr sz="1800" spc="-40" dirty="0">
                <a:solidFill>
                  <a:srgbClr val="292929"/>
                </a:solidFill>
                <a:latin typeface="Calibri"/>
                <a:cs typeface="Calibri"/>
              </a:rPr>
              <a:t> </a:t>
            </a:r>
            <a:r>
              <a:rPr sz="1800" dirty="0">
                <a:solidFill>
                  <a:srgbClr val="292929"/>
                </a:solidFill>
                <a:latin typeface="Calibri"/>
                <a:cs typeface="Calibri"/>
              </a:rPr>
              <a:t>image.</a:t>
            </a:r>
            <a:r>
              <a:rPr sz="1800" spc="-55" dirty="0">
                <a:solidFill>
                  <a:srgbClr val="292929"/>
                </a:solidFill>
                <a:latin typeface="Calibri"/>
                <a:cs typeface="Calibri"/>
              </a:rPr>
              <a:t> </a:t>
            </a:r>
            <a:r>
              <a:rPr sz="1800" dirty="0">
                <a:solidFill>
                  <a:srgbClr val="292929"/>
                </a:solidFill>
                <a:latin typeface="Calibri"/>
                <a:cs typeface="Calibri"/>
              </a:rPr>
              <a:t>So,</a:t>
            </a:r>
            <a:r>
              <a:rPr sz="1800" spc="-45"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dirty="0">
                <a:solidFill>
                  <a:srgbClr val="292929"/>
                </a:solidFill>
                <a:latin typeface="Calibri"/>
                <a:cs typeface="Calibri"/>
              </a:rPr>
              <a:t>the</a:t>
            </a:r>
            <a:r>
              <a:rPr sz="1800" spc="-50" dirty="0">
                <a:solidFill>
                  <a:srgbClr val="292929"/>
                </a:solidFill>
                <a:latin typeface="Calibri"/>
                <a:cs typeface="Calibri"/>
              </a:rPr>
              <a:t> </a:t>
            </a:r>
            <a:r>
              <a:rPr sz="1800" dirty="0">
                <a:solidFill>
                  <a:srgbClr val="292929"/>
                </a:solidFill>
                <a:latin typeface="Calibri"/>
                <a:cs typeface="Calibri"/>
              </a:rPr>
              <a:t>sampling</a:t>
            </a:r>
            <a:r>
              <a:rPr sz="1800" spc="-35" dirty="0">
                <a:solidFill>
                  <a:srgbClr val="292929"/>
                </a:solidFill>
                <a:latin typeface="Calibri"/>
                <a:cs typeface="Calibri"/>
              </a:rPr>
              <a:t> </a:t>
            </a:r>
            <a:r>
              <a:rPr sz="1800" dirty="0">
                <a:solidFill>
                  <a:srgbClr val="292929"/>
                </a:solidFill>
                <a:latin typeface="Calibri"/>
                <a:cs typeface="Calibri"/>
              </a:rPr>
              <a:t>is</a:t>
            </a:r>
            <a:r>
              <a:rPr sz="1800" spc="-50" dirty="0">
                <a:solidFill>
                  <a:srgbClr val="292929"/>
                </a:solidFill>
                <a:latin typeface="Calibri"/>
                <a:cs typeface="Calibri"/>
              </a:rPr>
              <a:t> </a:t>
            </a:r>
            <a:r>
              <a:rPr sz="1800" dirty="0">
                <a:solidFill>
                  <a:srgbClr val="292929"/>
                </a:solidFill>
                <a:latin typeface="Calibri"/>
                <a:cs typeface="Calibri"/>
              </a:rPr>
              <a:t>random</a:t>
            </a:r>
            <a:r>
              <a:rPr sz="1800" spc="-45" dirty="0">
                <a:solidFill>
                  <a:srgbClr val="292929"/>
                </a:solidFill>
                <a:latin typeface="Calibri"/>
                <a:cs typeface="Calibri"/>
              </a:rPr>
              <a:t> </a:t>
            </a:r>
            <a:r>
              <a:rPr sz="1800" dirty="0">
                <a:solidFill>
                  <a:srgbClr val="292929"/>
                </a:solidFill>
                <a:latin typeface="Calibri"/>
                <a:cs typeface="Calibri"/>
              </a:rPr>
              <a:t>and</a:t>
            </a:r>
            <a:r>
              <a:rPr sz="1800" spc="-40" dirty="0">
                <a:solidFill>
                  <a:srgbClr val="292929"/>
                </a:solidFill>
                <a:latin typeface="Calibri"/>
                <a:cs typeface="Calibri"/>
              </a:rPr>
              <a:t> </a:t>
            </a:r>
            <a:r>
              <a:rPr sz="1800" spc="-25" dirty="0">
                <a:solidFill>
                  <a:srgbClr val="292929"/>
                </a:solidFill>
                <a:latin typeface="Calibri"/>
                <a:cs typeface="Calibri"/>
              </a:rPr>
              <a:t>not </a:t>
            </a:r>
            <a:r>
              <a:rPr sz="1800" spc="-10" dirty="0">
                <a:solidFill>
                  <a:srgbClr val="292929"/>
                </a:solidFill>
                <a:latin typeface="Calibri"/>
                <a:cs typeface="Calibri"/>
              </a:rPr>
              <a:t>backpropagated</a:t>
            </a:r>
            <a:r>
              <a:rPr sz="1800" spc="-25"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spc="-10" dirty="0">
                <a:solidFill>
                  <a:srgbClr val="292929"/>
                </a:solidFill>
                <a:latin typeface="Calibri"/>
                <a:cs typeface="Calibri"/>
              </a:rPr>
              <a:t>reconstructed</a:t>
            </a:r>
            <a:r>
              <a:rPr sz="1800" spc="-15" dirty="0">
                <a:solidFill>
                  <a:srgbClr val="292929"/>
                </a:solidFill>
                <a:latin typeface="Calibri"/>
                <a:cs typeface="Calibri"/>
              </a:rPr>
              <a:t> </a:t>
            </a:r>
            <a:r>
              <a:rPr sz="1800" dirty="0">
                <a:solidFill>
                  <a:srgbClr val="292929"/>
                </a:solidFill>
                <a:latin typeface="Calibri"/>
                <a:cs typeface="Calibri"/>
              </a:rPr>
              <a:t>image</a:t>
            </a:r>
            <a:r>
              <a:rPr sz="1800" spc="-35" dirty="0">
                <a:solidFill>
                  <a:srgbClr val="292929"/>
                </a:solidFill>
                <a:latin typeface="Calibri"/>
                <a:cs typeface="Calibri"/>
              </a:rPr>
              <a:t> </a:t>
            </a:r>
            <a:r>
              <a:rPr sz="1800" dirty="0">
                <a:solidFill>
                  <a:srgbClr val="292929"/>
                </a:solidFill>
                <a:latin typeface="Calibri"/>
                <a:cs typeface="Calibri"/>
              </a:rPr>
              <a:t>is</a:t>
            </a:r>
            <a:r>
              <a:rPr sz="1800" spc="-20" dirty="0">
                <a:solidFill>
                  <a:srgbClr val="292929"/>
                </a:solidFill>
                <a:latin typeface="Calibri"/>
                <a:cs typeface="Calibri"/>
              </a:rPr>
              <a:t> </a:t>
            </a:r>
            <a:r>
              <a:rPr sz="1800" dirty="0">
                <a:solidFill>
                  <a:srgbClr val="292929"/>
                </a:solidFill>
                <a:latin typeface="Calibri"/>
                <a:cs typeface="Calibri"/>
              </a:rPr>
              <a:t>similar</a:t>
            </a:r>
            <a:r>
              <a:rPr sz="1800" spc="-35"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input</a:t>
            </a:r>
            <a:r>
              <a:rPr sz="1800" spc="-25" dirty="0">
                <a:solidFill>
                  <a:srgbClr val="292929"/>
                </a:solidFill>
                <a:latin typeface="Calibri"/>
                <a:cs typeface="Calibri"/>
              </a:rPr>
              <a:t> </a:t>
            </a:r>
            <a:r>
              <a:rPr sz="1800" dirty="0">
                <a:solidFill>
                  <a:srgbClr val="292929"/>
                </a:solidFill>
                <a:latin typeface="Calibri"/>
                <a:cs typeface="Calibri"/>
              </a:rPr>
              <a:t>but</a:t>
            </a:r>
            <a:r>
              <a:rPr sz="1800" spc="-30" dirty="0">
                <a:solidFill>
                  <a:srgbClr val="292929"/>
                </a:solidFill>
                <a:latin typeface="Calibri"/>
                <a:cs typeface="Calibri"/>
              </a:rPr>
              <a:t> </a:t>
            </a:r>
            <a:r>
              <a:rPr sz="1800" dirty="0">
                <a:solidFill>
                  <a:srgbClr val="292929"/>
                </a:solidFill>
                <a:latin typeface="Calibri"/>
                <a:cs typeface="Calibri"/>
              </a:rPr>
              <a:t>is</a:t>
            </a:r>
            <a:r>
              <a:rPr sz="1800" spc="-40" dirty="0">
                <a:solidFill>
                  <a:srgbClr val="292929"/>
                </a:solidFill>
                <a:latin typeface="Calibri"/>
                <a:cs typeface="Calibri"/>
              </a:rPr>
              <a:t> </a:t>
            </a:r>
            <a:r>
              <a:rPr sz="1800" dirty="0">
                <a:solidFill>
                  <a:srgbClr val="292929"/>
                </a:solidFill>
                <a:latin typeface="Calibri"/>
                <a:cs typeface="Calibri"/>
              </a:rPr>
              <a:t>not</a:t>
            </a:r>
            <a:r>
              <a:rPr sz="1800" spc="-25" dirty="0">
                <a:solidFill>
                  <a:srgbClr val="292929"/>
                </a:solidFill>
                <a:latin typeface="Calibri"/>
                <a:cs typeface="Calibri"/>
              </a:rPr>
              <a:t> </a:t>
            </a:r>
            <a:r>
              <a:rPr sz="1800" dirty="0">
                <a:solidFill>
                  <a:srgbClr val="292929"/>
                </a:solidFill>
                <a:latin typeface="Calibri"/>
                <a:cs typeface="Calibri"/>
              </a:rPr>
              <a:t>actually</a:t>
            </a:r>
            <a:r>
              <a:rPr sz="1800" spc="-25" dirty="0">
                <a:solidFill>
                  <a:srgbClr val="292929"/>
                </a:solidFill>
                <a:latin typeface="Calibri"/>
                <a:cs typeface="Calibri"/>
              </a:rPr>
              <a:t> </a:t>
            </a:r>
            <a:r>
              <a:rPr sz="1800" dirty="0">
                <a:solidFill>
                  <a:srgbClr val="292929"/>
                </a:solidFill>
                <a:latin typeface="Calibri"/>
                <a:cs typeface="Calibri"/>
              </a:rPr>
              <a:t>present</a:t>
            </a:r>
            <a:r>
              <a:rPr sz="1800" spc="-40" dirty="0">
                <a:solidFill>
                  <a:srgbClr val="292929"/>
                </a:solidFill>
                <a:latin typeface="Calibri"/>
                <a:cs typeface="Calibri"/>
              </a:rPr>
              <a:t> </a:t>
            </a:r>
            <a:r>
              <a:rPr sz="1800" dirty="0">
                <a:solidFill>
                  <a:srgbClr val="292929"/>
                </a:solidFill>
                <a:latin typeface="Calibri"/>
                <a:cs typeface="Calibri"/>
              </a:rPr>
              <a:t>in</a:t>
            </a:r>
            <a:r>
              <a:rPr sz="1800" spc="-30" dirty="0">
                <a:solidFill>
                  <a:srgbClr val="292929"/>
                </a:solidFill>
                <a:latin typeface="Calibri"/>
                <a:cs typeface="Calibri"/>
              </a:rPr>
              <a:t> </a:t>
            </a:r>
            <a:r>
              <a:rPr sz="1800" dirty="0">
                <a:solidFill>
                  <a:srgbClr val="292929"/>
                </a:solidFill>
                <a:latin typeface="Calibri"/>
                <a:cs typeface="Calibri"/>
              </a:rPr>
              <a:t>the</a:t>
            </a:r>
            <a:r>
              <a:rPr sz="1800" spc="-35" dirty="0">
                <a:solidFill>
                  <a:srgbClr val="292929"/>
                </a:solidFill>
                <a:latin typeface="Calibri"/>
                <a:cs typeface="Calibri"/>
              </a:rPr>
              <a:t> </a:t>
            </a:r>
            <a:r>
              <a:rPr sz="1800" dirty="0">
                <a:solidFill>
                  <a:srgbClr val="292929"/>
                </a:solidFill>
                <a:latin typeface="Calibri"/>
                <a:cs typeface="Calibri"/>
              </a:rPr>
              <a:t>input</a:t>
            </a:r>
            <a:r>
              <a:rPr sz="1800" spc="-30" dirty="0">
                <a:solidFill>
                  <a:srgbClr val="292929"/>
                </a:solidFill>
                <a:latin typeface="Calibri"/>
                <a:cs typeface="Calibri"/>
              </a:rPr>
              <a:t> </a:t>
            </a:r>
            <a:r>
              <a:rPr sz="1800" spc="-20" dirty="0">
                <a:solidFill>
                  <a:srgbClr val="292929"/>
                </a:solidFill>
                <a:latin typeface="Calibri"/>
                <a:cs typeface="Calibri"/>
              </a:rPr>
              <a:t>set. </a:t>
            </a:r>
            <a:r>
              <a:rPr sz="1800" dirty="0">
                <a:solidFill>
                  <a:srgbClr val="292929"/>
                </a:solidFill>
                <a:latin typeface="Calibri"/>
                <a:cs typeface="Calibri"/>
              </a:rPr>
              <a:t>This</a:t>
            </a:r>
            <a:r>
              <a:rPr sz="1800" spc="-40" dirty="0">
                <a:solidFill>
                  <a:srgbClr val="292929"/>
                </a:solidFill>
                <a:latin typeface="Calibri"/>
                <a:cs typeface="Calibri"/>
              </a:rPr>
              <a:t> </a:t>
            </a:r>
            <a:r>
              <a:rPr sz="1800" dirty="0">
                <a:solidFill>
                  <a:srgbClr val="292929"/>
                </a:solidFill>
                <a:latin typeface="Calibri"/>
                <a:cs typeface="Calibri"/>
              </a:rPr>
              <a:t>is</a:t>
            </a:r>
            <a:r>
              <a:rPr sz="1800" spc="-40"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reason</a:t>
            </a:r>
            <a:r>
              <a:rPr sz="1800" spc="-40" dirty="0">
                <a:solidFill>
                  <a:srgbClr val="292929"/>
                </a:solidFill>
                <a:latin typeface="Calibri"/>
                <a:cs typeface="Calibri"/>
              </a:rPr>
              <a:t> </a:t>
            </a:r>
            <a:r>
              <a:rPr sz="1800" dirty="0">
                <a:solidFill>
                  <a:srgbClr val="292929"/>
                </a:solidFill>
                <a:latin typeface="Calibri"/>
                <a:cs typeface="Calibri"/>
              </a:rPr>
              <a:t>for</a:t>
            </a:r>
            <a:r>
              <a:rPr sz="1800" spc="-35" dirty="0">
                <a:solidFill>
                  <a:srgbClr val="292929"/>
                </a:solidFill>
                <a:latin typeface="Calibri"/>
                <a:cs typeface="Calibri"/>
              </a:rPr>
              <a:t> </a:t>
            </a:r>
            <a:r>
              <a:rPr sz="1800" dirty="0">
                <a:solidFill>
                  <a:srgbClr val="292929"/>
                </a:solidFill>
                <a:latin typeface="Calibri"/>
                <a:cs typeface="Calibri"/>
              </a:rPr>
              <a:t>variational</a:t>
            </a:r>
            <a:r>
              <a:rPr sz="1800" spc="-30" dirty="0">
                <a:solidFill>
                  <a:srgbClr val="292929"/>
                </a:solidFill>
                <a:latin typeface="Calibri"/>
                <a:cs typeface="Calibri"/>
              </a:rPr>
              <a:t> </a:t>
            </a:r>
            <a:r>
              <a:rPr sz="1800" spc="-10" dirty="0">
                <a:solidFill>
                  <a:srgbClr val="292929"/>
                </a:solidFill>
                <a:latin typeface="Calibri"/>
                <a:cs typeface="Calibri"/>
              </a:rPr>
              <a:t>autoencoders</a:t>
            </a:r>
            <a:r>
              <a:rPr sz="1800" spc="-20" dirty="0">
                <a:solidFill>
                  <a:srgbClr val="292929"/>
                </a:solidFill>
                <a:latin typeface="Calibri"/>
                <a:cs typeface="Calibri"/>
              </a:rPr>
              <a:t> </a:t>
            </a:r>
            <a:r>
              <a:rPr sz="1800" dirty="0">
                <a:solidFill>
                  <a:srgbClr val="292929"/>
                </a:solidFill>
                <a:latin typeface="Calibri"/>
                <a:cs typeface="Calibri"/>
              </a:rPr>
              <a:t>to</a:t>
            </a:r>
            <a:r>
              <a:rPr sz="1800" spc="-40" dirty="0">
                <a:solidFill>
                  <a:srgbClr val="292929"/>
                </a:solidFill>
                <a:latin typeface="Calibri"/>
                <a:cs typeface="Calibri"/>
              </a:rPr>
              <a:t> </a:t>
            </a:r>
            <a:r>
              <a:rPr sz="1800" dirty="0">
                <a:solidFill>
                  <a:srgbClr val="292929"/>
                </a:solidFill>
                <a:latin typeface="Calibri"/>
                <a:cs typeface="Calibri"/>
              </a:rPr>
              <a:t>be</a:t>
            </a:r>
            <a:r>
              <a:rPr sz="1800" spc="-30" dirty="0">
                <a:solidFill>
                  <a:srgbClr val="292929"/>
                </a:solidFill>
                <a:latin typeface="Calibri"/>
                <a:cs typeface="Calibri"/>
              </a:rPr>
              <a:t> </a:t>
            </a:r>
            <a:r>
              <a:rPr sz="1800" dirty="0">
                <a:solidFill>
                  <a:srgbClr val="292929"/>
                </a:solidFill>
                <a:latin typeface="Calibri"/>
                <a:cs typeface="Calibri"/>
              </a:rPr>
              <a:t>known</a:t>
            </a:r>
            <a:r>
              <a:rPr sz="1800" spc="-25" dirty="0">
                <a:solidFill>
                  <a:srgbClr val="292929"/>
                </a:solidFill>
                <a:latin typeface="Calibri"/>
                <a:cs typeface="Calibri"/>
              </a:rPr>
              <a:t> </a:t>
            </a:r>
            <a:r>
              <a:rPr sz="1800" dirty="0">
                <a:solidFill>
                  <a:srgbClr val="292929"/>
                </a:solidFill>
                <a:latin typeface="Calibri"/>
                <a:cs typeface="Calibri"/>
              </a:rPr>
              <a:t>as</a:t>
            </a:r>
            <a:r>
              <a:rPr sz="1800" spc="-35" dirty="0">
                <a:solidFill>
                  <a:srgbClr val="292929"/>
                </a:solidFill>
                <a:latin typeface="Calibri"/>
                <a:cs typeface="Calibri"/>
              </a:rPr>
              <a:t> </a:t>
            </a:r>
            <a:r>
              <a:rPr sz="1800" dirty="0">
                <a:solidFill>
                  <a:srgbClr val="292929"/>
                </a:solidFill>
                <a:latin typeface="Calibri"/>
                <a:cs typeface="Calibri"/>
              </a:rPr>
              <a:t>a</a:t>
            </a:r>
            <a:r>
              <a:rPr sz="1800" spc="-35" dirty="0">
                <a:solidFill>
                  <a:srgbClr val="292929"/>
                </a:solidFill>
                <a:latin typeface="Calibri"/>
                <a:cs typeface="Calibri"/>
              </a:rPr>
              <a:t> </a:t>
            </a:r>
            <a:r>
              <a:rPr sz="1800" spc="-10" dirty="0">
                <a:solidFill>
                  <a:srgbClr val="292929"/>
                </a:solidFill>
                <a:latin typeface="Calibri"/>
                <a:cs typeface="Calibri"/>
              </a:rPr>
              <a:t>generative</a:t>
            </a:r>
            <a:r>
              <a:rPr sz="1800" spc="-35" dirty="0">
                <a:solidFill>
                  <a:srgbClr val="292929"/>
                </a:solidFill>
                <a:latin typeface="Calibri"/>
                <a:cs typeface="Calibri"/>
              </a:rPr>
              <a:t> </a:t>
            </a:r>
            <a:r>
              <a:rPr sz="1800" spc="-10" dirty="0">
                <a:solidFill>
                  <a:srgbClr val="292929"/>
                </a:solidFill>
                <a:latin typeface="Calibri"/>
                <a:cs typeface="Calibri"/>
              </a:rPr>
              <a:t>network.</a:t>
            </a:r>
            <a:endParaRPr sz="1800">
              <a:latin typeface="Calibri"/>
              <a:cs typeface="Calibri"/>
            </a:endParaRPr>
          </a:p>
        </p:txBody>
      </p:sp>
      <p:sp>
        <p:nvSpPr>
          <p:cNvPr id="5" name="object 5"/>
          <p:cNvSpPr txBox="1"/>
          <p:nvPr/>
        </p:nvSpPr>
        <p:spPr>
          <a:xfrm>
            <a:off x="78739" y="2913634"/>
            <a:ext cx="2747645" cy="2220595"/>
          </a:xfrm>
          <a:prstGeom prst="rect">
            <a:avLst/>
          </a:prstGeom>
        </p:spPr>
        <p:txBody>
          <a:bodyPr vert="horz" wrap="square" lIns="0" tIns="12700" rIns="0" bIns="0" rtlCol="0">
            <a:spAutoFit/>
          </a:bodyPr>
          <a:lstStyle/>
          <a:p>
            <a:pPr marL="12700" marR="5080">
              <a:lnSpc>
                <a:spcPct val="100000"/>
              </a:lnSpc>
              <a:spcBef>
                <a:spcPts val="100"/>
              </a:spcBef>
            </a:pPr>
            <a:r>
              <a:rPr sz="1800" spc="-35" dirty="0">
                <a:solidFill>
                  <a:srgbClr val="292929"/>
                </a:solidFill>
                <a:latin typeface="Calibri"/>
                <a:cs typeface="Calibri"/>
              </a:rPr>
              <a:t>Now,</a:t>
            </a:r>
            <a:r>
              <a:rPr sz="1800" spc="-40" dirty="0">
                <a:solidFill>
                  <a:srgbClr val="292929"/>
                </a:solidFill>
                <a:latin typeface="Calibri"/>
                <a:cs typeface="Calibri"/>
              </a:rPr>
              <a:t> </a:t>
            </a:r>
            <a:r>
              <a:rPr sz="1800" dirty="0">
                <a:solidFill>
                  <a:srgbClr val="292929"/>
                </a:solidFill>
                <a:latin typeface="Calibri"/>
                <a:cs typeface="Calibri"/>
              </a:rPr>
              <a:t>to</a:t>
            </a:r>
            <a:r>
              <a:rPr sz="1800" spc="-60" dirty="0">
                <a:solidFill>
                  <a:srgbClr val="292929"/>
                </a:solidFill>
                <a:latin typeface="Calibri"/>
                <a:cs typeface="Calibri"/>
              </a:rPr>
              <a:t> </a:t>
            </a:r>
            <a:r>
              <a:rPr sz="1800" dirty="0">
                <a:solidFill>
                  <a:srgbClr val="292929"/>
                </a:solidFill>
                <a:latin typeface="Calibri"/>
                <a:cs typeface="Calibri"/>
              </a:rPr>
              <a:t>create</a:t>
            </a:r>
            <a:r>
              <a:rPr sz="1800" spc="-40" dirty="0">
                <a:solidFill>
                  <a:srgbClr val="292929"/>
                </a:solidFill>
                <a:latin typeface="Calibri"/>
                <a:cs typeface="Calibri"/>
              </a:rPr>
              <a:t> </a:t>
            </a:r>
            <a:r>
              <a:rPr sz="1800" dirty="0">
                <a:solidFill>
                  <a:srgbClr val="292929"/>
                </a:solidFill>
                <a:latin typeface="Calibri"/>
                <a:cs typeface="Calibri"/>
              </a:rPr>
              <a:t>a</a:t>
            </a:r>
            <a:r>
              <a:rPr sz="1800" spc="-55" dirty="0">
                <a:solidFill>
                  <a:srgbClr val="292929"/>
                </a:solidFill>
                <a:latin typeface="Calibri"/>
                <a:cs typeface="Calibri"/>
              </a:rPr>
              <a:t> </a:t>
            </a:r>
            <a:r>
              <a:rPr sz="1800" spc="-10" dirty="0">
                <a:solidFill>
                  <a:srgbClr val="292929"/>
                </a:solidFill>
                <a:latin typeface="Calibri"/>
                <a:cs typeface="Calibri"/>
              </a:rPr>
              <a:t>distribution </a:t>
            </a:r>
            <a:r>
              <a:rPr sz="1800" dirty="0">
                <a:solidFill>
                  <a:srgbClr val="292929"/>
                </a:solidFill>
                <a:latin typeface="Calibri"/>
                <a:cs typeface="Calibri"/>
              </a:rPr>
              <a:t>for</a:t>
            </a:r>
            <a:r>
              <a:rPr sz="1800" spc="-60" dirty="0">
                <a:solidFill>
                  <a:srgbClr val="292929"/>
                </a:solidFill>
                <a:latin typeface="Calibri"/>
                <a:cs typeface="Calibri"/>
              </a:rPr>
              <a:t> </a:t>
            </a:r>
            <a:r>
              <a:rPr sz="1800" dirty="0">
                <a:solidFill>
                  <a:srgbClr val="292929"/>
                </a:solidFill>
                <a:latin typeface="Calibri"/>
                <a:cs typeface="Calibri"/>
              </a:rPr>
              <a:t>each</a:t>
            </a:r>
            <a:r>
              <a:rPr sz="1800" spc="-50" dirty="0">
                <a:solidFill>
                  <a:srgbClr val="292929"/>
                </a:solidFill>
                <a:latin typeface="Calibri"/>
                <a:cs typeface="Calibri"/>
              </a:rPr>
              <a:t> </a:t>
            </a:r>
            <a:r>
              <a:rPr sz="1800" dirty="0">
                <a:solidFill>
                  <a:srgbClr val="292929"/>
                </a:solidFill>
                <a:latin typeface="Calibri"/>
                <a:cs typeface="Calibri"/>
              </a:rPr>
              <a:t>latent</a:t>
            </a:r>
            <a:r>
              <a:rPr sz="1800" spc="-55" dirty="0">
                <a:solidFill>
                  <a:srgbClr val="292929"/>
                </a:solidFill>
                <a:latin typeface="Calibri"/>
                <a:cs typeface="Calibri"/>
              </a:rPr>
              <a:t> </a:t>
            </a:r>
            <a:r>
              <a:rPr sz="1800" spc="-25" dirty="0">
                <a:solidFill>
                  <a:srgbClr val="292929"/>
                </a:solidFill>
                <a:latin typeface="Calibri"/>
                <a:cs typeface="Calibri"/>
              </a:rPr>
              <a:t>vector,</a:t>
            </a:r>
            <a:r>
              <a:rPr sz="1800" spc="-60" dirty="0">
                <a:solidFill>
                  <a:srgbClr val="292929"/>
                </a:solidFill>
                <a:latin typeface="Calibri"/>
                <a:cs typeface="Calibri"/>
              </a:rPr>
              <a:t> </a:t>
            </a:r>
            <a:r>
              <a:rPr sz="1800" spc="-25" dirty="0">
                <a:solidFill>
                  <a:srgbClr val="292929"/>
                </a:solidFill>
                <a:latin typeface="Calibri"/>
                <a:cs typeface="Calibri"/>
              </a:rPr>
              <a:t>the </a:t>
            </a:r>
            <a:r>
              <a:rPr sz="1800" dirty="0">
                <a:solidFill>
                  <a:srgbClr val="292929"/>
                </a:solidFill>
                <a:latin typeface="Calibri"/>
                <a:cs typeface="Calibri"/>
              </a:rPr>
              <a:t>encoder</a:t>
            </a:r>
            <a:r>
              <a:rPr sz="1800" spc="-35" dirty="0">
                <a:solidFill>
                  <a:srgbClr val="292929"/>
                </a:solidFill>
                <a:latin typeface="Calibri"/>
                <a:cs typeface="Calibri"/>
              </a:rPr>
              <a:t> </a:t>
            </a:r>
            <a:r>
              <a:rPr sz="1800" dirty="0">
                <a:solidFill>
                  <a:srgbClr val="292929"/>
                </a:solidFill>
                <a:latin typeface="Calibri"/>
                <a:cs typeface="Calibri"/>
              </a:rPr>
              <a:t>in</a:t>
            </a:r>
            <a:r>
              <a:rPr sz="1800" spc="-30" dirty="0">
                <a:solidFill>
                  <a:srgbClr val="292929"/>
                </a:solidFill>
                <a:latin typeface="Calibri"/>
                <a:cs typeface="Calibri"/>
              </a:rPr>
              <a:t> </a:t>
            </a:r>
            <a:r>
              <a:rPr sz="1800" dirty="0">
                <a:solidFill>
                  <a:srgbClr val="292929"/>
                </a:solidFill>
                <a:latin typeface="Calibri"/>
                <a:cs typeface="Calibri"/>
              </a:rPr>
              <a:t>place</a:t>
            </a:r>
            <a:r>
              <a:rPr sz="1800" spc="-15" dirty="0">
                <a:solidFill>
                  <a:srgbClr val="292929"/>
                </a:solidFill>
                <a:latin typeface="Calibri"/>
                <a:cs typeface="Calibri"/>
              </a:rPr>
              <a:t> </a:t>
            </a:r>
            <a:r>
              <a:rPr sz="1800" dirty="0">
                <a:solidFill>
                  <a:srgbClr val="292929"/>
                </a:solidFill>
                <a:latin typeface="Calibri"/>
                <a:cs typeface="Calibri"/>
              </a:rPr>
              <a:t>of</a:t>
            </a:r>
            <a:r>
              <a:rPr sz="1800" spc="-35" dirty="0">
                <a:solidFill>
                  <a:srgbClr val="292929"/>
                </a:solidFill>
                <a:latin typeface="Calibri"/>
                <a:cs typeface="Calibri"/>
              </a:rPr>
              <a:t> </a:t>
            </a:r>
            <a:r>
              <a:rPr sz="1800" spc="-10" dirty="0">
                <a:solidFill>
                  <a:srgbClr val="292929"/>
                </a:solidFill>
                <a:latin typeface="Calibri"/>
                <a:cs typeface="Calibri"/>
              </a:rPr>
              <a:t>passing </a:t>
            </a:r>
            <a:r>
              <a:rPr sz="1800" dirty="0">
                <a:solidFill>
                  <a:srgbClr val="292929"/>
                </a:solidFill>
                <a:latin typeface="Calibri"/>
                <a:cs typeface="Calibri"/>
              </a:rPr>
              <a:t>the</a:t>
            </a:r>
            <a:r>
              <a:rPr sz="1800" spc="-25" dirty="0">
                <a:solidFill>
                  <a:srgbClr val="292929"/>
                </a:solidFill>
                <a:latin typeface="Calibri"/>
                <a:cs typeface="Calibri"/>
              </a:rPr>
              <a:t> </a:t>
            </a:r>
            <a:r>
              <a:rPr sz="1800" dirty="0">
                <a:solidFill>
                  <a:srgbClr val="292929"/>
                </a:solidFill>
                <a:latin typeface="Calibri"/>
                <a:cs typeface="Calibri"/>
              </a:rPr>
              <a:t>value,</a:t>
            </a:r>
            <a:r>
              <a:rPr sz="1800" spc="-35" dirty="0">
                <a:solidFill>
                  <a:srgbClr val="292929"/>
                </a:solidFill>
                <a:latin typeface="Calibri"/>
                <a:cs typeface="Calibri"/>
              </a:rPr>
              <a:t> </a:t>
            </a:r>
            <a:r>
              <a:rPr sz="1800" dirty="0">
                <a:solidFill>
                  <a:srgbClr val="292929"/>
                </a:solidFill>
                <a:latin typeface="Calibri"/>
                <a:cs typeface="Calibri"/>
              </a:rPr>
              <a:t>pass</a:t>
            </a:r>
            <a:r>
              <a:rPr sz="1800" spc="-45" dirty="0">
                <a:solidFill>
                  <a:srgbClr val="292929"/>
                </a:solidFill>
                <a:latin typeface="Calibri"/>
                <a:cs typeface="Calibri"/>
              </a:rPr>
              <a:t> </a:t>
            </a:r>
            <a:r>
              <a:rPr sz="1800" dirty="0">
                <a:solidFill>
                  <a:srgbClr val="292929"/>
                </a:solidFill>
                <a:latin typeface="Calibri"/>
                <a:cs typeface="Calibri"/>
              </a:rPr>
              <a:t>the</a:t>
            </a:r>
            <a:r>
              <a:rPr sz="1800" spc="-20" dirty="0">
                <a:solidFill>
                  <a:srgbClr val="292929"/>
                </a:solidFill>
                <a:latin typeface="Calibri"/>
                <a:cs typeface="Calibri"/>
              </a:rPr>
              <a:t> </a:t>
            </a:r>
            <a:r>
              <a:rPr sz="1800" dirty="0">
                <a:solidFill>
                  <a:srgbClr val="292929"/>
                </a:solidFill>
                <a:latin typeface="Calibri"/>
                <a:cs typeface="Calibri"/>
              </a:rPr>
              <a:t>mean</a:t>
            </a:r>
            <a:r>
              <a:rPr sz="1800" spc="-40" dirty="0">
                <a:solidFill>
                  <a:srgbClr val="292929"/>
                </a:solidFill>
                <a:latin typeface="Calibri"/>
                <a:cs typeface="Calibri"/>
              </a:rPr>
              <a:t> </a:t>
            </a:r>
            <a:r>
              <a:rPr sz="1800" spc="-25" dirty="0">
                <a:solidFill>
                  <a:srgbClr val="292929"/>
                </a:solidFill>
                <a:latin typeface="Calibri"/>
                <a:cs typeface="Calibri"/>
              </a:rPr>
              <a:t>and </a:t>
            </a:r>
            <a:r>
              <a:rPr sz="1800" spc="-10" dirty="0">
                <a:solidFill>
                  <a:srgbClr val="292929"/>
                </a:solidFill>
                <a:latin typeface="Calibri"/>
                <a:cs typeface="Calibri"/>
              </a:rPr>
              <a:t>standard</a:t>
            </a:r>
            <a:r>
              <a:rPr sz="1800" spc="-55" dirty="0">
                <a:solidFill>
                  <a:srgbClr val="292929"/>
                </a:solidFill>
                <a:latin typeface="Calibri"/>
                <a:cs typeface="Calibri"/>
              </a:rPr>
              <a:t> </a:t>
            </a:r>
            <a:r>
              <a:rPr sz="1800" dirty="0">
                <a:solidFill>
                  <a:srgbClr val="292929"/>
                </a:solidFill>
                <a:latin typeface="Calibri"/>
                <a:cs typeface="Calibri"/>
              </a:rPr>
              <a:t>deviation</a:t>
            </a:r>
            <a:r>
              <a:rPr sz="1800" spc="-30" dirty="0">
                <a:solidFill>
                  <a:srgbClr val="292929"/>
                </a:solidFill>
                <a:latin typeface="Calibri"/>
                <a:cs typeface="Calibri"/>
              </a:rPr>
              <a:t> </a:t>
            </a:r>
            <a:r>
              <a:rPr sz="1800" dirty="0">
                <a:solidFill>
                  <a:srgbClr val="292929"/>
                </a:solidFill>
                <a:latin typeface="Calibri"/>
                <a:cs typeface="Calibri"/>
              </a:rPr>
              <a:t>of</a:t>
            </a:r>
            <a:r>
              <a:rPr sz="1800" spc="-50" dirty="0">
                <a:solidFill>
                  <a:srgbClr val="292929"/>
                </a:solidFill>
                <a:latin typeface="Calibri"/>
                <a:cs typeface="Calibri"/>
              </a:rPr>
              <a:t> </a:t>
            </a:r>
            <a:r>
              <a:rPr sz="1800" spc="-25" dirty="0">
                <a:solidFill>
                  <a:srgbClr val="292929"/>
                </a:solidFill>
                <a:latin typeface="Calibri"/>
                <a:cs typeface="Calibri"/>
              </a:rPr>
              <a:t>the </a:t>
            </a:r>
            <a:r>
              <a:rPr sz="1800" dirty="0">
                <a:solidFill>
                  <a:srgbClr val="292929"/>
                </a:solidFill>
                <a:latin typeface="Calibri"/>
                <a:cs typeface="Calibri"/>
              </a:rPr>
              <a:t>distribution,</a:t>
            </a:r>
            <a:r>
              <a:rPr sz="1800" spc="-25" dirty="0">
                <a:solidFill>
                  <a:srgbClr val="292929"/>
                </a:solidFill>
                <a:latin typeface="Calibri"/>
                <a:cs typeface="Calibri"/>
              </a:rPr>
              <a:t> </a:t>
            </a:r>
            <a:r>
              <a:rPr sz="1800" dirty="0">
                <a:solidFill>
                  <a:srgbClr val="292929"/>
                </a:solidFill>
                <a:latin typeface="Calibri"/>
                <a:cs typeface="Calibri"/>
              </a:rPr>
              <a:t>which</a:t>
            </a:r>
            <a:r>
              <a:rPr sz="1800" spc="-30" dirty="0">
                <a:solidFill>
                  <a:srgbClr val="292929"/>
                </a:solidFill>
                <a:latin typeface="Calibri"/>
                <a:cs typeface="Calibri"/>
              </a:rPr>
              <a:t> </a:t>
            </a:r>
            <a:r>
              <a:rPr sz="1800" dirty="0">
                <a:solidFill>
                  <a:srgbClr val="292929"/>
                </a:solidFill>
                <a:latin typeface="Calibri"/>
                <a:cs typeface="Calibri"/>
              </a:rPr>
              <a:t>is</a:t>
            </a:r>
            <a:r>
              <a:rPr sz="1800" spc="-50" dirty="0">
                <a:solidFill>
                  <a:srgbClr val="292929"/>
                </a:solidFill>
                <a:latin typeface="Calibri"/>
                <a:cs typeface="Calibri"/>
              </a:rPr>
              <a:t> </a:t>
            </a:r>
            <a:r>
              <a:rPr sz="1800" dirty="0">
                <a:solidFill>
                  <a:srgbClr val="292929"/>
                </a:solidFill>
                <a:latin typeface="Calibri"/>
                <a:cs typeface="Calibri"/>
              </a:rPr>
              <a:t>used</a:t>
            </a:r>
            <a:r>
              <a:rPr sz="1800" spc="-55" dirty="0">
                <a:solidFill>
                  <a:srgbClr val="292929"/>
                </a:solidFill>
                <a:latin typeface="Calibri"/>
                <a:cs typeface="Calibri"/>
              </a:rPr>
              <a:t> </a:t>
            </a:r>
            <a:r>
              <a:rPr sz="1800" spc="-25" dirty="0">
                <a:solidFill>
                  <a:srgbClr val="292929"/>
                </a:solidFill>
                <a:latin typeface="Calibri"/>
                <a:cs typeface="Calibri"/>
              </a:rPr>
              <a:t>to </a:t>
            </a:r>
            <a:r>
              <a:rPr sz="1800" dirty="0">
                <a:solidFill>
                  <a:srgbClr val="292929"/>
                </a:solidFill>
                <a:latin typeface="Calibri"/>
                <a:cs typeface="Calibri"/>
              </a:rPr>
              <a:t>create</a:t>
            </a:r>
            <a:r>
              <a:rPr sz="1800" spc="-45" dirty="0">
                <a:solidFill>
                  <a:srgbClr val="292929"/>
                </a:solidFill>
                <a:latin typeface="Calibri"/>
                <a:cs typeface="Calibri"/>
              </a:rPr>
              <a:t> </a:t>
            </a:r>
            <a:r>
              <a:rPr sz="1800" spc="-10" dirty="0">
                <a:solidFill>
                  <a:srgbClr val="292929"/>
                </a:solidFill>
                <a:latin typeface="Calibri"/>
                <a:cs typeface="Calibri"/>
              </a:rPr>
              <a:t>construct</a:t>
            </a:r>
            <a:r>
              <a:rPr sz="1800" spc="-45" dirty="0">
                <a:solidFill>
                  <a:srgbClr val="292929"/>
                </a:solidFill>
                <a:latin typeface="Calibri"/>
                <a:cs typeface="Calibri"/>
              </a:rPr>
              <a:t> </a:t>
            </a:r>
            <a:r>
              <a:rPr sz="1800" dirty="0">
                <a:solidFill>
                  <a:srgbClr val="292929"/>
                </a:solidFill>
                <a:latin typeface="Calibri"/>
                <a:cs typeface="Calibri"/>
              </a:rPr>
              <a:t>the</a:t>
            </a:r>
            <a:r>
              <a:rPr sz="1800" spc="-45" dirty="0">
                <a:solidFill>
                  <a:srgbClr val="292929"/>
                </a:solidFill>
                <a:latin typeface="Calibri"/>
                <a:cs typeface="Calibri"/>
              </a:rPr>
              <a:t> </a:t>
            </a:r>
            <a:r>
              <a:rPr sz="1800" spc="-10" dirty="0">
                <a:solidFill>
                  <a:srgbClr val="292929"/>
                </a:solidFill>
                <a:latin typeface="Calibri"/>
                <a:cs typeface="Calibri"/>
              </a:rPr>
              <a:t>normal distribution.</a:t>
            </a:r>
            <a:endParaRPr sz="18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70320"/>
            <a:ext cx="12192000" cy="487680"/>
            <a:chOff x="0" y="6370320"/>
            <a:chExt cx="12192000" cy="487680"/>
          </a:xfrm>
        </p:grpSpPr>
        <p:pic>
          <p:nvPicPr>
            <p:cNvPr id="3" name="object 3"/>
            <p:cNvPicPr/>
            <p:nvPr/>
          </p:nvPicPr>
          <p:blipFill>
            <a:blip r:embed="rId2" cstate="print"/>
            <a:stretch>
              <a:fillRect/>
            </a:stretch>
          </p:blipFill>
          <p:spPr>
            <a:xfrm>
              <a:off x="0" y="6370320"/>
              <a:ext cx="12192000" cy="487677"/>
            </a:xfrm>
            <a:prstGeom prst="rect">
              <a:avLst/>
            </a:prstGeom>
          </p:spPr>
        </p:pic>
        <p:pic>
          <p:nvPicPr>
            <p:cNvPr id="4" name="object 4"/>
            <p:cNvPicPr/>
            <p:nvPr/>
          </p:nvPicPr>
          <p:blipFill>
            <a:blip r:embed="rId3" cstate="print"/>
            <a:stretch>
              <a:fillRect/>
            </a:stretch>
          </p:blipFill>
          <p:spPr>
            <a:xfrm>
              <a:off x="126492" y="6490714"/>
              <a:ext cx="1781556" cy="313944"/>
            </a:xfrm>
            <a:prstGeom prst="rect">
              <a:avLst/>
            </a:prstGeom>
          </p:spPr>
        </p:pic>
      </p:grpSp>
      <p:sp>
        <p:nvSpPr>
          <p:cNvPr id="5" name="object 5"/>
          <p:cNvSpPr txBox="1">
            <a:spLocks noGrp="1"/>
          </p:cNvSpPr>
          <p:nvPr>
            <p:ph type="title"/>
          </p:nvPr>
        </p:nvSpPr>
        <p:spPr>
          <a:xfrm>
            <a:off x="910844" y="3541598"/>
            <a:ext cx="3757295" cy="940435"/>
          </a:xfrm>
          <a:prstGeom prst="rect">
            <a:avLst/>
          </a:prstGeom>
        </p:spPr>
        <p:txBody>
          <a:bodyPr vert="horz" wrap="square" lIns="0" tIns="12700" rIns="0" bIns="0" rtlCol="0">
            <a:spAutoFit/>
          </a:bodyPr>
          <a:lstStyle/>
          <a:p>
            <a:pPr marL="12700">
              <a:lnSpc>
                <a:spcPct val="100000"/>
              </a:lnSpc>
              <a:spcBef>
                <a:spcPts val="100"/>
              </a:spcBef>
            </a:pPr>
            <a:r>
              <a:rPr sz="6000" b="0" spc="-10" dirty="0">
                <a:solidFill>
                  <a:srgbClr val="000000"/>
                </a:solidFill>
                <a:latin typeface="Calibri Light"/>
                <a:cs typeface="Calibri Light"/>
              </a:rPr>
              <a:t>Applications</a:t>
            </a:r>
            <a:endParaRPr sz="6000">
              <a:latin typeface="Calibri Light"/>
              <a:cs typeface="Calibri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0077" y="63500"/>
            <a:ext cx="10327640" cy="953135"/>
          </a:xfrm>
          <a:prstGeom prst="rect">
            <a:avLst/>
          </a:prstGeom>
        </p:spPr>
        <p:txBody>
          <a:bodyPr vert="horz" wrap="square" lIns="0" tIns="67945" rIns="0" bIns="0" rtlCol="0">
            <a:spAutoFit/>
          </a:bodyPr>
          <a:lstStyle/>
          <a:p>
            <a:pPr marL="12700" marR="5080">
              <a:lnSpc>
                <a:spcPts val="3460"/>
              </a:lnSpc>
              <a:spcBef>
                <a:spcPts val="535"/>
              </a:spcBef>
            </a:pPr>
            <a:r>
              <a:rPr b="0" dirty="0">
                <a:solidFill>
                  <a:srgbClr val="212121"/>
                </a:solidFill>
                <a:latin typeface="Tahoma"/>
                <a:cs typeface="Tahoma"/>
              </a:rPr>
              <a:t>Autoencoder</a:t>
            </a:r>
            <a:r>
              <a:rPr b="0" spc="-65" dirty="0">
                <a:solidFill>
                  <a:srgbClr val="212121"/>
                </a:solidFill>
                <a:latin typeface="Tahoma"/>
                <a:cs typeface="Tahoma"/>
              </a:rPr>
              <a:t> </a:t>
            </a:r>
            <a:r>
              <a:rPr b="0" spc="50" dirty="0">
                <a:solidFill>
                  <a:srgbClr val="212121"/>
                </a:solidFill>
                <a:latin typeface="Tahoma"/>
                <a:cs typeface="Tahoma"/>
              </a:rPr>
              <a:t>for</a:t>
            </a:r>
            <a:r>
              <a:rPr b="0" spc="-25" dirty="0">
                <a:solidFill>
                  <a:srgbClr val="212121"/>
                </a:solidFill>
                <a:latin typeface="Tahoma"/>
                <a:cs typeface="Tahoma"/>
              </a:rPr>
              <a:t> </a:t>
            </a:r>
            <a:r>
              <a:rPr b="0" spc="-135" dirty="0">
                <a:solidFill>
                  <a:srgbClr val="212121"/>
                </a:solidFill>
                <a:latin typeface="Tahoma"/>
                <a:cs typeface="Tahoma"/>
              </a:rPr>
              <a:t>Image</a:t>
            </a:r>
            <a:r>
              <a:rPr b="0" spc="-40" dirty="0">
                <a:solidFill>
                  <a:srgbClr val="212121"/>
                </a:solidFill>
                <a:latin typeface="Tahoma"/>
                <a:cs typeface="Tahoma"/>
              </a:rPr>
              <a:t> </a:t>
            </a:r>
            <a:r>
              <a:rPr b="0" dirty="0">
                <a:solidFill>
                  <a:srgbClr val="212121"/>
                </a:solidFill>
                <a:latin typeface="Tahoma"/>
                <a:cs typeface="Tahoma"/>
              </a:rPr>
              <a:t>File</a:t>
            </a:r>
            <a:r>
              <a:rPr b="0" spc="-20" dirty="0">
                <a:solidFill>
                  <a:srgbClr val="212121"/>
                </a:solidFill>
                <a:latin typeface="Tahoma"/>
                <a:cs typeface="Tahoma"/>
              </a:rPr>
              <a:t> </a:t>
            </a:r>
            <a:r>
              <a:rPr b="0" dirty="0">
                <a:solidFill>
                  <a:srgbClr val="212121"/>
                </a:solidFill>
                <a:latin typeface="Tahoma"/>
                <a:cs typeface="Tahoma"/>
              </a:rPr>
              <a:t>Compression</a:t>
            </a:r>
            <a:r>
              <a:rPr b="0" spc="-60" dirty="0">
                <a:solidFill>
                  <a:srgbClr val="212121"/>
                </a:solidFill>
                <a:latin typeface="Tahoma"/>
                <a:cs typeface="Tahoma"/>
              </a:rPr>
              <a:t> </a:t>
            </a:r>
            <a:r>
              <a:rPr b="0" spc="-380" dirty="0">
                <a:solidFill>
                  <a:srgbClr val="212121"/>
                </a:solidFill>
                <a:latin typeface="Tahoma"/>
                <a:cs typeface="Tahoma"/>
              </a:rPr>
              <a:t>(</a:t>
            </a:r>
            <a:r>
              <a:rPr b="0" spc="-20" dirty="0">
                <a:solidFill>
                  <a:srgbClr val="212121"/>
                </a:solidFill>
                <a:latin typeface="Tahoma"/>
                <a:cs typeface="Tahoma"/>
              </a:rPr>
              <a:t> </a:t>
            </a:r>
            <a:r>
              <a:rPr b="0" spc="-10" dirty="0">
                <a:solidFill>
                  <a:srgbClr val="212121"/>
                </a:solidFill>
                <a:latin typeface="Tahoma"/>
                <a:cs typeface="Tahoma"/>
              </a:rPr>
              <a:t>Dimensionality Reduction)</a:t>
            </a:r>
          </a:p>
        </p:txBody>
      </p:sp>
      <p:sp>
        <p:nvSpPr>
          <p:cNvPr id="3" name="object 3"/>
          <p:cNvSpPr txBox="1"/>
          <p:nvPr/>
        </p:nvSpPr>
        <p:spPr>
          <a:xfrm>
            <a:off x="1106220" y="1347342"/>
            <a:ext cx="10193020" cy="1123315"/>
          </a:xfrm>
          <a:prstGeom prst="rect">
            <a:avLst/>
          </a:prstGeom>
        </p:spPr>
        <p:txBody>
          <a:bodyPr vert="horz" wrap="square" lIns="0" tIns="12700" rIns="0" bIns="0" rtlCol="0">
            <a:spAutoFit/>
          </a:bodyPr>
          <a:lstStyle/>
          <a:p>
            <a:pPr marL="12700" marR="5080" algn="just">
              <a:lnSpc>
                <a:spcPct val="100000"/>
              </a:lnSpc>
              <a:spcBef>
                <a:spcPts val="100"/>
              </a:spcBef>
            </a:pPr>
            <a:r>
              <a:rPr sz="1800" dirty="0">
                <a:solidFill>
                  <a:srgbClr val="212121"/>
                </a:solidFill>
                <a:latin typeface="Tahoma"/>
                <a:cs typeface="Tahoma"/>
              </a:rPr>
              <a:t>Using</a:t>
            </a:r>
            <a:r>
              <a:rPr sz="1800" spc="35" dirty="0">
                <a:solidFill>
                  <a:srgbClr val="212121"/>
                </a:solidFill>
                <a:latin typeface="Tahoma"/>
                <a:cs typeface="Tahoma"/>
              </a:rPr>
              <a:t> </a:t>
            </a:r>
            <a:r>
              <a:rPr sz="1800" dirty="0">
                <a:solidFill>
                  <a:srgbClr val="212121"/>
                </a:solidFill>
                <a:latin typeface="Tahoma"/>
                <a:cs typeface="Tahoma"/>
              </a:rPr>
              <a:t>Autoencoders</a:t>
            </a:r>
            <a:r>
              <a:rPr sz="1800" spc="50" dirty="0">
                <a:solidFill>
                  <a:srgbClr val="212121"/>
                </a:solidFill>
                <a:latin typeface="Tahoma"/>
                <a:cs typeface="Tahoma"/>
              </a:rPr>
              <a:t> </a:t>
            </a:r>
            <a:r>
              <a:rPr sz="1800" dirty="0">
                <a:solidFill>
                  <a:srgbClr val="212121"/>
                </a:solidFill>
                <a:latin typeface="Tahoma"/>
                <a:cs typeface="Tahoma"/>
              </a:rPr>
              <a:t>we</a:t>
            </a:r>
            <a:r>
              <a:rPr sz="1800" spc="40" dirty="0">
                <a:solidFill>
                  <a:srgbClr val="212121"/>
                </a:solidFill>
                <a:latin typeface="Tahoma"/>
                <a:cs typeface="Tahoma"/>
              </a:rPr>
              <a:t> </a:t>
            </a:r>
            <a:r>
              <a:rPr sz="1800" dirty="0">
                <a:solidFill>
                  <a:srgbClr val="212121"/>
                </a:solidFill>
                <a:latin typeface="Tahoma"/>
                <a:cs typeface="Tahoma"/>
              </a:rPr>
              <a:t>can</a:t>
            </a:r>
            <a:r>
              <a:rPr sz="1800" spc="50" dirty="0">
                <a:solidFill>
                  <a:srgbClr val="212121"/>
                </a:solidFill>
                <a:latin typeface="Tahoma"/>
                <a:cs typeface="Tahoma"/>
              </a:rPr>
              <a:t> </a:t>
            </a:r>
            <a:r>
              <a:rPr sz="1800" dirty="0">
                <a:solidFill>
                  <a:srgbClr val="212121"/>
                </a:solidFill>
                <a:latin typeface="Tahoma"/>
                <a:cs typeface="Tahoma"/>
              </a:rPr>
              <a:t>compress</a:t>
            </a:r>
            <a:r>
              <a:rPr sz="1800" spc="45" dirty="0">
                <a:solidFill>
                  <a:srgbClr val="212121"/>
                </a:solidFill>
                <a:latin typeface="Tahoma"/>
                <a:cs typeface="Tahoma"/>
              </a:rPr>
              <a:t> </a:t>
            </a:r>
            <a:r>
              <a:rPr sz="1800" dirty="0">
                <a:solidFill>
                  <a:srgbClr val="212121"/>
                </a:solidFill>
                <a:latin typeface="Tahoma"/>
                <a:cs typeface="Tahoma"/>
              </a:rPr>
              <a:t>image</a:t>
            </a:r>
            <a:r>
              <a:rPr sz="1800" spc="40" dirty="0">
                <a:solidFill>
                  <a:srgbClr val="212121"/>
                </a:solidFill>
                <a:latin typeface="Tahoma"/>
                <a:cs typeface="Tahoma"/>
              </a:rPr>
              <a:t> </a:t>
            </a:r>
            <a:r>
              <a:rPr sz="1800" dirty="0">
                <a:solidFill>
                  <a:srgbClr val="212121"/>
                </a:solidFill>
                <a:latin typeface="Tahoma"/>
                <a:cs typeface="Tahoma"/>
              </a:rPr>
              <a:t>files</a:t>
            </a:r>
            <a:r>
              <a:rPr sz="1800" spc="45" dirty="0">
                <a:solidFill>
                  <a:srgbClr val="212121"/>
                </a:solidFill>
                <a:latin typeface="Tahoma"/>
                <a:cs typeface="Tahoma"/>
              </a:rPr>
              <a:t> </a:t>
            </a:r>
            <a:r>
              <a:rPr sz="1800" dirty="0">
                <a:solidFill>
                  <a:srgbClr val="212121"/>
                </a:solidFill>
                <a:latin typeface="Tahoma"/>
                <a:cs typeface="Tahoma"/>
              </a:rPr>
              <a:t>which</a:t>
            </a:r>
            <a:r>
              <a:rPr sz="1800" spc="45" dirty="0">
                <a:solidFill>
                  <a:srgbClr val="212121"/>
                </a:solidFill>
                <a:latin typeface="Tahoma"/>
                <a:cs typeface="Tahoma"/>
              </a:rPr>
              <a:t> </a:t>
            </a:r>
            <a:r>
              <a:rPr sz="1800" dirty="0">
                <a:solidFill>
                  <a:srgbClr val="212121"/>
                </a:solidFill>
                <a:latin typeface="Tahoma"/>
                <a:cs typeface="Tahoma"/>
              </a:rPr>
              <a:t>are</a:t>
            </a:r>
            <a:r>
              <a:rPr sz="1800" spc="35" dirty="0">
                <a:solidFill>
                  <a:srgbClr val="212121"/>
                </a:solidFill>
                <a:latin typeface="Tahoma"/>
                <a:cs typeface="Tahoma"/>
              </a:rPr>
              <a:t> </a:t>
            </a:r>
            <a:r>
              <a:rPr sz="1800" dirty="0">
                <a:solidFill>
                  <a:srgbClr val="212121"/>
                </a:solidFill>
                <a:latin typeface="Tahoma"/>
                <a:cs typeface="Tahoma"/>
              </a:rPr>
              <a:t>great</a:t>
            </a:r>
            <a:r>
              <a:rPr sz="1800" spc="45" dirty="0">
                <a:solidFill>
                  <a:srgbClr val="212121"/>
                </a:solidFill>
                <a:latin typeface="Tahoma"/>
                <a:cs typeface="Tahoma"/>
              </a:rPr>
              <a:t> </a:t>
            </a:r>
            <a:r>
              <a:rPr sz="1800" dirty="0">
                <a:solidFill>
                  <a:srgbClr val="212121"/>
                </a:solidFill>
                <a:latin typeface="Tahoma"/>
                <a:cs typeface="Tahoma"/>
              </a:rPr>
              <a:t>for</a:t>
            </a:r>
            <a:r>
              <a:rPr sz="1800" spc="40" dirty="0">
                <a:solidFill>
                  <a:srgbClr val="212121"/>
                </a:solidFill>
                <a:latin typeface="Tahoma"/>
                <a:cs typeface="Tahoma"/>
              </a:rPr>
              <a:t> </a:t>
            </a:r>
            <a:r>
              <a:rPr sz="1800" dirty="0">
                <a:solidFill>
                  <a:srgbClr val="212121"/>
                </a:solidFill>
                <a:latin typeface="Tahoma"/>
                <a:cs typeface="Tahoma"/>
              </a:rPr>
              <a:t>sharing</a:t>
            </a:r>
            <a:r>
              <a:rPr sz="1800" spc="45" dirty="0">
                <a:solidFill>
                  <a:srgbClr val="212121"/>
                </a:solidFill>
                <a:latin typeface="Tahoma"/>
                <a:cs typeface="Tahoma"/>
              </a:rPr>
              <a:t> </a:t>
            </a:r>
            <a:r>
              <a:rPr sz="1800" dirty="0">
                <a:solidFill>
                  <a:srgbClr val="212121"/>
                </a:solidFill>
                <a:latin typeface="Tahoma"/>
                <a:cs typeface="Tahoma"/>
              </a:rPr>
              <a:t>and</a:t>
            </a:r>
            <a:r>
              <a:rPr sz="1800" spc="45" dirty="0">
                <a:solidFill>
                  <a:srgbClr val="212121"/>
                </a:solidFill>
                <a:latin typeface="Tahoma"/>
                <a:cs typeface="Tahoma"/>
              </a:rPr>
              <a:t> </a:t>
            </a:r>
            <a:r>
              <a:rPr sz="1800" dirty="0">
                <a:solidFill>
                  <a:srgbClr val="212121"/>
                </a:solidFill>
                <a:latin typeface="Tahoma"/>
                <a:cs typeface="Tahoma"/>
              </a:rPr>
              <a:t>saving</a:t>
            </a:r>
            <a:r>
              <a:rPr sz="1800" spc="45" dirty="0">
                <a:solidFill>
                  <a:srgbClr val="212121"/>
                </a:solidFill>
                <a:latin typeface="Tahoma"/>
                <a:cs typeface="Tahoma"/>
              </a:rPr>
              <a:t> </a:t>
            </a:r>
            <a:r>
              <a:rPr sz="1800" dirty="0">
                <a:solidFill>
                  <a:srgbClr val="212121"/>
                </a:solidFill>
                <a:latin typeface="Tahoma"/>
                <a:cs typeface="Tahoma"/>
              </a:rPr>
              <a:t>in</a:t>
            </a:r>
            <a:r>
              <a:rPr sz="1800" spc="45" dirty="0">
                <a:solidFill>
                  <a:srgbClr val="212121"/>
                </a:solidFill>
                <a:latin typeface="Tahoma"/>
                <a:cs typeface="Tahoma"/>
              </a:rPr>
              <a:t> </a:t>
            </a:r>
            <a:r>
              <a:rPr sz="1800" dirty="0">
                <a:solidFill>
                  <a:srgbClr val="212121"/>
                </a:solidFill>
                <a:latin typeface="Tahoma"/>
                <a:cs typeface="Tahoma"/>
              </a:rPr>
              <a:t>a</a:t>
            </a:r>
            <a:r>
              <a:rPr sz="1800" spc="45" dirty="0">
                <a:solidFill>
                  <a:srgbClr val="212121"/>
                </a:solidFill>
                <a:latin typeface="Tahoma"/>
                <a:cs typeface="Tahoma"/>
              </a:rPr>
              <a:t> </a:t>
            </a:r>
            <a:r>
              <a:rPr sz="1800" spc="-10" dirty="0">
                <a:solidFill>
                  <a:srgbClr val="212121"/>
                </a:solidFill>
                <a:latin typeface="Tahoma"/>
                <a:cs typeface="Tahoma"/>
              </a:rPr>
              <a:t>faster </a:t>
            </a:r>
            <a:r>
              <a:rPr sz="1800" dirty="0">
                <a:solidFill>
                  <a:srgbClr val="212121"/>
                </a:solidFill>
                <a:latin typeface="Tahoma"/>
                <a:cs typeface="Tahoma"/>
              </a:rPr>
              <a:t>and</a:t>
            </a:r>
            <a:r>
              <a:rPr sz="1800" spc="60" dirty="0">
                <a:solidFill>
                  <a:srgbClr val="212121"/>
                </a:solidFill>
                <a:latin typeface="Tahoma"/>
                <a:cs typeface="Tahoma"/>
              </a:rPr>
              <a:t> </a:t>
            </a:r>
            <a:r>
              <a:rPr sz="1800" dirty="0">
                <a:solidFill>
                  <a:srgbClr val="212121"/>
                </a:solidFill>
                <a:latin typeface="Tahoma"/>
                <a:cs typeface="Tahoma"/>
              </a:rPr>
              <a:t>more</a:t>
            </a:r>
            <a:r>
              <a:rPr sz="1800" spc="60" dirty="0">
                <a:solidFill>
                  <a:srgbClr val="212121"/>
                </a:solidFill>
                <a:latin typeface="Tahoma"/>
                <a:cs typeface="Tahoma"/>
              </a:rPr>
              <a:t> </a:t>
            </a:r>
            <a:r>
              <a:rPr sz="1800" dirty="0">
                <a:solidFill>
                  <a:srgbClr val="212121"/>
                </a:solidFill>
                <a:latin typeface="Tahoma"/>
                <a:cs typeface="Tahoma"/>
              </a:rPr>
              <a:t>memory</a:t>
            </a:r>
            <a:r>
              <a:rPr sz="1800" spc="60" dirty="0">
                <a:solidFill>
                  <a:srgbClr val="212121"/>
                </a:solidFill>
                <a:latin typeface="Tahoma"/>
                <a:cs typeface="Tahoma"/>
              </a:rPr>
              <a:t> </a:t>
            </a:r>
            <a:r>
              <a:rPr sz="1800" dirty="0">
                <a:solidFill>
                  <a:srgbClr val="212121"/>
                </a:solidFill>
                <a:latin typeface="Tahoma"/>
                <a:cs typeface="Tahoma"/>
              </a:rPr>
              <a:t>efficient</a:t>
            </a:r>
            <a:r>
              <a:rPr sz="1800" spc="60" dirty="0">
                <a:solidFill>
                  <a:srgbClr val="212121"/>
                </a:solidFill>
                <a:latin typeface="Tahoma"/>
                <a:cs typeface="Tahoma"/>
              </a:rPr>
              <a:t> </a:t>
            </a:r>
            <a:r>
              <a:rPr sz="1800" dirty="0">
                <a:solidFill>
                  <a:srgbClr val="212121"/>
                </a:solidFill>
                <a:latin typeface="Tahoma"/>
                <a:cs typeface="Tahoma"/>
              </a:rPr>
              <a:t>way.</a:t>
            </a:r>
            <a:r>
              <a:rPr sz="1800" spc="55" dirty="0">
                <a:solidFill>
                  <a:srgbClr val="212121"/>
                </a:solidFill>
                <a:latin typeface="Tahoma"/>
                <a:cs typeface="Tahoma"/>
              </a:rPr>
              <a:t> </a:t>
            </a:r>
            <a:r>
              <a:rPr sz="1800" dirty="0">
                <a:solidFill>
                  <a:srgbClr val="212121"/>
                </a:solidFill>
                <a:latin typeface="Tahoma"/>
                <a:cs typeface="Tahoma"/>
              </a:rPr>
              <a:t>These</a:t>
            </a:r>
            <a:r>
              <a:rPr sz="1800" spc="55" dirty="0">
                <a:solidFill>
                  <a:srgbClr val="212121"/>
                </a:solidFill>
                <a:latin typeface="Tahoma"/>
                <a:cs typeface="Tahoma"/>
              </a:rPr>
              <a:t> </a:t>
            </a:r>
            <a:r>
              <a:rPr sz="1800" dirty="0">
                <a:solidFill>
                  <a:srgbClr val="212121"/>
                </a:solidFill>
                <a:latin typeface="Tahoma"/>
                <a:cs typeface="Tahoma"/>
              </a:rPr>
              <a:t>compressed</a:t>
            </a:r>
            <a:r>
              <a:rPr sz="1800" spc="60" dirty="0">
                <a:solidFill>
                  <a:srgbClr val="212121"/>
                </a:solidFill>
                <a:latin typeface="Tahoma"/>
                <a:cs typeface="Tahoma"/>
              </a:rPr>
              <a:t> </a:t>
            </a:r>
            <a:r>
              <a:rPr sz="1800" dirty="0">
                <a:solidFill>
                  <a:srgbClr val="212121"/>
                </a:solidFill>
                <a:latin typeface="Tahoma"/>
                <a:cs typeface="Tahoma"/>
              </a:rPr>
              <a:t>images</a:t>
            </a:r>
            <a:r>
              <a:rPr sz="1800" spc="60" dirty="0">
                <a:solidFill>
                  <a:srgbClr val="212121"/>
                </a:solidFill>
                <a:latin typeface="Tahoma"/>
                <a:cs typeface="Tahoma"/>
              </a:rPr>
              <a:t> </a:t>
            </a:r>
            <a:r>
              <a:rPr sz="1800" dirty="0">
                <a:solidFill>
                  <a:srgbClr val="212121"/>
                </a:solidFill>
                <a:latin typeface="Tahoma"/>
                <a:cs typeface="Tahoma"/>
              </a:rPr>
              <a:t>contain</a:t>
            </a:r>
            <a:r>
              <a:rPr sz="1800" spc="65" dirty="0">
                <a:solidFill>
                  <a:srgbClr val="212121"/>
                </a:solidFill>
                <a:latin typeface="Tahoma"/>
                <a:cs typeface="Tahoma"/>
              </a:rPr>
              <a:t> </a:t>
            </a:r>
            <a:r>
              <a:rPr sz="1800" dirty="0">
                <a:solidFill>
                  <a:srgbClr val="212121"/>
                </a:solidFill>
                <a:latin typeface="Tahoma"/>
                <a:cs typeface="Tahoma"/>
              </a:rPr>
              <a:t>the</a:t>
            </a:r>
            <a:r>
              <a:rPr sz="1800" spc="60" dirty="0">
                <a:solidFill>
                  <a:srgbClr val="212121"/>
                </a:solidFill>
                <a:latin typeface="Tahoma"/>
                <a:cs typeface="Tahoma"/>
              </a:rPr>
              <a:t> </a:t>
            </a:r>
            <a:r>
              <a:rPr sz="1800" dirty="0">
                <a:solidFill>
                  <a:srgbClr val="212121"/>
                </a:solidFill>
                <a:latin typeface="Tahoma"/>
                <a:cs typeface="Tahoma"/>
              </a:rPr>
              <a:t>key</a:t>
            </a:r>
            <a:r>
              <a:rPr sz="1800" spc="55" dirty="0">
                <a:solidFill>
                  <a:srgbClr val="212121"/>
                </a:solidFill>
                <a:latin typeface="Tahoma"/>
                <a:cs typeface="Tahoma"/>
              </a:rPr>
              <a:t> </a:t>
            </a:r>
            <a:r>
              <a:rPr sz="1800" dirty="0">
                <a:solidFill>
                  <a:srgbClr val="212121"/>
                </a:solidFill>
                <a:latin typeface="Tahoma"/>
                <a:cs typeface="Tahoma"/>
              </a:rPr>
              <a:t>information</a:t>
            </a:r>
            <a:r>
              <a:rPr sz="1800" spc="60" dirty="0">
                <a:solidFill>
                  <a:srgbClr val="212121"/>
                </a:solidFill>
                <a:latin typeface="Tahoma"/>
                <a:cs typeface="Tahoma"/>
              </a:rPr>
              <a:t> </a:t>
            </a:r>
            <a:r>
              <a:rPr sz="1800" dirty="0">
                <a:solidFill>
                  <a:srgbClr val="212121"/>
                </a:solidFill>
                <a:latin typeface="Tahoma"/>
                <a:cs typeface="Tahoma"/>
              </a:rPr>
              <a:t>same</a:t>
            </a:r>
            <a:r>
              <a:rPr sz="1800" spc="60" dirty="0">
                <a:solidFill>
                  <a:srgbClr val="212121"/>
                </a:solidFill>
                <a:latin typeface="Tahoma"/>
                <a:cs typeface="Tahoma"/>
              </a:rPr>
              <a:t> </a:t>
            </a:r>
            <a:r>
              <a:rPr sz="1800" dirty="0">
                <a:solidFill>
                  <a:srgbClr val="212121"/>
                </a:solidFill>
                <a:latin typeface="Tahoma"/>
                <a:cs typeface="Tahoma"/>
              </a:rPr>
              <a:t>as</a:t>
            </a:r>
            <a:r>
              <a:rPr sz="1800" spc="55" dirty="0">
                <a:solidFill>
                  <a:srgbClr val="212121"/>
                </a:solidFill>
                <a:latin typeface="Tahoma"/>
                <a:cs typeface="Tahoma"/>
              </a:rPr>
              <a:t> </a:t>
            </a:r>
            <a:r>
              <a:rPr sz="1800" spc="-25" dirty="0">
                <a:solidFill>
                  <a:srgbClr val="212121"/>
                </a:solidFill>
                <a:latin typeface="Tahoma"/>
                <a:cs typeface="Tahoma"/>
              </a:rPr>
              <a:t>in </a:t>
            </a:r>
            <a:r>
              <a:rPr sz="1800" dirty="0">
                <a:solidFill>
                  <a:srgbClr val="212121"/>
                </a:solidFill>
                <a:latin typeface="Tahoma"/>
                <a:cs typeface="Tahoma"/>
              </a:rPr>
              <a:t>original</a:t>
            </a:r>
            <a:r>
              <a:rPr sz="1800" spc="95" dirty="0">
                <a:solidFill>
                  <a:srgbClr val="212121"/>
                </a:solidFill>
                <a:latin typeface="Tahoma"/>
                <a:cs typeface="Tahoma"/>
              </a:rPr>
              <a:t> </a:t>
            </a:r>
            <a:r>
              <a:rPr sz="1800" dirty="0">
                <a:solidFill>
                  <a:srgbClr val="212121"/>
                </a:solidFill>
                <a:latin typeface="Tahoma"/>
                <a:cs typeface="Tahoma"/>
              </a:rPr>
              <a:t>images</a:t>
            </a:r>
            <a:r>
              <a:rPr sz="1800" spc="120" dirty="0">
                <a:solidFill>
                  <a:srgbClr val="212121"/>
                </a:solidFill>
                <a:latin typeface="Tahoma"/>
                <a:cs typeface="Tahoma"/>
              </a:rPr>
              <a:t> </a:t>
            </a:r>
            <a:r>
              <a:rPr sz="1800" dirty="0">
                <a:solidFill>
                  <a:srgbClr val="212121"/>
                </a:solidFill>
                <a:latin typeface="Tahoma"/>
                <a:cs typeface="Tahoma"/>
              </a:rPr>
              <a:t>but</a:t>
            </a:r>
            <a:r>
              <a:rPr sz="1800" spc="105" dirty="0">
                <a:solidFill>
                  <a:srgbClr val="212121"/>
                </a:solidFill>
                <a:latin typeface="Tahoma"/>
                <a:cs typeface="Tahoma"/>
              </a:rPr>
              <a:t> </a:t>
            </a:r>
            <a:r>
              <a:rPr sz="1800" dirty="0">
                <a:solidFill>
                  <a:srgbClr val="212121"/>
                </a:solidFill>
                <a:latin typeface="Tahoma"/>
                <a:cs typeface="Tahoma"/>
              </a:rPr>
              <a:t>in</a:t>
            </a:r>
            <a:r>
              <a:rPr sz="1800" spc="110" dirty="0">
                <a:solidFill>
                  <a:srgbClr val="212121"/>
                </a:solidFill>
                <a:latin typeface="Tahoma"/>
                <a:cs typeface="Tahoma"/>
              </a:rPr>
              <a:t> </a:t>
            </a:r>
            <a:r>
              <a:rPr sz="1800" dirty="0">
                <a:solidFill>
                  <a:srgbClr val="212121"/>
                </a:solidFill>
                <a:latin typeface="Tahoma"/>
                <a:cs typeface="Tahoma"/>
              </a:rPr>
              <a:t>a</a:t>
            </a:r>
            <a:r>
              <a:rPr sz="1800" spc="110" dirty="0">
                <a:solidFill>
                  <a:srgbClr val="212121"/>
                </a:solidFill>
                <a:latin typeface="Tahoma"/>
                <a:cs typeface="Tahoma"/>
              </a:rPr>
              <a:t> </a:t>
            </a:r>
            <a:r>
              <a:rPr sz="1800" dirty="0">
                <a:solidFill>
                  <a:srgbClr val="212121"/>
                </a:solidFill>
                <a:latin typeface="Tahoma"/>
                <a:cs typeface="Tahoma"/>
              </a:rPr>
              <a:t>compressed</a:t>
            </a:r>
            <a:r>
              <a:rPr sz="1800" spc="90" dirty="0">
                <a:solidFill>
                  <a:srgbClr val="212121"/>
                </a:solidFill>
                <a:latin typeface="Tahoma"/>
                <a:cs typeface="Tahoma"/>
              </a:rPr>
              <a:t> </a:t>
            </a:r>
            <a:r>
              <a:rPr sz="1800" dirty="0">
                <a:solidFill>
                  <a:srgbClr val="212121"/>
                </a:solidFill>
                <a:latin typeface="Tahoma"/>
                <a:cs typeface="Tahoma"/>
              </a:rPr>
              <a:t>format</a:t>
            </a:r>
            <a:r>
              <a:rPr sz="1800" spc="95" dirty="0">
                <a:solidFill>
                  <a:srgbClr val="212121"/>
                </a:solidFill>
                <a:latin typeface="Tahoma"/>
                <a:cs typeface="Tahoma"/>
              </a:rPr>
              <a:t> </a:t>
            </a:r>
            <a:r>
              <a:rPr sz="1800" dirty="0">
                <a:solidFill>
                  <a:srgbClr val="212121"/>
                </a:solidFill>
                <a:latin typeface="Tahoma"/>
                <a:cs typeface="Tahoma"/>
              </a:rPr>
              <a:t>that</a:t>
            </a:r>
            <a:r>
              <a:rPr sz="1800" spc="114" dirty="0">
                <a:solidFill>
                  <a:srgbClr val="212121"/>
                </a:solidFill>
                <a:latin typeface="Tahoma"/>
                <a:cs typeface="Tahoma"/>
              </a:rPr>
              <a:t> </a:t>
            </a:r>
            <a:r>
              <a:rPr sz="1800" dirty="0">
                <a:solidFill>
                  <a:srgbClr val="212121"/>
                </a:solidFill>
                <a:latin typeface="Tahoma"/>
                <a:cs typeface="Tahoma"/>
              </a:rPr>
              <a:t>can</a:t>
            </a:r>
            <a:r>
              <a:rPr sz="1800" spc="114" dirty="0">
                <a:solidFill>
                  <a:srgbClr val="212121"/>
                </a:solidFill>
                <a:latin typeface="Tahoma"/>
                <a:cs typeface="Tahoma"/>
              </a:rPr>
              <a:t> </a:t>
            </a:r>
            <a:r>
              <a:rPr sz="1800" dirty="0">
                <a:solidFill>
                  <a:srgbClr val="212121"/>
                </a:solidFill>
                <a:latin typeface="Tahoma"/>
                <a:cs typeface="Tahoma"/>
              </a:rPr>
              <a:t>be</a:t>
            </a:r>
            <a:r>
              <a:rPr sz="1800" spc="100" dirty="0">
                <a:solidFill>
                  <a:srgbClr val="212121"/>
                </a:solidFill>
                <a:latin typeface="Tahoma"/>
                <a:cs typeface="Tahoma"/>
              </a:rPr>
              <a:t> </a:t>
            </a:r>
            <a:r>
              <a:rPr sz="1800" dirty="0">
                <a:solidFill>
                  <a:srgbClr val="212121"/>
                </a:solidFill>
                <a:latin typeface="Tahoma"/>
                <a:cs typeface="Tahoma"/>
              </a:rPr>
              <a:t>used</a:t>
            </a:r>
            <a:r>
              <a:rPr sz="1800" spc="105" dirty="0">
                <a:solidFill>
                  <a:srgbClr val="212121"/>
                </a:solidFill>
                <a:latin typeface="Tahoma"/>
                <a:cs typeface="Tahoma"/>
              </a:rPr>
              <a:t> </a:t>
            </a:r>
            <a:r>
              <a:rPr sz="1800" dirty="0">
                <a:solidFill>
                  <a:srgbClr val="212121"/>
                </a:solidFill>
                <a:latin typeface="Tahoma"/>
                <a:cs typeface="Tahoma"/>
              </a:rPr>
              <a:t>further</a:t>
            </a:r>
            <a:r>
              <a:rPr sz="1800" spc="114" dirty="0">
                <a:solidFill>
                  <a:srgbClr val="212121"/>
                </a:solidFill>
                <a:latin typeface="Tahoma"/>
                <a:cs typeface="Tahoma"/>
              </a:rPr>
              <a:t> </a:t>
            </a:r>
            <a:r>
              <a:rPr sz="1800" dirty="0">
                <a:solidFill>
                  <a:srgbClr val="212121"/>
                </a:solidFill>
                <a:latin typeface="Tahoma"/>
                <a:cs typeface="Tahoma"/>
              </a:rPr>
              <a:t>for</a:t>
            </a:r>
            <a:r>
              <a:rPr sz="1800" spc="105" dirty="0">
                <a:solidFill>
                  <a:srgbClr val="212121"/>
                </a:solidFill>
                <a:latin typeface="Tahoma"/>
                <a:cs typeface="Tahoma"/>
              </a:rPr>
              <a:t> </a:t>
            </a:r>
            <a:r>
              <a:rPr sz="1800" dirty="0">
                <a:solidFill>
                  <a:srgbClr val="212121"/>
                </a:solidFill>
                <a:latin typeface="Tahoma"/>
                <a:cs typeface="Tahoma"/>
              </a:rPr>
              <a:t>other</a:t>
            </a:r>
            <a:r>
              <a:rPr sz="1800" spc="105" dirty="0">
                <a:solidFill>
                  <a:srgbClr val="212121"/>
                </a:solidFill>
                <a:latin typeface="Tahoma"/>
                <a:cs typeface="Tahoma"/>
              </a:rPr>
              <a:t> </a:t>
            </a:r>
            <a:r>
              <a:rPr sz="1800" dirty="0">
                <a:solidFill>
                  <a:srgbClr val="212121"/>
                </a:solidFill>
                <a:latin typeface="Tahoma"/>
                <a:cs typeface="Tahoma"/>
              </a:rPr>
              <a:t>reconstructions</a:t>
            </a:r>
            <a:r>
              <a:rPr sz="1800" spc="105" dirty="0">
                <a:solidFill>
                  <a:srgbClr val="212121"/>
                </a:solidFill>
                <a:latin typeface="Tahoma"/>
                <a:cs typeface="Tahoma"/>
              </a:rPr>
              <a:t> </a:t>
            </a:r>
            <a:r>
              <a:rPr sz="1800" spc="-25" dirty="0">
                <a:solidFill>
                  <a:srgbClr val="212121"/>
                </a:solidFill>
                <a:latin typeface="Tahoma"/>
                <a:cs typeface="Tahoma"/>
              </a:rPr>
              <a:t>and </a:t>
            </a:r>
            <a:r>
              <a:rPr sz="1800" spc="-10" dirty="0">
                <a:solidFill>
                  <a:srgbClr val="212121"/>
                </a:solidFill>
                <a:latin typeface="Tahoma"/>
                <a:cs typeface="Tahoma"/>
              </a:rPr>
              <a:t>transformations.</a:t>
            </a:r>
            <a:endParaRPr sz="1800">
              <a:latin typeface="Tahoma"/>
              <a:cs typeface="Tahoma"/>
            </a:endParaRPr>
          </a:p>
        </p:txBody>
      </p:sp>
      <p:pic>
        <p:nvPicPr>
          <p:cNvPr id="4" name="object 4"/>
          <p:cNvPicPr/>
          <p:nvPr/>
        </p:nvPicPr>
        <p:blipFill>
          <a:blip r:embed="rId2" cstate="print"/>
          <a:stretch>
            <a:fillRect/>
          </a:stretch>
        </p:blipFill>
        <p:spPr>
          <a:xfrm>
            <a:off x="2649866" y="3145575"/>
            <a:ext cx="6667855" cy="193424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Autoencoders</a:t>
            </a:r>
            <a:r>
              <a:rPr spc="-95" dirty="0"/>
              <a:t> </a:t>
            </a:r>
            <a:r>
              <a:rPr dirty="0"/>
              <a:t>are</a:t>
            </a:r>
            <a:r>
              <a:rPr spc="-65" dirty="0"/>
              <a:t> </a:t>
            </a:r>
            <a:r>
              <a:rPr dirty="0"/>
              <a:t>used</a:t>
            </a:r>
            <a:r>
              <a:rPr spc="-60" dirty="0"/>
              <a:t> </a:t>
            </a:r>
            <a:r>
              <a:rPr dirty="0"/>
              <a:t>largely</a:t>
            </a:r>
            <a:r>
              <a:rPr spc="-90" dirty="0"/>
              <a:t> </a:t>
            </a:r>
            <a:r>
              <a:rPr dirty="0"/>
              <a:t>for</a:t>
            </a:r>
            <a:r>
              <a:rPr spc="-65" dirty="0"/>
              <a:t> </a:t>
            </a:r>
            <a:r>
              <a:rPr dirty="0"/>
              <a:t>anomaly</a:t>
            </a:r>
            <a:r>
              <a:rPr spc="-80" dirty="0"/>
              <a:t> </a:t>
            </a:r>
            <a:r>
              <a:rPr spc="-10" dirty="0"/>
              <a:t>detection:</a:t>
            </a:r>
          </a:p>
        </p:txBody>
      </p:sp>
      <p:pic>
        <p:nvPicPr>
          <p:cNvPr id="3" name="object 3"/>
          <p:cNvPicPr/>
          <p:nvPr/>
        </p:nvPicPr>
        <p:blipFill>
          <a:blip r:embed="rId2" cstate="print"/>
          <a:stretch>
            <a:fillRect/>
          </a:stretch>
        </p:blipFill>
        <p:spPr>
          <a:xfrm>
            <a:off x="2100072" y="3029711"/>
            <a:ext cx="7687056" cy="2996184"/>
          </a:xfrm>
          <a:prstGeom prst="rect">
            <a:avLst/>
          </a:prstGeom>
        </p:spPr>
      </p:pic>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marR="5080">
              <a:lnSpc>
                <a:spcPct val="100000"/>
              </a:lnSpc>
              <a:spcBef>
                <a:spcPts val="100"/>
              </a:spcBef>
            </a:pPr>
            <a:r>
              <a:rPr spc="-10" dirty="0"/>
              <a:t>Autoencoders</a:t>
            </a:r>
            <a:r>
              <a:rPr spc="-55" dirty="0"/>
              <a:t> </a:t>
            </a:r>
            <a:r>
              <a:rPr dirty="0"/>
              <a:t>create</a:t>
            </a:r>
            <a:r>
              <a:rPr spc="-40" dirty="0"/>
              <a:t> </a:t>
            </a:r>
            <a:r>
              <a:rPr spc="-10" dirty="0"/>
              <a:t>encodings</a:t>
            </a:r>
            <a:r>
              <a:rPr spc="-40" dirty="0"/>
              <a:t> </a:t>
            </a:r>
            <a:r>
              <a:rPr dirty="0"/>
              <a:t>that</a:t>
            </a:r>
            <a:r>
              <a:rPr spc="-60" dirty="0"/>
              <a:t> </a:t>
            </a:r>
            <a:r>
              <a:rPr dirty="0"/>
              <a:t>basically</a:t>
            </a:r>
            <a:r>
              <a:rPr spc="-45" dirty="0"/>
              <a:t> </a:t>
            </a:r>
            <a:r>
              <a:rPr dirty="0"/>
              <a:t>captures</a:t>
            </a:r>
            <a:r>
              <a:rPr spc="-40" dirty="0"/>
              <a:t> </a:t>
            </a:r>
            <a:r>
              <a:rPr dirty="0"/>
              <a:t>the</a:t>
            </a:r>
            <a:r>
              <a:rPr spc="-50" dirty="0"/>
              <a:t> </a:t>
            </a:r>
            <a:r>
              <a:rPr spc="-10" dirty="0"/>
              <a:t>relationship</a:t>
            </a:r>
            <a:r>
              <a:rPr spc="-45" dirty="0"/>
              <a:t> </a:t>
            </a:r>
            <a:r>
              <a:rPr dirty="0"/>
              <a:t>among</a:t>
            </a:r>
            <a:r>
              <a:rPr spc="-55" dirty="0"/>
              <a:t> </a:t>
            </a:r>
            <a:r>
              <a:rPr dirty="0"/>
              <a:t>data.</a:t>
            </a:r>
            <a:r>
              <a:rPr spc="-60" dirty="0"/>
              <a:t> </a:t>
            </a:r>
            <a:r>
              <a:rPr spc="-40" dirty="0"/>
              <a:t>Now, </a:t>
            </a:r>
            <a:r>
              <a:rPr dirty="0"/>
              <a:t>if</a:t>
            </a:r>
            <a:r>
              <a:rPr spc="-55" dirty="0"/>
              <a:t> </a:t>
            </a:r>
            <a:r>
              <a:rPr dirty="0"/>
              <a:t>we</a:t>
            </a:r>
            <a:r>
              <a:rPr spc="-40" dirty="0"/>
              <a:t> </a:t>
            </a:r>
            <a:r>
              <a:rPr dirty="0"/>
              <a:t>train</a:t>
            </a:r>
            <a:r>
              <a:rPr spc="-45" dirty="0"/>
              <a:t> </a:t>
            </a:r>
            <a:r>
              <a:rPr spc="-25" dirty="0"/>
              <a:t>our </a:t>
            </a:r>
            <a:r>
              <a:rPr spc="-10" dirty="0"/>
              <a:t>autoencoder</a:t>
            </a:r>
            <a:r>
              <a:rPr spc="-45" dirty="0"/>
              <a:t> </a:t>
            </a:r>
            <a:r>
              <a:rPr dirty="0"/>
              <a:t>on</a:t>
            </a:r>
            <a:r>
              <a:rPr spc="-40" dirty="0"/>
              <a:t> </a:t>
            </a:r>
            <a:r>
              <a:rPr dirty="0"/>
              <a:t>a</a:t>
            </a:r>
            <a:r>
              <a:rPr spc="-55" dirty="0"/>
              <a:t> </a:t>
            </a:r>
            <a:r>
              <a:rPr dirty="0"/>
              <a:t>particular</a:t>
            </a:r>
            <a:r>
              <a:rPr spc="-35" dirty="0"/>
              <a:t> </a:t>
            </a:r>
            <a:r>
              <a:rPr dirty="0"/>
              <a:t>dataset,</a:t>
            </a:r>
            <a:r>
              <a:rPr spc="-55" dirty="0"/>
              <a:t> </a:t>
            </a:r>
            <a:r>
              <a:rPr dirty="0"/>
              <a:t>the</a:t>
            </a:r>
            <a:r>
              <a:rPr spc="-35" dirty="0"/>
              <a:t> </a:t>
            </a:r>
            <a:r>
              <a:rPr dirty="0"/>
              <a:t>encoder</a:t>
            </a:r>
            <a:r>
              <a:rPr spc="-45" dirty="0"/>
              <a:t> </a:t>
            </a:r>
            <a:r>
              <a:rPr dirty="0"/>
              <a:t>and</a:t>
            </a:r>
            <a:r>
              <a:rPr spc="-50" dirty="0"/>
              <a:t> </a:t>
            </a:r>
            <a:r>
              <a:rPr dirty="0"/>
              <a:t>decoder</a:t>
            </a:r>
            <a:r>
              <a:rPr spc="-30" dirty="0"/>
              <a:t> </a:t>
            </a:r>
            <a:r>
              <a:rPr spc="-10" dirty="0"/>
              <a:t>parameters</a:t>
            </a:r>
            <a:r>
              <a:rPr spc="-45" dirty="0"/>
              <a:t> </a:t>
            </a:r>
            <a:r>
              <a:rPr dirty="0"/>
              <a:t>will</a:t>
            </a:r>
            <a:r>
              <a:rPr spc="-35" dirty="0"/>
              <a:t> </a:t>
            </a:r>
            <a:r>
              <a:rPr dirty="0"/>
              <a:t>be</a:t>
            </a:r>
            <a:r>
              <a:rPr spc="-45" dirty="0"/>
              <a:t> </a:t>
            </a:r>
            <a:r>
              <a:rPr dirty="0"/>
              <a:t>trained</a:t>
            </a:r>
            <a:r>
              <a:rPr spc="-35" dirty="0"/>
              <a:t> </a:t>
            </a:r>
            <a:r>
              <a:rPr dirty="0"/>
              <a:t>to</a:t>
            </a:r>
            <a:r>
              <a:rPr spc="-40" dirty="0"/>
              <a:t> </a:t>
            </a:r>
            <a:r>
              <a:rPr spc="-10" dirty="0"/>
              <a:t>represent</a:t>
            </a:r>
            <a:r>
              <a:rPr spc="-60" dirty="0"/>
              <a:t> </a:t>
            </a:r>
            <a:r>
              <a:rPr spc="-25" dirty="0"/>
              <a:t>the </a:t>
            </a:r>
            <a:r>
              <a:rPr spc="-10" dirty="0"/>
              <a:t>relationships</a:t>
            </a:r>
            <a:r>
              <a:rPr spc="-30" dirty="0"/>
              <a:t> </a:t>
            </a:r>
            <a:r>
              <a:rPr dirty="0"/>
              <a:t>on</a:t>
            </a:r>
            <a:r>
              <a:rPr spc="-45" dirty="0"/>
              <a:t> </a:t>
            </a:r>
            <a:r>
              <a:rPr dirty="0"/>
              <a:t>the</a:t>
            </a:r>
            <a:r>
              <a:rPr spc="-30" dirty="0"/>
              <a:t> </a:t>
            </a:r>
            <a:r>
              <a:rPr dirty="0"/>
              <a:t>datasets</a:t>
            </a:r>
            <a:r>
              <a:rPr spc="-50" dirty="0"/>
              <a:t> </a:t>
            </a:r>
            <a:r>
              <a:rPr dirty="0"/>
              <a:t>the</a:t>
            </a:r>
            <a:r>
              <a:rPr spc="-40" dirty="0"/>
              <a:t> </a:t>
            </a:r>
            <a:r>
              <a:rPr dirty="0"/>
              <a:t>best</a:t>
            </a:r>
            <a:r>
              <a:rPr spc="-40" dirty="0"/>
              <a:t> </a:t>
            </a:r>
            <a:r>
              <a:rPr spc="-45" dirty="0"/>
              <a:t>way. </a:t>
            </a:r>
            <a:r>
              <a:rPr dirty="0"/>
              <a:t>Thus,</a:t>
            </a:r>
            <a:r>
              <a:rPr spc="-35" dirty="0"/>
              <a:t> </a:t>
            </a:r>
            <a:r>
              <a:rPr dirty="0"/>
              <a:t>will</a:t>
            </a:r>
            <a:r>
              <a:rPr spc="-35" dirty="0"/>
              <a:t> </a:t>
            </a:r>
            <a:r>
              <a:rPr dirty="0"/>
              <a:t>be</a:t>
            </a:r>
            <a:r>
              <a:rPr spc="-30" dirty="0"/>
              <a:t> </a:t>
            </a:r>
            <a:r>
              <a:rPr dirty="0"/>
              <a:t>able</a:t>
            </a:r>
            <a:r>
              <a:rPr spc="-30" dirty="0"/>
              <a:t> </a:t>
            </a:r>
            <a:r>
              <a:rPr dirty="0"/>
              <a:t>to</a:t>
            </a:r>
            <a:r>
              <a:rPr spc="-45" dirty="0"/>
              <a:t> </a:t>
            </a:r>
            <a:r>
              <a:rPr spc="-10" dirty="0"/>
              <a:t>recreate</a:t>
            </a:r>
            <a:r>
              <a:rPr spc="-25" dirty="0"/>
              <a:t> </a:t>
            </a:r>
            <a:r>
              <a:rPr dirty="0"/>
              <a:t>any</a:t>
            </a:r>
            <a:r>
              <a:rPr spc="-45" dirty="0"/>
              <a:t> </a:t>
            </a:r>
            <a:r>
              <a:rPr dirty="0"/>
              <a:t>data</a:t>
            </a:r>
            <a:r>
              <a:rPr spc="-45" dirty="0"/>
              <a:t> </a:t>
            </a:r>
            <a:r>
              <a:rPr dirty="0"/>
              <a:t>given</a:t>
            </a:r>
            <a:r>
              <a:rPr spc="-40" dirty="0"/>
              <a:t> </a:t>
            </a:r>
            <a:r>
              <a:rPr dirty="0"/>
              <a:t>from</a:t>
            </a:r>
            <a:r>
              <a:rPr spc="-40" dirty="0"/>
              <a:t> </a:t>
            </a:r>
            <a:r>
              <a:rPr dirty="0"/>
              <a:t>that</a:t>
            </a:r>
            <a:r>
              <a:rPr spc="-45" dirty="0"/>
              <a:t> </a:t>
            </a:r>
            <a:r>
              <a:rPr dirty="0"/>
              <a:t>kind</a:t>
            </a:r>
            <a:r>
              <a:rPr spc="-35" dirty="0"/>
              <a:t> </a:t>
            </a:r>
            <a:r>
              <a:rPr dirty="0"/>
              <a:t>of</a:t>
            </a:r>
            <a:r>
              <a:rPr spc="-45" dirty="0"/>
              <a:t> </a:t>
            </a:r>
            <a:r>
              <a:rPr dirty="0"/>
              <a:t>dataset</a:t>
            </a:r>
            <a:r>
              <a:rPr spc="-45" dirty="0"/>
              <a:t> </a:t>
            </a:r>
            <a:r>
              <a:rPr spc="-25" dirty="0"/>
              <a:t>in </a:t>
            </a:r>
            <a:r>
              <a:rPr dirty="0"/>
              <a:t>the</a:t>
            </a:r>
            <a:r>
              <a:rPr spc="-25" dirty="0"/>
              <a:t> </a:t>
            </a:r>
            <a:r>
              <a:rPr dirty="0"/>
              <a:t>best</a:t>
            </a:r>
            <a:r>
              <a:rPr spc="-35" dirty="0"/>
              <a:t> </a:t>
            </a:r>
            <a:r>
              <a:rPr spc="-40" dirty="0"/>
              <a:t>way. </a:t>
            </a:r>
            <a:r>
              <a:rPr dirty="0"/>
              <a:t>So,</a:t>
            </a:r>
            <a:r>
              <a:rPr spc="-35" dirty="0"/>
              <a:t> </a:t>
            </a:r>
            <a:r>
              <a:rPr dirty="0"/>
              <a:t>if</a:t>
            </a:r>
            <a:r>
              <a:rPr spc="-25" dirty="0"/>
              <a:t> </a:t>
            </a:r>
            <a:r>
              <a:rPr dirty="0"/>
              <a:t>data</a:t>
            </a:r>
            <a:r>
              <a:rPr spc="-35" dirty="0"/>
              <a:t> </a:t>
            </a:r>
            <a:r>
              <a:rPr dirty="0"/>
              <a:t>from</a:t>
            </a:r>
            <a:r>
              <a:rPr spc="-30" dirty="0"/>
              <a:t> </a:t>
            </a:r>
            <a:r>
              <a:rPr dirty="0"/>
              <a:t>that</a:t>
            </a:r>
            <a:r>
              <a:rPr spc="-35" dirty="0"/>
              <a:t> </a:t>
            </a:r>
            <a:r>
              <a:rPr dirty="0"/>
              <a:t>particular</a:t>
            </a:r>
            <a:r>
              <a:rPr spc="-20" dirty="0"/>
              <a:t> </a:t>
            </a:r>
            <a:r>
              <a:rPr dirty="0"/>
              <a:t>dataset</a:t>
            </a:r>
            <a:r>
              <a:rPr spc="-50" dirty="0"/>
              <a:t> </a:t>
            </a:r>
            <a:r>
              <a:rPr dirty="0"/>
              <a:t>is</a:t>
            </a:r>
            <a:r>
              <a:rPr spc="-35" dirty="0"/>
              <a:t> </a:t>
            </a:r>
            <a:r>
              <a:rPr dirty="0"/>
              <a:t>sent</a:t>
            </a:r>
            <a:r>
              <a:rPr spc="-30" dirty="0"/>
              <a:t> </a:t>
            </a:r>
            <a:r>
              <a:rPr dirty="0"/>
              <a:t>through</a:t>
            </a:r>
            <a:r>
              <a:rPr spc="-40" dirty="0"/>
              <a:t> </a:t>
            </a:r>
            <a:r>
              <a:rPr dirty="0"/>
              <a:t>the</a:t>
            </a:r>
            <a:r>
              <a:rPr spc="-20" dirty="0"/>
              <a:t> autoencoder, </a:t>
            </a:r>
            <a:r>
              <a:rPr dirty="0"/>
              <a:t>the</a:t>
            </a:r>
            <a:r>
              <a:rPr spc="-35" dirty="0"/>
              <a:t> </a:t>
            </a:r>
            <a:r>
              <a:rPr spc="-10" dirty="0"/>
              <a:t>reconstruction</a:t>
            </a:r>
            <a:r>
              <a:rPr spc="-15" dirty="0"/>
              <a:t> </a:t>
            </a:r>
            <a:r>
              <a:rPr dirty="0"/>
              <a:t>error</a:t>
            </a:r>
            <a:r>
              <a:rPr spc="-35" dirty="0"/>
              <a:t> </a:t>
            </a:r>
            <a:r>
              <a:rPr spc="-25" dirty="0"/>
              <a:t>is </a:t>
            </a:r>
            <a:r>
              <a:rPr dirty="0"/>
              <a:t>less.</a:t>
            </a:r>
            <a:r>
              <a:rPr spc="-45" dirty="0"/>
              <a:t> </a:t>
            </a:r>
            <a:r>
              <a:rPr dirty="0"/>
              <a:t>But</a:t>
            </a:r>
            <a:r>
              <a:rPr spc="-40" dirty="0"/>
              <a:t> </a:t>
            </a:r>
            <a:r>
              <a:rPr dirty="0"/>
              <a:t>if</a:t>
            </a:r>
            <a:r>
              <a:rPr spc="-35" dirty="0"/>
              <a:t> </a:t>
            </a:r>
            <a:r>
              <a:rPr dirty="0"/>
              <a:t>some</a:t>
            </a:r>
            <a:r>
              <a:rPr spc="-35" dirty="0"/>
              <a:t> </a:t>
            </a:r>
            <a:r>
              <a:rPr dirty="0"/>
              <a:t>other</a:t>
            </a:r>
            <a:r>
              <a:rPr spc="-25" dirty="0"/>
              <a:t> </a:t>
            </a:r>
            <a:r>
              <a:rPr dirty="0"/>
              <a:t>kind</a:t>
            </a:r>
            <a:r>
              <a:rPr spc="-25" dirty="0"/>
              <a:t> </a:t>
            </a:r>
            <a:r>
              <a:rPr dirty="0"/>
              <a:t>of</a:t>
            </a:r>
            <a:r>
              <a:rPr spc="-35" dirty="0"/>
              <a:t> </a:t>
            </a:r>
            <a:r>
              <a:rPr dirty="0"/>
              <a:t>data</a:t>
            </a:r>
            <a:r>
              <a:rPr spc="-40" dirty="0"/>
              <a:t> </a:t>
            </a:r>
            <a:r>
              <a:rPr dirty="0"/>
              <a:t>is</a:t>
            </a:r>
            <a:r>
              <a:rPr spc="-40" dirty="0"/>
              <a:t> </a:t>
            </a:r>
            <a:r>
              <a:rPr dirty="0"/>
              <a:t>sent</a:t>
            </a:r>
            <a:r>
              <a:rPr spc="-35" dirty="0"/>
              <a:t> </a:t>
            </a:r>
            <a:r>
              <a:rPr dirty="0"/>
              <a:t>through</a:t>
            </a:r>
            <a:r>
              <a:rPr spc="-40" dirty="0"/>
              <a:t> </a:t>
            </a:r>
            <a:r>
              <a:rPr dirty="0"/>
              <a:t>the</a:t>
            </a:r>
            <a:r>
              <a:rPr spc="-20" dirty="0"/>
              <a:t> </a:t>
            </a:r>
            <a:r>
              <a:rPr spc="-10" dirty="0"/>
              <a:t>autoencoder</a:t>
            </a:r>
            <a:r>
              <a:rPr spc="-30" dirty="0"/>
              <a:t> </a:t>
            </a:r>
            <a:r>
              <a:rPr dirty="0"/>
              <a:t>it</a:t>
            </a:r>
            <a:r>
              <a:rPr spc="-35" dirty="0"/>
              <a:t> </a:t>
            </a:r>
            <a:r>
              <a:rPr dirty="0"/>
              <a:t>will</a:t>
            </a:r>
            <a:r>
              <a:rPr spc="-20" dirty="0"/>
              <a:t> </a:t>
            </a:r>
            <a:r>
              <a:rPr spc="-10" dirty="0"/>
              <a:t>generate</a:t>
            </a:r>
            <a:r>
              <a:rPr spc="-35" dirty="0"/>
              <a:t> </a:t>
            </a:r>
            <a:r>
              <a:rPr dirty="0"/>
              <a:t>a</a:t>
            </a:r>
            <a:r>
              <a:rPr spc="-30" dirty="0"/>
              <a:t> </a:t>
            </a:r>
            <a:r>
              <a:rPr dirty="0"/>
              <a:t>huge</a:t>
            </a:r>
            <a:r>
              <a:rPr spc="-20" dirty="0"/>
              <a:t> </a:t>
            </a:r>
            <a:r>
              <a:rPr spc="-10" dirty="0"/>
              <a:t>reconstruction</a:t>
            </a:r>
            <a:r>
              <a:rPr spc="-15" dirty="0"/>
              <a:t> </a:t>
            </a:r>
            <a:r>
              <a:rPr spc="-30" dirty="0"/>
              <a:t>error.</a:t>
            </a:r>
            <a:r>
              <a:rPr spc="-35" dirty="0"/>
              <a:t> </a:t>
            </a:r>
            <a:r>
              <a:rPr spc="-25" dirty="0"/>
              <a:t>If </a:t>
            </a:r>
            <a:r>
              <a:rPr dirty="0"/>
              <a:t>we</a:t>
            </a:r>
            <a:r>
              <a:rPr spc="-40" dirty="0"/>
              <a:t> </a:t>
            </a:r>
            <a:r>
              <a:rPr dirty="0"/>
              <a:t>are</a:t>
            </a:r>
            <a:r>
              <a:rPr spc="-30" dirty="0"/>
              <a:t> </a:t>
            </a:r>
            <a:r>
              <a:rPr dirty="0"/>
              <a:t>able</a:t>
            </a:r>
            <a:r>
              <a:rPr spc="-40" dirty="0"/>
              <a:t> </a:t>
            </a:r>
            <a:r>
              <a:rPr dirty="0"/>
              <a:t>to</a:t>
            </a:r>
            <a:r>
              <a:rPr spc="-30" dirty="0"/>
              <a:t> </a:t>
            </a:r>
            <a:r>
              <a:rPr dirty="0"/>
              <a:t>apply</a:t>
            </a:r>
            <a:r>
              <a:rPr spc="-40" dirty="0"/>
              <a:t> </a:t>
            </a:r>
            <a:r>
              <a:rPr dirty="0"/>
              <a:t>a</a:t>
            </a:r>
            <a:r>
              <a:rPr spc="-30" dirty="0"/>
              <a:t> </a:t>
            </a:r>
            <a:r>
              <a:rPr dirty="0"/>
              <a:t>correct</a:t>
            </a:r>
            <a:r>
              <a:rPr spc="-35" dirty="0"/>
              <a:t> </a:t>
            </a:r>
            <a:r>
              <a:rPr dirty="0"/>
              <a:t>cutoff</a:t>
            </a:r>
            <a:r>
              <a:rPr spc="-45" dirty="0"/>
              <a:t> </a:t>
            </a:r>
            <a:r>
              <a:rPr dirty="0"/>
              <a:t>we</a:t>
            </a:r>
            <a:r>
              <a:rPr spc="-40" dirty="0"/>
              <a:t> </a:t>
            </a:r>
            <a:r>
              <a:rPr dirty="0"/>
              <a:t>will</a:t>
            </a:r>
            <a:r>
              <a:rPr spc="-25" dirty="0"/>
              <a:t> </a:t>
            </a:r>
            <a:r>
              <a:rPr dirty="0"/>
              <a:t>be</a:t>
            </a:r>
            <a:r>
              <a:rPr spc="-25" dirty="0"/>
              <a:t> </a:t>
            </a:r>
            <a:r>
              <a:rPr dirty="0"/>
              <a:t>able</a:t>
            </a:r>
            <a:r>
              <a:rPr spc="-25" dirty="0"/>
              <a:t> </a:t>
            </a:r>
            <a:r>
              <a:rPr dirty="0"/>
              <a:t>to</a:t>
            </a:r>
            <a:r>
              <a:rPr spc="-45" dirty="0"/>
              <a:t> </a:t>
            </a:r>
            <a:r>
              <a:rPr dirty="0"/>
              <a:t>create</a:t>
            </a:r>
            <a:r>
              <a:rPr spc="-25" dirty="0"/>
              <a:t> </a:t>
            </a:r>
            <a:r>
              <a:rPr dirty="0"/>
              <a:t>an</a:t>
            </a:r>
            <a:r>
              <a:rPr spc="-40" dirty="0"/>
              <a:t> </a:t>
            </a:r>
            <a:r>
              <a:rPr dirty="0"/>
              <a:t>anomaly</a:t>
            </a:r>
            <a:r>
              <a:rPr spc="-40" dirty="0"/>
              <a:t> </a:t>
            </a:r>
            <a:r>
              <a:rPr spc="-10" dirty="0"/>
              <a:t>detector.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Autoencoders</a:t>
            </a:r>
            <a:r>
              <a:rPr spc="-95" dirty="0"/>
              <a:t> </a:t>
            </a:r>
            <a:r>
              <a:rPr dirty="0"/>
              <a:t>are</a:t>
            </a:r>
            <a:r>
              <a:rPr spc="-70" dirty="0"/>
              <a:t> </a:t>
            </a:r>
            <a:r>
              <a:rPr dirty="0"/>
              <a:t>used</a:t>
            </a:r>
            <a:r>
              <a:rPr spc="-65" dirty="0"/>
              <a:t> </a:t>
            </a:r>
            <a:r>
              <a:rPr dirty="0"/>
              <a:t>for</a:t>
            </a:r>
            <a:r>
              <a:rPr spc="-65" dirty="0"/>
              <a:t> </a:t>
            </a:r>
            <a:r>
              <a:rPr dirty="0"/>
              <a:t>Noise</a:t>
            </a:r>
            <a:r>
              <a:rPr spc="-75" dirty="0"/>
              <a:t> </a:t>
            </a:r>
            <a:r>
              <a:rPr spc="-10" dirty="0"/>
              <a:t>Removal</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9050" marR="5080">
              <a:lnSpc>
                <a:spcPct val="100000"/>
              </a:lnSpc>
              <a:spcBef>
                <a:spcPts val="100"/>
              </a:spcBef>
            </a:pPr>
            <a:r>
              <a:rPr dirty="0"/>
              <a:t>If</a:t>
            </a:r>
            <a:r>
              <a:rPr spc="-45" dirty="0"/>
              <a:t> </a:t>
            </a:r>
            <a:r>
              <a:rPr dirty="0"/>
              <a:t>we</a:t>
            </a:r>
            <a:r>
              <a:rPr spc="-40" dirty="0"/>
              <a:t> </a:t>
            </a:r>
            <a:r>
              <a:rPr dirty="0"/>
              <a:t>can</a:t>
            </a:r>
            <a:r>
              <a:rPr spc="-25" dirty="0"/>
              <a:t> </a:t>
            </a:r>
            <a:r>
              <a:rPr dirty="0"/>
              <a:t>pass</a:t>
            </a:r>
            <a:r>
              <a:rPr spc="-50" dirty="0"/>
              <a:t> </a:t>
            </a:r>
            <a:r>
              <a:rPr dirty="0"/>
              <a:t>the</a:t>
            </a:r>
            <a:r>
              <a:rPr spc="-40" dirty="0"/>
              <a:t> </a:t>
            </a:r>
            <a:r>
              <a:rPr dirty="0"/>
              <a:t>noisy</a:t>
            </a:r>
            <a:r>
              <a:rPr spc="-30" dirty="0"/>
              <a:t> </a:t>
            </a:r>
            <a:r>
              <a:rPr dirty="0"/>
              <a:t>data</a:t>
            </a:r>
            <a:r>
              <a:rPr spc="-45" dirty="0"/>
              <a:t> </a:t>
            </a:r>
            <a:r>
              <a:rPr dirty="0"/>
              <a:t>as</a:t>
            </a:r>
            <a:r>
              <a:rPr spc="-45" dirty="0"/>
              <a:t> </a:t>
            </a:r>
            <a:r>
              <a:rPr dirty="0"/>
              <a:t>input</a:t>
            </a:r>
            <a:r>
              <a:rPr spc="-25" dirty="0"/>
              <a:t> </a:t>
            </a:r>
            <a:r>
              <a:rPr dirty="0"/>
              <a:t>and</a:t>
            </a:r>
            <a:r>
              <a:rPr spc="-40" dirty="0"/>
              <a:t> </a:t>
            </a:r>
            <a:r>
              <a:rPr dirty="0"/>
              <a:t>clean</a:t>
            </a:r>
            <a:r>
              <a:rPr spc="-20" dirty="0"/>
              <a:t> </a:t>
            </a:r>
            <a:r>
              <a:rPr dirty="0"/>
              <a:t>data</a:t>
            </a:r>
            <a:r>
              <a:rPr spc="-45" dirty="0"/>
              <a:t> </a:t>
            </a:r>
            <a:r>
              <a:rPr dirty="0"/>
              <a:t>as</a:t>
            </a:r>
            <a:r>
              <a:rPr spc="-45" dirty="0"/>
              <a:t> </a:t>
            </a:r>
            <a:r>
              <a:rPr dirty="0"/>
              <a:t>output</a:t>
            </a:r>
            <a:r>
              <a:rPr spc="-35" dirty="0"/>
              <a:t> </a:t>
            </a:r>
            <a:r>
              <a:rPr dirty="0"/>
              <a:t>and</a:t>
            </a:r>
            <a:r>
              <a:rPr spc="-25" dirty="0"/>
              <a:t> </a:t>
            </a:r>
            <a:r>
              <a:rPr dirty="0"/>
              <a:t>train</a:t>
            </a:r>
            <a:r>
              <a:rPr spc="-35" dirty="0"/>
              <a:t> </a:t>
            </a:r>
            <a:r>
              <a:rPr dirty="0"/>
              <a:t>an</a:t>
            </a:r>
            <a:r>
              <a:rPr spc="-40" dirty="0"/>
              <a:t> </a:t>
            </a:r>
            <a:r>
              <a:rPr spc="-10" dirty="0"/>
              <a:t>autoencoder</a:t>
            </a:r>
            <a:r>
              <a:rPr spc="-35" dirty="0"/>
              <a:t> </a:t>
            </a:r>
            <a:r>
              <a:rPr dirty="0"/>
              <a:t>on</a:t>
            </a:r>
            <a:r>
              <a:rPr spc="-30" dirty="0"/>
              <a:t> </a:t>
            </a:r>
            <a:r>
              <a:rPr dirty="0"/>
              <a:t>such</a:t>
            </a:r>
            <a:r>
              <a:rPr spc="-45" dirty="0"/>
              <a:t> </a:t>
            </a:r>
            <a:r>
              <a:rPr dirty="0"/>
              <a:t>given</a:t>
            </a:r>
            <a:r>
              <a:rPr spc="-40" dirty="0"/>
              <a:t> </a:t>
            </a:r>
            <a:r>
              <a:rPr dirty="0"/>
              <a:t>data</a:t>
            </a:r>
            <a:r>
              <a:rPr spc="-35" dirty="0"/>
              <a:t> </a:t>
            </a:r>
            <a:r>
              <a:rPr spc="-10" dirty="0"/>
              <a:t>pairs, </a:t>
            </a:r>
            <a:r>
              <a:rPr dirty="0"/>
              <a:t>trained</a:t>
            </a:r>
            <a:r>
              <a:rPr spc="-30" dirty="0"/>
              <a:t> </a:t>
            </a:r>
            <a:r>
              <a:rPr spc="-10" dirty="0"/>
              <a:t>Autoencoders</a:t>
            </a:r>
            <a:r>
              <a:rPr spc="-40" dirty="0"/>
              <a:t> </a:t>
            </a:r>
            <a:r>
              <a:rPr dirty="0"/>
              <a:t>can</a:t>
            </a:r>
            <a:r>
              <a:rPr spc="-30" dirty="0"/>
              <a:t> </a:t>
            </a:r>
            <a:r>
              <a:rPr dirty="0"/>
              <a:t>be</a:t>
            </a:r>
            <a:r>
              <a:rPr spc="-25" dirty="0"/>
              <a:t> </a:t>
            </a:r>
            <a:r>
              <a:rPr dirty="0"/>
              <a:t>highly</a:t>
            </a:r>
            <a:r>
              <a:rPr spc="-30" dirty="0"/>
              <a:t> </a:t>
            </a:r>
            <a:r>
              <a:rPr dirty="0"/>
              <a:t>useful</a:t>
            </a:r>
            <a:r>
              <a:rPr spc="-60" dirty="0"/>
              <a:t> </a:t>
            </a:r>
            <a:r>
              <a:rPr dirty="0"/>
              <a:t>for</a:t>
            </a:r>
            <a:r>
              <a:rPr spc="-40" dirty="0"/>
              <a:t> </a:t>
            </a:r>
            <a:r>
              <a:rPr dirty="0"/>
              <a:t>noise</a:t>
            </a:r>
            <a:r>
              <a:rPr spc="-40" dirty="0"/>
              <a:t> </a:t>
            </a:r>
            <a:r>
              <a:rPr spc="-10" dirty="0"/>
              <a:t>removal.</a:t>
            </a:r>
            <a:r>
              <a:rPr spc="-45" dirty="0"/>
              <a:t> </a:t>
            </a:r>
            <a:r>
              <a:rPr dirty="0"/>
              <a:t>This</a:t>
            </a:r>
            <a:r>
              <a:rPr spc="-45" dirty="0"/>
              <a:t> </a:t>
            </a:r>
            <a:r>
              <a:rPr dirty="0"/>
              <a:t>is</a:t>
            </a:r>
            <a:r>
              <a:rPr spc="-45" dirty="0"/>
              <a:t> </a:t>
            </a:r>
            <a:r>
              <a:rPr dirty="0"/>
              <a:t>because</a:t>
            </a:r>
            <a:r>
              <a:rPr spc="-25" dirty="0"/>
              <a:t> </a:t>
            </a:r>
            <a:r>
              <a:rPr dirty="0"/>
              <a:t>noise</a:t>
            </a:r>
            <a:r>
              <a:rPr spc="-45" dirty="0"/>
              <a:t> </a:t>
            </a:r>
            <a:r>
              <a:rPr dirty="0"/>
              <a:t>points</a:t>
            </a:r>
            <a:r>
              <a:rPr spc="-45" dirty="0"/>
              <a:t> </a:t>
            </a:r>
            <a:r>
              <a:rPr dirty="0"/>
              <a:t>usually</a:t>
            </a:r>
            <a:r>
              <a:rPr spc="-30" dirty="0"/>
              <a:t> </a:t>
            </a:r>
            <a:r>
              <a:rPr dirty="0"/>
              <a:t>do</a:t>
            </a:r>
            <a:r>
              <a:rPr spc="-45" dirty="0"/>
              <a:t> </a:t>
            </a:r>
            <a:r>
              <a:rPr dirty="0"/>
              <a:t>not</a:t>
            </a:r>
            <a:r>
              <a:rPr spc="-35" dirty="0"/>
              <a:t> </a:t>
            </a:r>
            <a:r>
              <a:rPr dirty="0"/>
              <a:t>have</a:t>
            </a:r>
            <a:r>
              <a:rPr spc="-50" dirty="0"/>
              <a:t> </a:t>
            </a:r>
            <a:r>
              <a:rPr spc="-25" dirty="0"/>
              <a:t>any </a:t>
            </a:r>
            <a:r>
              <a:rPr spc="-10" dirty="0"/>
              <a:t>correlations.</a:t>
            </a:r>
            <a:r>
              <a:rPr spc="-45" dirty="0"/>
              <a:t> </a:t>
            </a:r>
            <a:r>
              <a:rPr spc="-40" dirty="0"/>
              <a:t>Now,</a:t>
            </a:r>
            <a:r>
              <a:rPr spc="-25" dirty="0"/>
              <a:t> </a:t>
            </a:r>
            <a:r>
              <a:rPr dirty="0"/>
              <a:t>as</a:t>
            </a:r>
            <a:r>
              <a:rPr spc="-40" dirty="0"/>
              <a:t> </a:t>
            </a:r>
            <a:r>
              <a:rPr dirty="0"/>
              <a:t>the</a:t>
            </a:r>
            <a:r>
              <a:rPr spc="-40" dirty="0"/>
              <a:t> </a:t>
            </a:r>
            <a:r>
              <a:rPr spc="-10" dirty="0"/>
              <a:t>autoencoders</a:t>
            </a:r>
            <a:r>
              <a:rPr spc="-25" dirty="0"/>
              <a:t> </a:t>
            </a:r>
            <a:r>
              <a:rPr dirty="0"/>
              <a:t>need</a:t>
            </a:r>
            <a:r>
              <a:rPr spc="-25" dirty="0"/>
              <a:t> </a:t>
            </a:r>
            <a:r>
              <a:rPr dirty="0"/>
              <a:t>to</a:t>
            </a:r>
            <a:r>
              <a:rPr spc="-40" dirty="0"/>
              <a:t> </a:t>
            </a:r>
            <a:r>
              <a:rPr spc="-10" dirty="0"/>
              <a:t>represent</a:t>
            </a:r>
            <a:r>
              <a:rPr spc="-45" dirty="0"/>
              <a:t> </a:t>
            </a:r>
            <a:r>
              <a:rPr dirty="0"/>
              <a:t>the</a:t>
            </a:r>
            <a:r>
              <a:rPr spc="-40" dirty="0"/>
              <a:t> </a:t>
            </a:r>
            <a:r>
              <a:rPr dirty="0"/>
              <a:t>data</a:t>
            </a:r>
            <a:r>
              <a:rPr spc="-40" dirty="0"/>
              <a:t> </a:t>
            </a:r>
            <a:r>
              <a:rPr dirty="0"/>
              <a:t>in</a:t>
            </a:r>
            <a:r>
              <a:rPr spc="-30" dirty="0"/>
              <a:t> </a:t>
            </a:r>
            <a:r>
              <a:rPr dirty="0"/>
              <a:t>the</a:t>
            </a:r>
            <a:r>
              <a:rPr spc="-25" dirty="0"/>
              <a:t> </a:t>
            </a:r>
            <a:r>
              <a:rPr dirty="0"/>
              <a:t>lowest</a:t>
            </a:r>
            <a:r>
              <a:rPr spc="-35" dirty="0"/>
              <a:t> </a:t>
            </a:r>
            <a:r>
              <a:rPr spc="-10" dirty="0"/>
              <a:t>dimensions,</a:t>
            </a:r>
            <a:r>
              <a:rPr spc="-35" dirty="0"/>
              <a:t> </a:t>
            </a:r>
            <a:r>
              <a:rPr dirty="0"/>
              <a:t>the</a:t>
            </a:r>
            <a:r>
              <a:rPr spc="-40" dirty="0"/>
              <a:t> </a:t>
            </a:r>
            <a:r>
              <a:rPr dirty="0"/>
              <a:t>encodings</a:t>
            </a:r>
            <a:r>
              <a:rPr spc="-25" dirty="0"/>
              <a:t> </a:t>
            </a:r>
            <a:r>
              <a:rPr spc="-10" dirty="0"/>
              <a:t>usually </a:t>
            </a:r>
            <a:r>
              <a:rPr dirty="0"/>
              <a:t>have</a:t>
            </a:r>
            <a:r>
              <a:rPr spc="-65" dirty="0"/>
              <a:t> </a:t>
            </a:r>
            <a:r>
              <a:rPr dirty="0"/>
              <a:t>only</a:t>
            </a:r>
            <a:r>
              <a:rPr spc="-45" dirty="0"/>
              <a:t> </a:t>
            </a:r>
            <a:r>
              <a:rPr dirty="0"/>
              <a:t>the</a:t>
            </a:r>
            <a:r>
              <a:rPr spc="-55" dirty="0"/>
              <a:t> </a:t>
            </a:r>
            <a:r>
              <a:rPr dirty="0"/>
              <a:t>important</a:t>
            </a:r>
            <a:r>
              <a:rPr spc="-50" dirty="0"/>
              <a:t> </a:t>
            </a:r>
            <a:r>
              <a:rPr dirty="0"/>
              <a:t>relations</a:t>
            </a:r>
            <a:r>
              <a:rPr spc="-45" dirty="0"/>
              <a:t> </a:t>
            </a:r>
            <a:r>
              <a:rPr dirty="0"/>
              <a:t>there</a:t>
            </a:r>
            <a:r>
              <a:rPr spc="-55" dirty="0"/>
              <a:t> </a:t>
            </a:r>
            <a:r>
              <a:rPr dirty="0"/>
              <a:t>exists,</a:t>
            </a:r>
            <a:r>
              <a:rPr spc="-65" dirty="0"/>
              <a:t> </a:t>
            </a:r>
            <a:r>
              <a:rPr dirty="0"/>
              <a:t>rejecting</a:t>
            </a:r>
            <a:r>
              <a:rPr spc="-40" dirty="0"/>
              <a:t> </a:t>
            </a:r>
            <a:r>
              <a:rPr dirty="0"/>
              <a:t>the</a:t>
            </a:r>
            <a:r>
              <a:rPr spc="-55" dirty="0"/>
              <a:t> </a:t>
            </a:r>
            <a:r>
              <a:rPr dirty="0"/>
              <a:t>random</a:t>
            </a:r>
            <a:r>
              <a:rPr spc="-45" dirty="0"/>
              <a:t> </a:t>
            </a:r>
            <a:r>
              <a:rPr dirty="0"/>
              <a:t>ones.</a:t>
            </a:r>
            <a:r>
              <a:rPr spc="-65" dirty="0"/>
              <a:t> </a:t>
            </a:r>
            <a:r>
              <a:rPr dirty="0"/>
              <a:t>So,</a:t>
            </a:r>
            <a:r>
              <a:rPr spc="-40" dirty="0"/>
              <a:t> </a:t>
            </a:r>
            <a:r>
              <a:rPr dirty="0"/>
              <a:t>the</a:t>
            </a:r>
            <a:r>
              <a:rPr spc="-55" dirty="0"/>
              <a:t> </a:t>
            </a:r>
            <a:r>
              <a:rPr dirty="0"/>
              <a:t>decoded</a:t>
            </a:r>
            <a:r>
              <a:rPr spc="-45" dirty="0"/>
              <a:t> </a:t>
            </a:r>
            <a:r>
              <a:rPr dirty="0"/>
              <a:t>data</a:t>
            </a:r>
            <a:r>
              <a:rPr spc="-55" dirty="0"/>
              <a:t> </a:t>
            </a:r>
            <a:r>
              <a:rPr dirty="0"/>
              <a:t>coming</a:t>
            </a:r>
            <a:r>
              <a:rPr spc="-40" dirty="0"/>
              <a:t> </a:t>
            </a:r>
            <a:r>
              <a:rPr dirty="0"/>
              <a:t>out</a:t>
            </a:r>
            <a:r>
              <a:rPr spc="-50" dirty="0"/>
              <a:t> </a:t>
            </a:r>
            <a:r>
              <a:rPr spc="-25" dirty="0"/>
              <a:t>as </a:t>
            </a:r>
            <a:r>
              <a:rPr dirty="0"/>
              <a:t>output</a:t>
            </a:r>
            <a:r>
              <a:rPr spc="-35" dirty="0"/>
              <a:t> </a:t>
            </a:r>
            <a:r>
              <a:rPr dirty="0"/>
              <a:t>of</a:t>
            </a:r>
            <a:r>
              <a:rPr spc="-40" dirty="0"/>
              <a:t> </a:t>
            </a:r>
            <a:r>
              <a:rPr dirty="0"/>
              <a:t>an</a:t>
            </a:r>
            <a:r>
              <a:rPr spc="-25" dirty="0"/>
              <a:t> </a:t>
            </a:r>
            <a:r>
              <a:rPr spc="-10" dirty="0"/>
              <a:t>autoencoder</a:t>
            </a:r>
            <a:r>
              <a:rPr spc="-35" dirty="0"/>
              <a:t> </a:t>
            </a:r>
            <a:r>
              <a:rPr dirty="0"/>
              <a:t>is</a:t>
            </a:r>
            <a:r>
              <a:rPr spc="-35" dirty="0"/>
              <a:t> </a:t>
            </a:r>
            <a:r>
              <a:rPr dirty="0"/>
              <a:t>free</a:t>
            </a:r>
            <a:r>
              <a:rPr spc="-30" dirty="0"/>
              <a:t> </a:t>
            </a:r>
            <a:r>
              <a:rPr dirty="0"/>
              <a:t>of</a:t>
            </a:r>
            <a:r>
              <a:rPr spc="-25" dirty="0"/>
              <a:t> </a:t>
            </a:r>
            <a:r>
              <a:rPr dirty="0"/>
              <a:t>all</a:t>
            </a:r>
            <a:r>
              <a:rPr spc="-40" dirty="0"/>
              <a:t> </a:t>
            </a:r>
            <a:r>
              <a:rPr dirty="0"/>
              <a:t>the</a:t>
            </a:r>
            <a:r>
              <a:rPr spc="-35" dirty="0"/>
              <a:t> </a:t>
            </a:r>
            <a:r>
              <a:rPr dirty="0"/>
              <a:t>extra</a:t>
            </a:r>
            <a:r>
              <a:rPr spc="-40" dirty="0"/>
              <a:t> </a:t>
            </a:r>
            <a:r>
              <a:rPr dirty="0"/>
              <a:t>relations</a:t>
            </a:r>
            <a:r>
              <a:rPr spc="-20" dirty="0"/>
              <a:t> </a:t>
            </a:r>
            <a:r>
              <a:rPr dirty="0"/>
              <a:t>and</a:t>
            </a:r>
            <a:r>
              <a:rPr spc="-40" dirty="0"/>
              <a:t> </a:t>
            </a:r>
            <a:r>
              <a:rPr dirty="0"/>
              <a:t>hence</a:t>
            </a:r>
            <a:r>
              <a:rPr spc="-25" dirty="0"/>
              <a:t> </a:t>
            </a:r>
            <a:r>
              <a:rPr dirty="0"/>
              <a:t>the</a:t>
            </a:r>
            <a:r>
              <a:rPr spc="-20" dirty="0"/>
              <a:t> </a:t>
            </a:r>
            <a:r>
              <a:rPr spc="-10" dirty="0"/>
              <a:t>noise.</a:t>
            </a:r>
          </a:p>
        </p:txBody>
      </p:sp>
      <p:pic>
        <p:nvPicPr>
          <p:cNvPr id="4" name="object 4"/>
          <p:cNvPicPr/>
          <p:nvPr/>
        </p:nvPicPr>
        <p:blipFill>
          <a:blip r:embed="rId2" cstate="print"/>
          <a:stretch>
            <a:fillRect/>
          </a:stretch>
        </p:blipFill>
        <p:spPr>
          <a:xfrm>
            <a:off x="2685288" y="3299459"/>
            <a:ext cx="6821423" cy="182270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Autoencoders</a:t>
            </a:r>
            <a:r>
              <a:rPr spc="-100" dirty="0"/>
              <a:t> </a:t>
            </a:r>
            <a:r>
              <a:rPr dirty="0"/>
              <a:t>as</a:t>
            </a:r>
            <a:r>
              <a:rPr spc="-65" dirty="0"/>
              <a:t> </a:t>
            </a:r>
            <a:r>
              <a:rPr spc="-10" dirty="0"/>
              <a:t>Generative</a:t>
            </a:r>
            <a:r>
              <a:rPr spc="-80" dirty="0"/>
              <a:t> </a:t>
            </a:r>
            <a:r>
              <a:rPr spc="-10" dirty="0"/>
              <a:t>models:</a:t>
            </a:r>
          </a:p>
        </p:txBody>
      </p:sp>
      <p:sp>
        <p:nvSpPr>
          <p:cNvPr id="3" name="object 3"/>
          <p:cNvSpPr txBox="1"/>
          <p:nvPr/>
        </p:nvSpPr>
        <p:spPr>
          <a:xfrm>
            <a:off x="1401317" y="1585976"/>
            <a:ext cx="9141460" cy="57467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292929"/>
                </a:solidFill>
                <a:latin typeface="Calibri"/>
                <a:cs typeface="Calibri"/>
              </a:rPr>
              <a:t>Before</a:t>
            </a:r>
            <a:r>
              <a:rPr sz="1800" spc="-55" dirty="0">
                <a:solidFill>
                  <a:srgbClr val="292929"/>
                </a:solidFill>
                <a:latin typeface="Calibri"/>
                <a:cs typeface="Calibri"/>
              </a:rPr>
              <a:t> </a:t>
            </a:r>
            <a:r>
              <a:rPr sz="1800" dirty="0">
                <a:solidFill>
                  <a:srgbClr val="292929"/>
                </a:solidFill>
                <a:latin typeface="Calibri"/>
                <a:cs typeface="Calibri"/>
              </a:rPr>
              <a:t>the</a:t>
            </a:r>
            <a:r>
              <a:rPr sz="1800" spc="-30" dirty="0">
                <a:solidFill>
                  <a:srgbClr val="292929"/>
                </a:solidFill>
                <a:latin typeface="Calibri"/>
                <a:cs typeface="Calibri"/>
              </a:rPr>
              <a:t> </a:t>
            </a:r>
            <a:r>
              <a:rPr sz="1800" spc="-10" dirty="0">
                <a:solidFill>
                  <a:srgbClr val="292929"/>
                </a:solidFill>
                <a:latin typeface="Calibri"/>
                <a:cs typeface="Calibri"/>
              </a:rPr>
              <a:t>GAN’s</a:t>
            </a:r>
            <a:r>
              <a:rPr sz="1800" spc="-50" dirty="0">
                <a:solidFill>
                  <a:srgbClr val="292929"/>
                </a:solidFill>
                <a:latin typeface="Calibri"/>
                <a:cs typeface="Calibri"/>
              </a:rPr>
              <a:t> </a:t>
            </a:r>
            <a:r>
              <a:rPr sz="1800" dirty="0">
                <a:solidFill>
                  <a:srgbClr val="292929"/>
                </a:solidFill>
                <a:latin typeface="Calibri"/>
                <a:cs typeface="Calibri"/>
              </a:rPr>
              <a:t>came</a:t>
            </a:r>
            <a:r>
              <a:rPr sz="1800" spc="-40" dirty="0">
                <a:solidFill>
                  <a:srgbClr val="292929"/>
                </a:solidFill>
                <a:latin typeface="Calibri"/>
                <a:cs typeface="Calibri"/>
              </a:rPr>
              <a:t> </a:t>
            </a:r>
            <a:r>
              <a:rPr sz="1800" dirty="0">
                <a:solidFill>
                  <a:srgbClr val="292929"/>
                </a:solidFill>
                <a:latin typeface="Calibri"/>
                <a:cs typeface="Calibri"/>
              </a:rPr>
              <a:t>into</a:t>
            </a:r>
            <a:r>
              <a:rPr sz="1800" spc="-35" dirty="0">
                <a:solidFill>
                  <a:srgbClr val="292929"/>
                </a:solidFill>
                <a:latin typeface="Calibri"/>
                <a:cs typeface="Calibri"/>
              </a:rPr>
              <a:t> </a:t>
            </a:r>
            <a:r>
              <a:rPr sz="1800" spc="-10" dirty="0">
                <a:solidFill>
                  <a:srgbClr val="292929"/>
                </a:solidFill>
                <a:latin typeface="Calibri"/>
                <a:cs typeface="Calibri"/>
              </a:rPr>
              <a:t>existence,</a:t>
            </a:r>
            <a:r>
              <a:rPr sz="1800" spc="-35" dirty="0">
                <a:solidFill>
                  <a:srgbClr val="292929"/>
                </a:solidFill>
                <a:latin typeface="Calibri"/>
                <a:cs typeface="Calibri"/>
              </a:rPr>
              <a:t> </a:t>
            </a:r>
            <a:r>
              <a:rPr sz="1800" spc="-10" dirty="0">
                <a:solidFill>
                  <a:srgbClr val="292929"/>
                </a:solidFill>
                <a:latin typeface="Calibri"/>
                <a:cs typeface="Calibri"/>
              </a:rPr>
              <a:t>Autoencoders</a:t>
            </a:r>
            <a:r>
              <a:rPr sz="1800" spc="-45" dirty="0">
                <a:solidFill>
                  <a:srgbClr val="292929"/>
                </a:solidFill>
                <a:latin typeface="Calibri"/>
                <a:cs typeface="Calibri"/>
              </a:rPr>
              <a:t> </a:t>
            </a:r>
            <a:r>
              <a:rPr sz="1800" dirty="0">
                <a:solidFill>
                  <a:srgbClr val="292929"/>
                </a:solidFill>
                <a:latin typeface="Calibri"/>
                <a:cs typeface="Calibri"/>
              </a:rPr>
              <a:t>were</a:t>
            </a:r>
            <a:r>
              <a:rPr sz="1800" spc="-30" dirty="0">
                <a:solidFill>
                  <a:srgbClr val="292929"/>
                </a:solidFill>
                <a:latin typeface="Calibri"/>
                <a:cs typeface="Calibri"/>
              </a:rPr>
              <a:t> </a:t>
            </a:r>
            <a:r>
              <a:rPr sz="1800" dirty="0">
                <a:solidFill>
                  <a:srgbClr val="292929"/>
                </a:solidFill>
                <a:latin typeface="Calibri"/>
                <a:cs typeface="Calibri"/>
              </a:rPr>
              <a:t>used</a:t>
            </a:r>
            <a:r>
              <a:rPr sz="1800" spc="-45" dirty="0">
                <a:solidFill>
                  <a:srgbClr val="292929"/>
                </a:solidFill>
                <a:latin typeface="Calibri"/>
                <a:cs typeface="Calibri"/>
              </a:rPr>
              <a:t> </a:t>
            </a:r>
            <a:r>
              <a:rPr sz="1800" dirty="0">
                <a:solidFill>
                  <a:srgbClr val="292929"/>
                </a:solidFill>
                <a:latin typeface="Calibri"/>
                <a:cs typeface="Calibri"/>
              </a:rPr>
              <a:t>as</a:t>
            </a:r>
            <a:r>
              <a:rPr sz="1800" spc="-50" dirty="0">
                <a:solidFill>
                  <a:srgbClr val="292929"/>
                </a:solidFill>
                <a:latin typeface="Calibri"/>
                <a:cs typeface="Calibri"/>
              </a:rPr>
              <a:t> </a:t>
            </a:r>
            <a:r>
              <a:rPr sz="1800" spc="-10" dirty="0">
                <a:solidFill>
                  <a:srgbClr val="292929"/>
                </a:solidFill>
                <a:latin typeface="Calibri"/>
                <a:cs typeface="Calibri"/>
              </a:rPr>
              <a:t>generative</a:t>
            </a:r>
            <a:r>
              <a:rPr sz="1800" spc="-45" dirty="0">
                <a:solidFill>
                  <a:srgbClr val="292929"/>
                </a:solidFill>
                <a:latin typeface="Calibri"/>
                <a:cs typeface="Calibri"/>
              </a:rPr>
              <a:t> </a:t>
            </a:r>
            <a:r>
              <a:rPr sz="1800" dirty="0">
                <a:solidFill>
                  <a:srgbClr val="292929"/>
                </a:solidFill>
                <a:latin typeface="Calibri"/>
                <a:cs typeface="Calibri"/>
              </a:rPr>
              <a:t>models.</a:t>
            </a:r>
            <a:r>
              <a:rPr sz="1800" spc="-50" dirty="0">
                <a:solidFill>
                  <a:srgbClr val="292929"/>
                </a:solidFill>
                <a:latin typeface="Calibri"/>
                <a:cs typeface="Calibri"/>
              </a:rPr>
              <a:t> </a:t>
            </a:r>
            <a:r>
              <a:rPr sz="1800" dirty="0">
                <a:solidFill>
                  <a:srgbClr val="292929"/>
                </a:solidFill>
                <a:latin typeface="Calibri"/>
                <a:cs typeface="Calibri"/>
              </a:rPr>
              <a:t>One</a:t>
            </a:r>
            <a:r>
              <a:rPr sz="1800" spc="-30" dirty="0">
                <a:solidFill>
                  <a:srgbClr val="292929"/>
                </a:solidFill>
                <a:latin typeface="Calibri"/>
                <a:cs typeface="Calibri"/>
              </a:rPr>
              <a:t> </a:t>
            </a:r>
            <a:r>
              <a:rPr sz="1800" dirty="0">
                <a:solidFill>
                  <a:srgbClr val="292929"/>
                </a:solidFill>
                <a:latin typeface="Calibri"/>
                <a:cs typeface="Calibri"/>
              </a:rPr>
              <a:t>of</a:t>
            </a:r>
            <a:r>
              <a:rPr sz="1800" spc="-45" dirty="0">
                <a:solidFill>
                  <a:srgbClr val="292929"/>
                </a:solidFill>
                <a:latin typeface="Calibri"/>
                <a:cs typeface="Calibri"/>
              </a:rPr>
              <a:t> </a:t>
            </a:r>
            <a:r>
              <a:rPr sz="1800" spc="-25" dirty="0">
                <a:solidFill>
                  <a:srgbClr val="292929"/>
                </a:solidFill>
                <a:latin typeface="Calibri"/>
                <a:cs typeface="Calibri"/>
              </a:rPr>
              <a:t>the</a:t>
            </a:r>
            <a:endParaRPr sz="1800">
              <a:latin typeface="Calibri"/>
              <a:cs typeface="Calibri"/>
            </a:endParaRPr>
          </a:p>
          <a:p>
            <a:pPr marL="12700">
              <a:lnSpc>
                <a:spcPct val="100000"/>
              </a:lnSpc>
            </a:pPr>
            <a:r>
              <a:rPr sz="1800" dirty="0">
                <a:solidFill>
                  <a:srgbClr val="292929"/>
                </a:solidFill>
                <a:latin typeface="Calibri"/>
                <a:cs typeface="Calibri"/>
              </a:rPr>
              <a:t>modified</a:t>
            </a:r>
            <a:r>
              <a:rPr sz="1800" spc="-35" dirty="0">
                <a:solidFill>
                  <a:srgbClr val="292929"/>
                </a:solidFill>
                <a:latin typeface="Calibri"/>
                <a:cs typeface="Calibri"/>
              </a:rPr>
              <a:t> </a:t>
            </a:r>
            <a:r>
              <a:rPr sz="1800" dirty="0">
                <a:solidFill>
                  <a:srgbClr val="292929"/>
                </a:solidFill>
                <a:latin typeface="Calibri"/>
                <a:cs typeface="Calibri"/>
              </a:rPr>
              <a:t>approaches</a:t>
            </a:r>
            <a:r>
              <a:rPr sz="1800" spc="-30" dirty="0">
                <a:solidFill>
                  <a:srgbClr val="292929"/>
                </a:solidFill>
                <a:latin typeface="Calibri"/>
                <a:cs typeface="Calibri"/>
              </a:rPr>
              <a:t> </a:t>
            </a:r>
            <a:r>
              <a:rPr sz="1800" dirty="0">
                <a:solidFill>
                  <a:srgbClr val="292929"/>
                </a:solidFill>
                <a:latin typeface="Calibri"/>
                <a:cs typeface="Calibri"/>
              </a:rPr>
              <a:t>of</a:t>
            </a:r>
            <a:r>
              <a:rPr sz="1800" spc="-40" dirty="0">
                <a:solidFill>
                  <a:srgbClr val="292929"/>
                </a:solidFill>
                <a:latin typeface="Calibri"/>
                <a:cs typeface="Calibri"/>
              </a:rPr>
              <a:t> </a:t>
            </a:r>
            <a:r>
              <a:rPr sz="1800" spc="-10" dirty="0">
                <a:solidFill>
                  <a:srgbClr val="292929"/>
                </a:solidFill>
                <a:latin typeface="Calibri"/>
                <a:cs typeface="Calibri"/>
              </a:rPr>
              <a:t>autoencoders,</a:t>
            </a:r>
            <a:r>
              <a:rPr sz="1800" spc="-40" dirty="0">
                <a:solidFill>
                  <a:srgbClr val="292929"/>
                </a:solidFill>
                <a:latin typeface="Calibri"/>
                <a:cs typeface="Calibri"/>
              </a:rPr>
              <a:t> </a:t>
            </a:r>
            <a:r>
              <a:rPr sz="1800" dirty="0">
                <a:solidFill>
                  <a:srgbClr val="292929"/>
                </a:solidFill>
                <a:latin typeface="Calibri"/>
                <a:cs typeface="Calibri"/>
              </a:rPr>
              <a:t>variational</a:t>
            </a:r>
            <a:r>
              <a:rPr sz="1800" spc="-35" dirty="0">
                <a:solidFill>
                  <a:srgbClr val="292929"/>
                </a:solidFill>
                <a:latin typeface="Calibri"/>
                <a:cs typeface="Calibri"/>
              </a:rPr>
              <a:t> </a:t>
            </a:r>
            <a:r>
              <a:rPr sz="1800" spc="-10" dirty="0">
                <a:solidFill>
                  <a:srgbClr val="292929"/>
                </a:solidFill>
                <a:latin typeface="Calibri"/>
                <a:cs typeface="Calibri"/>
              </a:rPr>
              <a:t>autoencoders</a:t>
            </a:r>
            <a:r>
              <a:rPr sz="1800" spc="-35" dirty="0">
                <a:solidFill>
                  <a:srgbClr val="292929"/>
                </a:solidFill>
                <a:latin typeface="Calibri"/>
                <a:cs typeface="Calibri"/>
              </a:rPr>
              <a:t> </a:t>
            </a:r>
            <a:r>
              <a:rPr sz="1800" dirty="0">
                <a:solidFill>
                  <a:srgbClr val="292929"/>
                </a:solidFill>
                <a:latin typeface="Calibri"/>
                <a:cs typeface="Calibri"/>
              </a:rPr>
              <a:t>are</a:t>
            </a:r>
            <a:r>
              <a:rPr sz="1800" spc="-40" dirty="0">
                <a:solidFill>
                  <a:srgbClr val="292929"/>
                </a:solidFill>
                <a:latin typeface="Calibri"/>
                <a:cs typeface="Calibri"/>
              </a:rPr>
              <a:t> </a:t>
            </a:r>
            <a:r>
              <a:rPr sz="1800" dirty="0">
                <a:solidFill>
                  <a:srgbClr val="292929"/>
                </a:solidFill>
                <a:latin typeface="Calibri"/>
                <a:cs typeface="Calibri"/>
              </a:rPr>
              <a:t>used</a:t>
            </a:r>
            <a:r>
              <a:rPr sz="1800" spc="-45" dirty="0">
                <a:solidFill>
                  <a:srgbClr val="292929"/>
                </a:solidFill>
                <a:latin typeface="Calibri"/>
                <a:cs typeface="Calibri"/>
              </a:rPr>
              <a:t> </a:t>
            </a:r>
            <a:r>
              <a:rPr sz="1800" dirty="0">
                <a:solidFill>
                  <a:srgbClr val="292929"/>
                </a:solidFill>
                <a:latin typeface="Calibri"/>
                <a:cs typeface="Calibri"/>
              </a:rPr>
              <a:t>for</a:t>
            </a:r>
            <a:r>
              <a:rPr sz="1800" spc="-50" dirty="0">
                <a:solidFill>
                  <a:srgbClr val="292929"/>
                </a:solidFill>
                <a:latin typeface="Calibri"/>
                <a:cs typeface="Calibri"/>
              </a:rPr>
              <a:t> </a:t>
            </a:r>
            <a:r>
              <a:rPr sz="1800" spc="-10" dirty="0">
                <a:solidFill>
                  <a:srgbClr val="292929"/>
                </a:solidFill>
                <a:latin typeface="Calibri"/>
                <a:cs typeface="Calibri"/>
              </a:rPr>
              <a:t>generative</a:t>
            </a:r>
            <a:r>
              <a:rPr sz="1800" spc="-45" dirty="0">
                <a:solidFill>
                  <a:srgbClr val="292929"/>
                </a:solidFill>
                <a:latin typeface="Calibri"/>
                <a:cs typeface="Calibri"/>
              </a:rPr>
              <a:t> </a:t>
            </a:r>
            <a:r>
              <a:rPr sz="1800" spc="-10" dirty="0">
                <a:solidFill>
                  <a:srgbClr val="292929"/>
                </a:solidFill>
                <a:latin typeface="Calibri"/>
                <a:cs typeface="Calibri"/>
              </a:rPr>
              <a:t>purposes.</a:t>
            </a:r>
            <a:endParaRPr sz="1800">
              <a:latin typeface="Calibri"/>
              <a:cs typeface="Calibri"/>
            </a:endParaRPr>
          </a:p>
        </p:txBody>
      </p:sp>
      <p:sp>
        <p:nvSpPr>
          <p:cNvPr id="4" name="object 4"/>
          <p:cNvSpPr txBox="1"/>
          <p:nvPr/>
        </p:nvSpPr>
        <p:spPr>
          <a:xfrm>
            <a:off x="516432" y="3633927"/>
            <a:ext cx="3081655" cy="2212340"/>
          </a:xfrm>
          <a:prstGeom prst="rect">
            <a:avLst/>
          </a:prstGeom>
        </p:spPr>
        <p:txBody>
          <a:bodyPr vert="horz" wrap="square" lIns="0" tIns="13970" rIns="0" bIns="0" rtlCol="0">
            <a:spAutoFit/>
          </a:bodyPr>
          <a:lstStyle/>
          <a:p>
            <a:pPr marL="12700" marR="5080">
              <a:lnSpc>
                <a:spcPct val="99600"/>
              </a:lnSpc>
              <a:spcBef>
                <a:spcPts val="110"/>
              </a:spcBef>
            </a:pPr>
            <a:r>
              <a:rPr sz="1800" dirty="0">
                <a:solidFill>
                  <a:srgbClr val="212121"/>
                </a:solidFill>
                <a:latin typeface="Tahoma"/>
                <a:cs typeface="Tahoma"/>
              </a:rPr>
              <a:t>The</a:t>
            </a:r>
            <a:r>
              <a:rPr sz="1800" spc="-105" dirty="0">
                <a:solidFill>
                  <a:srgbClr val="212121"/>
                </a:solidFill>
                <a:latin typeface="Tahoma"/>
                <a:cs typeface="Tahoma"/>
              </a:rPr>
              <a:t> </a:t>
            </a:r>
            <a:r>
              <a:rPr sz="1800" spc="-10" dirty="0">
                <a:solidFill>
                  <a:srgbClr val="212121"/>
                </a:solidFill>
                <a:latin typeface="Tahoma"/>
                <a:cs typeface="Tahoma"/>
              </a:rPr>
              <a:t>convolutional </a:t>
            </a:r>
            <a:r>
              <a:rPr sz="1800" dirty="0">
                <a:solidFill>
                  <a:srgbClr val="212121"/>
                </a:solidFill>
                <a:latin typeface="Tahoma"/>
                <a:cs typeface="Tahoma"/>
              </a:rPr>
              <a:t>Autoencoder</a:t>
            </a:r>
            <a:r>
              <a:rPr sz="1800" spc="15" dirty="0">
                <a:solidFill>
                  <a:srgbClr val="212121"/>
                </a:solidFill>
                <a:latin typeface="Tahoma"/>
                <a:cs typeface="Tahoma"/>
              </a:rPr>
              <a:t> </a:t>
            </a:r>
            <a:r>
              <a:rPr sz="1800" spc="-20" dirty="0">
                <a:solidFill>
                  <a:srgbClr val="212121"/>
                </a:solidFill>
                <a:latin typeface="Tahoma"/>
                <a:cs typeface="Tahoma"/>
              </a:rPr>
              <a:t>learns</a:t>
            </a:r>
            <a:r>
              <a:rPr sz="1800" spc="25" dirty="0">
                <a:solidFill>
                  <a:srgbClr val="212121"/>
                </a:solidFill>
                <a:latin typeface="Tahoma"/>
                <a:cs typeface="Tahoma"/>
              </a:rPr>
              <a:t> </a:t>
            </a:r>
            <a:r>
              <a:rPr sz="1800" dirty="0">
                <a:solidFill>
                  <a:srgbClr val="212121"/>
                </a:solidFill>
                <a:latin typeface="Tahoma"/>
                <a:cs typeface="Tahoma"/>
              </a:rPr>
              <a:t>to</a:t>
            </a:r>
            <a:r>
              <a:rPr sz="1800" spc="55" dirty="0">
                <a:solidFill>
                  <a:srgbClr val="212121"/>
                </a:solidFill>
                <a:latin typeface="Tahoma"/>
                <a:cs typeface="Tahoma"/>
              </a:rPr>
              <a:t> </a:t>
            </a:r>
            <a:r>
              <a:rPr sz="1800" spc="-10" dirty="0">
                <a:solidFill>
                  <a:srgbClr val="212121"/>
                </a:solidFill>
                <a:latin typeface="Tahoma"/>
                <a:cs typeface="Tahoma"/>
              </a:rPr>
              <a:t>remove </a:t>
            </a:r>
            <a:r>
              <a:rPr sz="1800" dirty="0">
                <a:solidFill>
                  <a:srgbClr val="212121"/>
                </a:solidFill>
                <a:latin typeface="Tahoma"/>
                <a:cs typeface="Tahoma"/>
              </a:rPr>
              <a:t>noise</a:t>
            </a:r>
            <a:r>
              <a:rPr sz="1800" spc="-55" dirty="0">
                <a:solidFill>
                  <a:srgbClr val="212121"/>
                </a:solidFill>
                <a:latin typeface="Tahoma"/>
                <a:cs typeface="Tahoma"/>
              </a:rPr>
              <a:t> </a:t>
            </a:r>
            <a:r>
              <a:rPr sz="1800" dirty="0">
                <a:solidFill>
                  <a:srgbClr val="212121"/>
                </a:solidFill>
                <a:latin typeface="Tahoma"/>
                <a:cs typeface="Tahoma"/>
              </a:rPr>
              <a:t>from</a:t>
            </a:r>
            <a:r>
              <a:rPr sz="1800" spc="-60" dirty="0">
                <a:solidFill>
                  <a:srgbClr val="212121"/>
                </a:solidFill>
                <a:latin typeface="Tahoma"/>
                <a:cs typeface="Tahoma"/>
              </a:rPr>
              <a:t> </a:t>
            </a:r>
            <a:r>
              <a:rPr sz="1800" spc="-65" dirty="0">
                <a:solidFill>
                  <a:srgbClr val="212121"/>
                </a:solidFill>
                <a:latin typeface="Tahoma"/>
                <a:cs typeface="Tahoma"/>
              </a:rPr>
              <a:t>a</a:t>
            </a:r>
            <a:r>
              <a:rPr sz="1800" spc="-55" dirty="0">
                <a:solidFill>
                  <a:srgbClr val="212121"/>
                </a:solidFill>
                <a:latin typeface="Tahoma"/>
                <a:cs typeface="Tahoma"/>
              </a:rPr>
              <a:t> </a:t>
            </a:r>
            <a:r>
              <a:rPr sz="1800" dirty="0">
                <a:solidFill>
                  <a:srgbClr val="212121"/>
                </a:solidFill>
                <a:latin typeface="Tahoma"/>
                <a:cs typeface="Tahoma"/>
              </a:rPr>
              <a:t>picture</a:t>
            </a:r>
            <a:r>
              <a:rPr sz="1800" spc="-50" dirty="0">
                <a:solidFill>
                  <a:srgbClr val="212121"/>
                </a:solidFill>
                <a:latin typeface="Tahoma"/>
                <a:cs typeface="Tahoma"/>
              </a:rPr>
              <a:t> </a:t>
            </a:r>
            <a:r>
              <a:rPr sz="1800" spc="-25" dirty="0">
                <a:solidFill>
                  <a:srgbClr val="212121"/>
                </a:solidFill>
                <a:latin typeface="Tahoma"/>
                <a:cs typeface="Tahoma"/>
              </a:rPr>
              <a:t>or </a:t>
            </a:r>
            <a:r>
              <a:rPr sz="1800" dirty="0">
                <a:solidFill>
                  <a:srgbClr val="212121"/>
                </a:solidFill>
                <a:latin typeface="Tahoma"/>
                <a:cs typeface="Tahoma"/>
              </a:rPr>
              <a:t>reconstruct</a:t>
            </a:r>
            <a:r>
              <a:rPr sz="1800" spc="-55" dirty="0">
                <a:solidFill>
                  <a:srgbClr val="212121"/>
                </a:solidFill>
                <a:latin typeface="Tahoma"/>
                <a:cs typeface="Tahoma"/>
              </a:rPr>
              <a:t> </a:t>
            </a:r>
            <a:r>
              <a:rPr sz="1800" dirty="0">
                <a:solidFill>
                  <a:srgbClr val="212121"/>
                </a:solidFill>
                <a:latin typeface="Tahoma"/>
                <a:cs typeface="Tahoma"/>
              </a:rPr>
              <a:t>the</a:t>
            </a:r>
            <a:r>
              <a:rPr sz="1800" spc="-30" dirty="0">
                <a:solidFill>
                  <a:srgbClr val="212121"/>
                </a:solidFill>
                <a:latin typeface="Tahoma"/>
                <a:cs typeface="Tahoma"/>
              </a:rPr>
              <a:t> </a:t>
            </a:r>
            <a:r>
              <a:rPr sz="1800" spc="-25" dirty="0">
                <a:solidFill>
                  <a:srgbClr val="212121"/>
                </a:solidFill>
                <a:latin typeface="Tahoma"/>
                <a:cs typeface="Tahoma"/>
              </a:rPr>
              <a:t>missing</a:t>
            </a:r>
            <a:r>
              <a:rPr sz="1800" spc="-30" dirty="0">
                <a:solidFill>
                  <a:srgbClr val="212121"/>
                </a:solidFill>
                <a:latin typeface="Tahoma"/>
                <a:cs typeface="Tahoma"/>
              </a:rPr>
              <a:t> </a:t>
            </a:r>
            <a:r>
              <a:rPr sz="1800" spc="-10" dirty="0">
                <a:solidFill>
                  <a:srgbClr val="212121"/>
                </a:solidFill>
                <a:latin typeface="Tahoma"/>
                <a:cs typeface="Tahoma"/>
              </a:rPr>
              <a:t>parts, </a:t>
            </a:r>
            <a:r>
              <a:rPr sz="1800" dirty="0">
                <a:solidFill>
                  <a:srgbClr val="212121"/>
                </a:solidFill>
                <a:latin typeface="Tahoma"/>
                <a:cs typeface="Tahoma"/>
              </a:rPr>
              <a:t>so</a:t>
            </a:r>
            <a:r>
              <a:rPr sz="1800" spc="-50" dirty="0">
                <a:solidFill>
                  <a:srgbClr val="212121"/>
                </a:solidFill>
                <a:latin typeface="Tahoma"/>
                <a:cs typeface="Tahoma"/>
              </a:rPr>
              <a:t> </a:t>
            </a:r>
            <a:r>
              <a:rPr sz="1800" dirty="0">
                <a:solidFill>
                  <a:srgbClr val="212121"/>
                </a:solidFill>
                <a:latin typeface="Tahoma"/>
                <a:cs typeface="Tahoma"/>
              </a:rPr>
              <a:t>the</a:t>
            </a:r>
            <a:r>
              <a:rPr sz="1800" spc="-55" dirty="0">
                <a:solidFill>
                  <a:srgbClr val="212121"/>
                </a:solidFill>
                <a:latin typeface="Tahoma"/>
                <a:cs typeface="Tahoma"/>
              </a:rPr>
              <a:t> </a:t>
            </a:r>
            <a:r>
              <a:rPr sz="1800" dirty="0">
                <a:solidFill>
                  <a:srgbClr val="212121"/>
                </a:solidFill>
                <a:latin typeface="Tahoma"/>
                <a:cs typeface="Tahoma"/>
              </a:rPr>
              <a:t>input</a:t>
            </a:r>
            <a:r>
              <a:rPr sz="1800" spc="-45" dirty="0">
                <a:solidFill>
                  <a:srgbClr val="212121"/>
                </a:solidFill>
                <a:latin typeface="Tahoma"/>
                <a:cs typeface="Tahoma"/>
              </a:rPr>
              <a:t> </a:t>
            </a:r>
            <a:r>
              <a:rPr sz="1800" dirty="0">
                <a:solidFill>
                  <a:srgbClr val="212121"/>
                </a:solidFill>
                <a:latin typeface="Tahoma"/>
                <a:cs typeface="Tahoma"/>
              </a:rPr>
              <a:t>noisy</a:t>
            </a:r>
            <a:r>
              <a:rPr sz="1800" spc="-65" dirty="0">
                <a:solidFill>
                  <a:srgbClr val="212121"/>
                </a:solidFill>
                <a:latin typeface="Tahoma"/>
                <a:cs typeface="Tahoma"/>
              </a:rPr>
              <a:t> </a:t>
            </a:r>
            <a:r>
              <a:rPr sz="1800" spc="-10" dirty="0">
                <a:solidFill>
                  <a:srgbClr val="212121"/>
                </a:solidFill>
                <a:latin typeface="Tahoma"/>
                <a:cs typeface="Tahoma"/>
              </a:rPr>
              <a:t>version </a:t>
            </a:r>
            <a:r>
              <a:rPr sz="1800" dirty="0">
                <a:solidFill>
                  <a:srgbClr val="212121"/>
                </a:solidFill>
                <a:latin typeface="Tahoma"/>
                <a:cs typeface="Tahoma"/>
              </a:rPr>
              <a:t>becomes</a:t>
            </a:r>
            <a:r>
              <a:rPr sz="1800" spc="-114" dirty="0">
                <a:solidFill>
                  <a:srgbClr val="212121"/>
                </a:solidFill>
                <a:latin typeface="Tahoma"/>
                <a:cs typeface="Tahoma"/>
              </a:rPr>
              <a:t> </a:t>
            </a:r>
            <a:r>
              <a:rPr sz="1800" dirty="0">
                <a:solidFill>
                  <a:srgbClr val="212121"/>
                </a:solidFill>
                <a:latin typeface="Tahoma"/>
                <a:cs typeface="Tahoma"/>
              </a:rPr>
              <a:t>the</a:t>
            </a:r>
            <a:r>
              <a:rPr sz="1800" spc="-114" dirty="0">
                <a:solidFill>
                  <a:srgbClr val="212121"/>
                </a:solidFill>
                <a:latin typeface="Tahoma"/>
                <a:cs typeface="Tahoma"/>
              </a:rPr>
              <a:t> </a:t>
            </a:r>
            <a:r>
              <a:rPr sz="1800" dirty="0">
                <a:solidFill>
                  <a:srgbClr val="212121"/>
                </a:solidFill>
                <a:latin typeface="Tahoma"/>
                <a:cs typeface="Tahoma"/>
              </a:rPr>
              <a:t>clean</a:t>
            </a:r>
            <a:r>
              <a:rPr sz="1800" spc="-100" dirty="0">
                <a:solidFill>
                  <a:srgbClr val="212121"/>
                </a:solidFill>
                <a:latin typeface="Tahoma"/>
                <a:cs typeface="Tahoma"/>
              </a:rPr>
              <a:t> </a:t>
            </a:r>
            <a:r>
              <a:rPr sz="1800" spc="-10" dirty="0">
                <a:solidFill>
                  <a:srgbClr val="212121"/>
                </a:solidFill>
                <a:latin typeface="Tahoma"/>
                <a:cs typeface="Tahoma"/>
              </a:rPr>
              <a:t>output version.</a:t>
            </a:r>
            <a:r>
              <a:rPr sz="1800" spc="-75"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network</a:t>
            </a:r>
            <a:r>
              <a:rPr sz="1800" spc="-90" dirty="0">
                <a:solidFill>
                  <a:srgbClr val="212121"/>
                </a:solidFill>
                <a:latin typeface="Tahoma"/>
                <a:cs typeface="Tahoma"/>
              </a:rPr>
              <a:t> </a:t>
            </a:r>
            <a:r>
              <a:rPr sz="1800" dirty="0">
                <a:solidFill>
                  <a:srgbClr val="212121"/>
                </a:solidFill>
                <a:latin typeface="Tahoma"/>
                <a:cs typeface="Tahoma"/>
              </a:rPr>
              <a:t>also</a:t>
            </a:r>
            <a:r>
              <a:rPr sz="1800" spc="-60" dirty="0">
                <a:solidFill>
                  <a:srgbClr val="212121"/>
                </a:solidFill>
                <a:latin typeface="Tahoma"/>
                <a:cs typeface="Tahoma"/>
              </a:rPr>
              <a:t> </a:t>
            </a:r>
            <a:r>
              <a:rPr sz="1800" spc="-10" dirty="0">
                <a:solidFill>
                  <a:srgbClr val="212121"/>
                </a:solidFill>
                <a:latin typeface="Tahoma"/>
                <a:cs typeface="Tahoma"/>
              </a:rPr>
              <a:t>fills </a:t>
            </a:r>
            <a:r>
              <a:rPr sz="1800" dirty="0">
                <a:solidFill>
                  <a:srgbClr val="212121"/>
                </a:solidFill>
                <a:latin typeface="Tahoma"/>
                <a:cs typeface="Tahoma"/>
              </a:rPr>
              <a:t>the</a:t>
            </a:r>
            <a:r>
              <a:rPr sz="1800" spc="-90" dirty="0">
                <a:solidFill>
                  <a:srgbClr val="212121"/>
                </a:solidFill>
                <a:latin typeface="Tahoma"/>
                <a:cs typeface="Tahoma"/>
              </a:rPr>
              <a:t> </a:t>
            </a:r>
            <a:r>
              <a:rPr sz="1800" spc="-40" dirty="0">
                <a:solidFill>
                  <a:srgbClr val="212121"/>
                </a:solidFill>
                <a:latin typeface="Tahoma"/>
                <a:cs typeface="Tahoma"/>
              </a:rPr>
              <a:t>gap</a:t>
            </a:r>
            <a:r>
              <a:rPr sz="1800" spc="-80" dirty="0">
                <a:solidFill>
                  <a:srgbClr val="212121"/>
                </a:solidFill>
                <a:latin typeface="Tahoma"/>
                <a:cs typeface="Tahoma"/>
              </a:rPr>
              <a:t> </a:t>
            </a:r>
            <a:r>
              <a:rPr sz="1800" dirty="0">
                <a:solidFill>
                  <a:srgbClr val="212121"/>
                </a:solidFill>
                <a:latin typeface="Tahoma"/>
                <a:cs typeface="Tahoma"/>
              </a:rPr>
              <a:t>in</a:t>
            </a:r>
            <a:r>
              <a:rPr sz="1800" spc="-75" dirty="0">
                <a:solidFill>
                  <a:srgbClr val="212121"/>
                </a:solidFill>
                <a:latin typeface="Tahoma"/>
                <a:cs typeface="Tahoma"/>
              </a:rPr>
              <a:t> </a:t>
            </a:r>
            <a:r>
              <a:rPr sz="1800" dirty="0">
                <a:solidFill>
                  <a:srgbClr val="212121"/>
                </a:solidFill>
                <a:latin typeface="Tahoma"/>
                <a:cs typeface="Tahoma"/>
              </a:rPr>
              <a:t>the</a:t>
            </a:r>
            <a:r>
              <a:rPr sz="1800" spc="-90" dirty="0">
                <a:solidFill>
                  <a:srgbClr val="212121"/>
                </a:solidFill>
                <a:latin typeface="Tahoma"/>
                <a:cs typeface="Tahoma"/>
              </a:rPr>
              <a:t> </a:t>
            </a:r>
            <a:r>
              <a:rPr sz="1800" spc="-10" dirty="0">
                <a:solidFill>
                  <a:srgbClr val="212121"/>
                </a:solidFill>
                <a:latin typeface="Tahoma"/>
                <a:cs typeface="Tahoma"/>
              </a:rPr>
              <a:t>image.</a:t>
            </a:r>
            <a:endParaRPr sz="1800">
              <a:latin typeface="Tahoma"/>
              <a:cs typeface="Tahoma"/>
            </a:endParaRPr>
          </a:p>
        </p:txBody>
      </p:sp>
      <p:pic>
        <p:nvPicPr>
          <p:cNvPr id="5" name="object 5"/>
          <p:cNvPicPr/>
          <p:nvPr/>
        </p:nvPicPr>
        <p:blipFill>
          <a:blip r:embed="rId2" cstate="print"/>
          <a:stretch>
            <a:fillRect/>
          </a:stretch>
        </p:blipFill>
        <p:spPr>
          <a:xfrm>
            <a:off x="3656076" y="3604259"/>
            <a:ext cx="7790688" cy="2714244"/>
          </a:xfrm>
          <a:prstGeom prst="rect">
            <a:avLst/>
          </a:prstGeom>
        </p:spPr>
      </p:pic>
      <p:sp>
        <p:nvSpPr>
          <p:cNvPr id="6" name="object 6"/>
          <p:cNvSpPr txBox="1"/>
          <p:nvPr/>
        </p:nvSpPr>
        <p:spPr>
          <a:xfrm>
            <a:off x="516432" y="2609850"/>
            <a:ext cx="3693795" cy="513715"/>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292929"/>
                </a:solidFill>
                <a:latin typeface="Calibri"/>
                <a:cs typeface="Calibri"/>
              </a:rPr>
              <a:t>Image</a:t>
            </a:r>
            <a:r>
              <a:rPr sz="3200" b="1" spc="-75" dirty="0">
                <a:solidFill>
                  <a:srgbClr val="292929"/>
                </a:solidFill>
                <a:latin typeface="Calibri"/>
                <a:cs typeface="Calibri"/>
              </a:rPr>
              <a:t> </a:t>
            </a:r>
            <a:r>
              <a:rPr sz="3200" b="1" spc="-10" dirty="0">
                <a:solidFill>
                  <a:srgbClr val="292929"/>
                </a:solidFill>
                <a:latin typeface="Calibri"/>
                <a:cs typeface="Calibri"/>
              </a:rPr>
              <a:t>Reconstruction</a:t>
            </a:r>
            <a:endParaRPr sz="320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8276" y="1812035"/>
            <a:ext cx="7935468" cy="4514088"/>
          </a:xfrm>
          <a:prstGeom prst="rect">
            <a:avLst/>
          </a:prstGeom>
        </p:spPr>
      </p:pic>
      <p:sp>
        <p:nvSpPr>
          <p:cNvPr id="3" name="object 3"/>
          <p:cNvSpPr txBox="1"/>
          <p:nvPr/>
        </p:nvSpPr>
        <p:spPr>
          <a:xfrm>
            <a:off x="650240" y="287782"/>
            <a:ext cx="2446655" cy="513715"/>
          </a:xfrm>
          <a:prstGeom prst="rect">
            <a:avLst/>
          </a:prstGeom>
        </p:spPr>
        <p:txBody>
          <a:bodyPr vert="horz" wrap="square" lIns="0" tIns="12700" rIns="0" bIns="0" rtlCol="0">
            <a:spAutoFit/>
          </a:bodyPr>
          <a:lstStyle/>
          <a:p>
            <a:pPr marL="12700">
              <a:lnSpc>
                <a:spcPct val="100000"/>
              </a:lnSpc>
              <a:spcBef>
                <a:spcPts val="100"/>
              </a:spcBef>
            </a:pPr>
            <a:r>
              <a:rPr sz="3200" b="1" u="sng" spc="-365" dirty="0">
                <a:solidFill>
                  <a:srgbClr val="212121"/>
                </a:solidFill>
                <a:uFill>
                  <a:solidFill>
                    <a:srgbClr val="212121"/>
                  </a:solidFill>
                </a:uFill>
                <a:latin typeface="Tahoma"/>
                <a:cs typeface="Tahoma"/>
              </a:rPr>
              <a:t>Image</a:t>
            </a:r>
            <a:r>
              <a:rPr sz="3200" b="1" u="sng" spc="-170" dirty="0">
                <a:solidFill>
                  <a:srgbClr val="212121"/>
                </a:solidFill>
                <a:uFill>
                  <a:solidFill>
                    <a:srgbClr val="212121"/>
                  </a:solidFill>
                </a:uFill>
                <a:latin typeface="Tahoma"/>
                <a:cs typeface="Tahoma"/>
              </a:rPr>
              <a:t> </a:t>
            </a:r>
            <a:r>
              <a:rPr sz="3200" b="1" u="sng" spc="-210" dirty="0">
                <a:solidFill>
                  <a:srgbClr val="212121"/>
                </a:solidFill>
                <a:uFill>
                  <a:solidFill>
                    <a:srgbClr val="212121"/>
                  </a:solidFill>
                </a:uFill>
                <a:latin typeface="Tahoma"/>
                <a:cs typeface="Tahoma"/>
              </a:rPr>
              <a:t>Search</a:t>
            </a:r>
            <a:endParaRPr sz="3200">
              <a:latin typeface="Tahoma"/>
              <a:cs typeface="Tahoma"/>
            </a:endParaRPr>
          </a:p>
        </p:txBody>
      </p:sp>
      <p:sp>
        <p:nvSpPr>
          <p:cNvPr id="4" name="object 4"/>
          <p:cNvSpPr txBox="1"/>
          <p:nvPr/>
        </p:nvSpPr>
        <p:spPr>
          <a:xfrm>
            <a:off x="1256182" y="918717"/>
            <a:ext cx="9570720" cy="840105"/>
          </a:xfrm>
          <a:prstGeom prst="rect">
            <a:avLst/>
          </a:prstGeom>
        </p:spPr>
        <p:txBody>
          <a:bodyPr vert="horz" wrap="square" lIns="0" tIns="17145" rIns="0" bIns="0" rtlCol="0">
            <a:spAutoFit/>
          </a:bodyPr>
          <a:lstStyle/>
          <a:p>
            <a:pPr marL="12700" marR="5080">
              <a:lnSpc>
                <a:spcPct val="98400"/>
              </a:lnSpc>
              <a:spcBef>
                <a:spcPts val="135"/>
              </a:spcBef>
            </a:pPr>
            <a:r>
              <a:rPr sz="1800" b="1" u="sng" spc="-215" dirty="0">
                <a:solidFill>
                  <a:srgbClr val="212121"/>
                </a:solidFill>
                <a:uFill>
                  <a:solidFill>
                    <a:srgbClr val="212121"/>
                  </a:solidFill>
                </a:uFill>
                <a:latin typeface="Tahoma"/>
                <a:cs typeface="Tahoma"/>
              </a:rPr>
              <a:t>Image</a:t>
            </a:r>
            <a:r>
              <a:rPr sz="1800" b="1" u="sng" spc="-35" dirty="0">
                <a:solidFill>
                  <a:srgbClr val="212121"/>
                </a:solidFill>
                <a:uFill>
                  <a:solidFill>
                    <a:srgbClr val="212121"/>
                  </a:solidFill>
                </a:uFill>
                <a:latin typeface="Tahoma"/>
                <a:cs typeface="Tahoma"/>
              </a:rPr>
              <a:t> </a:t>
            </a:r>
            <a:r>
              <a:rPr sz="1800" b="1" u="sng" spc="-135" dirty="0">
                <a:solidFill>
                  <a:srgbClr val="212121"/>
                </a:solidFill>
                <a:uFill>
                  <a:solidFill>
                    <a:srgbClr val="212121"/>
                  </a:solidFill>
                </a:uFill>
                <a:latin typeface="Tahoma"/>
                <a:cs typeface="Tahoma"/>
              </a:rPr>
              <a:t>Search</a:t>
            </a:r>
            <a:r>
              <a:rPr sz="1800" b="1" spc="-65" dirty="0">
                <a:solidFill>
                  <a:srgbClr val="212121"/>
                </a:solidFill>
                <a:latin typeface="Tahoma"/>
                <a:cs typeface="Tahoma"/>
              </a:rPr>
              <a:t> </a:t>
            </a:r>
            <a:r>
              <a:rPr sz="1800" b="1" spc="-114" dirty="0">
                <a:solidFill>
                  <a:srgbClr val="212121"/>
                </a:solidFill>
                <a:latin typeface="Tahoma"/>
                <a:cs typeface="Tahoma"/>
              </a:rPr>
              <a:t>–</a:t>
            </a:r>
            <a:r>
              <a:rPr sz="1800" b="1" spc="-15" dirty="0">
                <a:solidFill>
                  <a:srgbClr val="212121"/>
                </a:solidFill>
                <a:latin typeface="Tahoma"/>
                <a:cs typeface="Tahoma"/>
              </a:rPr>
              <a:t> </a:t>
            </a:r>
            <a:r>
              <a:rPr sz="1800" dirty="0">
                <a:solidFill>
                  <a:srgbClr val="212121"/>
                </a:solidFill>
                <a:latin typeface="Tahoma"/>
                <a:cs typeface="Tahoma"/>
              </a:rPr>
              <a:t>Deep</a:t>
            </a:r>
            <a:r>
              <a:rPr sz="1800" spc="-40" dirty="0">
                <a:solidFill>
                  <a:srgbClr val="212121"/>
                </a:solidFill>
                <a:latin typeface="Tahoma"/>
                <a:cs typeface="Tahoma"/>
              </a:rPr>
              <a:t> </a:t>
            </a:r>
            <a:r>
              <a:rPr sz="1800" dirty="0">
                <a:solidFill>
                  <a:srgbClr val="212121"/>
                </a:solidFill>
                <a:latin typeface="Tahoma"/>
                <a:cs typeface="Tahoma"/>
              </a:rPr>
              <a:t>autoencoders</a:t>
            </a:r>
            <a:r>
              <a:rPr sz="1800" spc="-60" dirty="0">
                <a:solidFill>
                  <a:srgbClr val="212121"/>
                </a:solidFill>
                <a:latin typeface="Tahoma"/>
                <a:cs typeface="Tahoma"/>
              </a:rPr>
              <a:t> </a:t>
            </a:r>
            <a:r>
              <a:rPr sz="1800" spc="-10" dirty="0">
                <a:solidFill>
                  <a:srgbClr val="212121"/>
                </a:solidFill>
                <a:latin typeface="Tahoma"/>
                <a:cs typeface="Tahoma"/>
              </a:rPr>
              <a:t>can</a:t>
            </a:r>
            <a:r>
              <a:rPr sz="1800" spc="-70" dirty="0">
                <a:solidFill>
                  <a:srgbClr val="212121"/>
                </a:solidFill>
                <a:latin typeface="Tahoma"/>
                <a:cs typeface="Tahoma"/>
              </a:rPr>
              <a:t> </a:t>
            </a:r>
            <a:r>
              <a:rPr sz="1800" dirty="0">
                <a:solidFill>
                  <a:srgbClr val="212121"/>
                </a:solidFill>
                <a:latin typeface="Tahoma"/>
                <a:cs typeface="Tahoma"/>
              </a:rPr>
              <a:t>compress</a:t>
            </a:r>
            <a:r>
              <a:rPr sz="1800" spc="-70" dirty="0">
                <a:solidFill>
                  <a:srgbClr val="212121"/>
                </a:solidFill>
                <a:latin typeface="Tahoma"/>
                <a:cs typeface="Tahoma"/>
              </a:rPr>
              <a:t> </a:t>
            </a:r>
            <a:r>
              <a:rPr sz="1800" spc="-35" dirty="0">
                <a:solidFill>
                  <a:srgbClr val="212121"/>
                </a:solidFill>
                <a:latin typeface="Tahoma"/>
                <a:cs typeface="Tahoma"/>
              </a:rPr>
              <a:t>images</a:t>
            </a:r>
            <a:r>
              <a:rPr sz="1800" spc="-55" dirty="0">
                <a:solidFill>
                  <a:srgbClr val="212121"/>
                </a:solidFill>
                <a:latin typeface="Tahoma"/>
                <a:cs typeface="Tahoma"/>
              </a:rPr>
              <a:t> </a:t>
            </a:r>
            <a:r>
              <a:rPr sz="1800" dirty="0">
                <a:solidFill>
                  <a:srgbClr val="212121"/>
                </a:solidFill>
                <a:latin typeface="Tahoma"/>
                <a:cs typeface="Tahoma"/>
              </a:rPr>
              <a:t>into</a:t>
            </a:r>
            <a:r>
              <a:rPr sz="1800" spc="-50" dirty="0">
                <a:solidFill>
                  <a:srgbClr val="212121"/>
                </a:solidFill>
                <a:latin typeface="Tahoma"/>
                <a:cs typeface="Tahoma"/>
              </a:rPr>
              <a:t> </a:t>
            </a:r>
            <a:r>
              <a:rPr sz="1800" dirty="0">
                <a:solidFill>
                  <a:srgbClr val="212121"/>
                </a:solidFill>
                <a:latin typeface="Tahoma"/>
                <a:cs typeface="Tahoma"/>
              </a:rPr>
              <a:t>30</a:t>
            </a:r>
            <a:r>
              <a:rPr sz="1800" spc="-55" dirty="0">
                <a:solidFill>
                  <a:srgbClr val="212121"/>
                </a:solidFill>
                <a:latin typeface="Tahoma"/>
                <a:cs typeface="Tahoma"/>
              </a:rPr>
              <a:t> </a:t>
            </a:r>
            <a:r>
              <a:rPr sz="1800" spc="-10" dirty="0">
                <a:solidFill>
                  <a:srgbClr val="212121"/>
                </a:solidFill>
                <a:latin typeface="Tahoma"/>
                <a:cs typeface="Tahoma"/>
              </a:rPr>
              <a:t>number</a:t>
            </a:r>
            <a:r>
              <a:rPr sz="1800" spc="-75" dirty="0">
                <a:solidFill>
                  <a:srgbClr val="212121"/>
                </a:solidFill>
                <a:latin typeface="Tahoma"/>
                <a:cs typeface="Tahoma"/>
              </a:rPr>
              <a:t> </a:t>
            </a:r>
            <a:r>
              <a:rPr sz="1800" dirty="0">
                <a:solidFill>
                  <a:srgbClr val="212121"/>
                </a:solidFill>
                <a:latin typeface="Tahoma"/>
                <a:cs typeface="Tahoma"/>
              </a:rPr>
              <a:t>vector</a:t>
            </a:r>
            <a:r>
              <a:rPr sz="1800" spc="-45" dirty="0">
                <a:solidFill>
                  <a:srgbClr val="212121"/>
                </a:solidFill>
                <a:latin typeface="Tahoma"/>
                <a:cs typeface="Tahoma"/>
              </a:rPr>
              <a:t> </a:t>
            </a:r>
            <a:r>
              <a:rPr sz="1800" spc="-50" dirty="0">
                <a:solidFill>
                  <a:srgbClr val="212121"/>
                </a:solidFill>
                <a:latin typeface="Tahoma"/>
                <a:cs typeface="Tahoma"/>
              </a:rPr>
              <a:t>images.</a:t>
            </a:r>
            <a:r>
              <a:rPr sz="1800" spc="-60" dirty="0">
                <a:solidFill>
                  <a:srgbClr val="212121"/>
                </a:solidFill>
                <a:latin typeface="Tahoma"/>
                <a:cs typeface="Tahoma"/>
              </a:rPr>
              <a:t> </a:t>
            </a:r>
            <a:r>
              <a:rPr sz="1800" spc="-10" dirty="0">
                <a:solidFill>
                  <a:srgbClr val="212121"/>
                </a:solidFill>
                <a:latin typeface="Tahoma"/>
                <a:cs typeface="Tahoma"/>
              </a:rPr>
              <a:t>Image search</a:t>
            </a:r>
            <a:r>
              <a:rPr sz="1800" spc="-90" dirty="0">
                <a:solidFill>
                  <a:srgbClr val="212121"/>
                </a:solidFill>
                <a:latin typeface="Tahoma"/>
                <a:cs typeface="Tahoma"/>
              </a:rPr>
              <a:t> </a:t>
            </a:r>
            <a:r>
              <a:rPr sz="1800" dirty="0">
                <a:solidFill>
                  <a:srgbClr val="212121"/>
                </a:solidFill>
                <a:latin typeface="Tahoma"/>
                <a:cs typeface="Tahoma"/>
              </a:rPr>
              <a:t>becomes</a:t>
            </a:r>
            <a:r>
              <a:rPr sz="1800" spc="-75" dirty="0">
                <a:solidFill>
                  <a:srgbClr val="212121"/>
                </a:solidFill>
                <a:latin typeface="Tahoma"/>
                <a:cs typeface="Tahoma"/>
              </a:rPr>
              <a:t> </a:t>
            </a:r>
            <a:r>
              <a:rPr sz="1800" spc="-65" dirty="0">
                <a:solidFill>
                  <a:srgbClr val="212121"/>
                </a:solidFill>
                <a:latin typeface="Tahoma"/>
                <a:cs typeface="Tahoma"/>
              </a:rPr>
              <a:t>a</a:t>
            </a:r>
            <a:r>
              <a:rPr sz="1800" spc="-75" dirty="0">
                <a:solidFill>
                  <a:srgbClr val="212121"/>
                </a:solidFill>
                <a:latin typeface="Tahoma"/>
                <a:cs typeface="Tahoma"/>
              </a:rPr>
              <a:t> </a:t>
            </a:r>
            <a:r>
              <a:rPr sz="1800" dirty="0">
                <a:solidFill>
                  <a:srgbClr val="212121"/>
                </a:solidFill>
                <a:latin typeface="Tahoma"/>
                <a:cs typeface="Tahoma"/>
              </a:rPr>
              <a:t>matter</a:t>
            </a:r>
            <a:r>
              <a:rPr sz="1800" spc="-80" dirty="0">
                <a:solidFill>
                  <a:srgbClr val="212121"/>
                </a:solidFill>
                <a:latin typeface="Tahoma"/>
                <a:cs typeface="Tahoma"/>
              </a:rPr>
              <a:t> </a:t>
            </a:r>
            <a:r>
              <a:rPr sz="1800" dirty="0">
                <a:solidFill>
                  <a:srgbClr val="212121"/>
                </a:solidFill>
                <a:latin typeface="Tahoma"/>
                <a:cs typeface="Tahoma"/>
              </a:rPr>
              <a:t>of</a:t>
            </a:r>
            <a:r>
              <a:rPr sz="1800" spc="-80" dirty="0">
                <a:solidFill>
                  <a:srgbClr val="212121"/>
                </a:solidFill>
                <a:latin typeface="Tahoma"/>
                <a:cs typeface="Tahoma"/>
              </a:rPr>
              <a:t> </a:t>
            </a:r>
            <a:r>
              <a:rPr sz="1800" dirty="0">
                <a:solidFill>
                  <a:srgbClr val="212121"/>
                </a:solidFill>
                <a:latin typeface="Tahoma"/>
                <a:cs typeface="Tahoma"/>
              </a:rPr>
              <a:t>application</a:t>
            </a:r>
            <a:r>
              <a:rPr sz="1800" spc="-40" dirty="0">
                <a:solidFill>
                  <a:srgbClr val="212121"/>
                </a:solidFill>
                <a:latin typeface="Tahoma"/>
                <a:cs typeface="Tahoma"/>
              </a:rPr>
              <a:t> </a:t>
            </a:r>
            <a:r>
              <a:rPr sz="1800" dirty="0">
                <a:solidFill>
                  <a:srgbClr val="212121"/>
                </a:solidFill>
                <a:latin typeface="Tahoma"/>
                <a:cs typeface="Tahoma"/>
              </a:rPr>
              <a:t>where</a:t>
            </a:r>
            <a:r>
              <a:rPr sz="1800" spc="-95" dirty="0">
                <a:solidFill>
                  <a:srgbClr val="212121"/>
                </a:solidFill>
                <a:latin typeface="Tahoma"/>
                <a:cs typeface="Tahoma"/>
              </a:rPr>
              <a:t> </a:t>
            </a:r>
            <a:r>
              <a:rPr sz="1800" spc="-65" dirty="0">
                <a:solidFill>
                  <a:srgbClr val="212121"/>
                </a:solidFill>
                <a:latin typeface="Tahoma"/>
                <a:cs typeface="Tahoma"/>
              </a:rPr>
              <a:t>a</a:t>
            </a:r>
            <a:r>
              <a:rPr sz="1800" spc="-75" dirty="0">
                <a:solidFill>
                  <a:srgbClr val="212121"/>
                </a:solidFill>
                <a:latin typeface="Tahoma"/>
                <a:cs typeface="Tahoma"/>
              </a:rPr>
              <a:t> </a:t>
            </a:r>
            <a:r>
              <a:rPr sz="1800" spc="-10" dirty="0">
                <a:solidFill>
                  <a:srgbClr val="212121"/>
                </a:solidFill>
                <a:latin typeface="Tahoma"/>
                <a:cs typeface="Tahoma"/>
              </a:rPr>
              <a:t>search</a:t>
            </a:r>
            <a:r>
              <a:rPr sz="1800" spc="-90" dirty="0">
                <a:solidFill>
                  <a:srgbClr val="212121"/>
                </a:solidFill>
                <a:latin typeface="Tahoma"/>
                <a:cs typeface="Tahoma"/>
              </a:rPr>
              <a:t> </a:t>
            </a:r>
            <a:r>
              <a:rPr sz="1800" spc="-10" dirty="0">
                <a:solidFill>
                  <a:srgbClr val="212121"/>
                </a:solidFill>
                <a:latin typeface="Tahoma"/>
                <a:cs typeface="Tahoma"/>
              </a:rPr>
              <a:t>engine</a:t>
            </a:r>
            <a:r>
              <a:rPr sz="1800" spc="-85" dirty="0">
                <a:solidFill>
                  <a:srgbClr val="212121"/>
                </a:solidFill>
                <a:latin typeface="Tahoma"/>
                <a:cs typeface="Tahoma"/>
              </a:rPr>
              <a:t> </a:t>
            </a:r>
            <a:r>
              <a:rPr sz="1800" dirty="0">
                <a:solidFill>
                  <a:srgbClr val="212121"/>
                </a:solidFill>
                <a:latin typeface="Tahoma"/>
                <a:cs typeface="Tahoma"/>
              </a:rPr>
              <a:t>will</a:t>
            </a:r>
            <a:r>
              <a:rPr sz="1800" spc="-65" dirty="0">
                <a:solidFill>
                  <a:srgbClr val="212121"/>
                </a:solidFill>
                <a:latin typeface="Tahoma"/>
                <a:cs typeface="Tahoma"/>
              </a:rPr>
              <a:t> </a:t>
            </a:r>
            <a:r>
              <a:rPr sz="1800" dirty="0">
                <a:solidFill>
                  <a:srgbClr val="212121"/>
                </a:solidFill>
                <a:latin typeface="Tahoma"/>
                <a:cs typeface="Tahoma"/>
              </a:rPr>
              <a:t>compress</a:t>
            </a:r>
            <a:r>
              <a:rPr sz="1800" spc="-95" dirty="0">
                <a:solidFill>
                  <a:srgbClr val="212121"/>
                </a:solidFill>
                <a:latin typeface="Tahoma"/>
                <a:cs typeface="Tahoma"/>
              </a:rPr>
              <a:t> </a:t>
            </a:r>
            <a:r>
              <a:rPr sz="1800" spc="-20" dirty="0">
                <a:solidFill>
                  <a:srgbClr val="212121"/>
                </a:solidFill>
                <a:latin typeface="Tahoma"/>
                <a:cs typeface="Tahoma"/>
              </a:rPr>
              <a:t>an</a:t>
            </a:r>
            <a:r>
              <a:rPr sz="1800" spc="-75" dirty="0">
                <a:solidFill>
                  <a:srgbClr val="212121"/>
                </a:solidFill>
                <a:latin typeface="Tahoma"/>
                <a:cs typeface="Tahoma"/>
              </a:rPr>
              <a:t> </a:t>
            </a:r>
            <a:r>
              <a:rPr sz="1800" spc="-25" dirty="0">
                <a:solidFill>
                  <a:srgbClr val="212121"/>
                </a:solidFill>
                <a:latin typeface="Tahoma"/>
                <a:cs typeface="Tahoma"/>
              </a:rPr>
              <a:t>image</a:t>
            </a:r>
            <a:r>
              <a:rPr sz="1800" spc="-60" dirty="0">
                <a:solidFill>
                  <a:srgbClr val="212121"/>
                </a:solidFill>
                <a:latin typeface="Tahoma"/>
                <a:cs typeface="Tahoma"/>
              </a:rPr>
              <a:t> </a:t>
            </a:r>
            <a:r>
              <a:rPr sz="1800" spc="-25" dirty="0">
                <a:solidFill>
                  <a:srgbClr val="212121"/>
                </a:solidFill>
                <a:latin typeface="Tahoma"/>
                <a:cs typeface="Tahoma"/>
              </a:rPr>
              <a:t>and </a:t>
            </a:r>
            <a:r>
              <a:rPr sz="1800" dirty="0">
                <a:solidFill>
                  <a:srgbClr val="212121"/>
                </a:solidFill>
                <a:latin typeface="Tahoma"/>
                <a:cs typeface="Tahoma"/>
              </a:rPr>
              <a:t>compare</a:t>
            </a:r>
            <a:r>
              <a:rPr sz="1800" spc="-75" dirty="0">
                <a:solidFill>
                  <a:srgbClr val="212121"/>
                </a:solidFill>
                <a:latin typeface="Tahoma"/>
                <a:cs typeface="Tahoma"/>
              </a:rPr>
              <a:t> </a:t>
            </a:r>
            <a:r>
              <a:rPr sz="1800" dirty="0">
                <a:solidFill>
                  <a:srgbClr val="212121"/>
                </a:solidFill>
                <a:latin typeface="Tahoma"/>
                <a:cs typeface="Tahoma"/>
              </a:rPr>
              <a:t>the</a:t>
            </a:r>
            <a:r>
              <a:rPr sz="1800" spc="-70" dirty="0">
                <a:solidFill>
                  <a:srgbClr val="212121"/>
                </a:solidFill>
                <a:latin typeface="Tahoma"/>
                <a:cs typeface="Tahoma"/>
              </a:rPr>
              <a:t> </a:t>
            </a:r>
            <a:r>
              <a:rPr sz="1800" dirty="0">
                <a:solidFill>
                  <a:srgbClr val="212121"/>
                </a:solidFill>
                <a:latin typeface="Tahoma"/>
                <a:cs typeface="Tahoma"/>
              </a:rPr>
              <a:t>vector</a:t>
            </a:r>
            <a:r>
              <a:rPr sz="1800" spc="-60"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dirty="0">
                <a:solidFill>
                  <a:srgbClr val="212121"/>
                </a:solidFill>
                <a:latin typeface="Tahoma"/>
                <a:cs typeface="Tahoma"/>
              </a:rPr>
              <a:t>index</a:t>
            </a:r>
            <a:r>
              <a:rPr sz="1800" spc="-55" dirty="0">
                <a:solidFill>
                  <a:srgbClr val="212121"/>
                </a:solidFill>
                <a:latin typeface="Tahoma"/>
                <a:cs typeface="Tahoma"/>
              </a:rPr>
              <a:t> </a:t>
            </a:r>
            <a:r>
              <a:rPr sz="1800" spc="-10" dirty="0">
                <a:solidFill>
                  <a:srgbClr val="212121"/>
                </a:solidFill>
                <a:latin typeface="Tahoma"/>
                <a:cs typeface="Tahoma"/>
              </a:rPr>
              <a:t>and</a:t>
            </a:r>
            <a:r>
              <a:rPr sz="1800" spc="-75" dirty="0">
                <a:solidFill>
                  <a:srgbClr val="212121"/>
                </a:solidFill>
                <a:latin typeface="Tahoma"/>
                <a:cs typeface="Tahoma"/>
              </a:rPr>
              <a:t> </a:t>
            </a:r>
            <a:r>
              <a:rPr sz="1800" dirty="0">
                <a:solidFill>
                  <a:srgbClr val="212121"/>
                </a:solidFill>
                <a:latin typeface="Tahoma"/>
                <a:cs typeface="Tahoma"/>
              </a:rPr>
              <a:t>translate</a:t>
            </a:r>
            <a:r>
              <a:rPr sz="1800" spc="-70" dirty="0">
                <a:solidFill>
                  <a:srgbClr val="212121"/>
                </a:solidFill>
                <a:latin typeface="Tahoma"/>
                <a:cs typeface="Tahoma"/>
              </a:rPr>
              <a:t> </a:t>
            </a:r>
            <a:r>
              <a:rPr sz="1800" dirty="0">
                <a:solidFill>
                  <a:srgbClr val="212121"/>
                </a:solidFill>
                <a:latin typeface="Tahoma"/>
                <a:cs typeface="Tahoma"/>
              </a:rPr>
              <a:t>to</a:t>
            </a:r>
            <a:r>
              <a:rPr sz="1800" spc="-65" dirty="0">
                <a:solidFill>
                  <a:srgbClr val="212121"/>
                </a:solidFill>
                <a:latin typeface="Tahoma"/>
                <a:cs typeface="Tahoma"/>
              </a:rPr>
              <a:t> </a:t>
            </a:r>
            <a:r>
              <a:rPr sz="1800" spc="-60" dirty="0">
                <a:solidFill>
                  <a:srgbClr val="212121"/>
                </a:solidFill>
                <a:latin typeface="Tahoma"/>
                <a:cs typeface="Tahoma"/>
              </a:rPr>
              <a:t>a </a:t>
            </a:r>
            <a:r>
              <a:rPr sz="1800" spc="-10" dirty="0">
                <a:solidFill>
                  <a:srgbClr val="212121"/>
                </a:solidFill>
                <a:latin typeface="Tahoma"/>
                <a:cs typeface="Tahoma"/>
              </a:rPr>
              <a:t>matching</a:t>
            </a:r>
            <a:r>
              <a:rPr sz="1800" spc="-90" dirty="0">
                <a:solidFill>
                  <a:srgbClr val="212121"/>
                </a:solidFill>
                <a:latin typeface="Tahoma"/>
                <a:cs typeface="Tahoma"/>
              </a:rPr>
              <a:t> </a:t>
            </a:r>
            <a:r>
              <a:rPr sz="1800" spc="-10" dirty="0">
                <a:solidFill>
                  <a:srgbClr val="212121"/>
                </a:solidFill>
                <a:latin typeface="Tahoma"/>
                <a:cs typeface="Tahoma"/>
              </a:rPr>
              <a:t>image.</a:t>
            </a:r>
            <a:endParaRPr sz="1800">
              <a:latin typeface="Tahoma"/>
              <a:cs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0240" y="1118438"/>
            <a:ext cx="11054080" cy="4055110"/>
          </a:xfrm>
          <a:prstGeom prst="rect">
            <a:avLst/>
          </a:prstGeom>
        </p:spPr>
        <p:txBody>
          <a:bodyPr vert="horz" wrap="square" lIns="0" tIns="60325" rIns="0" bIns="0" rtlCol="0">
            <a:spAutoFit/>
          </a:bodyPr>
          <a:lstStyle/>
          <a:p>
            <a:pPr marL="240029" marR="5080" indent="-227329" algn="just">
              <a:lnSpc>
                <a:spcPts val="3030"/>
              </a:lnSpc>
              <a:spcBef>
                <a:spcPts val="475"/>
              </a:spcBef>
              <a:buClr>
                <a:srgbClr val="212121"/>
              </a:buClr>
              <a:buFont typeface="Arial MT"/>
              <a:buChar char="•"/>
              <a:tabLst>
                <a:tab pos="241300" algn="l"/>
              </a:tabLst>
            </a:pPr>
            <a:r>
              <a:rPr sz="2800" dirty="0">
                <a:solidFill>
                  <a:srgbClr val="212121"/>
                </a:solidFill>
                <a:latin typeface="Arial MT"/>
                <a:cs typeface="Arial MT"/>
              </a:rPr>
              <a:t>There  are</a:t>
            </a:r>
            <a:r>
              <a:rPr sz="2800" spc="-5" dirty="0">
                <a:solidFill>
                  <a:srgbClr val="212121"/>
                </a:solidFill>
                <a:latin typeface="Arial MT"/>
                <a:cs typeface="Arial MT"/>
              </a:rPr>
              <a:t>  </a:t>
            </a:r>
            <a:r>
              <a:rPr sz="2800" dirty="0">
                <a:solidFill>
                  <a:srgbClr val="212121"/>
                </a:solidFill>
                <a:latin typeface="Arial MT"/>
                <a:cs typeface="Arial MT"/>
              </a:rPr>
              <a:t>four</a:t>
            </a:r>
            <a:r>
              <a:rPr sz="2800" spc="-5" dirty="0">
                <a:solidFill>
                  <a:srgbClr val="212121"/>
                </a:solidFill>
                <a:latin typeface="Arial MT"/>
                <a:cs typeface="Arial MT"/>
              </a:rPr>
              <a:t>  </a:t>
            </a:r>
            <a:r>
              <a:rPr sz="2800" dirty="0">
                <a:solidFill>
                  <a:srgbClr val="212121"/>
                </a:solidFill>
                <a:latin typeface="Arial MT"/>
                <a:cs typeface="Arial MT"/>
              </a:rPr>
              <a:t>significant</a:t>
            </a:r>
            <a:r>
              <a:rPr sz="2800" spc="-15" dirty="0">
                <a:solidFill>
                  <a:srgbClr val="212121"/>
                </a:solidFill>
                <a:latin typeface="Arial MT"/>
                <a:cs typeface="Arial MT"/>
              </a:rPr>
              <a:t>  </a:t>
            </a:r>
            <a:r>
              <a:rPr sz="2800" dirty="0">
                <a:solidFill>
                  <a:srgbClr val="212121"/>
                </a:solidFill>
                <a:latin typeface="Arial MT"/>
                <a:cs typeface="Arial MT"/>
              </a:rPr>
              <a:t>hyperparameters</a:t>
            </a:r>
            <a:r>
              <a:rPr sz="2800" spc="-5" dirty="0">
                <a:solidFill>
                  <a:srgbClr val="212121"/>
                </a:solidFill>
                <a:latin typeface="Arial MT"/>
                <a:cs typeface="Arial MT"/>
              </a:rPr>
              <a:t>  </a:t>
            </a:r>
            <a:r>
              <a:rPr sz="2800" dirty="0">
                <a:solidFill>
                  <a:srgbClr val="212121"/>
                </a:solidFill>
                <a:latin typeface="Arial MT"/>
                <a:cs typeface="Arial MT"/>
              </a:rPr>
              <a:t>that  we</a:t>
            </a:r>
            <a:r>
              <a:rPr sz="2800" spc="-10" dirty="0">
                <a:solidFill>
                  <a:srgbClr val="212121"/>
                </a:solidFill>
                <a:latin typeface="Arial MT"/>
                <a:cs typeface="Arial MT"/>
              </a:rPr>
              <a:t>  </a:t>
            </a:r>
            <a:r>
              <a:rPr sz="2800" dirty="0">
                <a:solidFill>
                  <a:srgbClr val="212121"/>
                </a:solidFill>
                <a:latin typeface="Arial MT"/>
                <a:cs typeface="Arial MT"/>
              </a:rPr>
              <a:t>need</a:t>
            </a:r>
            <a:r>
              <a:rPr sz="2800" spc="-5" dirty="0">
                <a:solidFill>
                  <a:srgbClr val="212121"/>
                </a:solidFill>
                <a:latin typeface="Arial MT"/>
                <a:cs typeface="Arial MT"/>
              </a:rPr>
              <a:t>  </a:t>
            </a:r>
            <a:r>
              <a:rPr sz="2800" dirty="0">
                <a:solidFill>
                  <a:srgbClr val="212121"/>
                </a:solidFill>
                <a:latin typeface="Arial MT"/>
                <a:cs typeface="Arial MT"/>
              </a:rPr>
              <a:t>to</a:t>
            </a:r>
            <a:r>
              <a:rPr sz="2800" spc="-10" dirty="0">
                <a:solidFill>
                  <a:srgbClr val="212121"/>
                </a:solidFill>
                <a:latin typeface="Arial MT"/>
                <a:cs typeface="Arial MT"/>
              </a:rPr>
              <a:t>  </a:t>
            </a:r>
            <a:r>
              <a:rPr sz="2800" spc="-25" dirty="0">
                <a:solidFill>
                  <a:srgbClr val="212121"/>
                </a:solidFill>
                <a:latin typeface="Arial MT"/>
                <a:cs typeface="Arial MT"/>
              </a:rPr>
              <a:t>set 	</a:t>
            </a:r>
            <a:r>
              <a:rPr sz="2800" dirty="0">
                <a:solidFill>
                  <a:srgbClr val="212121"/>
                </a:solidFill>
                <a:latin typeface="Arial MT"/>
                <a:cs typeface="Arial MT"/>
              </a:rPr>
              <a:t>before</a:t>
            </a:r>
            <a:r>
              <a:rPr sz="2800" spc="-75" dirty="0">
                <a:solidFill>
                  <a:srgbClr val="212121"/>
                </a:solidFill>
                <a:latin typeface="Arial MT"/>
                <a:cs typeface="Arial MT"/>
              </a:rPr>
              <a:t> </a:t>
            </a:r>
            <a:r>
              <a:rPr sz="2800" dirty="0">
                <a:solidFill>
                  <a:srgbClr val="212121"/>
                </a:solidFill>
                <a:latin typeface="Arial MT"/>
                <a:cs typeface="Arial MT"/>
              </a:rPr>
              <a:t>training</a:t>
            </a:r>
            <a:r>
              <a:rPr sz="2800" spc="-65" dirty="0">
                <a:solidFill>
                  <a:srgbClr val="212121"/>
                </a:solidFill>
                <a:latin typeface="Arial MT"/>
                <a:cs typeface="Arial MT"/>
              </a:rPr>
              <a:t> </a:t>
            </a:r>
            <a:r>
              <a:rPr sz="2800" spc="-20" dirty="0">
                <a:solidFill>
                  <a:srgbClr val="212121"/>
                </a:solidFill>
                <a:latin typeface="Arial MT"/>
                <a:cs typeface="Arial MT"/>
              </a:rPr>
              <a:t>them.</a:t>
            </a:r>
            <a:endParaRPr sz="2800">
              <a:latin typeface="Arial MT"/>
              <a:cs typeface="Arial MT"/>
            </a:endParaRPr>
          </a:p>
          <a:p>
            <a:pPr marL="469900" marR="8255" lvl="1" indent="450215" algn="just">
              <a:lnSpc>
                <a:spcPts val="2590"/>
              </a:lnSpc>
              <a:spcBef>
                <a:spcPts val="495"/>
              </a:spcBef>
              <a:buAutoNum type="arabicParenR"/>
              <a:tabLst>
                <a:tab pos="920115" algn="l"/>
              </a:tabLst>
            </a:pPr>
            <a:r>
              <a:rPr sz="2400" b="1" u="sng" dirty="0">
                <a:solidFill>
                  <a:srgbClr val="212121"/>
                </a:solidFill>
                <a:uFill>
                  <a:solidFill>
                    <a:srgbClr val="212121"/>
                  </a:solidFill>
                </a:uFill>
                <a:latin typeface="Arial"/>
                <a:cs typeface="Arial"/>
              </a:rPr>
              <a:t>Code</a:t>
            </a:r>
            <a:r>
              <a:rPr sz="2400" b="1" u="sng" spc="10"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Size</a:t>
            </a:r>
            <a:r>
              <a:rPr sz="2400" b="1" spc="20" dirty="0">
                <a:solidFill>
                  <a:srgbClr val="212121"/>
                </a:solidFill>
                <a:latin typeface="Arial"/>
                <a:cs typeface="Arial"/>
              </a:rPr>
              <a:t>  </a:t>
            </a:r>
            <a:r>
              <a:rPr sz="2400" dirty="0">
                <a:solidFill>
                  <a:srgbClr val="212121"/>
                </a:solidFill>
                <a:latin typeface="Arial MT"/>
                <a:cs typeface="Arial MT"/>
              </a:rPr>
              <a:t>represents</a:t>
            </a:r>
            <a:r>
              <a:rPr sz="2400" spc="20" dirty="0">
                <a:solidFill>
                  <a:srgbClr val="212121"/>
                </a:solidFill>
                <a:latin typeface="Arial MT"/>
                <a:cs typeface="Arial MT"/>
              </a:rPr>
              <a:t>  </a:t>
            </a:r>
            <a:r>
              <a:rPr sz="2400" dirty="0">
                <a:solidFill>
                  <a:srgbClr val="212121"/>
                </a:solidFill>
                <a:latin typeface="Arial MT"/>
                <a:cs typeface="Arial MT"/>
              </a:rPr>
              <a:t>the</a:t>
            </a:r>
            <a:r>
              <a:rPr sz="2400" spc="10" dirty="0">
                <a:solidFill>
                  <a:srgbClr val="212121"/>
                </a:solidFill>
                <a:latin typeface="Arial MT"/>
                <a:cs typeface="Arial MT"/>
              </a:rPr>
              <a:t>  </a:t>
            </a:r>
            <a:r>
              <a:rPr sz="2400" dirty="0">
                <a:solidFill>
                  <a:srgbClr val="212121"/>
                </a:solidFill>
                <a:latin typeface="Arial MT"/>
                <a:cs typeface="Arial MT"/>
              </a:rPr>
              <a:t>number</a:t>
            </a:r>
            <a:r>
              <a:rPr sz="2400" spc="20" dirty="0">
                <a:solidFill>
                  <a:srgbClr val="212121"/>
                </a:solidFill>
                <a:latin typeface="Arial MT"/>
                <a:cs typeface="Arial MT"/>
              </a:rPr>
              <a:t>  </a:t>
            </a:r>
            <a:r>
              <a:rPr sz="2400" dirty="0">
                <a:solidFill>
                  <a:srgbClr val="212121"/>
                </a:solidFill>
                <a:latin typeface="Arial MT"/>
                <a:cs typeface="Arial MT"/>
              </a:rPr>
              <a:t>of</a:t>
            </a:r>
            <a:r>
              <a:rPr sz="2400" spc="20" dirty="0">
                <a:solidFill>
                  <a:srgbClr val="212121"/>
                </a:solidFill>
                <a:latin typeface="Arial MT"/>
                <a:cs typeface="Arial MT"/>
              </a:rPr>
              <a:t>  </a:t>
            </a:r>
            <a:r>
              <a:rPr sz="2400" dirty="0">
                <a:solidFill>
                  <a:srgbClr val="212121"/>
                </a:solidFill>
                <a:latin typeface="Arial MT"/>
                <a:cs typeface="Arial MT"/>
              </a:rPr>
              <a:t>nodes</a:t>
            </a:r>
            <a:r>
              <a:rPr sz="2400" spc="20" dirty="0">
                <a:solidFill>
                  <a:srgbClr val="212121"/>
                </a:solidFill>
                <a:latin typeface="Arial MT"/>
                <a:cs typeface="Arial MT"/>
              </a:rPr>
              <a:t>  </a:t>
            </a:r>
            <a:r>
              <a:rPr sz="2400" dirty="0">
                <a:solidFill>
                  <a:srgbClr val="212121"/>
                </a:solidFill>
                <a:latin typeface="Arial MT"/>
                <a:cs typeface="Arial MT"/>
              </a:rPr>
              <a:t>in</a:t>
            </a:r>
            <a:r>
              <a:rPr sz="2400" spc="25" dirty="0">
                <a:solidFill>
                  <a:srgbClr val="212121"/>
                </a:solidFill>
                <a:latin typeface="Arial MT"/>
                <a:cs typeface="Arial MT"/>
              </a:rPr>
              <a:t>  </a:t>
            </a:r>
            <a:r>
              <a:rPr sz="2400" dirty="0">
                <a:solidFill>
                  <a:srgbClr val="212121"/>
                </a:solidFill>
                <a:latin typeface="Arial MT"/>
                <a:cs typeface="Arial MT"/>
              </a:rPr>
              <a:t>the</a:t>
            </a:r>
            <a:r>
              <a:rPr sz="2400" spc="15" dirty="0">
                <a:solidFill>
                  <a:srgbClr val="212121"/>
                </a:solidFill>
                <a:latin typeface="Arial MT"/>
                <a:cs typeface="Arial MT"/>
              </a:rPr>
              <a:t>  </a:t>
            </a:r>
            <a:r>
              <a:rPr sz="2400" dirty="0">
                <a:solidFill>
                  <a:srgbClr val="212121"/>
                </a:solidFill>
                <a:latin typeface="Arial MT"/>
                <a:cs typeface="Arial MT"/>
              </a:rPr>
              <a:t>middle</a:t>
            </a:r>
            <a:r>
              <a:rPr sz="2400" spc="15" dirty="0">
                <a:solidFill>
                  <a:srgbClr val="212121"/>
                </a:solidFill>
                <a:latin typeface="Arial MT"/>
                <a:cs typeface="Arial MT"/>
              </a:rPr>
              <a:t>  </a:t>
            </a:r>
            <a:r>
              <a:rPr sz="2400" spc="-10" dirty="0">
                <a:solidFill>
                  <a:srgbClr val="212121"/>
                </a:solidFill>
                <a:latin typeface="Arial MT"/>
                <a:cs typeface="Arial MT"/>
              </a:rPr>
              <a:t>layer—</a:t>
            </a:r>
            <a:r>
              <a:rPr sz="2400" spc="-25" dirty="0">
                <a:solidFill>
                  <a:srgbClr val="212121"/>
                </a:solidFill>
                <a:latin typeface="Arial MT"/>
                <a:cs typeface="Arial MT"/>
              </a:rPr>
              <a:t>the </a:t>
            </a:r>
            <a:r>
              <a:rPr sz="2400" dirty="0">
                <a:solidFill>
                  <a:srgbClr val="212121"/>
                </a:solidFill>
                <a:latin typeface="Arial MT"/>
                <a:cs typeface="Arial MT"/>
              </a:rPr>
              <a:t>smaller</a:t>
            </a:r>
            <a:r>
              <a:rPr sz="2400" spc="-50" dirty="0">
                <a:solidFill>
                  <a:srgbClr val="212121"/>
                </a:solidFill>
                <a:latin typeface="Arial MT"/>
                <a:cs typeface="Arial MT"/>
              </a:rPr>
              <a:t> </a:t>
            </a:r>
            <a:r>
              <a:rPr sz="2400" dirty="0">
                <a:solidFill>
                  <a:srgbClr val="212121"/>
                </a:solidFill>
                <a:latin typeface="Arial MT"/>
                <a:cs typeface="Arial MT"/>
              </a:rPr>
              <a:t>size</a:t>
            </a:r>
            <a:r>
              <a:rPr sz="2400" spc="-50" dirty="0">
                <a:solidFill>
                  <a:srgbClr val="212121"/>
                </a:solidFill>
                <a:latin typeface="Arial MT"/>
                <a:cs typeface="Arial MT"/>
              </a:rPr>
              <a:t> </a:t>
            </a:r>
            <a:r>
              <a:rPr sz="2400" dirty="0">
                <a:solidFill>
                  <a:srgbClr val="212121"/>
                </a:solidFill>
                <a:latin typeface="Arial MT"/>
                <a:cs typeface="Arial MT"/>
              </a:rPr>
              <a:t>results</a:t>
            </a:r>
            <a:r>
              <a:rPr sz="2400" spc="-65" dirty="0">
                <a:solidFill>
                  <a:srgbClr val="212121"/>
                </a:solidFill>
                <a:latin typeface="Arial MT"/>
                <a:cs typeface="Arial MT"/>
              </a:rPr>
              <a:t> </a:t>
            </a:r>
            <a:r>
              <a:rPr sz="2400" dirty="0">
                <a:solidFill>
                  <a:srgbClr val="212121"/>
                </a:solidFill>
                <a:latin typeface="Arial MT"/>
                <a:cs typeface="Arial MT"/>
              </a:rPr>
              <a:t>in</a:t>
            </a:r>
            <a:r>
              <a:rPr sz="2400" spc="-50" dirty="0">
                <a:solidFill>
                  <a:srgbClr val="212121"/>
                </a:solidFill>
                <a:latin typeface="Arial MT"/>
                <a:cs typeface="Arial MT"/>
              </a:rPr>
              <a:t> </a:t>
            </a:r>
            <a:r>
              <a:rPr sz="2400" dirty="0">
                <a:solidFill>
                  <a:srgbClr val="212121"/>
                </a:solidFill>
                <a:latin typeface="Arial MT"/>
                <a:cs typeface="Arial MT"/>
              </a:rPr>
              <a:t>more</a:t>
            </a:r>
            <a:r>
              <a:rPr sz="2400" spc="-70" dirty="0">
                <a:solidFill>
                  <a:srgbClr val="212121"/>
                </a:solidFill>
                <a:latin typeface="Arial MT"/>
                <a:cs typeface="Arial MT"/>
              </a:rPr>
              <a:t> </a:t>
            </a:r>
            <a:r>
              <a:rPr sz="2400" spc="-10" dirty="0">
                <a:solidFill>
                  <a:srgbClr val="212121"/>
                </a:solidFill>
                <a:latin typeface="Arial MT"/>
                <a:cs typeface="Arial MT"/>
              </a:rPr>
              <a:t>compression.</a:t>
            </a:r>
            <a:endParaRPr sz="2400">
              <a:latin typeface="Arial MT"/>
              <a:cs typeface="Arial MT"/>
            </a:endParaRPr>
          </a:p>
          <a:p>
            <a:pPr marL="823594" lvl="1" indent="-353695" algn="just">
              <a:lnSpc>
                <a:spcPct val="100000"/>
              </a:lnSpc>
              <a:spcBef>
                <a:spcPts val="180"/>
              </a:spcBef>
              <a:buAutoNum type="arabicParenR"/>
              <a:tabLst>
                <a:tab pos="823594" algn="l"/>
              </a:tabLst>
            </a:pPr>
            <a:r>
              <a:rPr sz="2400" b="1" u="sng" dirty="0">
                <a:solidFill>
                  <a:srgbClr val="212121"/>
                </a:solidFill>
                <a:uFill>
                  <a:solidFill>
                    <a:srgbClr val="212121"/>
                  </a:solidFill>
                </a:uFill>
                <a:latin typeface="Arial"/>
                <a:cs typeface="Arial"/>
              </a:rPr>
              <a:t>Number</a:t>
            </a:r>
            <a:r>
              <a:rPr sz="2400" b="1" u="sng" spc="-25"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of</a:t>
            </a:r>
            <a:r>
              <a:rPr sz="2400" b="1" u="sng" spc="-40"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Layers</a:t>
            </a:r>
            <a:r>
              <a:rPr sz="2400" b="1" u="sng" spc="-10" dirty="0">
                <a:solidFill>
                  <a:srgbClr val="212121"/>
                </a:solidFill>
                <a:uFill>
                  <a:solidFill>
                    <a:srgbClr val="212121"/>
                  </a:solidFill>
                </a:uFill>
                <a:latin typeface="Arial"/>
                <a:cs typeface="Arial"/>
              </a:rPr>
              <a:t> </a:t>
            </a:r>
            <a:r>
              <a:rPr sz="2400" b="1" dirty="0">
                <a:solidFill>
                  <a:srgbClr val="212121"/>
                </a:solidFill>
                <a:latin typeface="Arial"/>
                <a:cs typeface="Arial"/>
              </a:rPr>
              <a:t>–</a:t>
            </a:r>
            <a:r>
              <a:rPr sz="2400" b="1" spc="-85" dirty="0">
                <a:solidFill>
                  <a:srgbClr val="212121"/>
                </a:solidFill>
                <a:latin typeface="Arial"/>
                <a:cs typeface="Arial"/>
              </a:rPr>
              <a:t> </a:t>
            </a:r>
            <a:r>
              <a:rPr sz="2400" dirty="0">
                <a:solidFill>
                  <a:srgbClr val="212121"/>
                </a:solidFill>
                <a:latin typeface="Arial MT"/>
                <a:cs typeface="Arial MT"/>
              </a:rPr>
              <a:t>The</a:t>
            </a:r>
            <a:r>
              <a:rPr sz="2400" spc="-165" dirty="0">
                <a:solidFill>
                  <a:srgbClr val="212121"/>
                </a:solidFill>
                <a:latin typeface="Arial MT"/>
                <a:cs typeface="Arial MT"/>
              </a:rPr>
              <a:t> </a:t>
            </a:r>
            <a:r>
              <a:rPr sz="2400" dirty="0">
                <a:solidFill>
                  <a:srgbClr val="212121"/>
                </a:solidFill>
                <a:latin typeface="Arial MT"/>
                <a:cs typeface="Arial MT"/>
              </a:rPr>
              <a:t>Autoencoder</a:t>
            </a:r>
            <a:r>
              <a:rPr sz="2400" spc="-20" dirty="0">
                <a:solidFill>
                  <a:srgbClr val="212121"/>
                </a:solidFill>
                <a:latin typeface="Arial MT"/>
                <a:cs typeface="Arial MT"/>
              </a:rPr>
              <a:t> </a:t>
            </a:r>
            <a:r>
              <a:rPr sz="2400" dirty="0">
                <a:solidFill>
                  <a:srgbClr val="212121"/>
                </a:solidFill>
                <a:latin typeface="Arial MT"/>
                <a:cs typeface="Arial MT"/>
              </a:rPr>
              <a:t>can</a:t>
            </a:r>
            <a:r>
              <a:rPr sz="2400" spc="-40" dirty="0">
                <a:solidFill>
                  <a:srgbClr val="212121"/>
                </a:solidFill>
                <a:latin typeface="Arial MT"/>
                <a:cs typeface="Arial MT"/>
              </a:rPr>
              <a:t> </a:t>
            </a:r>
            <a:r>
              <a:rPr sz="2400" dirty="0">
                <a:solidFill>
                  <a:srgbClr val="212121"/>
                </a:solidFill>
                <a:latin typeface="Arial MT"/>
                <a:cs typeface="Arial MT"/>
              </a:rPr>
              <a:t>be</a:t>
            </a:r>
            <a:r>
              <a:rPr sz="2400" spc="-40" dirty="0">
                <a:solidFill>
                  <a:srgbClr val="212121"/>
                </a:solidFill>
                <a:latin typeface="Arial MT"/>
                <a:cs typeface="Arial MT"/>
              </a:rPr>
              <a:t> </a:t>
            </a:r>
            <a:r>
              <a:rPr sz="2400" dirty="0">
                <a:solidFill>
                  <a:srgbClr val="212121"/>
                </a:solidFill>
                <a:latin typeface="Arial MT"/>
                <a:cs typeface="Arial MT"/>
              </a:rPr>
              <a:t>as</a:t>
            </a:r>
            <a:r>
              <a:rPr sz="2400" spc="-35" dirty="0">
                <a:solidFill>
                  <a:srgbClr val="212121"/>
                </a:solidFill>
                <a:latin typeface="Arial MT"/>
                <a:cs typeface="Arial MT"/>
              </a:rPr>
              <a:t> </a:t>
            </a:r>
            <a:r>
              <a:rPr sz="2400" dirty="0">
                <a:solidFill>
                  <a:srgbClr val="212121"/>
                </a:solidFill>
                <a:latin typeface="Arial MT"/>
                <a:cs typeface="Arial MT"/>
              </a:rPr>
              <a:t>deep</a:t>
            </a:r>
            <a:r>
              <a:rPr sz="2400" spc="-20" dirty="0">
                <a:solidFill>
                  <a:srgbClr val="212121"/>
                </a:solidFill>
                <a:latin typeface="Arial MT"/>
                <a:cs typeface="Arial MT"/>
              </a:rPr>
              <a:t> </a:t>
            </a:r>
            <a:r>
              <a:rPr sz="2400" dirty="0">
                <a:solidFill>
                  <a:srgbClr val="212121"/>
                </a:solidFill>
                <a:latin typeface="Arial MT"/>
                <a:cs typeface="Arial MT"/>
              </a:rPr>
              <a:t>as</a:t>
            </a:r>
            <a:r>
              <a:rPr sz="2400" spc="-40" dirty="0">
                <a:solidFill>
                  <a:srgbClr val="212121"/>
                </a:solidFill>
                <a:latin typeface="Arial MT"/>
                <a:cs typeface="Arial MT"/>
              </a:rPr>
              <a:t> </a:t>
            </a:r>
            <a:r>
              <a:rPr sz="2400" dirty="0">
                <a:solidFill>
                  <a:srgbClr val="212121"/>
                </a:solidFill>
                <a:latin typeface="Arial MT"/>
                <a:cs typeface="Arial MT"/>
              </a:rPr>
              <a:t>we</a:t>
            </a:r>
            <a:r>
              <a:rPr sz="2400" spc="-35" dirty="0">
                <a:solidFill>
                  <a:srgbClr val="212121"/>
                </a:solidFill>
                <a:latin typeface="Arial MT"/>
                <a:cs typeface="Arial MT"/>
              </a:rPr>
              <a:t> </a:t>
            </a:r>
            <a:r>
              <a:rPr sz="2400" dirty="0">
                <a:solidFill>
                  <a:srgbClr val="212121"/>
                </a:solidFill>
                <a:latin typeface="Arial MT"/>
                <a:cs typeface="Arial MT"/>
              </a:rPr>
              <a:t>want</a:t>
            </a:r>
            <a:r>
              <a:rPr sz="2400" spc="-35" dirty="0">
                <a:solidFill>
                  <a:srgbClr val="212121"/>
                </a:solidFill>
                <a:latin typeface="Arial MT"/>
                <a:cs typeface="Arial MT"/>
              </a:rPr>
              <a:t> </a:t>
            </a:r>
            <a:r>
              <a:rPr sz="2400" dirty="0">
                <a:solidFill>
                  <a:srgbClr val="212121"/>
                </a:solidFill>
                <a:latin typeface="Arial MT"/>
                <a:cs typeface="Arial MT"/>
              </a:rPr>
              <a:t>to</a:t>
            </a:r>
            <a:r>
              <a:rPr sz="2400" spc="-55" dirty="0">
                <a:solidFill>
                  <a:srgbClr val="212121"/>
                </a:solidFill>
                <a:latin typeface="Arial MT"/>
                <a:cs typeface="Arial MT"/>
              </a:rPr>
              <a:t> </a:t>
            </a:r>
            <a:r>
              <a:rPr sz="2400" spc="-25" dirty="0">
                <a:solidFill>
                  <a:srgbClr val="212121"/>
                </a:solidFill>
                <a:latin typeface="Arial MT"/>
                <a:cs typeface="Arial MT"/>
              </a:rPr>
              <a:t>be.</a:t>
            </a:r>
            <a:endParaRPr sz="2400">
              <a:latin typeface="Arial MT"/>
              <a:cs typeface="Arial MT"/>
            </a:endParaRPr>
          </a:p>
          <a:p>
            <a:pPr marL="469900" marR="7620" lvl="1" indent="373380" algn="just">
              <a:lnSpc>
                <a:spcPts val="2590"/>
              </a:lnSpc>
              <a:spcBef>
                <a:spcPts val="550"/>
              </a:spcBef>
              <a:buAutoNum type="arabicParenR"/>
              <a:tabLst>
                <a:tab pos="843280" algn="l"/>
              </a:tabLst>
            </a:pPr>
            <a:r>
              <a:rPr sz="2400" b="1" u="sng" dirty="0">
                <a:solidFill>
                  <a:srgbClr val="212121"/>
                </a:solidFill>
                <a:uFill>
                  <a:solidFill>
                    <a:srgbClr val="212121"/>
                  </a:solidFill>
                </a:uFill>
                <a:latin typeface="Arial"/>
                <a:cs typeface="Arial"/>
              </a:rPr>
              <a:t>Loss</a:t>
            </a:r>
            <a:r>
              <a:rPr sz="2400" b="1" u="sng" spc="80"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function</a:t>
            </a:r>
            <a:r>
              <a:rPr sz="2400" b="1" u="sng" spc="65" dirty="0">
                <a:solidFill>
                  <a:srgbClr val="212121"/>
                </a:solidFill>
                <a:uFill>
                  <a:solidFill>
                    <a:srgbClr val="212121"/>
                  </a:solidFill>
                </a:uFill>
                <a:latin typeface="Arial"/>
                <a:cs typeface="Arial"/>
              </a:rPr>
              <a:t> </a:t>
            </a:r>
            <a:r>
              <a:rPr sz="2400" b="1" dirty="0">
                <a:solidFill>
                  <a:srgbClr val="212121"/>
                </a:solidFill>
                <a:latin typeface="Arial"/>
                <a:cs typeface="Arial"/>
              </a:rPr>
              <a:t>–</a:t>
            </a:r>
            <a:r>
              <a:rPr sz="2400" b="1" spc="75" dirty="0">
                <a:solidFill>
                  <a:srgbClr val="212121"/>
                </a:solidFill>
                <a:latin typeface="Arial"/>
                <a:cs typeface="Arial"/>
              </a:rPr>
              <a:t> </a:t>
            </a:r>
            <a:r>
              <a:rPr sz="2400" dirty="0">
                <a:solidFill>
                  <a:srgbClr val="212121"/>
                </a:solidFill>
                <a:latin typeface="Arial MT"/>
                <a:cs typeface="Arial MT"/>
              </a:rPr>
              <a:t>To</a:t>
            </a:r>
            <a:r>
              <a:rPr sz="2400" spc="80" dirty="0">
                <a:solidFill>
                  <a:srgbClr val="212121"/>
                </a:solidFill>
                <a:latin typeface="Arial MT"/>
                <a:cs typeface="Arial MT"/>
              </a:rPr>
              <a:t> </a:t>
            </a:r>
            <a:r>
              <a:rPr sz="2400" dirty="0">
                <a:solidFill>
                  <a:srgbClr val="212121"/>
                </a:solidFill>
                <a:latin typeface="Arial MT"/>
                <a:cs typeface="Arial MT"/>
              </a:rPr>
              <a:t>update</a:t>
            </a:r>
            <a:r>
              <a:rPr sz="2400" spc="80" dirty="0">
                <a:solidFill>
                  <a:srgbClr val="212121"/>
                </a:solidFill>
                <a:latin typeface="Arial MT"/>
                <a:cs typeface="Arial MT"/>
              </a:rPr>
              <a:t> </a:t>
            </a:r>
            <a:r>
              <a:rPr sz="2400" dirty="0">
                <a:solidFill>
                  <a:srgbClr val="212121"/>
                </a:solidFill>
                <a:latin typeface="Arial MT"/>
                <a:cs typeface="Arial MT"/>
              </a:rPr>
              <a:t>the</a:t>
            </a:r>
            <a:r>
              <a:rPr sz="2400" spc="80" dirty="0">
                <a:solidFill>
                  <a:srgbClr val="212121"/>
                </a:solidFill>
                <a:latin typeface="Arial MT"/>
                <a:cs typeface="Arial MT"/>
              </a:rPr>
              <a:t> </a:t>
            </a:r>
            <a:r>
              <a:rPr sz="2400" dirty="0">
                <a:solidFill>
                  <a:srgbClr val="212121"/>
                </a:solidFill>
                <a:latin typeface="Arial MT"/>
                <a:cs typeface="Arial MT"/>
              </a:rPr>
              <a:t>weights,</a:t>
            </a:r>
            <a:r>
              <a:rPr sz="2400" spc="80" dirty="0">
                <a:solidFill>
                  <a:srgbClr val="212121"/>
                </a:solidFill>
                <a:latin typeface="Arial MT"/>
                <a:cs typeface="Arial MT"/>
              </a:rPr>
              <a:t> </a:t>
            </a:r>
            <a:r>
              <a:rPr sz="2400" dirty="0">
                <a:solidFill>
                  <a:srgbClr val="212121"/>
                </a:solidFill>
                <a:latin typeface="Arial MT"/>
                <a:cs typeface="Arial MT"/>
              </a:rPr>
              <a:t>we</a:t>
            </a:r>
            <a:r>
              <a:rPr sz="2400" spc="85" dirty="0">
                <a:solidFill>
                  <a:srgbClr val="212121"/>
                </a:solidFill>
                <a:latin typeface="Arial MT"/>
                <a:cs typeface="Arial MT"/>
              </a:rPr>
              <a:t> </a:t>
            </a:r>
            <a:r>
              <a:rPr sz="2400" dirty="0">
                <a:solidFill>
                  <a:srgbClr val="212121"/>
                </a:solidFill>
                <a:latin typeface="Arial MT"/>
                <a:cs typeface="Arial MT"/>
              </a:rPr>
              <a:t>must</a:t>
            </a:r>
            <a:r>
              <a:rPr sz="2400" spc="65" dirty="0">
                <a:solidFill>
                  <a:srgbClr val="212121"/>
                </a:solidFill>
                <a:latin typeface="Arial MT"/>
                <a:cs typeface="Arial MT"/>
              </a:rPr>
              <a:t> </a:t>
            </a:r>
            <a:r>
              <a:rPr sz="2400" dirty="0">
                <a:solidFill>
                  <a:srgbClr val="212121"/>
                </a:solidFill>
                <a:latin typeface="Arial MT"/>
                <a:cs typeface="Arial MT"/>
              </a:rPr>
              <a:t>calculate</a:t>
            </a:r>
            <a:r>
              <a:rPr sz="2400" spc="90" dirty="0">
                <a:solidFill>
                  <a:srgbClr val="212121"/>
                </a:solidFill>
                <a:latin typeface="Arial MT"/>
                <a:cs typeface="Arial MT"/>
              </a:rPr>
              <a:t> </a:t>
            </a:r>
            <a:r>
              <a:rPr sz="2400" dirty="0">
                <a:solidFill>
                  <a:srgbClr val="212121"/>
                </a:solidFill>
                <a:latin typeface="Arial MT"/>
                <a:cs typeface="Arial MT"/>
              </a:rPr>
              <a:t>the</a:t>
            </a:r>
            <a:r>
              <a:rPr sz="2400" spc="80" dirty="0">
                <a:solidFill>
                  <a:srgbClr val="212121"/>
                </a:solidFill>
                <a:latin typeface="Arial MT"/>
                <a:cs typeface="Arial MT"/>
              </a:rPr>
              <a:t> </a:t>
            </a:r>
            <a:r>
              <a:rPr sz="2400" dirty="0">
                <a:solidFill>
                  <a:srgbClr val="212121"/>
                </a:solidFill>
                <a:latin typeface="Arial MT"/>
                <a:cs typeface="Arial MT"/>
              </a:rPr>
              <a:t>loss,</a:t>
            </a:r>
            <a:r>
              <a:rPr sz="2400" spc="85" dirty="0">
                <a:solidFill>
                  <a:srgbClr val="212121"/>
                </a:solidFill>
                <a:latin typeface="Arial MT"/>
                <a:cs typeface="Arial MT"/>
              </a:rPr>
              <a:t> </a:t>
            </a:r>
            <a:r>
              <a:rPr sz="2400" spc="-10" dirty="0">
                <a:solidFill>
                  <a:srgbClr val="212121"/>
                </a:solidFill>
                <a:latin typeface="Arial MT"/>
                <a:cs typeface="Arial MT"/>
              </a:rPr>
              <a:t>which </a:t>
            </a:r>
            <a:r>
              <a:rPr sz="2400" dirty="0">
                <a:solidFill>
                  <a:srgbClr val="212121"/>
                </a:solidFill>
                <a:latin typeface="Arial MT"/>
                <a:cs typeface="Arial MT"/>
              </a:rPr>
              <a:t>we</a:t>
            </a:r>
            <a:r>
              <a:rPr sz="2400" spc="-5" dirty="0">
                <a:solidFill>
                  <a:srgbClr val="212121"/>
                </a:solidFill>
                <a:latin typeface="Arial MT"/>
                <a:cs typeface="Arial MT"/>
              </a:rPr>
              <a:t>  </a:t>
            </a:r>
            <a:r>
              <a:rPr sz="2400" dirty="0">
                <a:solidFill>
                  <a:srgbClr val="212121"/>
                </a:solidFill>
                <a:latin typeface="Arial MT"/>
                <a:cs typeface="Arial MT"/>
              </a:rPr>
              <a:t>need  to  minimize</a:t>
            </a:r>
            <a:r>
              <a:rPr sz="2400" spc="5" dirty="0">
                <a:solidFill>
                  <a:srgbClr val="212121"/>
                </a:solidFill>
                <a:latin typeface="Arial MT"/>
                <a:cs typeface="Arial MT"/>
              </a:rPr>
              <a:t>  </a:t>
            </a:r>
            <a:r>
              <a:rPr sz="2400" dirty="0">
                <a:solidFill>
                  <a:srgbClr val="212121"/>
                </a:solidFill>
                <a:latin typeface="Arial MT"/>
                <a:cs typeface="Arial MT"/>
              </a:rPr>
              <a:t>using  optimizer</a:t>
            </a:r>
            <a:r>
              <a:rPr sz="2400" spc="5" dirty="0">
                <a:solidFill>
                  <a:srgbClr val="212121"/>
                </a:solidFill>
                <a:latin typeface="Arial MT"/>
                <a:cs typeface="Arial MT"/>
              </a:rPr>
              <a:t>  </a:t>
            </a:r>
            <a:r>
              <a:rPr sz="2400" dirty="0">
                <a:solidFill>
                  <a:srgbClr val="212121"/>
                </a:solidFill>
                <a:latin typeface="Arial MT"/>
                <a:cs typeface="Arial MT"/>
              </a:rPr>
              <a:t>and  weight  updation.  Mainly  </a:t>
            </a:r>
            <a:r>
              <a:rPr sz="2400" spc="-20" dirty="0">
                <a:solidFill>
                  <a:srgbClr val="212121"/>
                </a:solidFill>
                <a:latin typeface="Arial MT"/>
                <a:cs typeface="Arial MT"/>
              </a:rPr>
              <a:t>mean </a:t>
            </a:r>
            <a:r>
              <a:rPr sz="2400" dirty="0">
                <a:solidFill>
                  <a:srgbClr val="212121"/>
                </a:solidFill>
                <a:latin typeface="Arial MT"/>
                <a:cs typeface="Arial MT"/>
              </a:rPr>
              <a:t>squared</a:t>
            </a:r>
            <a:r>
              <a:rPr sz="2400" spc="145" dirty="0">
                <a:solidFill>
                  <a:srgbClr val="212121"/>
                </a:solidFill>
                <a:latin typeface="Arial MT"/>
                <a:cs typeface="Arial MT"/>
              </a:rPr>
              <a:t> </a:t>
            </a:r>
            <a:r>
              <a:rPr sz="2400" dirty="0">
                <a:solidFill>
                  <a:srgbClr val="212121"/>
                </a:solidFill>
                <a:latin typeface="Arial MT"/>
                <a:cs typeface="Arial MT"/>
              </a:rPr>
              <a:t>error</a:t>
            </a:r>
            <a:r>
              <a:rPr sz="2400" spc="170" dirty="0">
                <a:solidFill>
                  <a:srgbClr val="212121"/>
                </a:solidFill>
                <a:latin typeface="Arial MT"/>
                <a:cs typeface="Arial MT"/>
              </a:rPr>
              <a:t> </a:t>
            </a:r>
            <a:r>
              <a:rPr sz="2400" dirty="0">
                <a:solidFill>
                  <a:srgbClr val="212121"/>
                </a:solidFill>
                <a:latin typeface="Arial MT"/>
                <a:cs typeface="Arial MT"/>
              </a:rPr>
              <a:t>and</a:t>
            </a:r>
            <a:r>
              <a:rPr sz="2400" spc="160" dirty="0">
                <a:solidFill>
                  <a:srgbClr val="212121"/>
                </a:solidFill>
                <a:latin typeface="Arial MT"/>
                <a:cs typeface="Arial MT"/>
              </a:rPr>
              <a:t> </a:t>
            </a:r>
            <a:r>
              <a:rPr sz="2400" dirty="0">
                <a:solidFill>
                  <a:srgbClr val="212121"/>
                </a:solidFill>
                <a:latin typeface="Arial MT"/>
                <a:cs typeface="Arial MT"/>
              </a:rPr>
              <a:t>binary</a:t>
            </a:r>
            <a:r>
              <a:rPr sz="2400" spc="165" dirty="0">
                <a:solidFill>
                  <a:srgbClr val="212121"/>
                </a:solidFill>
                <a:latin typeface="Arial MT"/>
                <a:cs typeface="Arial MT"/>
              </a:rPr>
              <a:t> </a:t>
            </a:r>
            <a:r>
              <a:rPr sz="2400" spc="-20" dirty="0">
                <a:solidFill>
                  <a:srgbClr val="212121"/>
                </a:solidFill>
                <a:latin typeface="Arial MT"/>
                <a:cs typeface="Arial MT"/>
              </a:rPr>
              <a:t>cross-</a:t>
            </a:r>
            <a:r>
              <a:rPr sz="2400" dirty="0">
                <a:solidFill>
                  <a:srgbClr val="212121"/>
                </a:solidFill>
                <a:latin typeface="Arial MT"/>
                <a:cs typeface="Arial MT"/>
              </a:rPr>
              <a:t>entropy.</a:t>
            </a:r>
            <a:r>
              <a:rPr sz="2400" spc="165" dirty="0">
                <a:solidFill>
                  <a:srgbClr val="212121"/>
                </a:solidFill>
                <a:latin typeface="Arial MT"/>
                <a:cs typeface="Arial MT"/>
              </a:rPr>
              <a:t> </a:t>
            </a:r>
            <a:r>
              <a:rPr sz="2400" dirty="0">
                <a:solidFill>
                  <a:srgbClr val="212121"/>
                </a:solidFill>
                <a:latin typeface="Arial MT"/>
                <a:cs typeface="Arial MT"/>
              </a:rPr>
              <a:t>The</a:t>
            </a:r>
            <a:r>
              <a:rPr sz="2400" spc="155" dirty="0">
                <a:solidFill>
                  <a:srgbClr val="212121"/>
                </a:solidFill>
                <a:latin typeface="Arial MT"/>
                <a:cs typeface="Arial MT"/>
              </a:rPr>
              <a:t> </a:t>
            </a:r>
            <a:r>
              <a:rPr sz="2400" dirty="0">
                <a:solidFill>
                  <a:srgbClr val="212121"/>
                </a:solidFill>
                <a:latin typeface="Arial MT"/>
                <a:cs typeface="Arial MT"/>
              </a:rPr>
              <a:t>input</a:t>
            </a:r>
            <a:r>
              <a:rPr sz="2400" spc="165" dirty="0">
                <a:solidFill>
                  <a:srgbClr val="212121"/>
                </a:solidFill>
                <a:latin typeface="Arial MT"/>
                <a:cs typeface="Arial MT"/>
              </a:rPr>
              <a:t> </a:t>
            </a:r>
            <a:r>
              <a:rPr sz="2400" dirty="0">
                <a:solidFill>
                  <a:srgbClr val="212121"/>
                </a:solidFill>
                <a:latin typeface="Arial MT"/>
                <a:cs typeface="Arial MT"/>
              </a:rPr>
              <a:t>value</a:t>
            </a:r>
            <a:r>
              <a:rPr sz="2400" spc="160" dirty="0">
                <a:solidFill>
                  <a:srgbClr val="212121"/>
                </a:solidFill>
                <a:latin typeface="Arial MT"/>
                <a:cs typeface="Arial MT"/>
              </a:rPr>
              <a:t> </a:t>
            </a:r>
            <a:r>
              <a:rPr sz="2400" dirty="0">
                <a:solidFill>
                  <a:srgbClr val="212121"/>
                </a:solidFill>
                <a:latin typeface="Arial MT"/>
                <a:cs typeface="Arial MT"/>
              </a:rPr>
              <a:t>is</a:t>
            </a:r>
            <a:r>
              <a:rPr sz="2400" spc="160" dirty="0">
                <a:solidFill>
                  <a:srgbClr val="212121"/>
                </a:solidFill>
                <a:latin typeface="Arial MT"/>
                <a:cs typeface="Arial MT"/>
              </a:rPr>
              <a:t> </a:t>
            </a:r>
            <a:r>
              <a:rPr sz="2400" spc="-20" dirty="0">
                <a:solidFill>
                  <a:srgbClr val="212121"/>
                </a:solidFill>
                <a:latin typeface="Arial MT"/>
                <a:cs typeface="Arial MT"/>
              </a:rPr>
              <a:t>0-</a:t>
            </a:r>
            <a:r>
              <a:rPr sz="2400" dirty="0">
                <a:solidFill>
                  <a:srgbClr val="212121"/>
                </a:solidFill>
                <a:latin typeface="Arial MT"/>
                <a:cs typeface="Arial MT"/>
              </a:rPr>
              <a:t>1;</a:t>
            </a:r>
            <a:r>
              <a:rPr sz="2400" spc="165" dirty="0">
                <a:solidFill>
                  <a:srgbClr val="212121"/>
                </a:solidFill>
                <a:latin typeface="Arial MT"/>
                <a:cs typeface="Arial MT"/>
              </a:rPr>
              <a:t> </a:t>
            </a:r>
            <a:r>
              <a:rPr sz="2400" dirty="0">
                <a:solidFill>
                  <a:srgbClr val="212121"/>
                </a:solidFill>
                <a:latin typeface="Arial MT"/>
                <a:cs typeface="Arial MT"/>
              </a:rPr>
              <a:t>then,</a:t>
            </a:r>
            <a:r>
              <a:rPr sz="2400" spc="165" dirty="0">
                <a:solidFill>
                  <a:srgbClr val="212121"/>
                </a:solidFill>
                <a:latin typeface="Arial MT"/>
                <a:cs typeface="Arial MT"/>
              </a:rPr>
              <a:t> </a:t>
            </a:r>
            <a:r>
              <a:rPr sz="2400" dirty="0">
                <a:solidFill>
                  <a:srgbClr val="212121"/>
                </a:solidFill>
                <a:latin typeface="Arial MT"/>
                <a:cs typeface="Arial MT"/>
              </a:rPr>
              <a:t>we</a:t>
            </a:r>
            <a:r>
              <a:rPr sz="2400" spc="160" dirty="0">
                <a:solidFill>
                  <a:srgbClr val="212121"/>
                </a:solidFill>
                <a:latin typeface="Arial MT"/>
                <a:cs typeface="Arial MT"/>
              </a:rPr>
              <a:t> </a:t>
            </a:r>
            <a:r>
              <a:rPr sz="2400" spc="-25" dirty="0">
                <a:solidFill>
                  <a:srgbClr val="212121"/>
                </a:solidFill>
                <a:latin typeface="Arial MT"/>
                <a:cs typeface="Arial MT"/>
              </a:rPr>
              <a:t>use </a:t>
            </a:r>
            <a:r>
              <a:rPr sz="2400" spc="-10" dirty="0">
                <a:solidFill>
                  <a:srgbClr val="212121"/>
                </a:solidFill>
                <a:latin typeface="Arial MT"/>
                <a:cs typeface="Arial MT"/>
              </a:rPr>
              <a:t>cross-</a:t>
            </a:r>
            <a:r>
              <a:rPr sz="2400" spc="-20" dirty="0">
                <a:solidFill>
                  <a:srgbClr val="212121"/>
                </a:solidFill>
                <a:latin typeface="Arial MT"/>
                <a:cs typeface="Arial MT"/>
              </a:rPr>
              <a:t>entropy.</a:t>
            </a:r>
            <a:r>
              <a:rPr sz="2400" spc="-80" dirty="0">
                <a:solidFill>
                  <a:srgbClr val="212121"/>
                </a:solidFill>
                <a:latin typeface="Arial MT"/>
                <a:cs typeface="Arial MT"/>
              </a:rPr>
              <a:t> </a:t>
            </a:r>
            <a:r>
              <a:rPr sz="2400" dirty="0">
                <a:solidFill>
                  <a:srgbClr val="212121"/>
                </a:solidFill>
                <a:latin typeface="Arial MT"/>
                <a:cs typeface="Arial MT"/>
              </a:rPr>
              <a:t>Otherwise,</a:t>
            </a:r>
            <a:r>
              <a:rPr sz="2400" spc="-60" dirty="0">
                <a:solidFill>
                  <a:srgbClr val="212121"/>
                </a:solidFill>
                <a:latin typeface="Arial MT"/>
                <a:cs typeface="Arial MT"/>
              </a:rPr>
              <a:t> </a:t>
            </a:r>
            <a:r>
              <a:rPr sz="2400" dirty="0">
                <a:solidFill>
                  <a:srgbClr val="212121"/>
                </a:solidFill>
                <a:latin typeface="Arial MT"/>
                <a:cs typeface="Arial MT"/>
              </a:rPr>
              <a:t>we</a:t>
            </a:r>
            <a:r>
              <a:rPr sz="2400" spc="-60" dirty="0">
                <a:solidFill>
                  <a:srgbClr val="212121"/>
                </a:solidFill>
                <a:latin typeface="Arial MT"/>
                <a:cs typeface="Arial MT"/>
              </a:rPr>
              <a:t> </a:t>
            </a:r>
            <a:r>
              <a:rPr sz="2400" dirty="0">
                <a:solidFill>
                  <a:srgbClr val="212121"/>
                </a:solidFill>
                <a:latin typeface="Arial MT"/>
                <a:cs typeface="Arial MT"/>
              </a:rPr>
              <a:t>use</a:t>
            </a:r>
            <a:r>
              <a:rPr sz="2400" spc="-70" dirty="0">
                <a:solidFill>
                  <a:srgbClr val="212121"/>
                </a:solidFill>
                <a:latin typeface="Arial MT"/>
                <a:cs typeface="Arial MT"/>
              </a:rPr>
              <a:t> </a:t>
            </a:r>
            <a:r>
              <a:rPr sz="2400" dirty="0">
                <a:solidFill>
                  <a:srgbClr val="212121"/>
                </a:solidFill>
                <a:latin typeface="Arial MT"/>
                <a:cs typeface="Arial MT"/>
              </a:rPr>
              <a:t>mean</a:t>
            </a:r>
            <a:r>
              <a:rPr sz="2400" spc="-65" dirty="0">
                <a:solidFill>
                  <a:srgbClr val="212121"/>
                </a:solidFill>
                <a:latin typeface="Arial MT"/>
                <a:cs typeface="Arial MT"/>
              </a:rPr>
              <a:t> </a:t>
            </a:r>
            <a:r>
              <a:rPr sz="2400" dirty="0">
                <a:solidFill>
                  <a:srgbClr val="212121"/>
                </a:solidFill>
                <a:latin typeface="Arial MT"/>
                <a:cs typeface="Arial MT"/>
              </a:rPr>
              <a:t>squared</a:t>
            </a:r>
            <a:r>
              <a:rPr sz="2400" spc="-45" dirty="0">
                <a:solidFill>
                  <a:srgbClr val="212121"/>
                </a:solidFill>
                <a:latin typeface="Arial MT"/>
                <a:cs typeface="Arial MT"/>
              </a:rPr>
              <a:t> </a:t>
            </a:r>
            <a:r>
              <a:rPr sz="2400" spc="-10" dirty="0">
                <a:solidFill>
                  <a:srgbClr val="212121"/>
                </a:solidFill>
                <a:latin typeface="Arial MT"/>
                <a:cs typeface="Arial MT"/>
              </a:rPr>
              <a:t>error.</a:t>
            </a:r>
            <a:endParaRPr sz="2400">
              <a:latin typeface="Arial MT"/>
              <a:cs typeface="Arial MT"/>
            </a:endParaRPr>
          </a:p>
          <a:p>
            <a:pPr marL="469900" marR="7620" lvl="1" indent="382905" algn="just">
              <a:lnSpc>
                <a:spcPts val="2590"/>
              </a:lnSpc>
              <a:spcBef>
                <a:spcPts val="500"/>
              </a:spcBef>
              <a:buAutoNum type="arabicParenR"/>
              <a:tabLst>
                <a:tab pos="852805" algn="l"/>
              </a:tabLst>
            </a:pPr>
            <a:r>
              <a:rPr sz="2400" b="1" u="sng" dirty="0">
                <a:solidFill>
                  <a:srgbClr val="212121"/>
                </a:solidFill>
                <a:uFill>
                  <a:solidFill>
                    <a:srgbClr val="212121"/>
                  </a:solidFill>
                </a:uFill>
                <a:latin typeface="Arial"/>
                <a:cs typeface="Arial"/>
              </a:rPr>
              <a:t>Number</a:t>
            </a:r>
            <a:r>
              <a:rPr sz="2400" b="1" u="sng" spc="160"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of</a:t>
            </a:r>
            <a:r>
              <a:rPr sz="2400" b="1" u="sng" spc="160"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nodes</a:t>
            </a:r>
            <a:r>
              <a:rPr sz="2400" b="1" u="sng" spc="155"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per</a:t>
            </a:r>
            <a:r>
              <a:rPr sz="2400" b="1" u="sng" spc="165" dirty="0">
                <a:solidFill>
                  <a:srgbClr val="212121"/>
                </a:solidFill>
                <a:uFill>
                  <a:solidFill>
                    <a:srgbClr val="212121"/>
                  </a:solidFill>
                </a:uFill>
                <a:latin typeface="Arial"/>
                <a:cs typeface="Arial"/>
              </a:rPr>
              <a:t> </a:t>
            </a:r>
            <a:r>
              <a:rPr sz="2400" b="1" u="sng" dirty="0">
                <a:solidFill>
                  <a:srgbClr val="212121"/>
                </a:solidFill>
                <a:uFill>
                  <a:solidFill>
                    <a:srgbClr val="212121"/>
                  </a:solidFill>
                </a:uFill>
                <a:latin typeface="Arial"/>
                <a:cs typeface="Arial"/>
              </a:rPr>
              <a:t>layer</a:t>
            </a:r>
            <a:r>
              <a:rPr sz="2400" b="1" spc="160" dirty="0">
                <a:solidFill>
                  <a:srgbClr val="212121"/>
                </a:solidFill>
                <a:latin typeface="Arial"/>
                <a:cs typeface="Arial"/>
              </a:rPr>
              <a:t> </a:t>
            </a:r>
            <a:r>
              <a:rPr sz="2400" b="1" dirty="0">
                <a:solidFill>
                  <a:srgbClr val="212121"/>
                </a:solidFill>
                <a:latin typeface="Arial"/>
                <a:cs typeface="Arial"/>
              </a:rPr>
              <a:t>–</a:t>
            </a:r>
            <a:r>
              <a:rPr sz="2400" b="1" spc="160" dirty="0">
                <a:solidFill>
                  <a:srgbClr val="212121"/>
                </a:solidFill>
                <a:latin typeface="Arial"/>
                <a:cs typeface="Arial"/>
              </a:rPr>
              <a:t> </a:t>
            </a:r>
            <a:r>
              <a:rPr sz="2400" dirty="0">
                <a:solidFill>
                  <a:srgbClr val="212121"/>
                </a:solidFill>
                <a:latin typeface="Arial MT"/>
                <a:cs typeface="Arial MT"/>
              </a:rPr>
              <a:t>the</a:t>
            </a:r>
            <a:r>
              <a:rPr sz="2400" spc="160" dirty="0">
                <a:solidFill>
                  <a:srgbClr val="212121"/>
                </a:solidFill>
                <a:latin typeface="Arial MT"/>
                <a:cs typeface="Arial MT"/>
              </a:rPr>
              <a:t> </a:t>
            </a:r>
            <a:r>
              <a:rPr sz="2400" dirty="0">
                <a:solidFill>
                  <a:srgbClr val="212121"/>
                </a:solidFill>
                <a:latin typeface="Arial MT"/>
                <a:cs typeface="Arial MT"/>
              </a:rPr>
              <a:t>number</a:t>
            </a:r>
            <a:r>
              <a:rPr sz="2400" spc="160" dirty="0">
                <a:solidFill>
                  <a:srgbClr val="212121"/>
                </a:solidFill>
                <a:latin typeface="Arial MT"/>
                <a:cs typeface="Arial MT"/>
              </a:rPr>
              <a:t> </a:t>
            </a:r>
            <a:r>
              <a:rPr sz="2400" dirty="0">
                <a:solidFill>
                  <a:srgbClr val="212121"/>
                </a:solidFill>
                <a:latin typeface="Arial MT"/>
                <a:cs typeface="Arial MT"/>
              </a:rPr>
              <a:t>of</a:t>
            </a:r>
            <a:r>
              <a:rPr sz="2400" spc="155" dirty="0">
                <a:solidFill>
                  <a:srgbClr val="212121"/>
                </a:solidFill>
                <a:latin typeface="Arial MT"/>
                <a:cs typeface="Arial MT"/>
              </a:rPr>
              <a:t> </a:t>
            </a:r>
            <a:r>
              <a:rPr sz="2400" dirty="0">
                <a:solidFill>
                  <a:srgbClr val="212121"/>
                </a:solidFill>
                <a:latin typeface="Arial MT"/>
                <a:cs typeface="Arial MT"/>
              </a:rPr>
              <a:t>nodes</a:t>
            </a:r>
            <a:r>
              <a:rPr sz="2400" spc="165" dirty="0">
                <a:solidFill>
                  <a:srgbClr val="212121"/>
                </a:solidFill>
                <a:latin typeface="Arial MT"/>
                <a:cs typeface="Arial MT"/>
              </a:rPr>
              <a:t> </a:t>
            </a:r>
            <a:r>
              <a:rPr sz="2400" dirty="0">
                <a:solidFill>
                  <a:srgbClr val="212121"/>
                </a:solidFill>
                <a:latin typeface="Arial MT"/>
                <a:cs typeface="Arial MT"/>
              </a:rPr>
              <a:t>decreases</a:t>
            </a:r>
            <a:r>
              <a:rPr sz="2400" spc="160" dirty="0">
                <a:solidFill>
                  <a:srgbClr val="212121"/>
                </a:solidFill>
                <a:latin typeface="Arial MT"/>
                <a:cs typeface="Arial MT"/>
              </a:rPr>
              <a:t> </a:t>
            </a:r>
            <a:r>
              <a:rPr sz="2400" dirty="0">
                <a:solidFill>
                  <a:srgbClr val="212121"/>
                </a:solidFill>
                <a:latin typeface="Arial MT"/>
                <a:cs typeface="Arial MT"/>
              </a:rPr>
              <a:t>with</a:t>
            </a:r>
            <a:r>
              <a:rPr sz="2400" spc="165" dirty="0">
                <a:solidFill>
                  <a:srgbClr val="212121"/>
                </a:solidFill>
                <a:latin typeface="Arial MT"/>
                <a:cs typeface="Arial MT"/>
              </a:rPr>
              <a:t> </a:t>
            </a:r>
            <a:r>
              <a:rPr sz="2400" spc="-20" dirty="0">
                <a:solidFill>
                  <a:srgbClr val="212121"/>
                </a:solidFill>
                <a:latin typeface="Arial MT"/>
                <a:cs typeface="Arial MT"/>
              </a:rPr>
              <a:t>each </a:t>
            </a:r>
            <a:r>
              <a:rPr sz="2400" dirty="0">
                <a:solidFill>
                  <a:srgbClr val="212121"/>
                </a:solidFill>
                <a:latin typeface="Arial MT"/>
                <a:cs typeface="Arial MT"/>
              </a:rPr>
              <a:t>subsequent</a:t>
            </a:r>
            <a:r>
              <a:rPr sz="2400" spc="-65" dirty="0">
                <a:solidFill>
                  <a:srgbClr val="212121"/>
                </a:solidFill>
                <a:latin typeface="Arial MT"/>
                <a:cs typeface="Arial MT"/>
              </a:rPr>
              <a:t> </a:t>
            </a:r>
            <a:r>
              <a:rPr sz="2400" dirty="0">
                <a:solidFill>
                  <a:srgbClr val="212121"/>
                </a:solidFill>
                <a:latin typeface="Arial MT"/>
                <a:cs typeface="Arial MT"/>
              </a:rPr>
              <a:t>encoder</a:t>
            </a:r>
            <a:r>
              <a:rPr sz="2400" spc="-60" dirty="0">
                <a:solidFill>
                  <a:srgbClr val="212121"/>
                </a:solidFill>
                <a:latin typeface="Arial MT"/>
                <a:cs typeface="Arial MT"/>
              </a:rPr>
              <a:t> </a:t>
            </a:r>
            <a:r>
              <a:rPr sz="2400" dirty="0">
                <a:solidFill>
                  <a:srgbClr val="212121"/>
                </a:solidFill>
                <a:latin typeface="Arial MT"/>
                <a:cs typeface="Arial MT"/>
              </a:rPr>
              <a:t>layer</a:t>
            </a:r>
            <a:r>
              <a:rPr sz="2400" spc="-70" dirty="0">
                <a:solidFill>
                  <a:srgbClr val="212121"/>
                </a:solidFill>
                <a:latin typeface="Arial MT"/>
                <a:cs typeface="Arial MT"/>
              </a:rPr>
              <a:t> </a:t>
            </a:r>
            <a:r>
              <a:rPr sz="2400" dirty="0">
                <a:solidFill>
                  <a:srgbClr val="212121"/>
                </a:solidFill>
                <a:latin typeface="Arial MT"/>
                <a:cs typeface="Arial MT"/>
              </a:rPr>
              <a:t>and</a:t>
            </a:r>
            <a:r>
              <a:rPr sz="2400" spc="-65" dirty="0">
                <a:solidFill>
                  <a:srgbClr val="212121"/>
                </a:solidFill>
                <a:latin typeface="Arial MT"/>
                <a:cs typeface="Arial MT"/>
              </a:rPr>
              <a:t> </a:t>
            </a:r>
            <a:r>
              <a:rPr sz="2400" dirty="0">
                <a:solidFill>
                  <a:srgbClr val="212121"/>
                </a:solidFill>
                <a:latin typeface="Arial MT"/>
                <a:cs typeface="Arial MT"/>
              </a:rPr>
              <a:t>increases</a:t>
            </a:r>
            <a:r>
              <a:rPr sz="2400" spc="-60" dirty="0">
                <a:solidFill>
                  <a:srgbClr val="212121"/>
                </a:solidFill>
                <a:latin typeface="Arial MT"/>
                <a:cs typeface="Arial MT"/>
              </a:rPr>
              <a:t> </a:t>
            </a:r>
            <a:r>
              <a:rPr sz="2400" dirty="0">
                <a:solidFill>
                  <a:srgbClr val="212121"/>
                </a:solidFill>
                <a:latin typeface="Arial MT"/>
                <a:cs typeface="Arial MT"/>
              </a:rPr>
              <a:t>back</a:t>
            </a:r>
            <a:r>
              <a:rPr sz="2400" spc="-65" dirty="0">
                <a:solidFill>
                  <a:srgbClr val="212121"/>
                </a:solidFill>
                <a:latin typeface="Arial MT"/>
                <a:cs typeface="Arial MT"/>
              </a:rPr>
              <a:t> </a:t>
            </a:r>
            <a:r>
              <a:rPr sz="2400" dirty="0">
                <a:solidFill>
                  <a:srgbClr val="212121"/>
                </a:solidFill>
                <a:latin typeface="Arial MT"/>
                <a:cs typeface="Arial MT"/>
              </a:rPr>
              <a:t>in</a:t>
            </a:r>
            <a:r>
              <a:rPr sz="2400" spc="-75" dirty="0">
                <a:solidFill>
                  <a:srgbClr val="212121"/>
                </a:solidFill>
                <a:latin typeface="Arial MT"/>
                <a:cs typeface="Arial MT"/>
              </a:rPr>
              <a:t> </a:t>
            </a:r>
            <a:r>
              <a:rPr sz="2400" dirty="0">
                <a:solidFill>
                  <a:srgbClr val="212121"/>
                </a:solidFill>
                <a:latin typeface="Arial MT"/>
                <a:cs typeface="Arial MT"/>
              </a:rPr>
              <a:t>the</a:t>
            </a:r>
            <a:r>
              <a:rPr sz="2400" spc="-80" dirty="0">
                <a:solidFill>
                  <a:srgbClr val="212121"/>
                </a:solidFill>
                <a:latin typeface="Arial MT"/>
                <a:cs typeface="Arial MT"/>
              </a:rPr>
              <a:t> </a:t>
            </a:r>
            <a:r>
              <a:rPr sz="2400" spc="-10" dirty="0">
                <a:solidFill>
                  <a:srgbClr val="212121"/>
                </a:solidFill>
                <a:latin typeface="Arial MT"/>
                <a:cs typeface="Arial MT"/>
              </a:rPr>
              <a:t>decoder.</a:t>
            </a:r>
            <a:endParaRPr sz="2400">
              <a:latin typeface="Arial MT"/>
              <a:cs typeface="Arial MT"/>
            </a:endParaRPr>
          </a:p>
        </p:txBody>
      </p:sp>
      <p:sp>
        <p:nvSpPr>
          <p:cNvPr id="3" name="object 3"/>
          <p:cNvSpPr txBox="1">
            <a:spLocks noGrp="1"/>
          </p:cNvSpPr>
          <p:nvPr>
            <p:ph type="title"/>
          </p:nvPr>
        </p:nvSpPr>
        <p:spPr>
          <a:xfrm>
            <a:off x="650240" y="73863"/>
            <a:ext cx="8173084" cy="514350"/>
          </a:xfrm>
          <a:prstGeom prst="rect">
            <a:avLst/>
          </a:prstGeom>
        </p:spPr>
        <p:txBody>
          <a:bodyPr vert="horz" wrap="square" lIns="0" tIns="13335" rIns="0" bIns="0" rtlCol="0">
            <a:spAutoFit/>
          </a:bodyPr>
          <a:lstStyle/>
          <a:p>
            <a:pPr marL="12700">
              <a:lnSpc>
                <a:spcPct val="100000"/>
              </a:lnSpc>
              <a:spcBef>
                <a:spcPts val="105"/>
              </a:spcBef>
            </a:pPr>
            <a:r>
              <a:rPr spc="-215" dirty="0">
                <a:solidFill>
                  <a:srgbClr val="212121"/>
                </a:solidFill>
                <a:latin typeface="Tahoma"/>
                <a:cs typeface="Tahoma"/>
              </a:rPr>
              <a:t>Training</a:t>
            </a:r>
            <a:r>
              <a:rPr spc="-185" dirty="0">
                <a:solidFill>
                  <a:srgbClr val="212121"/>
                </a:solidFill>
                <a:latin typeface="Tahoma"/>
                <a:cs typeface="Tahoma"/>
              </a:rPr>
              <a:t> </a:t>
            </a:r>
            <a:r>
              <a:rPr spc="-114" dirty="0">
                <a:solidFill>
                  <a:srgbClr val="212121"/>
                </a:solidFill>
                <a:latin typeface="Tahoma"/>
                <a:cs typeface="Tahoma"/>
              </a:rPr>
              <a:t>of </a:t>
            </a:r>
            <a:r>
              <a:rPr spc="-185" dirty="0">
                <a:solidFill>
                  <a:srgbClr val="212121"/>
                </a:solidFill>
                <a:latin typeface="Tahoma"/>
                <a:cs typeface="Tahoma"/>
              </a:rPr>
              <a:t>AutoEncoders-</a:t>
            </a:r>
            <a:r>
              <a:rPr spc="-170" dirty="0">
                <a:solidFill>
                  <a:srgbClr val="212121"/>
                </a:solidFill>
                <a:latin typeface="Tahoma"/>
                <a:cs typeface="Tahoma"/>
              </a:rPr>
              <a:t> </a:t>
            </a:r>
            <a:r>
              <a:rPr spc="-155" dirty="0">
                <a:solidFill>
                  <a:srgbClr val="212121"/>
                </a:solidFill>
                <a:latin typeface="Tahoma"/>
                <a:cs typeface="Tahoma"/>
              </a:rPr>
              <a:t>Hyper</a:t>
            </a:r>
            <a:r>
              <a:rPr spc="-160" dirty="0">
                <a:solidFill>
                  <a:srgbClr val="212121"/>
                </a:solidFill>
                <a:latin typeface="Tahoma"/>
                <a:cs typeface="Tahoma"/>
              </a:rPr>
              <a:t> </a:t>
            </a:r>
            <a:r>
              <a:rPr spc="-195" dirty="0">
                <a:solidFill>
                  <a:srgbClr val="212121"/>
                </a:solidFill>
                <a:latin typeface="Tahoma"/>
                <a:cs typeface="Tahoma"/>
              </a:rPr>
              <a:t>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1748</Words>
  <Application>Microsoft Office PowerPoint</Application>
  <PresentationFormat>Widescreen</PresentationFormat>
  <Paragraphs>98</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AutoEncoders</vt:lpstr>
      <vt:lpstr>What is an Autoencoder?</vt:lpstr>
      <vt:lpstr>Auto-encoder- Parts</vt:lpstr>
      <vt:lpstr>Upsampling</vt:lpstr>
      <vt:lpstr>We can express a convolution operation using a matrix. It is nothing but a kernel matrix rearranged so that we can use a matrix</vt:lpstr>
      <vt:lpstr>Autoencoder</vt:lpstr>
      <vt:lpstr>Autoencoder</vt:lpstr>
      <vt:lpstr>PowerPoint Presentation</vt:lpstr>
      <vt:lpstr>Variations of autoencoders based on the dimensionality of their latent (bottleneck) layer compared to the input layer.</vt:lpstr>
      <vt:lpstr>Variations of autoencoders based on the dimensionality of their latent (bottleneck) layer compared to the input layer. Larger Number of Parameters : Overfit</vt:lpstr>
      <vt:lpstr>Regularisation of Autoencoders</vt:lpstr>
      <vt:lpstr>Denoising AutoEncoder</vt:lpstr>
      <vt:lpstr>Denoising AutoEncoder</vt:lpstr>
      <vt:lpstr>Application</vt:lpstr>
      <vt:lpstr>PowerPoint Presentation</vt:lpstr>
      <vt:lpstr>PowerPoint Presentation</vt:lpstr>
      <vt:lpstr>PowerPoint Presentation</vt:lpstr>
      <vt:lpstr>Gaussian Noise corruption</vt:lpstr>
      <vt:lpstr>PowerPoint Presentation</vt:lpstr>
      <vt:lpstr>Sparse Autoencoder</vt:lpstr>
      <vt:lpstr>Sparse Autoencoder</vt:lpstr>
      <vt:lpstr>Sparse Autoencoder</vt:lpstr>
      <vt:lpstr>By enforcing sparsity, the autoencoder learns to identify and capture the most salient features in the data, discarding irrelevant or redundant information. This makes sparse autoencoders useful for unsupervised feature learning tasks, such as dimensionality reduction or pretraining deep neural networks.</vt:lpstr>
      <vt:lpstr>Variational Autoencoder</vt:lpstr>
      <vt:lpstr>Variational Autoencoder: Latent attribute as probability distribution</vt:lpstr>
      <vt:lpstr>Variational Autoencoder: Latent attribute as probability distribution</vt:lpstr>
      <vt:lpstr>Variational autoencoders as a generative network</vt:lpstr>
      <vt:lpstr>Applications</vt:lpstr>
      <vt:lpstr>Autoencoder for Image File Compression ( Dimensionality Reduction)</vt:lpstr>
      <vt:lpstr>Autoencoders are used largely for anomaly detection:</vt:lpstr>
      <vt:lpstr>Autoencoders are used for Noise Removal</vt:lpstr>
      <vt:lpstr>Autoencoders as Generative models:</vt:lpstr>
      <vt:lpstr>PowerPoint Presentation</vt:lpstr>
      <vt:lpstr>Training of AutoEncoders- Hyper parameters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Sarath S</dc:creator>
  <cp:lastModifiedBy>saraths</cp:lastModifiedBy>
  <cp:revision>3</cp:revision>
  <dcterms:created xsi:type="dcterms:W3CDTF">2025-06-17T10:29:33Z</dcterms:created>
  <dcterms:modified xsi:type="dcterms:W3CDTF">2025-11-21T00:59:40Z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2023-06-15T00:00:00Z</vt:filetime>
  </property>
  <property fmtid="{D5CDD505-2E9C-101B-9397-08002B2CF9AE}" pid="3" name="Creator">
    <vt:lpwstr>Microsoft® PowerPoint® for Microsoft 365</vt:lpwstr>
  </property>
  <property fmtid="{D5CDD505-2E9C-101B-9397-08002B2CF9AE}" pid="4" name="LastSaved">
    <vt:filetime>2025-06-17T00:00:00Z</vt:filetime>
  </property>
  <property fmtid="{D5CDD505-2E9C-101B-9397-08002B2CF9AE}" pid="5" name="Producer">
    <vt:lpwstr>Microsoft® PowerPoint® for Microsoft 365</vt:lpwstr>
  </property>
</Properties>
</file>